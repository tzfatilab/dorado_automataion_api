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ADBA1B-B02A-413B-B6A6-AD4FA3CAC9D3}" v="2" dt="2026-09-22T12:50:03.7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ענבר חבושה" userId="03c71d6d2f595f47" providerId="LiveId" clId="{0905C7AA-AAA3-480D-B4D4-ED1770DECA64}"/>
    <pc:docChg chg="modSld">
      <pc:chgData name="ענבר חבושה" userId="03c71d6d2f595f47" providerId="LiveId" clId="{0905C7AA-AAA3-480D-B4D4-ED1770DECA64}" dt="2026-09-22T12:50:18.374" v="4" actId="108"/>
      <pc:docMkLst>
        <pc:docMk/>
      </pc:docMkLst>
      <pc:sldChg chg="modSp mod">
        <pc:chgData name="ענבר חבושה" userId="03c71d6d2f595f47" providerId="LiveId" clId="{0905C7AA-AAA3-480D-B4D4-ED1770DECA64}" dt="2026-09-22T12:50:18.374" v="4" actId="108"/>
        <pc:sldMkLst>
          <pc:docMk/>
          <pc:sldMk cId="780040193" sldId="275"/>
        </pc:sldMkLst>
        <pc:spChg chg="mod">
          <ac:chgData name="ענבר חבושה" userId="03c71d6d2f595f47" providerId="LiveId" clId="{0905C7AA-AAA3-480D-B4D4-ED1770DECA64}" dt="2026-09-22T12:49:59.669" v="0"/>
          <ac:spMkLst>
            <pc:docMk/>
            <pc:sldMk cId="780040193" sldId="275"/>
            <ac:spMk id="10" creationId="{91E69A41-2AC3-4AF6-9059-3C831006D1FE}"/>
          </ac:spMkLst>
        </pc:spChg>
        <pc:spChg chg="mod">
          <ac:chgData name="ענבר חבושה" userId="03c71d6d2f595f47" providerId="LiveId" clId="{0905C7AA-AAA3-480D-B4D4-ED1770DECA64}" dt="2026-09-22T12:50:18.374" v="4" actId="108"/>
          <ac:spMkLst>
            <pc:docMk/>
            <pc:sldMk cId="780040193" sldId="275"/>
            <ac:spMk id="11" creationId="{1692EBBF-7C78-4D8B-A362-4001FB11E2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callback to the joke in the previous lab presentation. The message is an illustrative reconstruction, not a verbatim quotation or screenshot of a real conversation. Say: Last time, I joked about a biologist sending a message asking for help with the analysis. Pause before revealing the reply on the next slide. Suggested pacing: roughly 1 minute across slides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callback requested for this lab meeting: the reply to a biologist asking for help is Do it yourself! Explain that the GUI is intended to let lab members run the workflow independently. Keep this brief, then move to the interface and options.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aim is self-service use of the established analysis workflow after the software and required resources have been set up. This is the design goal, not a measured usability claim. Explain: I wanted biologists to choose their data, configure the analysis and obtain outputs themselves, without waiting for someone else to execute each run. Approx. 1–2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fresh capture of the current GUI with Basecalling and NanoTel selected. No analysis was executed for the screenshot. Orient the audience: input at the top, output and organism below it, analysis steps in the middle, advanced options at the bottom, Run and Cancel at the end. Source: current AppWindow and section modules.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input_section.py and pipeline_runner.py. Show the three entry points and the folder chooser. POD5 starts from raw signal; BAM skips basecalling and is converted for downstream analysis; FASTQ starts from sequence reads. Barcode organization may still require demultiplexing. Users select the input directory through the folder icon.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output_section.py and config_section.py. Output Path selects the base output location. The organism menu offers Mouse, Human and Zebra Fish. These select configuration presets; references and external resources must already be configured. Do not imply that all species have equal validation coverage.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workflow_section.py. The two main stages are Basecalling and NanoTel Analysis. Both can be selected for a raw-signal-to-telomere workflow. BAM and FASTQ can enter the NanoTel path without basecalling. Advanced options are enabled for selected steps. This selection is independent of input controls; input compatibility is checked before execution.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The modified-base choices are None, 5mCpG and 5mCpG + 5hmCpG. They are mutually exclusive. Choosing either modified-base mode automatically selects chromosome mapping and prevents unchecking it while the mode remains selected. Returning to None leaves mapping selected but allows it to be unchecked. Show the dependency as a helpful GUI behavior; do not claim fresh biological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TVR means telomere variant repeats. Preset uses organism-specific patterns, TSQ1 uses the TSQ1 pattern, and Manual accepts custom DNA patterns. These modes are independent and can be combined. None selected means no TVR patterns. TSQ1 initially enables one mismatch, which the user can clear unless Preset controls exact matching. The screenshot shows TSQ1 selected.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_prompt_manual_tvr_patterns and _sync_tvr_mismatch_state in advanced_section.py. The dialog is captured directly from the real app, with no submitted values. Manual accepts A/C/G/T and separators and normalizes to uppercase. Allow 1 mismatch affects telomere and TVR pattern matching. Selecting Preset forces exact matching and disables the checkbox.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workflow_section.py and saved configuration. Explain each control in user terms. Minimum read length is an input/filter threshold; edge distance and maximum telomere start govern proximity to read ends and start position. Minimum density is a repeat-density threshold. Short Telomere Cutoff controls the percentage reported below the selected length. The values shown are captured settings, not recommendations for every dataset. Trimming status can change effective values downstream.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advanced_section.py and workflow_section.py. Summary only skips individual-read FASTA and plot files and keeps summary output in one Excel workbook. Turning it off retains detailed outputs. Run mapping requests mapping of NanoTel reads. This is separate from the chromosome mapping checkbox within the basecalling card. The screenshot shows both Summary only and Run mapping selected as configuration examples, not an executed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input_section.py, workflow_section.py, advanced_section.py and AppWindow._prompt_non_pod5_trim_status. Question-mark help buttons explain inputs and analysis steps. Tooltips clarify specific controls. For FASTQ/BAM with NanoTel, the app asks whether reads were trimmed for barcode removal. The screenshot is a real dialog opened and cancelled for capture. The user should answer based on known preprocessing rather than guess.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action_section.py, AppWindow and worker_thread.py. Run Workflow checks setup and starts execution. Execution Log displays messages and progress. Cancel requests stopping; do not promise immediate termination of every subprocess. Present the user-facing controls only. This sets up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user requested additional pretend barcodes for demonstration. barcode03, barcode04, barcode05, barcode06, barcode07 and barcode08 are entirely simulated illustrative data and were not produced by an analysis. They must not be interpreted as experimental results. barcode02 and barcode19 retain the saved results from test/Telomere Analyzer_20260914_132210/results/nanotel/nanotel_summary_statistics.csv. The slide labels the simulated rows explicitly. The purpose is to show how a multi-barcode output table looks. Other slides retain real project outputs; no real output files were 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image: test/Telomere Analyzer_20260914_132210/results/nanotel/barcode02/single_read_plots_adj/read908.jpeg. Cross-check: filtered_summaryBARCODE02.csv, Serial 908. Read length 35551 bp; telomere start 96, end 6421, length 6326 bp; density 0.933291179260196 (rounded to 0.933). The same read is present in the filtered output. The plot is unchanged from the saved run. Red denotes the telomere interval, blue the subtelomere annotation, and the filled trace is repeat density along the read. Show how a summary can be traced back to an individual read, plot and sequence. Example files: read908.jpeg and reads/read908.fasta.gz.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saved full run test/Telomere Analyzer_20260914_132210/results; workbook inspected at test/Telomere Analyzer_20260914_113518/results/nanotel_summary.xlsx; r_analyzer.py workbook creation. The workbook is a separate run with different settings and values, so its contents are described structurally, not equated numerically with the preceding CSV example. Actual workbook tabs: nanotel_summary, barcode02, barcode19, filtered_barcode02, filtered_barcode19. Summary-only skips per-read plots and FASTA files; full mode retains CSV and detailed read outputs. Reports include complete_pipeline_report.txt and r_pipeline_config.json. When basecalling is selected, upstream BAM/FASTQ outputs also exist. These three slides show NanoTel outputs only; mapping and methylation were not run in the numerical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current PathManager path getters and directory_structure in default_config.json. Paths are relative to the run folder. processing holds intermediate data, while results holds analysis outputs, reports and logs. Folders are created as needed, so a run may not include every folder. Mapping and methylation are optional. BAM conversion may produce FASTQ from pre-existing BAM rather than new basecalling. Logs are under results/logs, not the run root.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existing full run test/Telomere Analyzer_20260914_132210/results/nanotel and NanoTel.R. Per-barcode directories contain raw and filtered summary CSVs, read IDs, and detailed plot/sequence folders. The plot subfolders hold original and adjusted plot versions, respectively. Full output is not identical to summary-only output. In summary-only mode, r_analyzer.py writes results/nanotel_summary.xlsx then removes the temporary NanoTel tree after a successful save. The current code names the summary worksheet NanoTel Statistics; the older saved workbook used nanotel_summary. Do not confuse worksheet name with output filename.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priorities for discussion with the lab, not completed or committed milestones. Grounded in packaging/README.md, BIOCONDA_BUILD_REHEARSAL.md and current validation gaps. 1. Broader representative inputs and barcodes, performance and output checks. 2. Validate mapping and methylation against agreed reference results, including modified-base-tagged BAM fixtures. 3. Simplify external resource selection and setup, and complete packaging tests. 4. Observe lab members using the GUI and improve help and workflows from their feedback. The main presentation still ends with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demonstration — allow 6–8 minutes within a 20–25 minute talk. Suggested sequence: 1. Switch to the real GUI. 2. Choose FASTQ and select C:/Users/inbar/OneDrive/Desktop/Dudi/test/fastq. 3. Choose a fresh demo output directory; do not overwrite the saved demonstration run. 4. Choose the organism appropriate to the known dataset; confirm this before the meeting. 5. Select NanoTel only, show TVR and thresholds, and keep mapping off for the basic example. 6. Choose summary-only if a compact workbook is the desired endpoint. 7. Run and answer the trimming question from the dataset provenance. 8. Show the execution log and open the generated output. Rehearse this exact workflow beforehand with the configured external tools and paths; a fresh analysis was not executed during slide preparation. The existing saved outputs under test/Telomere Analyzer_20260914_132210 can serve as an explicitly labelled previous-run fallback. End by inviting a colleague to try the workflow themselves. Sources and evidence for all slides: current dorado_gui section modules and AppWindow; GUI screenshots captured without executing an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7" name="text-1">
            <a:extLst>
              <a:ext uri="{FF2B5EF4-FFF2-40B4-BE49-F238E27FC236}">
                <a16:creationId xmlns:a16="http://schemas.microsoft.com/office/drawing/2014/main" id="{A2A0C71D-C23C-4CAF-904D-C3F8D4DE28E4}"/>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PREVIOUS LAB MEETING</a:t>
            </a:r>
          </a:p>
        </p:txBody>
      </p:sp>
      <p:sp>
        <p:nvSpPr>
          <p:cNvPr id="2" name="text-2">
            <a:extLst>
              <a:ext uri="{FF2B5EF4-FFF2-40B4-BE49-F238E27FC236}">
                <a16:creationId xmlns:a16="http://schemas.microsoft.com/office/drawing/2014/main" id="{87412681-C8A9-4F5C-8DF3-7246421F2F2B}"/>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3">
            <a:extLst>
              <a:ext uri="{FF2B5EF4-FFF2-40B4-BE49-F238E27FC236}">
                <a16:creationId xmlns:a16="http://schemas.microsoft.com/office/drawing/2014/main" id="{8429FBDF-503B-45FA-8E6A-CBA7AAABF995}"/>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01</a:t>
            </a:r>
          </a:p>
        </p:txBody>
      </p:sp>
      <p:sp>
        <p:nvSpPr>
          <p:cNvPr id="4" name="text-4">
            <a:extLst>
              <a:ext uri="{FF2B5EF4-FFF2-40B4-BE49-F238E27FC236}">
                <a16:creationId xmlns:a16="http://schemas.microsoft.com/office/drawing/2014/main" id="{3B63C170-2BE0-400D-9E43-9091343F2F80}"/>
              </a:ext>
            </a:extLst>
          </p:cNvPr>
          <p:cNvSpPr>
            <a:spLocks noGrp="1"/>
          </p:cNvSpPr>
          <p:nvPr/>
        </p:nvSpPr>
        <p:spPr>
          <a:xfrm>
            <a:off x="533400" y="1838325"/>
            <a:ext cx="10477500" cy="476250"/>
          </a:xfrm>
          <a:prstGeom prst="rect">
            <a:avLst/>
          </a:prstGeom>
        </p:spPr>
        <p:txBody>
          <a:bodyPr lIns="0" tIns="0" rIns="0" bIns="0" anchor="t"/>
          <a:lstStyle/>
          <a:p>
            <a:pPr>
              <a:buNone/>
              <a:defRPr sz="2100" b="0">
                <a:solidFill>
                  <a:srgbClr val="A9B9CF"/>
                </a:solidFill>
                <a:latin typeface="Segoe UI"/>
                <a:ea typeface="Segoe UI"/>
                <a:cs typeface="Segoe UI"/>
              </a:defRPr>
            </a:pPr>
            <a:r>
              <a:t>A biologist in the lab:</a:t>
            </a:r>
          </a:p>
        </p:txBody>
      </p:sp>
      <p:sp>
        <p:nvSpPr>
          <p:cNvPr id="5" name="text-5">
            <a:extLst>
              <a:ext uri="{FF2B5EF4-FFF2-40B4-BE49-F238E27FC236}">
                <a16:creationId xmlns:a16="http://schemas.microsoft.com/office/drawing/2014/main" id="{AE6314AE-F438-439A-9D63-6DAF8E4867CF}"/>
              </a:ext>
            </a:extLst>
          </p:cNvPr>
          <p:cNvSpPr>
            <a:spLocks noGrp="1"/>
          </p:cNvSpPr>
          <p:nvPr/>
        </p:nvSpPr>
        <p:spPr>
          <a:xfrm>
            <a:off x="533400" y="2695575"/>
            <a:ext cx="11125200" cy="2324100"/>
          </a:xfrm>
          <a:prstGeom prst="rect">
            <a:avLst/>
          </a:prstGeom>
        </p:spPr>
        <p:txBody>
          <a:bodyPr lIns="0" tIns="0" rIns="0" bIns="0" anchor="t"/>
          <a:lstStyle/>
          <a:p>
            <a:pPr>
              <a:buNone/>
              <a:defRPr sz="6600" b="1">
                <a:solidFill>
                  <a:srgbClr val="FFFFFF"/>
                </a:solidFill>
                <a:latin typeface="Segoe UI"/>
                <a:ea typeface="Segoe UI"/>
                <a:cs typeface="Segoe UI"/>
              </a:defRPr>
            </a:pPr>
            <a:r>
              <a:t>“Can you help me</a:t>
            </a:r>
          </a:p>
          <a:p>
            <a:pPr>
              <a:buNone/>
              <a:defRPr sz="6600" b="1">
                <a:solidFill>
                  <a:srgbClr val="FFFFFF"/>
                </a:solidFill>
                <a:latin typeface="Segoe UI"/>
                <a:ea typeface="Segoe UI"/>
                <a:cs typeface="Segoe UI"/>
              </a:defRPr>
            </a:pPr>
            <a:r>
              <a:t>analyze my data?”</a:t>
            </a:r>
          </a:p>
        </p:txBody>
      </p:sp>
      <p:sp>
        <p:nvSpPr>
          <p:cNvPr id="6" name="Rectangle 5">
            <a:extLst>
              <a:ext uri="{FF2B5EF4-FFF2-40B4-BE49-F238E27FC236}">
                <a16:creationId xmlns:a16="http://schemas.microsoft.com/office/drawing/2014/main" id="{EEE29FB3-C4A5-47E7-87C5-2715DB5F6316}"/>
              </a:ext>
            </a:extLst>
          </p:cNvPr>
          <p:cNvSpPr>
            <a:spLocks noGrp="1"/>
          </p:cNvSpPr>
          <p:nvPr/>
        </p:nvSpPr>
        <p:spPr>
          <a:xfrm>
            <a:off x="533400" y="5543550"/>
            <a:ext cx="10477500" cy="495300"/>
          </a:xfrm>
          <a:prstGeom prst="rect">
            <a:avLst/>
          </a:prstGeom>
        </p:spPr>
        <p:txBody>
          <a:bodyPr lIns="0" tIns="0" rIns="0" bIns="0" anchor="t"/>
          <a:lstStyle/>
          <a:p>
            <a:pPr>
              <a:buNone/>
              <a:defRPr sz="1950" b="1">
                <a:solidFill>
                  <a:srgbClr val="B5F4DE"/>
                </a:solidFill>
                <a:latin typeface="Segoe UI"/>
                <a:ea typeface="Segoe UI"/>
                <a:cs typeface="Segoe UI"/>
              </a:defRPr>
            </a:pPr>
            <a:endParaRPr/>
          </a:p>
        </p:txBody>
      </p:sp>
    </p:spTree>
    <p:extLst>
      <p:ext uri="{BB962C8B-B14F-4D97-AF65-F5344CB8AC3E}">
        <p14:creationId xmlns:p14="http://schemas.microsoft.com/office/powerpoint/2010/main" val="731156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860F5"/>
        </a:solidFill>
        <a:effectLst/>
      </p:bgPr>
    </p:bg>
    <p:spTree>
      <p:nvGrpSpPr>
        <p:cNvPr id="1" name=""/>
        <p:cNvGrpSpPr/>
        <p:nvPr/>
      </p:nvGrpSpPr>
      <p:grpSpPr>
        <a:xfrm>
          <a:off x="0" y="0"/>
          <a:ext cx="0" cy="0"/>
          <a:chOff x="0" y="0"/>
          <a:chExt cx="0" cy="0"/>
        </a:xfrm>
      </p:grpSpPr>
      <p:sp>
        <p:nvSpPr>
          <p:cNvPr id="6" name="text-6">
            <a:extLst>
              <a:ext uri="{FF2B5EF4-FFF2-40B4-BE49-F238E27FC236}">
                <a16:creationId xmlns:a16="http://schemas.microsoft.com/office/drawing/2014/main" id="{94768C85-6F3D-484B-8776-4EC5DF805442}"/>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GUI DEMONSTRATION</a:t>
            </a:r>
          </a:p>
        </p:txBody>
      </p:sp>
      <p:sp>
        <p:nvSpPr>
          <p:cNvPr id="2" name="text-7">
            <a:extLst>
              <a:ext uri="{FF2B5EF4-FFF2-40B4-BE49-F238E27FC236}">
                <a16:creationId xmlns:a16="http://schemas.microsoft.com/office/drawing/2014/main" id="{D92368AC-6471-49C4-AF37-27D32A0BA306}"/>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D9E4FF"/>
                </a:solidFill>
                <a:latin typeface="Segoe UI"/>
                <a:ea typeface="Segoe UI"/>
                <a:cs typeface="Segoe UI"/>
              </a:defRPr>
            </a:pPr>
            <a:r>
              <a:t>TELOMERE ANALYZER</a:t>
            </a:r>
          </a:p>
        </p:txBody>
      </p:sp>
      <p:sp>
        <p:nvSpPr>
          <p:cNvPr id="3" name="text-8">
            <a:extLst>
              <a:ext uri="{FF2B5EF4-FFF2-40B4-BE49-F238E27FC236}">
                <a16:creationId xmlns:a16="http://schemas.microsoft.com/office/drawing/2014/main" id="{C3560B41-CC45-4116-8F10-582DDC3C1DD6}"/>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D9E4FF"/>
                </a:solidFill>
                <a:latin typeface="Segoe UI"/>
                <a:ea typeface="Segoe UI"/>
                <a:cs typeface="Segoe UI"/>
              </a:defRPr>
            </a:pPr>
            <a:r>
              <a:rPr sz="1350" b="0">
                <a:solidFill>
                  <a:srgbClr val="D9E4FF"/>
                </a:solidFill>
                <a:latin typeface="Segoe UI"/>
                <a:ea typeface="Segoe UI"/>
                <a:cs typeface="Segoe UI"/>
              </a:rPr>
              <a:t>02</a:t>
            </a:r>
          </a:p>
        </p:txBody>
      </p:sp>
      <p:sp>
        <p:nvSpPr>
          <p:cNvPr id="4" name="text-9">
            <a:extLst>
              <a:ext uri="{FF2B5EF4-FFF2-40B4-BE49-F238E27FC236}">
                <a16:creationId xmlns:a16="http://schemas.microsoft.com/office/drawing/2014/main" id="{2D136804-3C04-424C-B7B8-4AD5E6350A64}"/>
              </a:ext>
            </a:extLst>
          </p:cNvPr>
          <p:cNvSpPr>
            <a:spLocks noGrp="1"/>
          </p:cNvSpPr>
          <p:nvPr/>
        </p:nvSpPr>
        <p:spPr>
          <a:xfrm>
            <a:off x="533400" y="1933575"/>
            <a:ext cx="11125200" cy="2495550"/>
          </a:xfrm>
          <a:prstGeom prst="rect">
            <a:avLst/>
          </a:prstGeom>
        </p:spPr>
        <p:txBody>
          <a:bodyPr lIns="0" tIns="0" rIns="0" bIns="0" anchor="t"/>
          <a:lstStyle/>
          <a:p>
            <a:pPr>
              <a:buNone/>
              <a:defRPr sz="8100" b="1">
                <a:solidFill>
                  <a:srgbClr val="FFFFFF"/>
                </a:solidFill>
                <a:latin typeface="Segoe UI"/>
                <a:ea typeface="Segoe UI"/>
                <a:cs typeface="Segoe UI"/>
              </a:defRPr>
            </a:pPr>
            <a:r>
              <a:rPr sz="8100" b="1">
                <a:solidFill>
                  <a:srgbClr val="FFFFFF"/>
                </a:solidFill>
                <a:latin typeface="Arial"/>
                <a:ea typeface="Arial"/>
                <a:cs typeface="Arial"/>
              </a:rPr>
              <a:t>Do it</a:t>
            </a:r>
          </a:p>
          <a:p>
            <a:pPr>
              <a:buNone/>
              <a:defRPr sz="8100" b="1">
                <a:solidFill>
                  <a:srgbClr val="FFFFFF"/>
                </a:solidFill>
                <a:latin typeface="Segoe UI"/>
                <a:ea typeface="Segoe UI"/>
                <a:cs typeface="Segoe UI"/>
              </a:defRPr>
            </a:pPr>
            <a:r>
              <a:rPr sz="8100" b="1">
                <a:solidFill>
                  <a:srgbClr val="FFFFFF"/>
                </a:solidFill>
                <a:latin typeface="Arial"/>
                <a:ea typeface="Arial"/>
                <a:cs typeface="Arial"/>
              </a:rPr>
              <a:t>yourself!</a:t>
            </a:r>
          </a:p>
        </p:txBody>
      </p:sp>
      <p:sp>
        <p:nvSpPr>
          <p:cNvPr id="5" name="text-10">
            <a:extLst>
              <a:ext uri="{FF2B5EF4-FFF2-40B4-BE49-F238E27FC236}">
                <a16:creationId xmlns:a16="http://schemas.microsoft.com/office/drawing/2014/main" id="{C7837720-00FB-401B-9EF8-4448853EBCAA}"/>
              </a:ext>
            </a:extLst>
          </p:cNvPr>
          <p:cNvSpPr>
            <a:spLocks noGrp="1"/>
          </p:cNvSpPr>
          <p:nvPr/>
        </p:nvSpPr>
        <p:spPr>
          <a:xfrm>
            <a:off x="533400" y="5067300"/>
            <a:ext cx="10477500" cy="685800"/>
          </a:xfrm>
          <a:prstGeom prst="rect">
            <a:avLst/>
          </a:prstGeom>
        </p:spPr>
        <p:txBody>
          <a:bodyPr lIns="0" tIns="0" rIns="0" bIns="0" anchor="t"/>
          <a:lstStyle/>
          <a:p>
            <a:pPr>
              <a:buNone/>
              <a:defRPr sz="3450" b="1">
                <a:solidFill>
                  <a:srgbClr val="B5F4DE"/>
                </a:solidFill>
                <a:latin typeface="Segoe UI"/>
                <a:ea typeface="Segoe UI"/>
                <a:cs typeface="Segoe UI"/>
              </a:defRPr>
            </a:pPr>
            <a:r>
              <a:t>Using the GUI</a:t>
            </a:r>
          </a:p>
        </p:txBody>
      </p:sp>
    </p:spTree>
    <p:extLst>
      <p:ext uri="{BB962C8B-B14F-4D97-AF65-F5344CB8AC3E}">
        <p14:creationId xmlns:p14="http://schemas.microsoft.com/office/powerpoint/2010/main" val="1914502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12" name="text-11">
            <a:extLst>
              <a:ext uri="{FF2B5EF4-FFF2-40B4-BE49-F238E27FC236}">
                <a16:creationId xmlns:a16="http://schemas.microsoft.com/office/drawing/2014/main" id="{A70EF6E1-4337-4C0F-A865-AD4CF64E7096}"/>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PROJECT OBJECTIVE</a:t>
            </a:r>
          </a:p>
        </p:txBody>
      </p:sp>
      <p:sp>
        <p:nvSpPr>
          <p:cNvPr id="2" name="text-12">
            <a:extLst>
              <a:ext uri="{FF2B5EF4-FFF2-40B4-BE49-F238E27FC236}">
                <a16:creationId xmlns:a16="http://schemas.microsoft.com/office/drawing/2014/main" id="{0EFC6B8E-DDFB-4F2A-9A37-66F1872C4589}"/>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13">
            <a:extLst>
              <a:ext uri="{FF2B5EF4-FFF2-40B4-BE49-F238E27FC236}">
                <a16:creationId xmlns:a16="http://schemas.microsoft.com/office/drawing/2014/main" id="{17BEA751-3D8A-4F94-BD95-D8EEF0312839}"/>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03</a:t>
            </a:r>
          </a:p>
        </p:txBody>
      </p:sp>
      <p:sp>
        <p:nvSpPr>
          <p:cNvPr id="4" name="text-14">
            <a:extLst>
              <a:ext uri="{FF2B5EF4-FFF2-40B4-BE49-F238E27FC236}">
                <a16:creationId xmlns:a16="http://schemas.microsoft.com/office/drawing/2014/main" id="{BDA82327-EB6C-457A-9F90-5609415B9143}"/>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Segoe UI"/>
                <a:ea typeface="Segoe UI"/>
                <a:cs typeface="Segoe UI"/>
              </a:defRPr>
            </a:pPr>
            <a:r>
              <a:rPr sz="4650" b="1">
                <a:solidFill>
                  <a:srgbClr val="FFFFFF"/>
                </a:solidFill>
                <a:latin typeface="Arial"/>
                <a:ea typeface="Arial"/>
                <a:cs typeface="Arial"/>
              </a:rPr>
              <a:t>Motivation</a:t>
            </a:r>
          </a:p>
        </p:txBody>
      </p:sp>
      <p:sp>
        <p:nvSpPr>
          <p:cNvPr id="5" name="text-15">
            <a:extLst>
              <a:ext uri="{FF2B5EF4-FFF2-40B4-BE49-F238E27FC236}">
                <a16:creationId xmlns:a16="http://schemas.microsoft.com/office/drawing/2014/main" id="{F5207F0A-D55E-44D1-8BFA-2A32E4A3A46B}"/>
              </a:ext>
            </a:extLst>
          </p:cNvPr>
          <p:cNvSpPr>
            <a:spLocks noGrp="1"/>
          </p:cNvSpPr>
          <p:nvPr/>
        </p:nvSpPr>
        <p:spPr>
          <a:xfrm>
            <a:off x="1476375" y="2305050"/>
            <a:ext cx="9715500" cy="666750"/>
          </a:xfrm>
          <a:prstGeom prst="rect">
            <a:avLst/>
          </a:prstGeom>
        </p:spPr>
        <p:txBody>
          <a:bodyPr lIns="0" tIns="0" rIns="0" bIns="0" anchor="t"/>
          <a:lstStyle/>
          <a:p>
            <a:pPr>
              <a:buNone/>
              <a:defRPr sz="3675" b="1">
                <a:solidFill>
                  <a:srgbClr val="FFFFFF"/>
                </a:solidFill>
                <a:latin typeface="Segoe UI"/>
                <a:ea typeface="Segoe UI"/>
                <a:cs typeface="Segoe UI"/>
              </a:defRPr>
            </a:pPr>
            <a:r>
              <a:t>Select input data</a:t>
            </a:r>
          </a:p>
        </p:txBody>
      </p:sp>
      <p:sp>
        <p:nvSpPr>
          <p:cNvPr id="6" name="text-16">
            <a:extLst>
              <a:ext uri="{FF2B5EF4-FFF2-40B4-BE49-F238E27FC236}">
                <a16:creationId xmlns:a16="http://schemas.microsoft.com/office/drawing/2014/main" id="{7212F038-FD93-4D70-A520-A9BFE385E166}"/>
              </a:ext>
            </a:extLst>
          </p:cNvPr>
          <p:cNvSpPr>
            <a:spLocks noGrp="1"/>
          </p:cNvSpPr>
          <p:nvPr/>
        </p:nvSpPr>
        <p:spPr>
          <a:xfrm>
            <a:off x="1476375" y="3409950"/>
            <a:ext cx="9715500" cy="666750"/>
          </a:xfrm>
          <a:prstGeom prst="rect">
            <a:avLst/>
          </a:prstGeom>
        </p:spPr>
        <p:txBody>
          <a:bodyPr lIns="0" tIns="0" rIns="0" bIns="0" anchor="t"/>
          <a:lstStyle/>
          <a:p>
            <a:pPr>
              <a:buNone/>
              <a:defRPr sz="3675" b="1">
                <a:solidFill>
                  <a:srgbClr val="FFFFFF"/>
                </a:solidFill>
                <a:latin typeface="Segoe UI"/>
                <a:ea typeface="Segoe UI"/>
                <a:cs typeface="Segoe UI"/>
              </a:defRPr>
            </a:pPr>
            <a:r>
              <a:t>Configure analysis parameters</a:t>
            </a:r>
          </a:p>
        </p:txBody>
      </p:sp>
      <p:sp>
        <p:nvSpPr>
          <p:cNvPr id="7" name="text-17">
            <a:extLst>
              <a:ext uri="{FF2B5EF4-FFF2-40B4-BE49-F238E27FC236}">
                <a16:creationId xmlns:a16="http://schemas.microsoft.com/office/drawing/2014/main" id="{B23A7276-BE20-4120-93A3-C15841EC90A6}"/>
              </a:ext>
            </a:extLst>
          </p:cNvPr>
          <p:cNvSpPr>
            <a:spLocks noGrp="1"/>
          </p:cNvSpPr>
          <p:nvPr/>
        </p:nvSpPr>
        <p:spPr>
          <a:xfrm>
            <a:off x="1476375" y="4514850"/>
            <a:ext cx="9715500" cy="666750"/>
          </a:xfrm>
          <a:prstGeom prst="rect">
            <a:avLst/>
          </a:prstGeom>
        </p:spPr>
        <p:txBody>
          <a:bodyPr lIns="0" tIns="0" rIns="0" bIns="0" anchor="t"/>
          <a:lstStyle/>
          <a:p>
            <a:pPr>
              <a:buNone/>
              <a:defRPr sz="3375" b="1">
                <a:solidFill>
                  <a:srgbClr val="B5F4DE"/>
                </a:solidFill>
                <a:latin typeface="Segoe UI"/>
                <a:ea typeface="Segoe UI"/>
                <a:cs typeface="Segoe UI"/>
              </a:defRPr>
            </a:pPr>
            <a:r>
              <a:rPr sz="3375" b="1">
                <a:solidFill>
                  <a:srgbClr val="B5F4DE"/>
                </a:solidFill>
                <a:latin typeface="Segoe UI"/>
                <a:ea typeface="Segoe UI"/>
                <a:cs typeface="Segoe UI"/>
              </a:rPr>
              <a:t>Run the workflow and review outputs</a:t>
            </a:r>
          </a:p>
        </p:txBody>
      </p:sp>
      <p:sp>
        <p:nvSpPr>
          <p:cNvPr id="8" name="text-18">
            <a:extLst>
              <a:ext uri="{FF2B5EF4-FFF2-40B4-BE49-F238E27FC236}">
                <a16:creationId xmlns:a16="http://schemas.microsoft.com/office/drawing/2014/main" id="{10CF1FEC-1F9A-4F13-BD39-75AEC3A770C9}"/>
              </a:ext>
            </a:extLst>
          </p:cNvPr>
          <p:cNvSpPr>
            <a:spLocks noGrp="1"/>
          </p:cNvSpPr>
          <p:nvPr/>
        </p:nvSpPr>
        <p:spPr>
          <a:xfrm>
            <a:off x="533400" y="5715000"/>
            <a:ext cx="11049000" cy="514350"/>
          </a:xfrm>
          <a:prstGeom prst="rect">
            <a:avLst/>
          </a:prstGeom>
        </p:spPr>
        <p:txBody>
          <a:bodyPr lIns="0" tIns="0" rIns="0" bIns="0" anchor="t"/>
          <a:lstStyle/>
          <a:p>
            <a:pPr>
              <a:buNone/>
              <a:defRPr sz="2100" b="0">
                <a:solidFill>
                  <a:srgbClr val="A9B9CF"/>
                </a:solidFill>
                <a:latin typeface="Segoe UI"/>
                <a:ea typeface="Segoe UI"/>
                <a:cs typeface="Segoe UI"/>
              </a:defRPr>
            </a:pPr>
            <a:r>
              <a:rPr sz="2100" b="0">
                <a:solidFill>
                  <a:srgbClr val="A9B9CF"/>
                </a:solidFill>
                <a:latin typeface="Segoe UI"/>
                <a:ea typeface="Segoe UI"/>
                <a:cs typeface="Segoe UI"/>
              </a:rPr>
              <a:t>Goal: allow biologists in the lab to run the analysis independently.</a:t>
            </a:r>
          </a:p>
        </p:txBody>
      </p:sp>
      <p:sp>
        <p:nvSpPr>
          <p:cNvPr id="9" name="Rectangle 8">
            <a:extLst>
              <a:ext uri="{FF2B5EF4-FFF2-40B4-BE49-F238E27FC236}">
                <a16:creationId xmlns:a16="http://schemas.microsoft.com/office/drawing/2014/main" id="{8865DABC-367D-40C3-860B-173E83D5BA89}"/>
              </a:ext>
            </a:extLst>
          </p:cNvPr>
          <p:cNvSpPr>
            <a:spLocks noGrp="1"/>
          </p:cNvSpPr>
          <p:nvPr/>
        </p:nvSpPr>
        <p:spPr>
          <a:xfrm>
            <a:off x="533400" y="2371725"/>
            <a:ext cx="790575" cy="590550"/>
          </a:xfrm>
          <a:prstGeom prst="rect">
            <a:avLst/>
          </a:prstGeom>
        </p:spPr>
        <p:txBody>
          <a:bodyPr lIns="0" tIns="0" rIns="0" bIns="0" anchor="t"/>
          <a:lstStyle/>
          <a:p>
            <a:pPr>
              <a:buNone/>
              <a:defRPr sz="2775" b="0">
                <a:solidFill>
                  <a:srgbClr val="B5F4DE"/>
                </a:solidFill>
                <a:latin typeface="Segoe UI"/>
                <a:ea typeface="Segoe UI"/>
                <a:cs typeface="Segoe UI"/>
              </a:defRPr>
            </a:pPr>
            <a:r>
              <a:t>01</a:t>
            </a:r>
          </a:p>
        </p:txBody>
      </p:sp>
      <p:sp>
        <p:nvSpPr>
          <p:cNvPr id="10" name="Rectangle 9">
            <a:extLst>
              <a:ext uri="{FF2B5EF4-FFF2-40B4-BE49-F238E27FC236}">
                <a16:creationId xmlns:a16="http://schemas.microsoft.com/office/drawing/2014/main" id="{FA0652E9-767E-4A7A-9212-B63F86FC302C}"/>
              </a:ext>
            </a:extLst>
          </p:cNvPr>
          <p:cNvSpPr>
            <a:spLocks noGrp="1"/>
          </p:cNvSpPr>
          <p:nvPr/>
        </p:nvSpPr>
        <p:spPr>
          <a:xfrm>
            <a:off x="533400" y="3476625"/>
            <a:ext cx="790575" cy="590550"/>
          </a:xfrm>
          <a:prstGeom prst="rect">
            <a:avLst/>
          </a:prstGeom>
        </p:spPr>
        <p:txBody>
          <a:bodyPr lIns="0" tIns="0" rIns="0" bIns="0" anchor="t"/>
          <a:lstStyle/>
          <a:p>
            <a:pPr>
              <a:buNone/>
              <a:defRPr sz="2775" b="0">
                <a:solidFill>
                  <a:srgbClr val="B5F4DE"/>
                </a:solidFill>
                <a:latin typeface="Segoe UI"/>
                <a:ea typeface="Segoe UI"/>
                <a:cs typeface="Segoe UI"/>
              </a:defRPr>
            </a:pPr>
            <a:r>
              <a:t>02</a:t>
            </a:r>
          </a:p>
        </p:txBody>
      </p:sp>
      <p:sp>
        <p:nvSpPr>
          <p:cNvPr id="11" name="Rectangle 10">
            <a:extLst>
              <a:ext uri="{FF2B5EF4-FFF2-40B4-BE49-F238E27FC236}">
                <a16:creationId xmlns:a16="http://schemas.microsoft.com/office/drawing/2014/main" id="{5EC75A2E-84EC-4A3D-9B85-A907B848E12A}"/>
              </a:ext>
            </a:extLst>
          </p:cNvPr>
          <p:cNvSpPr>
            <a:spLocks noGrp="1"/>
          </p:cNvSpPr>
          <p:nvPr/>
        </p:nvSpPr>
        <p:spPr>
          <a:xfrm>
            <a:off x="533400" y="4581525"/>
            <a:ext cx="790575" cy="590550"/>
          </a:xfrm>
          <a:prstGeom prst="rect">
            <a:avLst/>
          </a:prstGeom>
        </p:spPr>
        <p:txBody>
          <a:bodyPr lIns="0" tIns="0" rIns="0" bIns="0" anchor="t"/>
          <a:lstStyle/>
          <a:p>
            <a:pPr>
              <a:buNone/>
              <a:defRPr sz="2775" b="0">
                <a:solidFill>
                  <a:srgbClr val="B5F4DE"/>
                </a:solidFill>
                <a:latin typeface="Segoe UI"/>
                <a:ea typeface="Segoe UI"/>
                <a:cs typeface="Segoe UI"/>
              </a:defRPr>
            </a:pPr>
            <a:r>
              <a:t>03</a:t>
            </a:r>
          </a:p>
        </p:txBody>
      </p:sp>
    </p:spTree>
    <p:extLst>
      <p:ext uri="{BB962C8B-B14F-4D97-AF65-F5344CB8AC3E}">
        <p14:creationId xmlns:p14="http://schemas.microsoft.com/office/powerpoint/2010/main" val="988424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5" name="text-19">
            <a:extLst>
              <a:ext uri="{FF2B5EF4-FFF2-40B4-BE49-F238E27FC236}">
                <a16:creationId xmlns:a16="http://schemas.microsoft.com/office/drawing/2014/main" id="{7600D459-8BCE-4370-9318-DC99462DC448}"/>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THE GUI</a:t>
            </a:r>
          </a:p>
        </p:txBody>
      </p:sp>
      <p:sp>
        <p:nvSpPr>
          <p:cNvPr id="2" name="text-20">
            <a:extLst>
              <a:ext uri="{FF2B5EF4-FFF2-40B4-BE49-F238E27FC236}">
                <a16:creationId xmlns:a16="http://schemas.microsoft.com/office/drawing/2014/main" id="{E92E3885-3253-4EFD-A9AC-B5959A1D36D1}"/>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21">
            <a:extLst>
              <a:ext uri="{FF2B5EF4-FFF2-40B4-BE49-F238E27FC236}">
                <a16:creationId xmlns:a16="http://schemas.microsoft.com/office/drawing/2014/main" id="{E2DAF17A-4FB7-4E98-A920-FC5C4314557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04</a:t>
            </a:r>
          </a:p>
        </p:txBody>
      </p:sp>
      <p:sp>
        <p:nvSpPr>
          <p:cNvPr id="4" name="text-22">
            <a:extLst>
              <a:ext uri="{FF2B5EF4-FFF2-40B4-BE49-F238E27FC236}">
                <a16:creationId xmlns:a16="http://schemas.microsoft.com/office/drawing/2014/main" id="{066B7B4C-8634-437A-89E6-2DD8248D43E4}"/>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Segoe UI"/>
                <a:ea typeface="Segoe UI"/>
                <a:cs typeface="Segoe UI"/>
              </a:defRPr>
            </a:pPr>
            <a:r>
              <a:rPr sz="4650" b="1">
                <a:solidFill>
                  <a:srgbClr val="FFFFFF"/>
                </a:solidFill>
                <a:latin typeface="Arial"/>
                <a:ea typeface="Arial"/>
                <a:cs typeface="Arial"/>
              </a:rPr>
              <a:t>Telomere Analyzer GUI</a:t>
            </a:r>
          </a:p>
        </p:txBody>
      </p:sp>
      <p:pic>
        <p:nvPicPr>
          <p:cNvPr id="11" name="Picture 9"/>
          <p:cNvPicPr>
            <a:picLocks noChangeAspect="1"/>
          </p:cNvPicPr>
          <p:nvPr/>
        </p:nvPicPr>
        <p:blipFill>
          <a:blip r:embed="rId3"/>
          <a:stretch/>
        </p:blipFill>
        <p:spPr>
          <a:xfrm>
            <a:off x="533400" y="1771650"/>
            <a:ext cx="11125200" cy="4495800"/>
          </a:xfrm>
          <a:prstGeom prst="rect">
            <a:avLst/>
          </a:prstGeom>
        </p:spPr>
      </p:pic>
    </p:spTree>
    <p:extLst>
      <p:ext uri="{BB962C8B-B14F-4D97-AF65-F5344CB8AC3E}">
        <p14:creationId xmlns:p14="http://schemas.microsoft.com/office/powerpoint/2010/main" val="1920071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23">
            <a:extLst>
              <a:ext uri="{FF2B5EF4-FFF2-40B4-BE49-F238E27FC236}">
                <a16:creationId xmlns:a16="http://schemas.microsoft.com/office/drawing/2014/main" id="{FACFCD14-8808-40E7-A050-5EEB24149D0A}"/>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t>INPUT DATA</a:t>
            </a:r>
          </a:p>
        </p:txBody>
      </p:sp>
      <p:sp>
        <p:nvSpPr>
          <p:cNvPr id="2" name="text-24">
            <a:extLst>
              <a:ext uri="{FF2B5EF4-FFF2-40B4-BE49-F238E27FC236}">
                <a16:creationId xmlns:a16="http://schemas.microsoft.com/office/drawing/2014/main" id="{E7E306F0-7678-4ADD-82C0-58E182DB96B0}"/>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25">
            <a:extLst>
              <a:ext uri="{FF2B5EF4-FFF2-40B4-BE49-F238E27FC236}">
                <a16:creationId xmlns:a16="http://schemas.microsoft.com/office/drawing/2014/main" id="{FC159E9C-9381-4B5F-BBBD-DA094B01C1D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05</a:t>
            </a:r>
          </a:p>
        </p:txBody>
      </p:sp>
      <p:sp>
        <p:nvSpPr>
          <p:cNvPr id="4" name="text-26">
            <a:extLst>
              <a:ext uri="{FF2B5EF4-FFF2-40B4-BE49-F238E27FC236}">
                <a16:creationId xmlns:a16="http://schemas.microsoft.com/office/drawing/2014/main" id="{46504EA1-B404-4CE9-949D-E138A339B8FE}"/>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a:solidFill>
                  <a:srgbClr val="0D182A"/>
                </a:solidFill>
                <a:latin typeface="Arial"/>
                <a:ea typeface="Arial"/>
                <a:cs typeface="Arial"/>
              </a:rPr>
              <a:t>Input data</a:t>
            </a:r>
          </a:p>
        </p:txBody>
      </p:sp>
      <p:pic>
        <p:nvPicPr>
          <p:cNvPr id="17" name="Picture 16"/>
          <p:cNvPicPr>
            <a:picLocks noChangeAspect="1"/>
          </p:cNvPicPr>
          <p:nvPr/>
        </p:nvPicPr>
        <p:blipFill>
          <a:blip r:embed="rId3"/>
          <a:stretch/>
        </p:blipFill>
        <p:spPr>
          <a:xfrm>
            <a:off x="457200" y="2081227"/>
            <a:ext cx="11277600" cy="1704947"/>
          </a:xfrm>
          <a:prstGeom prst="rect">
            <a:avLst/>
          </a:prstGeom>
        </p:spPr>
      </p:pic>
      <p:sp>
        <p:nvSpPr>
          <p:cNvPr id="6" name="text-27">
            <a:extLst>
              <a:ext uri="{FF2B5EF4-FFF2-40B4-BE49-F238E27FC236}">
                <a16:creationId xmlns:a16="http://schemas.microsoft.com/office/drawing/2014/main" id="{FBB108D3-484B-40A5-838A-6BC343236A22}"/>
              </a:ext>
            </a:extLst>
          </p:cNvPr>
          <p:cNvSpPr>
            <a:spLocks noGrp="1"/>
          </p:cNvSpPr>
          <p:nvPr/>
        </p:nvSpPr>
        <p:spPr>
          <a:xfrm>
            <a:off x="533400" y="4171950"/>
            <a:ext cx="3429000" cy="666750"/>
          </a:xfrm>
          <a:prstGeom prst="rect">
            <a:avLst/>
          </a:prstGeom>
        </p:spPr>
        <p:txBody>
          <a:bodyPr lIns="0" tIns="0" rIns="0" bIns="0" anchor="t"/>
          <a:lstStyle/>
          <a:p>
            <a:pPr>
              <a:buNone/>
              <a:defRPr sz="3675" b="1">
                <a:solidFill>
                  <a:srgbClr val="2860F5"/>
                </a:solidFill>
                <a:latin typeface="Segoe UI"/>
                <a:ea typeface="Segoe UI"/>
                <a:cs typeface="Segoe UI"/>
              </a:defRPr>
            </a:pPr>
            <a:r>
              <a:t>POD5</a:t>
            </a:r>
          </a:p>
        </p:txBody>
      </p:sp>
      <p:sp>
        <p:nvSpPr>
          <p:cNvPr id="7" name="text-28">
            <a:extLst>
              <a:ext uri="{FF2B5EF4-FFF2-40B4-BE49-F238E27FC236}">
                <a16:creationId xmlns:a16="http://schemas.microsoft.com/office/drawing/2014/main" id="{3C5E314E-20F0-4A29-8899-6661D4A96F8C}"/>
              </a:ext>
            </a:extLst>
          </p:cNvPr>
          <p:cNvSpPr>
            <a:spLocks noGrp="1"/>
          </p:cNvSpPr>
          <p:nvPr/>
        </p:nvSpPr>
        <p:spPr>
          <a:xfrm>
            <a:off x="457200" y="4943475"/>
            <a:ext cx="3333750" cy="952500"/>
          </a:xfrm>
          <a:prstGeom prst="rect">
            <a:avLst/>
          </a:prstGeom>
        </p:spPr>
        <p:txBody>
          <a:bodyPr lIns="0" tIns="0" rIns="0" bIns="0" anchor="t"/>
          <a:lstStyle/>
          <a:p>
            <a:pPr>
              <a:buNone/>
              <a:defRPr sz="2175" b="0">
                <a:solidFill>
                  <a:srgbClr val="0D182A"/>
                </a:solidFill>
                <a:latin typeface="Segoe UI"/>
                <a:ea typeface="Segoe UI"/>
                <a:cs typeface="Segoe UI"/>
              </a:defRPr>
            </a:pPr>
            <a:r>
              <a:t>Raw signals</a:t>
            </a:r>
          </a:p>
          <a:p>
            <a:pPr>
              <a:buNone/>
              <a:defRPr sz="2175" b="0">
                <a:solidFill>
                  <a:srgbClr val="0D182A"/>
                </a:solidFill>
                <a:latin typeface="Segoe UI"/>
                <a:ea typeface="Segoe UI"/>
                <a:cs typeface="Segoe UI"/>
              </a:defRPr>
            </a:pPr>
            <a:r>
              <a:t>Start with basecalling.</a:t>
            </a:r>
          </a:p>
        </p:txBody>
      </p:sp>
      <p:sp>
        <p:nvSpPr>
          <p:cNvPr id="8" name="text-29">
            <a:extLst>
              <a:ext uri="{FF2B5EF4-FFF2-40B4-BE49-F238E27FC236}">
                <a16:creationId xmlns:a16="http://schemas.microsoft.com/office/drawing/2014/main" id="{126DB059-40A4-4EA3-9A01-97C59E0EAEE8}"/>
              </a:ext>
            </a:extLst>
          </p:cNvPr>
          <p:cNvSpPr>
            <a:spLocks noGrp="1"/>
          </p:cNvSpPr>
          <p:nvPr/>
        </p:nvSpPr>
        <p:spPr>
          <a:xfrm>
            <a:off x="4371975" y="4171950"/>
            <a:ext cx="3429000" cy="666750"/>
          </a:xfrm>
          <a:prstGeom prst="rect">
            <a:avLst/>
          </a:prstGeom>
        </p:spPr>
        <p:txBody>
          <a:bodyPr lIns="0" tIns="0" rIns="0" bIns="0" anchor="t"/>
          <a:lstStyle/>
          <a:p>
            <a:pPr>
              <a:buNone/>
              <a:defRPr sz="3675" b="1">
                <a:solidFill>
                  <a:srgbClr val="2860F5"/>
                </a:solidFill>
                <a:latin typeface="Segoe UI"/>
                <a:ea typeface="Segoe UI"/>
                <a:cs typeface="Segoe UI"/>
              </a:defRPr>
            </a:pPr>
            <a:r>
              <a:t>BAM</a:t>
            </a:r>
          </a:p>
        </p:txBody>
      </p:sp>
      <p:sp>
        <p:nvSpPr>
          <p:cNvPr id="9" name="text-30">
            <a:extLst>
              <a:ext uri="{FF2B5EF4-FFF2-40B4-BE49-F238E27FC236}">
                <a16:creationId xmlns:a16="http://schemas.microsoft.com/office/drawing/2014/main" id="{F1EFBEC9-4DD2-487E-852A-CFFBE0836D33}"/>
              </a:ext>
            </a:extLst>
          </p:cNvPr>
          <p:cNvSpPr>
            <a:spLocks noGrp="1"/>
          </p:cNvSpPr>
          <p:nvPr/>
        </p:nvSpPr>
        <p:spPr>
          <a:xfrm>
            <a:off x="4410075" y="4943475"/>
            <a:ext cx="3333750" cy="952500"/>
          </a:xfrm>
          <a:prstGeom prst="rect">
            <a:avLst/>
          </a:prstGeom>
        </p:spPr>
        <p:txBody>
          <a:bodyPr lIns="0" tIns="0" rIns="0" bIns="0" anchor="t"/>
          <a:lstStyle/>
          <a:p>
            <a:pPr>
              <a:buNone/>
              <a:defRPr sz="2175" b="0">
                <a:solidFill>
                  <a:srgbClr val="0D182A"/>
                </a:solidFill>
                <a:latin typeface="Segoe UI"/>
                <a:ea typeface="Segoe UI"/>
                <a:cs typeface="Segoe UI"/>
              </a:defRPr>
            </a:pPr>
            <a:r>
              <a:t>Basecalled reads</a:t>
            </a:r>
          </a:p>
          <a:p>
            <a:pPr>
              <a:buNone/>
              <a:defRPr sz="2175" b="0">
                <a:solidFill>
                  <a:srgbClr val="0D182A"/>
                </a:solidFill>
                <a:latin typeface="Segoe UI"/>
                <a:ea typeface="Segoe UI"/>
                <a:cs typeface="Segoe UI"/>
              </a:defRPr>
            </a:pPr>
            <a:r>
              <a:t>Skip basecalling.</a:t>
            </a:r>
          </a:p>
        </p:txBody>
      </p:sp>
      <p:sp>
        <p:nvSpPr>
          <p:cNvPr id="10" name="text-31">
            <a:extLst>
              <a:ext uri="{FF2B5EF4-FFF2-40B4-BE49-F238E27FC236}">
                <a16:creationId xmlns:a16="http://schemas.microsoft.com/office/drawing/2014/main" id="{0DA4FA36-845E-4540-AE84-26B764A2F14A}"/>
              </a:ext>
            </a:extLst>
          </p:cNvPr>
          <p:cNvSpPr>
            <a:spLocks noGrp="1"/>
          </p:cNvSpPr>
          <p:nvPr/>
        </p:nvSpPr>
        <p:spPr>
          <a:xfrm>
            <a:off x="8210550" y="4171950"/>
            <a:ext cx="3429000" cy="666750"/>
          </a:xfrm>
          <a:prstGeom prst="rect">
            <a:avLst/>
          </a:prstGeom>
        </p:spPr>
        <p:txBody>
          <a:bodyPr lIns="0" tIns="0" rIns="0" bIns="0" anchor="t"/>
          <a:lstStyle/>
          <a:p>
            <a:pPr>
              <a:buNone/>
              <a:defRPr sz="3675" b="1">
                <a:solidFill>
                  <a:srgbClr val="2860F5"/>
                </a:solidFill>
                <a:latin typeface="Segoe UI"/>
                <a:ea typeface="Segoe UI"/>
                <a:cs typeface="Segoe UI"/>
              </a:defRPr>
            </a:pPr>
            <a:r>
              <a:t>FASTQ</a:t>
            </a:r>
          </a:p>
        </p:txBody>
      </p:sp>
      <p:sp>
        <p:nvSpPr>
          <p:cNvPr id="11" name="text-32">
            <a:extLst>
              <a:ext uri="{FF2B5EF4-FFF2-40B4-BE49-F238E27FC236}">
                <a16:creationId xmlns:a16="http://schemas.microsoft.com/office/drawing/2014/main" id="{E4B54E98-4591-4FAD-A394-A8C3C11E9E0C}"/>
              </a:ext>
            </a:extLst>
          </p:cNvPr>
          <p:cNvSpPr>
            <a:spLocks noGrp="1"/>
          </p:cNvSpPr>
          <p:nvPr/>
        </p:nvSpPr>
        <p:spPr>
          <a:xfrm>
            <a:off x="8362950" y="4943475"/>
            <a:ext cx="3333750" cy="952500"/>
          </a:xfrm>
          <a:prstGeom prst="rect">
            <a:avLst/>
          </a:prstGeom>
        </p:spPr>
        <p:txBody>
          <a:bodyPr lIns="0" tIns="0" rIns="0" bIns="0" anchor="t"/>
          <a:lstStyle/>
          <a:p>
            <a:pPr>
              <a:buNone/>
              <a:defRPr sz="2175" b="0">
                <a:solidFill>
                  <a:srgbClr val="0D182A"/>
                </a:solidFill>
                <a:latin typeface="Segoe UI"/>
                <a:ea typeface="Segoe UI"/>
                <a:cs typeface="Segoe UI"/>
              </a:defRPr>
            </a:pPr>
            <a:r>
              <a:t>Sequence reads</a:t>
            </a:r>
          </a:p>
          <a:p>
            <a:pPr>
              <a:buNone/>
              <a:defRPr sz="2175" b="0">
                <a:solidFill>
                  <a:srgbClr val="0D182A"/>
                </a:solidFill>
                <a:latin typeface="Segoe UI"/>
                <a:ea typeface="Segoe UI"/>
                <a:cs typeface="Segoe UI"/>
              </a:defRPr>
            </a:pPr>
            <a:r>
              <a:t>Continue to NanoTel.</a:t>
            </a:r>
          </a:p>
        </p:txBody>
      </p:sp>
    </p:spTree>
    <p:extLst>
      <p:ext uri="{BB962C8B-B14F-4D97-AF65-F5344CB8AC3E}">
        <p14:creationId xmlns:p14="http://schemas.microsoft.com/office/powerpoint/2010/main" val="492475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33">
            <a:extLst>
              <a:ext uri="{FF2B5EF4-FFF2-40B4-BE49-F238E27FC236}">
                <a16:creationId xmlns:a16="http://schemas.microsoft.com/office/drawing/2014/main" id="{1470AD6A-76E6-4823-B78B-AE012ACC79B8}"/>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t>RUN SETUP</a:t>
            </a:r>
          </a:p>
        </p:txBody>
      </p:sp>
      <p:sp>
        <p:nvSpPr>
          <p:cNvPr id="2" name="text-34">
            <a:extLst>
              <a:ext uri="{FF2B5EF4-FFF2-40B4-BE49-F238E27FC236}">
                <a16:creationId xmlns:a16="http://schemas.microsoft.com/office/drawing/2014/main" id="{45D4992D-D8A9-4A81-B674-42CD64E1C3D5}"/>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35">
            <a:extLst>
              <a:ext uri="{FF2B5EF4-FFF2-40B4-BE49-F238E27FC236}">
                <a16:creationId xmlns:a16="http://schemas.microsoft.com/office/drawing/2014/main" id="{A8D9D16B-BA09-4806-8FEF-FDE9533F7AF5}"/>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06</a:t>
            </a:r>
          </a:p>
        </p:txBody>
      </p:sp>
      <p:sp>
        <p:nvSpPr>
          <p:cNvPr id="4" name="text-36">
            <a:extLst>
              <a:ext uri="{FF2B5EF4-FFF2-40B4-BE49-F238E27FC236}">
                <a16:creationId xmlns:a16="http://schemas.microsoft.com/office/drawing/2014/main" id="{FC48BF7E-DCE7-4DFF-94AA-B299906520E8}"/>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a:solidFill>
                  <a:srgbClr val="0D182A"/>
                </a:solidFill>
                <a:latin typeface="Arial"/>
                <a:ea typeface="Arial"/>
                <a:cs typeface="Arial"/>
              </a:rPr>
              <a:t>Output directory and organism</a:t>
            </a:r>
          </a:p>
        </p:txBody>
      </p:sp>
      <p:pic>
        <p:nvPicPr>
          <p:cNvPr id="17" name="Picture 16"/>
          <p:cNvPicPr>
            <a:picLocks noChangeAspect="1"/>
          </p:cNvPicPr>
          <p:nvPr/>
        </p:nvPicPr>
        <p:blipFill>
          <a:blip r:embed="rId3"/>
          <a:stretch/>
        </p:blipFill>
        <p:spPr>
          <a:xfrm>
            <a:off x="533400" y="2390775"/>
            <a:ext cx="11125200" cy="1047750"/>
          </a:xfrm>
          <a:prstGeom prst="rect">
            <a:avLst/>
          </a:prstGeom>
        </p:spPr>
      </p:pic>
      <p:pic>
        <p:nvPicPr>
          <p:cNvPr id="18" name="Picture 17"/>
          <p:cNvPicPr>
            <a:picLocks noChangeAspect="1"/>
          </p:cNvPicPr>
          <p:nvPr/>
        </p:nvPicPr>
        <p:blipFill>
          <a:blip r:embed="rId4"/>
          <a:stretch/>
        </p:blipFill>
        <p:spPr>
          <a:xfrm>
            <a:off x="533400" y="4676775"/>
            <a:ext cx="5524500" cy="1047750"/>
          </a:xfrm>
          <a:prstGeom prst="rect">
            <a:avLst/>
          </a:prstGeom>
        </p:spPr>
      </p:pic>
      <p:sp>
        <p:nvSpPr>
          <p:cNvPr id="7" name="text-37">
            <a:extLst>
              <a:ext uri="{FF2B5EF4-FFF2-40B4-BE49-F238E27FC236}">
                <a16:creationId xmlns:a16="http://schemas.microsoft.com/office/drawing/2014/main" id="{D7B9068A-7A46-4162-8650-53BCE29AB944}"/>
              </a:ext>
            </a:extLst>
          </p:cNvPr>
          <p:cNvSpPr>
            <a:spLocks noGrp="1"/>
          </p:cNvSpPr>
          <p:nvPr/>
        </p:nvSpPr>
        <p:spPr>
          <a:xfrm>
            <a:off x="533400" y="1914525"/>
            <a:ext cx="10477500" cy="428625"/>
          </a:xfrm>
          <a:prstGeom prst="rect">
            <a:avLst/>
          </a:prstGeom>
        </p:spPr>
        <p:txBody>
          <a:bodyPr lIns="0" tIns="0" rIns="0" bIns="0" anchor="t"/>
          <a:lstStyle/>
          <a:p>
            <a:pPr>
              <a:buNone/>
              <a:defRPr sz="2400" b="1">
                <a:solidFill>
                  <a:srgbClr val="2860F5"/>
                </a:solidFill>
                <a:latin typeface="Segoe UI"/>
                <a:ea typeface="Segoe UI"/>
                <a:cs typeface="Segoe UI"/>
              </a:defRPr>
            </a:pPr>
            <a:r>
              <a:t>Output Path</a:t>
            </a:r>
          </a:p>
        </p:txBody>
      </p:sp>
      <p:sp>
        <p:nvSpPr>
          <p:cNvPr id="8" name="text-38">
            <a:extLst>
              <a:ext uri="{FF2B5EF4-FFF2-40B4-BE49-F238E27FC236}">
                <a16:creationId xmlns:a16="http://schemas.microsoft.com/office/drawing/2014/main" id="{593E95AD-0920-430B-B3A0-81C5C86C56A6}"/>
              </a:ext>
            </a:extLst>
          </p:cNvPr>
          <p:cNvSpPr>
            <a:spLocks noGrp="1"/>
          </p:cNvSpPr>
          <p:nvPr/>
        </p:nvSpPr>
        <p:spPr>
          <a:xfrm>
            <a:off x="533400" y="3571875"/>
            <a:ext cx="10668000" cy="571500"/>
          </a:xfrm>
          <a:prstGeom prst="rect">
            <a:avLst/>
          </a:prstGeom>
        </p:spPr>
        <p:txBody>
          <a:bodyPr lIns="0" tIns="0" rIns="0" bIns="0" anchor="t"/>
          <a:lstStyle/>
          <a:p>
            <a:pPr>
              <a:buNone/>
              <a:defRPr sz="2175" b="0">
                <a:solidFill>
                  <a:srgbClr val="0D182A"/>
                </a:solidFill>
                <a:latin typeface="Segoe UI"/>
                <a:ea typeface="Segoe UI"/>
                <a:cs typeface="Segoe UI"/>
              </a:defRPr>
            </a:pPr>
            <a:r>
              <a:t>Select the destination for your run.</a:t>
            </a:r>
          </a:p>
        </p:txBody>
      </p:sp>
      <p:sp>
        <p:nvSpPr>
          <p:cNvPr id="9" name="text-39">
            <a:extLst>
              <a:ext uri="{FF2B5EF4-FFF2-40B4-BE49-F238E27FC236}">
                <a16:creationId xmlns:a16="http://schemas.microsoft.com/office/drawing/2014/main" id="{91233E65-7BD7-410D-A67E-0B9E7FAB0ED9}"/>
              </a:ext>
            </a:extLst>
          </p:cNvPr>
          <p:cNvSpPr>
            <a:spLocks noGrp="1"/>
          </p:cNvSpPr>
          <p:nvPr/>
        </p:nvSpPr>
        <p:spPr>
          <a:xfrm>
            <a:off x="533400" y="4162425"/>
            <a:ext cx="10477500" cy="428625"/>
          </a:xfrm>
          <a:prstGeom prst="rect">
            <a:avLst/>
          </a:prstGeom>
        </p:spPr>
        <p:txBody>
          <a:bodyPr lIns="0" tIns="0" rIns="0" bIns="0" anchor="t"/>
          <a:lstStyle/>
          <a:p>
            <a:pPr>
              <a:buNone/>
              <a:defRPr sz="2400" b="1">
                <a:solidFill>
                  <a:srgbClr val="2860F5"/>
                </a:solidFill>
                <a:latin typeface="Segoe UI"/>
                <a:ea typeface="Segoe UI"/>
                <a:cs typeface="Segoe UI"/>
              </a:defRPr>
            </a:pPr>
            <a:r>
              <a:t>Organism</a:t>
            </a:r>
          </a:p>
        </p:txBody>
      </p:sp>
      <p:sp>
        <p:nvSpPr>
          <p:cNvPr id="10" name="text-40">
            <a:extLst>
              <a:ext uri="{FF2B5EF4-FFF2-40B4-BE49-F238E27FC236}">
                <a16:creationId xmlns:a16="http://schemas.microsoft.com/office/drawing/2014/main" id="{E790D870-C49F-42D8-92CE-6FE799395AA3}"/>
              </a:ext>
            </a:extLst>
          </p:cNvPr>
          <p:cNvSpPr>
            <a:spLocks noGrp="1"/>
          </p:cNvSpPr>
          <p:nvPr/>
        </p:nvSpPr>
        <p:spPr>
          <a:xfrm>
            <a:off x="6543675" y="4924425"/>
            <a:ext cx="4953000" cy="819150"/>
          </a:xfrm>
          <a:prstGeom prst="rect">
            <a:avLst/>
          </a:prstGeom>
        </p:spPr>
        <p:txBody>
          <a:bodyPr lIns="0" tIns="0" rIns="0" bIns="0" anchor="t"/>
          <a:lstStyle/>
          <a:p>
            <a:pPr>
              <a:buNone/>
              <a:defRPr sz="2175" b="0">
                <a:solidFill>
                  <a:srgbClr val="0D182A"/>
                </a:solidFill>
                <a:latin typeface="Segoe UI"/>
                <a:ea typeface="Segoe UI"/>
                <a:cs typeface="Segoe UI"/>
              </a:defRPr>
            </a:pPr>
            <a:r>
              <a:t>Mouse • Human • Zebra Fish</a:t>
            </a:r>
          </a:p>
        </p:txBody>
      </p:sp>
    </p:spTree>
    <p:extLst>
      <p:ext uri="{BB962C8B-B14F-4D97-AF65-F5344CB8AC3E}">
        <p14:creationId xmlns:p14="http://schemas.microsoft.com/office/powerpoint/2010/main" val="6868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41">
            <a:extLst>
              <a:ext uri="{FF2B5EF4-FFF2-40B4-BE49-F238E27FC236}">
                <a16:creationId xmlns:a16="http://schemas.microsoft.com/office/drawing/2014/main" id="{A1A91230-714F-4894-BFE5-0E8BE69DFB45}"/>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t>ANALYSIS STEPS</a:t>
            </a:r>
          </a:p>
        </p:txBody>
      </p:sp>
      <p:sp>
        <p:nvSpPr>
          <p:cNvPr id="2" name="text-42">
            <a:extLst>
              <a:ext uri="{FF2B5EF4-FFF2-40B4-BE49-F238E27FC236}">
                <a16:creationId xmlns:a16="http://schemas.microsoft.com/office/drawing/2014/main" id="{1D7146C9-ED50-4BAB-B83C-440831966096}"/>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43">
            <a:extLst>
              <a:ext uri="{FF2B5EF4-FFF2-40B4-BE49-F238E27FC236}">
                <a16:creationId xmlns:a16="http://schemas.microsoft.com/office/drawing/2014/main" id="{E77EE328-559F-43E1-B9DA-E98D9A9F6FF7}"/>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07</a:t>
            </a:r>
          </a:p>
        </p:txBody>
      </p:sp>
      <p:sp>
        <p:nvSpPr>
          <p:cNvPr id="4" name="text-44">
            <a:extLst>
              <a:ext uri="{FF2B5EF4-FFF2-40B4-BE49-F238E27FC236}">
                <a16:creationId xmlns:a16="http://schemas.microsoft.com/office/drawing/2014/main" id="{4155C7D3-1FCE-457D-931A-53A9A28EA483}"/>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a:solidFill>
                  <a:srgbClr val="0D182A"/>
                </a:solidFill>
                <a:latin typeface="Arial"/>
                <a:ea typeface="Arial"/>
                <a:cs typeface="Arial"/>
              </a:rPr>
              <a:t>Analysis steps</a:t>
            </a:r>
          </a:p>
        </p:txBody>
      </p:sp>
      <p:pic>
        <p:nvPicPr>
          <p:cNvPr id="15" name="Picture 14"/>
          <p:cNvPicPr>
            <a:picLocks noChangeAspect="1"/>
          </p:cNvPicPr>
          <p:nvPr/>
        </p:nvPicPr>
        <p:blipFill>
          <a:blip r:embed="rId3"/>
          <a:stretch/>
        </p:blipFill>
        <p:spPr>
          <a:xfrm>
            <a:off x="457200" y="2302156"/>
            <a:ext cx="11277600" cy="1205938"/>
          </a:xfrm>
          <a:prstGeom prst="rect">
            <a:avLst/>
          </a:prstGeom>
        </p:spPr>
      </p:pic>
      <p:sp>
        <p:nvSpPr>
          <p:cNvPr id="6" name="text-45">
            <a:extLst>
              <a:ext uri="{FF2B5EF4-FFF2-40B4-BE49-F238E27FC236}">
                <a16:creationId xmlns:a16="http://schemas.microsoft.com/office/drawing/2014/main" id="{BD7DD90A-C991-4A9F-AA57-36F7E6550089}"/>
              </a:ext>
            </a:extLst>
          </p:cNvPr>
          <p:cNvSpPr>
            <a:spLocks noGrp="1"/>
          </p:cNvSpPr>
          <p:nvPr/>
        </p:nvSpPr>
        <p:spPr>
          <a:xfrm>
            <a:off x="533400" y="4133850"/>
            <a:ext cx="5191125" cy="523875"/>
          </a:xfrm>
          <a:prstGeom prst="rect">
            <a:avLst/>
          </a:prstGeom>
        </p:spPr>
        <p:txBody>
          <a:bodyPr lIns="0" tIns="0" rIns="0" bIns="0" anchor="t"/>
          <a:lstStyle/>
          <a:p>
            <a:pPr>
              <a:buNone/>
              <a:defRPr sz="2925" b="1">
                <a:solidFill>
                  <a:srgbClr val="2860F5"/>
                </a:solidFill>
                <a:latin typeface="Segoe UI"/>
                <a:ea typeface="Segoe UI"/>
                <a:cs typeface="Segoe UI"/>
              </a:defRPr>
            </a:pPr>
            <a:r>
              <a:t>Basecalling</a:t>
            </a:r>
          </a:p>
        </p:txBody>
      </p:sp>
      <p:sp>
        <p:nvSpPr>
          <p:cNvPr id="7" name="text-46">
            <a:extLst>
              <a:ext uri="{FF2B5EF4-FFF2-40B4-BE49-F238E27FC236}">
                <a16:creationId xmlns:a16="http://schemas.microsoft.com/office/drawing/2014/main" id="{810EB671-641E-481E-9136-1378025F4460}"/>
              </a:ext>
            </a:extLst>
          </p:cNvPr>
          <p:cNvSpPr>
            <a:spLocks noGrp="1"/>
          </p:cNvSpPr>
          <p:nvPr/>
        </p:nvSpPr>
        <p:spPr>
          <a:xfrm>
            <a:off x="533400" y="4895850"/>
            <a:ext cx="5191125" cy="1095375"/>
          </a:xfrm>
          <a:prstGeom prst="rect">
            <a:avLst/>
          </a:prstGeom>
        </p:spPr>
        <p:txBody>
          <a:bodyPr lIns="0" tIns="0" rIns="0" bIns="0" anchor="t"/>
          <a:lstStyle/>
          <a:p>
            <a:pPr>
              <a:buNone/>
              <a:defRPr sz="2175" b="0">
                <a:solidFill>
                  <a:srgbClr val="0D182A"/>
                </a:solidFill>
                <a:latin typeface="Segoe UI"/>
                <a:ea typeface="Segoe UI"/>
                <a:cs typeface="Segoe UI"/>
              </a:defRPr>
            </a:pPr>
            <a:r>
              <a:t>Convert POD5 signals into sequence reads.</a:t>
            </a:r>
          </a:p>
        </p:txBody>
      </p:sp>
      <p:sp>
        <p:nvSpPr>
          <p:cNvPr id="8" name="text-47">
            <a:extLst>
              <a:ext uri="{FF2B5EF4-FFF2-40B4-BE49-F238E27FC236}">
                <a16:creationId xmlns:a16="http://schemas.microsoft.com/office/drawing/2014/main" id="{CCD7D3F7-70EA-47EE-9CF9-A98306C73C74}"/>
              </a:ext>
            </a:extLst>
          </p:cNvPr>
          <p:cNvSpPr>
            <a:spLocks noGrp="1"/>
          </p:cNvSpPr>
          <p:nvPr/>
        </p:nvSpPr>
        <p:spPr>
          <a:xfrm>
            <a:off x="6381750" y="4133850"/>
            <a:ext cx="5334000" cy="523875"/>
          </a:xfrm>
          <a:prstGeom prst="rect">
            <a:avLst/>
          </a:prstGeom>
        </p:spPr>
        <p:txBody>
          <a:bodyPr lIns="0" tIns="0" rIns="0" bIns="0" anchor="t"/>
          <a:lstStyle/>
          <a:p>
            <a:pPr>
              <a:buNone/>
              <a:defRPr sz="2925" b="1">
                <a:solidFill>
                  <a:srgbClr val="2860F5"/>
                </a:solidFill>
                <a:latin typeface="Segoe UI"/>
                <a:ea typeface="Segoe UI"/>
                <a:cs typeface="Segoe UI"/>
              </a:defRPr>
            </a:pPr>
            <a:r>
              <a:t>NanoTel Analysis</a:t>
            </a:r>
          </a:p>
        </p:txBody>
      </p:sp>
      <p:sp>
        <p:nvSpPr>
          <p:cNvPr id="9" name="text-48">
            <a:extLst>
              <a:ext uri="{FF2B5EF4-FFF2-40B4-BE49-F238E27FC236}">
                <a16:creationId xmlns:a16="http://schemas.microsoft.com/office/drawing/2014/main" id="{04942B0C-5FD2-4B87-9D0F-1C3D96104560}"/>
              </a:ext>
            </a:extLst>
          </p:cNvPr>
          <p:cNvSpPr>
            <a:spLocks noGrp="1"/>
          </p:cNvSpPr>
          <p:nvPr/>
        </p:nvSpPr>
        <p:spPr>
          <a:xfrm>
            <a:off x="6381750" y="4895850"/>
            <a:ext cx="5334000" cy="1095375"/>
          </a:xfrm>
          <a:prstGeom prst="rect">
            <a:avLst/>
          </a:prstGeom>
        </p:spPr>
        <p:txBody>
          <a:bodyPr lIns="0" tIns="0" rIns="0" bIns="0" anchor="t"/>
          <a:lstStyle/>
          <a:p>
            <a:pPr>
              <a:buNone/>
              <a:defRPr sz="2175" b="0">
                <a:solidFill>
                  <a:srgbClr val="0D182A"/>
                </a:solidFill>
                <a:latin typeface="Segoe UI"/>
                <a:ea typeface="Segoe UI"/>
                <a:cs typeface="Segoe UI"/>
              </a:defRPr>
            </a:pPr>
            <a:r>
              <a:t>Analyze telomere content and generate summaries.</a:t>
            </a:r>
          </a:p>
        </p:txBody>
      </p:sp>
    </p:spTree>
    <p:extLst>
      <p:ext uri="{BB962C8B-B14F-4D97-AF65-F5344CB8AC3E}">
        <p14:creationId xmlns:p14="http://schemas.microsoft.com/office/powerpoint/2010/main" val="1463783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5" name="text-49">
            <a:extLst>
              <a:ext uri="{FF2B5EF4-FFF2-40B4-BE49-F238E27FC236}">
                <a16:creationId xmlns:a16="http://schemas.microsoft.com/office/drawing/2014/main" id="{0C07940F-2360-451F-BAB2-984E09C0A2DB}"/>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BASECALLING OPTIONS</a:t>
            </a:r>
          </a:p>
        </p:txBody>
      </p:sp>
      <p:sp>
        <p:nvSpPr>
          <p:cNvPr id="2" name="text-50">
            <a:extLst>
              <a:ext uri="{FF2B5EF4-FFF2-40B4-BE49-F238E27FC236}">
                <a16:creationId xmlns:a16="http://schemas.microsoft.com/office/drawing/2014/main" id="{F7756C69-1AC5-4C08-83D9-47A360608C5E}"/>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51">
            <a:extLst>
              <a:ext uri="{FF2B5EF4-FFF2-40B4-BE49-F238E27FC236}">
                <a16:creationId xmlns:a16="http://schemas.microsoft.com/office/drawing/2014/main" id="{A819AA8B-77B7-4B62-9D0C-60AD8DAD81F7}"/>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08</a:t>
            </a:r>
          </a:p>
        </p:txBody>
      </p:sp>
      <p:sp>
        <p:nvSpPr>
          <p:cNvPr id="4" name="text-52">
            <a:extLst>
              <a:ext uri="{FF2B5EF4-FFF2-40B4-BE49-F238E27FC236}">
                <a16:creationId xmlns:a16="http://schemas.microsoft.com/office/drawing/2014/main" id="{A8FCC4FB-174E-45A0-A953-7109CF5FC15E}"/>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Segoe UI"/>
                <a:ea typeface="Segoe UI"/>
                <a:cs typeface="Segoe UI"/>
              </a:defRPr>
            </a:pPr>
            <a:r>
              <a:rPr sz="4650" b="1">
                <a:solidFill>
                  <a:srgbClr val="FFFFFF"/>
                </a:solidFill>
                <a:latin typeface="Arial"/>
                <a:ea typeface="Arial"/>
                <a:cs typeface="Arial"/>
              </a:rPr>
              <a:t>Basecalling options</a:t>
            </a:r>
          </a:p>
        </p:txBody>
      </p:sp>
      <p:pic>
        <p:nvPicPr>
          <p:cNvPr id="15" name="Picture 14"/>
          <p:cNvPicPr>
            <a:picLocks noChangeAspect="1"/>
          </p:cNvPicPr>
          <p:nvPr/>
        </p:nvPicPr>
        <p:blipFill>
          <a:blip r:embed="rId3"/>
          <a:stretch/>
        </p:blipFill>
        <p:spPr>
          <a:xfrm>
            <a:off x="457200" y="2284206"/>
            <a:ext cx="7239000" cy="2461038"/>
          </a:xfrm>
          <a:prstGeom prst="rect">
            <a:avLst/>
          </a:prstGeom>
        </p:spPr>
      </p:pic>
      <p:sp>
        <p:nvSpPr>
          <p:cNvPr id="6" name="text-53">
            <a:extLst>
              <a:ext uri="{FF2B5EF4-FFF2-40B4-BE49-F238E27FC236}">
                <a16:creationId xmlns:a16="http://schemas.microsoft.com/office/drawing/2014/main" id="{2405A6C0-21AD-486D-944A-47A77F533C2D}"/>
              </a:ext>
            </a:extLst>
          </p:cNvPr>
          <p:cNvSpPr>
            <a:spLocks noGrp="1"/>
          </p:cNvSpPr>
          <p:nvPr/>
        </p:nvSpPr>
        <p:spPr>
          <a:xfrm>
            <a:off x="8286750" y="2238375"/>
            <a:ext cx="3333750" cy="523875"/>
          </a:xfrm>
          <a:prstGeom prst="rect">
            <a:avLst/>
          </a:prstGeom>
        </p:spPr>
        <p:txBody>
          <a:bodyPr lIns="0" tIns="0" rIns="0" bIns="0" anchor="t"/>
          <a:lstStyle/>
          <a:p>
            <a:pPr>
              <a:buNone/>
              <a:defRPr sz="2400" b="1">
                <a:solidFill>
                  <a:srgbClr val="B5F4DE"/>
                </a:solidFill>
                <a:latin typeface="Segoe UI"/>
                <a:ea typeface="Segoe UI"/>
                <a:cs typeface="Segoe UI"/>
              </a:defRPr>
            </a:pPr>
            <a:r>
              <a:t>Methylation Type</a:t>
            </a:r>
          </a:p>
        </p:txBody>
      </p:sp>
      <p:sp>
        <p:nvSpPr>
          <p:cNvPr id="7" name="text-54">
            <a:extLst>
              <a:ext uri="{FF2B5EF4-FFF2-40B4-BE49-F238E27FC236}">
                <a16:creationId xmlns:a16="http://schemas.microsoft.com/office/drawing/2014/main" id="{593A1565-8199-477B-AF38-BA39DE44D8BD}"/>
              </a:ext>
            </a:extLst>
          </p:cNvPr>
          <p:cNvSpPr>
            <a:spLocks noGrp="1"/>
          </p:cNvSpPr>
          <p:nvPr/>
        </p:nvSpPr>
        <p:spPr>
          <a:xfrm>
            <a:off x="8286750" y="2952750"/>
            <a:ext cx="3429000" cy="1562100"/>
          </a:xfrm>
          <a:prstGeom prst="rect">
            <a:avLst/>
          </a:prstGeom>
        </p:spPr>
        <p:txBody>
          <a:bodyPr lIns="0" tIns="0" rIns="0" bIns="0" anchor="t"/>
          <a:lstStyle/>
          <a:p>
            <a:pPr>
              <a:buNone/>
              <a:defRPr sz="2250" b="0">
                <a:solidFill>
                  <a:srgbClr val="FFFFFF"/>
                </a:solidFill>
                <a:latin typeface="Segoe UI"/>
                <a:ea typeface="Segoe UI"/>
                <a:cs typeface="Segoe UI"/>
              </a:defRPr>
            </a:pPr>
            <a:r>
              <a:t>None</a:t>
            </a:r>
          </a:p>
          <a:p>
            <a:pPr>
              <a:buNone/>
              <a:defRPr sz="2250" b="0">
                <a:solidFill>
                  <a:srgbClr val="FFFFFF"/>
                </a:solidFill>
                <a:latin typeface="Segoe UI"/>
                <a:ea typeface="Segoe UI"/>
                <a:cs typeface="Segoe UI"/>
              </a:defRPr>
            </a:pPr>
            <a:r>
              <a:t>5mCpG</a:t>
            </a:r>
          </a:p>
          <a:p>
            <a:pPr>
              <a:buNone/>
              <a:defRPr sz="2250" b="0">
                <a:solidFill>
                  <a:srgbClr val="FFFFFF"/>
                </a:solidFill>
                <a:latin typeface="Segoe UI"/>
                <a:ea typeface="Segoe UI"/>
                <a:cs typeface="Segoe UI"/>
              </a:defRPr>
            </a:pPr>
            <a:r>
              <a:t>5mCpG + 5hmCpG</a:t>
            </a:r>
          </a:p>
        </p:txBody>
      </p:sp>
      <p:sp>
        <p:nvSpPr>
          <p:cNvPr id="8" name="text-55">
            <a:extLst>
              <a:ext uri="{FF2B5EF4-FFF2-40B4-BE49-F238E27FC236}">
                <a16:creationId xmlns:a16="http://schemas.microsoft.com/office/drawing/2014/main" id="{595BDF70-A000-4301-BC6E-7462BC48AC05}"/>
              </a:ext>
            </a:extLst>
          </p:cNvPr>
          <p:cNvSpPr>
            <a:spLocks noGrp="1"/>
          </p:cNvSpPr>
          <p:nvPr/>
        </p:nvSpPr>
        <p:spPr>
          <a:xfrm>
            <a:off x="533400" y="5248275"/>
            <a:ext cx="11049000" cy="495300"/>
          </a:xfrm>
          <a:prstGeom prst="rect">
            <a:avLst/>
          </a:prstGeom>
        </p:spPr>
        <p:txBody>
          <a:bodyPr lIns="0" tIns="0" rIns="0" bIns="0" anchor="t"/>
          <a:lstStyle/>
          <a:p>
            <a:pPr>
              <a:buNone/>
              <a:defRPr sz="2550" b="1">
                <a:solidFill>
                  <a:srgbClr val="B5F4DE"/>
                </a:solidFill>
                <a:latin typeface="Segoe UI"/>
                <a:ea typeface="Segoe UI"/>
                <a:cs typeface="Segoe UI"/>
              </a:defRPr>
            </a:pPr>
            <a:r>
              <a:t>Chromosome Mapping</a:t>
            </a:r>
          </a:p>
        </p:txBody>
      </p:sp>
      <p:sp>
        <p:nvSpPr>
          <p:cNvPr id="9" name="text-56">
            <a:extLst>
              <a:ext uri="{FF2B5EF4-FFF2-40B4-BE49-F238E27FC236}">
                <a16:creationId xmlns:a16="http://schemas.microsoft.com/office/drawing/2014/main" id="{F672FBA0-248C-4024-90AF-0A50D184ED86}"/>
              </a:ext>
            </a:extLst>
          </p:cNvPr>
          <p:cNvSpPr>
            <a:spLocks noGrp="1"/>
          </p:cNvSpPr>
          <p:nvPr/>
        </p:nvSpPr>
        <p:spPr>
          <a:xfrm>
            <a:off x="457200" y="5800725"/>
            <a:ext cx="11239500" cy="428625"/>
          </a:xfrm>
          <a:prstGeom prst="rect">
            <a:avLst/>
          </a:prstGeom>
        </p:spPr>
        <p:txBody>
          <a:bodyPr lIns="0" tIns="0" rIns="0" bIns="0" anchor="t"/>
          <a:lstStyle/>
          <a:p>
            <a:pPr>
              <a:buNone/>
              <a:defRPr sz="2100" b="0">
                <a:solidFill>
                  <a:srgbClr val="FFFFFF"/>
                </a:solidFill>
                <a:latin typeface="Segoe UI"/>
                <a:ea typeface="Segoe UI"/>
                <a:cs typeface="Segoe UI"/>
              </a:defRPr>
            </a:pPr>
            <a:r>
              <a:t>Align reads to the genome; required when modifications are selected.</a:t>
            </a:r>
          </a:p>
        </p:txBody>
      </p:sp>
    </p:spTree>
    <p:extLst>
      <p:ext uri="{BB962C8B-B14F-4D97-AF65-F5344CB8AC3E}">
        <p14:creationId xmlns:p14="http://schemas.microsoft.com/office/powerpoint/2010/main" val="1360648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57">
            <a:extLst>
              <a:ext uri="{FF2B5EF4-FFF2-40B4-BE49-F238E27FC236}">
                <a16:creationId xmlns:a16="http://schemas.microsoft.com/office/drawing/2014/main" id="{B29BF157-2942-48D0-80D4-F39912FCD005}"/>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t>NANOTEL • TVR OPTIONS</a:t>
            </a:r>
          </a:p>
        </p:txBody>
      </p:sp>
      <p:sp>
        <p:nvSpPr>
          <p:cNvPr id="2" name="text-58">
            <a:extLst>
              <a:ext uri="{FF2B5EF4-FFF2-40B4-BE49-F238E27FC236}">
                <a16:creationId xmlns:a16="http://schemas.microsoft.com/office/drawing/2014/main" id="{70EB7BE5-9D75-477E-96E3-16A220BFBDA1}"/>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59">
            <a:extLst>
              <a:ext uri="{FF2B5EF4-FFF2-40B4-BE49-F238E27FC236}">
                <a16:creationId xmlns:a16="http://schemas.microsoft.com/office/drawing/2014/main" id="{1D7DBC4F-A491-49F3-8465-FDA6DA582179}"/>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09</a:t>
            </a:r>
          </a:p>
        </p:txBody>
      </p:sp>
      <p:sp>
        <p:nvSpPr>
          <p:cNvPr id="4" name="text-60">
            <a:extLst>
              <a:ext uri="{FF2B5EF4-FFF2-40B4-BE49-F238E27FC236}">
                <a16:creationId xmlns:a16="http://schemas.microsoft.com/office/drawing/2014/main" id="{CAAA48A2-FEAA-4F4B-B956-18F960D35C60}"/>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a:solidFill>
                  <a:srgbClr val="0D182A"/>
                </a:solidFill>
                <a:latin typeface="Arial"/>
                <a:ea typeface="Arial"/>
                <a:cs typeface="Arial"/>
              </a:rPr>
              <a:t>TVR options</a:t>
            </a:r>
          </a:p>
        </p:txBody>
      </p:sp>
      <p:pic>
        <p:nvPicPr>
          <p:cNvPr id="18" name="Picture 17"/>
          <p:cNvPicPr>
            <a:picLocks noChangeAspect="1"/>
          </p:cNvPicPr>
          <p:nvPr/>
        </p:nvPicPr>
        <p:blipFill>
          <a:blip r:embed="rId3"/>
          <a:stretch/>
        </p:blipFill>
        <p:spPr>
          <a:xfrm>
            <a:off x="457200" y="2150856"/>
            <a:ext cx="7239000" cy="2461038"/>
          </a:xfrm>
          <a:prstGeom prst="rect">
            <a:avLst/>
          </a:prstGeom>
        </p:spPr>
      </p:pic>
      <p:sp>
        <p:nvSpPr>
          <p:cNvPr id="6" name="text-61">
            <a:extLst>
              <a:ext uri="{FF2B5EF4-FFF2-40B4-BE49-F238E27FC236}">
                <a16:creationId xmlns:a16="http://schemas.microsoft.com/office/drawing/2014/main" id="{1EA42CB5-2EE4-4C47-8A47-2C4089BA63F7}"/>
              </a:ext>
            </a:extLst>
          </p:cNvPr>
          <p:cNvSpPr>
            <a:spLocks noGrp="1"/>
          </p:cNvSpPr>
          <p:nvPr/>
        </p:nvSpPr>
        <p:spPr>
          <a:xfrm>
            <a:off x="8286750" y="2076450"/>
            <a:ext cx="3333750" cy="457200"/>
          </a:xfrm>
          <a:prstGeom prst="rect">
            <a:avLst/>
          </a:prstGeom>
        </p:spPr>
        <p:txBody>
          <a:bodyPr lIns="0" tIns="0" rIns="0" bIns="0" anchor="t"/>
          <a:lstStyle/>
          <a:p>
            <a:pPr>
              <a:buNone/>
              <a:defRPr sz="2475" b="1">
                <a:solidFill>
                  <a:srgbClr val="2860F5"/>
                </a:solidFill>
                <a:latin typeface="Segoe UI"/>
                <a:ea typeface="Segoe UI"/>
                <a:cs typeface="Segoe UI"/>
              </a:defRPr>
            </a:pPr>
            <a:r>
              <a:t>Preset</a:t>
            </a:r>
          </a:p>
        </p:txBody>
      </p:sp>
      <p:sp>
        <p:nvSpPr>
          <p:cNvPr id="7" name="text-62">
            <a:extLst>
              <a:ext uri="{FF2B5EF4-FFF2-40B4-BE49-F238E27FC236}">
                <a16:creationId xmlns:a16="http://schemas.microsoft.com/office/drawing/2014/main" id="{E358A90B-F70E-4C9A-A7F5-3F86FFFD93B6}"/>
              </a:ext>
            </a:extLst>
          </p:cNvPr>
          <p:cNvSpPr>
            <a:spLocks noGrp="1"/>
          </p:cNvSpPr>
          <p:nvPr/>
        </p:nvSpPr>
        <p:spPr>
          <a:xfrm>
            <a:off x="8286750" y="2533650"/>
            <a:ext cx="3333750" cy="619125"/>
          </a:xfrm>
          <a:prstGeom prst="rect">
            <a:avLst/>
          </a:prstGeom>
        </p:spPr>
        <p:txBody>
          <a:bodyPr lIns="0" tIns="0" rIns="0" bIns="0" anchor="t"/>
          <a:lstStyle/>
          <a:p>
            <a:pPr>
              <a:buNone/>
              <a:defRPr sz="2025" b="0">
                <a:solidFill>
                  <a:srgbClr val="0D182A"/>
                </a:solidFill>
                <a:latin typeface="Segoe UI"/>
                <a:ea typeface="Segoe UI"/>
                <a:cs typeface="Segoe UI"/>
              </a:defRPr>
            </a:pPr>
            <a:r>
              <a:t>Organism-specific patterns</a:t>
            </a:r>
          </a:p>
        </p:txBody>
      </p:sp>
      <p:sp>
        <p:nvSpPr>
          <p:cNvPr id="8" name="text-63">
            <a:extLst>
              <a:ext uri="{FF2B5EF4-FFF2-40B4-BE49-F238E27FC236}">
                <a16:creationId xmlns:a16="http://schemas.microsoft.com/office/drawing/2014/main" id="{F13EA020-7D54-4374-BF2E-94D1D7BCBABE}"/>
              </a:ext>
            </a:extLst>
          </p:cNvPr>
          <p:cNvSpPr>
            <a:spLocks noGrp="1"/>
          </p:cNvSpPr>
          <p:nvPr/>
        </p:nvSpPr>
        <p:spPr>
          <a:xfrm>
            <a:off x="8286750" y="3324225"/>
            <a:ext cx="3333750" cy="457200"/>
          </a:xfrm>
          <a:prstGeom prst="rect">
            <a:avLst/>
          </a:prstGeom>
        </p:spPr>
        <p:txBody>
          <a:bodyPr lIns="0" tIns="0" rIns="0" bIns="0" anchor="t"/>
          <a:lstStyle/>
          <a:p>
            <a:pPr>
              <a:buNone/>
              <a:defRPr sz="2475" b="1">
                <a:solidFill>
                  <a:srgbClr val="2860F5"/>
                </a:solidFill>
                <a:latin typeface="Segoe UI"/>
                <a:ea typeface="Segoe UI"/>
                <a:cs typeface="Segoe UI"/>
              </a:defRPr>
            </a:pPr>
            <a:r>
              <a:t>TSQ1</a:t>
            </a:r>
          </a:p>
        </p:txBody>
      </p:sp>
      <p:sp>
        <p:nvSpPr>
          <p:cNvPr id="9" name="text-64">
            <a:extLst>
              <a:ext uri="{FF2B5EF4-FFF2-40B4-BE49-F238E27FC236}">
                <a16:creationId xmlns:a16="http://schemas.microsoft.com/office/drawing/2014/main" id="{470B4A04-385C-496B-9BA6-3030EA041EE1}"/>
              </a:ext>
            </a:extLst>
          </p:cNvPr>
          <p:cNvSpPr>
            <a:spLocks noGrp="1"/>
          </p:cNvSpPr>
          <p:nvPr/>
        </p:nvSpPr>
        <p:spPr>
          <a:xfrm>
            <a:off x="8286750" y="3781425"/>
            <a:ext cx="3333750" cy="619125"/>
          </a:xfrm>
          <a:prstGeom prst="rect">
            <a:avLst/>
          </a:prstGeom>
        </p:spPr>
        <p:txBody>
          <a:bodyPr lIns="0" tIns="0" rIns="0" bIns="0" anchor="t"/>
          <a:lstStyle/>
          <a:p>
            <a:pPr>
              <a:buNone/>
              <a:defRPr sz="2025" b="0">
                <a:solidFill>
                  <a:srgbClr val="0D182A"/>
                </a:solidFill>
                <a:latin typeface="Segoe UI"/>
                <a:ea typeface="Segoe UI"/>
                <a:cs typeface="Segoe UI"/>
              </a:defRPr>
            </a:pPr>
            <a:r>
              <a:t>The TSQ1 repeat pattern</a:t>
            </a:r>
          </a:p>
        </p:txBody>
      </p:sp>
      <p:sp>
        <p:nvSpPr>
          <p:cNvPr id="10" name="text-65">
            <a:extLst>
              <a:ext uri="{FF2B5EF4-FFF2-40B4-BE49-F238E27FC236}">
                <a16:creationId xmlns:a16="http://schemas.microsoft.com/office/drawing/2014/main" id="{892E5AC4-A288-4C63-8DEE-C93FE66A43D3}"/>
              </a:ext>
            </a:extLst>
          </p:cNvPr>
          <p:cNvSpPr>
            <a:spLocks noGrp="1"/>
          </p:cNvSpPr>
          <p:nvPr/>
        </p:nvSpPr>
        <p:spPr>
          <a:xfrm>
            <a:off x="8286750" y="4572000"/>
            <a:ext cx="3333750" cy="457200"/>
          </a:xfrm>
          <a:prstGeom prst="rect">
            <a:avLst/>
          </a:prstGeom>
        </p:spPr>
        <p:txBody>
          <a:bodyPr lIns="0" tIns="0" rIns="0" bIns="0" anchor="t"/>
          <a:lstStyle/>
          <a:p>
            <a:pPr>
              <a:buNone/>
              <a:defRPr sz="2475" b="1">
                <a:solidFill>
                  <a:srgbClr val="2860F5"/>
                </a:solidFill>
                <a:latin typeface="Segoe UI"/>
                <a:ea typeface="Segoe UI"/>
                <a:cs typeface="Segoe UI"/>
              </a:defRPr>
            </a:pPr>
            <a:r>
              <a:t>Manual</a:t>
            </a:r>
          </a:p>
        </p:txBody>
      </p:sp>
      <p:sp>
        <p:nvSpPr>
          <p:cNvPr id="11" name="text-66">
            <a:extLst>
              <a:ext uri="{FF2B5EF4-FFF2-40B4-BE49-F238E27FC236}">
                <a16:creationId xmlns:a16="http://schemas.microsoft.com/office/drawing/2014/main" id="{35CFC218-A44A-4659-A934-6A87A549DD36}"/>
              </a:ext>
            </a:extLst>
          </p:cNvPr>
          <p:cNvSpPr>
            <a:spLocks noGrp="1"/>
          </p:cNvSpPr>
          <p:nvPr/>
        </p:nvSpPr>
        <p:spPr>
          <a:xfrm>
            <a:off x="8286750" y="5029200"/>
            <a:ext cx="3333750" cy="619125"/>
          </a:xfrm>
          <a:prstGeom prst="rect">
            <a:avLst/>
          </a:prstGeom>
        </p:spPr>
        <p:txBody>
          <a:bodyPr lIns="0" tIns="0" rIns="0" bIns="0" anchor="t"/>
          <a:lstStyle/>
          <a:p>
            <a:pPr>
              <a:buNone/>
              <a:defRPr sz="2025" b="0">
                <a:solidFill>
                  <a:srgbClr val="0D182A"/>
                </a:solidFill>
                <a:latin typeface="Segoe UI"/>
                <a:ea typeface="Segoe UI"/>
                <a:cs typeface="Segoe UI"/>
              </a:defRPr>
            </a:pPr>
            <a:r>
              <a:t>Your own DNA patterns</a:t>
            </a:r>
          </a:p>
        </p:txBody>
      </p:sp>
      <p:sp>
        <p:nvSpPr>
          <p:cNvPr id="12" name="text-67">
            <a:extLst>
              <a:ext uri="{FF2B5EF4-FFF2-40B4-BE49-F238E27FC236}">
                <a16:creationId xmlns:a16="http://schemas.microsoft.com/office/drawing/2014/main" id="{315E14B6-056A-42F1-81E2-71AA65ED5FE9}"/>
              </a:ext>
            </a:extLst>
          </p:cNvPr>
          <p:cNvSpPr>
            <a:spLocks noGrp="1"/>
          </p:cNvSpPr>
          <p:nvPr/>
        </p:nvSpPr>
        <p:spPr>
          <a:xfrm>
            <a:off x="457200" y="5648325"/>
            <a:ext cx="7635240" cy="619125"/>
          </a:xfrm>
          <a:prstGeom prst="rect">
            <a:avLst/>
          </a:prstGeom>
        </p:spPr>
        <p:txBody>
          <a:bodyPr lIns="0" tIns="0" rIns="0" bIns="0" anchor="t"/>
          <a:lstStyle/>
          <a:p>
            <a:pPr>
              <a:buNone/>
              <a:defRPr sz="2175" b="0">
                <a:solidFill>
                  <a:srgbClr val="0D182A"/>
                </a:solidFill>
                <a:latin typeface="Segoe UI"/>
                <a:ea typeface="Segoe UI"/>
                <a:cs typeface="Segoe UI"/>
              </a:defRPr>
            </a:pPr>
            <a:r>
              <a:t>Combine modes, or leave all unselected to skip TVR patterns.</a:t>
            </a:r>
          </a:p>
        </p:txBody>
      </p:sp>
    </p:spTree>
    <p:extLst>
      <p:ext uri="{BB962C8B-B14F-4D97-AF65-F5344CB8AC3E}">
        <p14:creationId xmlns:p14="http://schemas.microsoft.com/office/powerpoint/2010/main" val="1104009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5" name="text-68">
            <a:extLst>
              <a:ext uri="{FF2B5EF4-FFF2-40B4-BE49-F238E27FC236}">
                <a16:creationId xmlns:a16="http://schemas.microsoft.com/office/drawing/2014/main" id="{7A451CE1-AC27-4740-997E-A3DE3082EF05}"/>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t>NANOTEL • PATTERN MATCHING</a:t>
            </a:r>
          </a:p>
        </p:txBody>
      </p:sp>
      <p:sp>
        <p:nvSpPr>
          <p:cNvPr id="2" name="text-69">
            <a:extLst>
              <a:ext uri="{FF2B5EF4-FFF2-40B4-BE49-F238E27FC236}">
                <a16:creationId xmlns:a16="http://schemas.microsoft.com/office/drawing/2014/main" id="{7A512A98-E9EA-4FB2-91F3-3EA58EBE6631}"/>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70">
            <a:extLst>
              <a:ext uri="{FF2B5EF4-FFF2-40B4-BE49-F238E27FC236}">
                <a16:creationId xmlns:a16="http://schemas.microsoft.com/office/drawing/2014/main" id="{8AF1B14A-DC75-4E00-8850-7F0A4452279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10</a:t>
            </a:r>
          </a:p>
        </p:txBody>
      </p:sp>
      <p:sp>
        <p:nvSpPr>
          <p:cNvPr id="4" name="text-71">
            <a:extLst>
              <a:ext uri="{FF2B5EF4-FFF2-40B4-BE49-F238E27FC236}">
                <a16:creationId xmlns:a16="http://schemas.microsoft.com/office/drawing/2014/main" id="{33A8A0CD-89E4-4ED5-81EE-5CE8BEB5D3A1}"/>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a:solidFill>
                  <a:srgbClr val="0D182A"/>
                </a:solidFill>
                <a:latin typeface="Arial"/>
                <a:ea typeface="Arial"/>
                <a:cs typeface="Arial"/>
              </a:rPr>
              <a:t>Pattern matching options</a:t>
            </a:r>
          </a:p>
        </p:txBody>
      </p:sp>
      <p:pic>
        <p:nvPicPr>
          <p:cNvPr id="17" name="Picture 16"/>
          <p:cNvPicPr>
            <a:picLocks noChangeAspect="1"/>
          </p:cNvPicPr>
          <p:nvPr/>
        </p:nvPicPr>
        <p:blipFill>
          <a:blip r:embed="rId3"/>
          <a:stretch/>
        </p:blipFill>
        <p:spPr>
          <a:xfrm>
            <a:off x="457200" y="2399225"/>
            <a:ext cx="5143500" cy="2107176"/>
          </a:xfrm>
          <a:prstGeom prst="rect">
            <a:avLst/>
          </a:prstGeom>
        </p:spPr>
      </p:pic>
      <p:sp>
        <p:nvSpPr>
          <p:cNvPr id="6" name="text-72">
            <a:extLst>
              <a:ext uri="{FF2B5EF4-FFF2-40B4-BE49-F238E27FC236}">
                <a16:creationId xmlns:a16="http://schemas.microsoft.com/office/drawing/2014/main" id="{7F806321-704A-49F4-9725-D75840278ED2}"/>
              </a:ext>
            </a:extLst>
          </p:cNvPr>
          <p:cNvSpPr>
            <a:spLocks noGrp="1"/>
          </p:cNvSpPr>
          <p:nvPr/>
        </p:nvSpPr>
        <p:spPr>
          <a:xfrm>
            <a:off x="533400" y="5076825"/>
            <a:ext cx="5191125" cy="476250"/>
          </a:xfrm>
          <a:prstGeom prst="rect">
            <a:avLst/>
          </a:prstGeom>
        </p:spPr>
        <p:txBody>
          <a:bodyPr lIns="0" tIns="0" rIns="0" bIns="0" anchor="t"/>
          <a:lstStyle/>
          <a:p>
            <a:pPr>
              <a:buNone/>
              <a:defRPr sz="2550" b="1">
                <a:solidFill>
                  <a:srgbClr val="2860F5"/>
                </a:solidFill>
                <a:latin typeface="Segoe UI"/>
                <a:ea typeface="Segoe UI"/>
                <a:cs typeface="Segoe UI"/>
              </a:defRPr>
            </a:pPr>
            <a:r>
              <a:t>Manual patterns</a:t>
            </a:r>
          </a:p>
        </p:txBody>
      </p:sp>
      <p:sp>
        <p:nvSpPr>
          <p:cNvPr id="7" name="text-73">
            <a:extLst>
              <a:ext uri="{FF2B5EF4-FFF2-40B4-BE49-F238E27FC236}">
                <a16:creationId xmlns:a16="http://schemas.microsoft.com/office/drawing/2014/main" id="{64913607-7C6E-4AAC-894E-A54ADF9F8A88}"/>
              </a:ext>
            </a:extLst>
          </p:cNvPr>
          <p:cNvSpPr>
            <a:spLocks noGrp="1"/>
          </p:cNvSpPr>
          <p:nvPr/>
        </p:nvSpPr>
        <p:spPr>
          <a:xfrm>
            <a:off x="457200" y="5686425"/>
            <a:ext cx="5191125" cy="619125"/>
          </a:xfrm>
          <a:prstGeom prst="rect">
            <a:avLst/>
          </a:prstGeom>
        </p:spPr>
        <p:txBody>
          <a:bodyPr lIns="0" tIns="0" rIns="0" bIns="0" anchor="t"/>
          <a:lstStyle/>
          <a:p>
            <a:pPr>
              <a:buNone/>
              <a:defRPr sz="2175" b="0">
                <a:solidFill>
                  <a:srgbClr val="0D182A"/>
                </a:solidFill>
                <a:latin typeface="Segoe UI"/>
                <a:ea typeface="Segoe UI"/>
                <a:cs typeface="Segoe UI"/>
              </a:defRPr>
            </a:pPr>
            <a:r>
              <a:t>Enter DNA patterns separated by spaces.</a:t>
            </a:r>
          </a:p>
        </p:txBody>
      </p:sp>
      <p:sp>
        <p:nvSpPr>
          <p:cNvPr id="8" name="text-74">
            <a:extLst>
              <a:ext uri="{FF2B5EF4-FFF2-40B4-BE49-F238E27FC236}">
                <a16:creationId xmlns:a16="http://schemas.microsoft.com/office/drawing/2014/main" id="{741EEF5D-51CD-42DA-82C6-4C86EE45F9FF}"/>
              </a:ext>
            </a:extLst>
          </p:cNvPr>
          <p:cNvSpPr>
            <a:spLocks noGrp="1"/>
          </p:cNvSpPr>
          <p:nvPr/>
        </p:nvSpPr>
        <p:spPr>
          <a:xfrm>
            <a:off x="6381750" y="2276475"/>
            <a:ext cx="5334000" cy="523875"/>
          </a:xfrm>
          <a:prstGeom prst="rect">
            <a:avLst/>
          </a:prstGeom>
        </p:spPr>
        <p:txBody>
          <a:bodyPr lIns="0" tIns="0" rIns="0" bIns="0" anchor="t"/>
          <a:lstStyle/>
          <a:p>
            <a:pPr>
              <a:buNone/>
              <a:defRPr sz="2550" b="1">
                <a:solidFill>
                  <a:srgbClr val="2860F5"/>
                </a:solidFill>
                <a:latin typeface="Segoe UI"/>
                <a:ea typeface="Segoe UI"/>
                <a:cs typeface="Segoe UI"/>
              </a:defRPr>
            </a:pPr>
            <a:r>
              <a:t>Allow 1 mismatch</a:t>
            </a:r>
          </a:p>
        </p:txBody>
      </p:sp>
      <p:sp>
        <p:nvSpPr>
          <p:cNvPr id="9" name="text-75">
            <a:extLst>
              <a:ext uri="{FF2B5EF4-FFF2-40B4-BE49-F238E27FC236}">
                <a16:creationId xmlns:a16="http://schemas.microsoft.com/office/drawing/2014/main" id="{2A906778-4FD5-462D-9DE4-0A252D5F6993}"/>
              </a:ext>
            </a:extLst>
          </p:cNvPr>
          <p:cNvSpPr>
            <a:spLocks noGrp="1"/>
          </p:cNvSpPr>
          <p:nvPr/>
        </p:nvSpPr>
        <p:spPr>
          <a:xfrm>
            <a:off x="6381750" y="2971800"/>
            <a:ext cx="5334000" cy="1143000"/>
          </a:xfrm>
          <a:prstGeom prst="rect">
            <a:avLst/>
          </a:prstGeom>
        </p:spPr>
        <p:txBody>
          <a:bodyPr lIns="0" tIns="0" rIns="0" bIns="0" anchor="t"/>
          <a:lstStyle/>
          <a:p>
            <a:pPr>
              <a:buNone/>
              <a:defRPr sz="2325" b="0">
                <a:solidFill>
                  <a:srgbClr val="0D182A"/>
                </a:solidFill>
                <a:latin typeface="Segoe UI"/>
                <a:ea typeface="Segoe UI"/>
                <a:cs typeface="Segoe UI"/>
              </a:defRPr>
            </a:pPr>
            <a:r>
              <a:t>Permit one difference in telomere and TVR patterns.</a:t>
            </a:r>
          </a:p>
        </p:txBody>
      </p:sp>
      <p:sp>
        <p:nvSpPr>
          <p:cNvPr id="10" name="text-76">
            <a:extLst>
              <a:ext uri="{FF2B5EF4-FFF2-40B4-BE49-F238E27FC236}">
                <a16:creationId xmlns:a16="http://schemas.microsoft.com/office/drawing/2014/main" id="{73A9EA40-5481-4503-AA85-5F9F90695B51}"/>
              </a:ext>
            </a:extLst>
          </p:cNvPr>
          <p:cNvSpPr>
            <a:spLocks noGrp="1"/>
          </p:cNvSpPr>
          <p:nvPr/>
        </p:nvSpPr>
        <p:spPr>
          <a:xfrm>
            <a:off x="6381750" y="4552950"/>
            <a:ext cx="5334000" cy="571500"/>
          </a:xfrm>
          <a:prstGeom prst="rect">
            <a:avLst/>
          </a:prstGeom>
        </p:spPr>
        <p:txBody>
          <a:bodyPr lIns="0" tIns="0" rIns="0" bIns="0" anchor="t"/>
          <a:lstStyle/>
          <a:p>
            <a:pPr>
              <a:buNone/>
              <a:defRPr sz="2400" b="1">
                <a:solidFill>
                  <a:srgbClr val="0D182A"/>
                </a:solidFill>
                <a:latin typeface="Segoe UI"/>
                <a:ea typeface="Segoe UI"/>
                <a:cs typeface="Segoe UI"/>
              </a:defRPr>
            </a:pPr>
            <a:r>
              <a:t>Preset uses exact matching.</a:t>
            </a:r>
          </a:p>
        </p:txBody>
      </p:sp>
      <p:sp>
        <p:nvSpPr>
          <p:cNvPr id="11" name="text-77">
            <a:extLst>
              <a:ext uri="{FF2B5EF4-FFF2-40B4-BE49-F238E27FC236}">
                <a16:creationId xmlns:a16="http://schemas.microsoft.com/office/drawing/2014/main" id="{DBD5FD1C-1194-456C-90D5-D489DC901769}"/>
              </a:ext>
            </a:extLst>
          </p:cNvPr>
          <p:cNvSpPr>
            <a:spLocks noGrp="1"/>
          </p:cNvSpPr>
          <p:nvPr/>
        </p:nvSpPr>
        <p:spPr>
          <a:xfrm>
            <a:off x="6381750" y="5314950"/>
            <a:ext cx="5334000" cy="857250"/>
          </a:xfrm>
          <a:prstGeom prst="rect">
            <a:avLst/>
          </a:prstGeom>
        </p:spPr>
        <p:txBody>
          <a:bodyPr lIns="0" tIns="0" rIns="0" bIns="0" anchor="t"/>
          <a:lstStyle/>
          <a:p>
            <a:pPr>
              <a:buNone/>
              <a:defRPr sz="2175" b="0">
                <a:solidFill>
                  <a:srgbClr val="0D182A"/>
                </a:solidFill>
                <a:latin typeface="Segoe UI"/>
                <a:ea typeface="Segoe UI"/>
                <a:cs typeface="Segoe UI"/>
              </a:defRPr>
            </a:pPr>
            <a:r>
              <a:t>Selecting Preset disables the mismatch option.</a:t>
            </a:r>
          </a:p>
        </p:txBody>
      </p:sp>
    </p:spTree>
    <p:extLst>
      <p:ext uri="{BB962C8B-B14F-4D97-AF65-F5344CB8AC3E}">
        <p14:creationId xmlns:p14="http://schemas.microsoft.com/office/powerpoint/2010/main" val="656073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15" name="text-78">
            <a:extLst>
              <a:ext uri="{FF2B5EF4-FFF2-40B4-BE49-F238E27FC236}">
                <a16:creationId xmlns:a16="http://schemas.microsoft.com/office/drawing/2014/main" id="{10FEC68C-6DD7-425E-8BF9-ED9A3C10E106}"/>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t>NANOTEL • NUMERIC OPTIONS</a:t>
            </a:r>
          </a:p>
        </p:txBody>
      </p:sp>
      <p:sp>
        <p:nvSpPr>
          <p:cNvPr id="2" name="text-79">
            <a:extLst>
              <a:ext uri="{FF2B5EF4-FFF2-40B4-BE49-F238E27FC236}">
                <a16:creationId xmlns:a16="http://schemas.microsoft.com/office/drawing/2014/main" id="{35C42D44-8886-4F7D-9691-75394D651D78}"/>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80">
            <a:extLst>
              <a:ext uri="{FF2B5EF4-FFF2-40B4-BE49-F238E27FC236}">
                <a16:creationId xmlns:a16="http://schemas.microsoft.com/office/drawing/2014/main" id="{2DB7CDFB-7300-4838-AA82-AF0751716F04}"/>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11</a:t>
            </a:r>
          </a:p>
        </p:txBody>
      </p:sp>
      <p:sp>
        <p:nvSpPr>
          <p:cNvPr id="4" name="text-81">
            <a:extLst>
              <a:ext uri="{FF2B5EF4-FFF2-40B4-BE49-F238E27FC236}">
                <a16:creationId xmlns:a16="http://schemas.microsoft.com/office/drawing/2014/main" id="{F81D1C75-A9B2-4D9E-B209-8AB9BEA11B56}"/>
              </a:ext>
            </a:extLst>
          </p:cNvPr>
          <p:cNvSpPr>
            <a:spLocks noGrp="1"/>
          </p:cNvSpPr>
          <p:nvPr/>
        </p:nvSpPr>
        <p:spPr>
          <a:xfrm>
            <a:off x="533400" y="838200"/>
            <a:ext cx="11125200" cy="857250"/>
          </a:xfrm>
          <a:prstGeom prst="rect">
            <a:avLst/>
          </a:prstGeom>
        </p:spPr>
        <p:txBody>
          <a:bodyPr lIns="0" tIns="0" rIns="0" bIns="0" anchor="t"/>
          <a:lstStyle/>
          <a:p>
            <a:pPr>
              <a:buNone/>
              <a:defRPr sz="4275" b="1">
                <a:solidFill>
                  <a:srgbClr val="0D182A"/>
                </a:solidFill>
                <a:latin typeface="Segoe UI"/>
                <a:ea typeface="Segoe UI"/>
                <a:cs typeface="Segoe UI"/>
              </a:defRPr>
            </a:pPr>
            <a:r>
              <a:rPr sz="4275" b="1">
                <a:solidFill>
                  <a:srgbClr val="0D182A"/>
                </a:solidFill>
                <a:latin typeface="Arial"/>
                <a:ea typeface="Arial"/>
                <a:cs typeface="Arial"/>
              </a:rPr>
              <a:t>Filtering and reporting parameters</a:t>
            </a:r>
          </a:p>
        </p:txBody>
      </p:sp>
      <p:sp>
        <p:nvSpPr>
          <p:cNvPr id="5" name="text-82">
            <a:extLst>
              <a:ext uri="{FF2B5EF4-FFF2-40B4-BE49-F238E27FC236}">
                <a16:creationId xmlns:a16="http://schemas.microsoft.com/office/drawing/2014/main" id="{1C535630-D523-4540-B77F-08EC5F1BA43E}"/>
              </a:ext>
            </a:extLst>
          </p:cNvPr>
          <p:cNvSpPr>
            <a:spLocks noGrp="1"/>
          </p:cNvSpPr>
          <p:nvPr/>
        </p:nvSpPr>
        <p:spPr>
          <a:xfrm>
            <a:off x="457200" y="2143125"/>
            <a:ext cx="4667250" cy="552450"/>
          </a:xfrm>
          <a:prstGeom prst="rect">
            <a:avLst/>
          </a:prstGeom>
        </p:spPr>
        <p:txBody>
          <a:bodyPr lIns="0" tIns="0" rIns="0" bIns="0" anchor="t"/>
          <a:lstStyle/>
          <a:p>
            <a:pPr>
              <a:buNone/>
              <a:defRPr sz="2400" b="1">
                <a:solidFill>
                  <a:srgbClr val="2860F5"/>
                </a:solidFill>
                <a:latin typeface="Segoe UI"/>
                <a:ea typeface="Segoe UI"/>
                <a:cs typeface="Segoe UI"/>
              </a:defRPr>
            </a:pPr>
            <a:r>
              <a:t>Min Read Length (bp)</a:t>
            </a:r>
          </a:p>
        </p:txBody>
      </p:sp>
      <p:sp>
        <p:nvSpPr>
          <p:cNvPr id="6" name="text-83">
            <a:extLst>
              <a:ext uri="{FF2B5EF4-FFF2-40B4-BE49-F238E27FC236}">
                <a16:creationId xmlns:a16="http://schemas.microsoft.com/office/drawing/2014/main" id="{DA59870A-A5B2-4C1B-8C03-572ED051A401}"/>
              </a:ext>
            </a:extLst>
          </p:cNvPr>
          <p:cNvSpPr>
            <a:spLocks noGrp="1"/>
          </p:cNvSpPr>
          <p:nvPr/>
        </p:nvSpPr>
        <p:spPr>
          <a:xfrm>
            <a:off x="5810250" y="2143125"/>
            <a:ext cx="5905500" cy="619125"/>
          </a:xfrm>
          <a:prstGeom prst="rect">
            <a:avLst/>
          </a:prstGeom>
        </p:spPr>
        <p:txBody>
          <a:bodyPr lIns="0" tIns="0" rIns="0" bIns="0" anchor="t"/>
          <a:lstStyle/>
          <a:p>
            <a:pPr>
              <a:buNone/>
              <a:defRPr sz="2175" b="0">
                <a:solidFill>
                  <a:srgbClr val="0D182A"/>
                </a:solidFill>
                <a:latin typeface="Segoe UI"/>
                <a:ea typeface="Segoe UI"/>
                <a:cs typeface="Segoe UI"/>
              </a:defRPr>
            </a:pPr>
            <a:r>
              <a:t>Minimum accepted read length</a:t>
            </a:r>
          </a:p>
        </p:txBody>
      </p:sp>
      <p:sp>
        <p:nvSpPr>
          <p:cNvPr id="7" name="text-84">
            <a:extLst>
              <a:ext uri="{FF2B5EF4-FFF2-40B4-BE49-F238E27FC236}">
                <a16:creationId xmlns:a16="http://schemas.microsoft.com/office/drawing/2014/main" id="{4FD33363-0FAB-487D-8059-701B40F76206}"/>
              </a:ext>
            </a:extLst>
          </p:cNvPr>
          <p:cNvSpPr>
            <a:spLocks noGrp="1"/>
          </p:cNvSpPr>
          <p:nvPr/>
        </p:nvSpPr>
        <p:spPr>
          <a:xfrm>
            <a:off x="457200" y="2943225"/>
            <a:ext cx="4667250" cy="552450"/>
          </a:xfrm>
          <a:prstGeom prst="rect">
            <a:avLst/>
          </a:prstGeom>
        </p:spPr>
        <p:txBody>
          <a:bodyPr lIns="0" tIns="0" rIns="0" bIns="0" anchor="t"/>
          <a:lstStyle/>
          <a:p>
            <a:pPr>
              <a:buNone/>
              <a:defRPr sz="2400" b="1">
                <a:solidFill>
                  <a:srgbClr val="2860F5"/>
                </a:solidFill>
                <a:latin typeface="Segoe UI"/>
                <a:ea typeface="Segoe UI"/>
                <a:cs typeface="Segoe UI"/>
              </a:defRPr>
            </a:pPr>
            <a:r>
              <a:t>Max Edge Distance</a:t>
            </a:r>
          </a:p>
        </p:txBody>
      </p:sp>
      <p:sp>
        <p:nvSpPr>
          <p:cNvPr id="8" name="text-85">
            <a:extLst>
              <a:ext uri="{FF2B5EF4-FFF2-40B4-BE49-F238E27FC236}">
                <a16:creationId xmlns:a16="http://schemas.microsoft.com/office/drawing/2014/main" id="{8D242702-1B21-4DB5-AAED-184B245AB261}"/>
              </a:ext>
            </a:extLst>
          </p:cNvPr>
          <p:cNvSpPr>
            <a:spLocks noGrp="1"/>
          </p:cNvSpPr>
          <p:nvPr/>
        </p:nvSpPr>
        <p:spPr>
          <a:xfrm>
            <a:off x="5810250" y="2943225"/>
            <a:ext cx="5905500" cy="619125"/>
          </a:xfrm>
          <a:prstGeom prst="rect">
            <a:avLst/>
          </a:prstGeom>
        </p:spPr>
        <p:txBody>
          <a:bodyPr lIns="0" tIns="0" rIns="0" bIns="0" anchor="t"/>
          <a:lstStyle/>
          <a:p>
            <a:pPr>
              <a:buNone/>
              <a:defRPr sz="2175" b="0">
                <a:solidFill>
                  <a:srgbClr val="0D182A"/>
                </a:solidFill>
                <a:latin typeface="Segoe UI"/>
                <a:ea typeface="Segoe UI"/>
                <a:cs typeface="Segoe UI"/>
              </a:defRPr>
            </a:pPr>
            <a:r>
              <a:t>Allowed distance from a read end</a:t>
            </a:r>
          </a:p>
        </p:txBody>
      </p:sp>
      <p:sp>
        <p:nvSpPr>
          <p:cNvPr id="9" name="text-86">
            <a:extLst>
              <a:ext uri="{FF2B5EF4-FFF2-40B4-BE49-F238E27FC236}">
                <a16:creationId xmlns:a16="http://schemas.microsoft.com/office/drawing/2014/main" id="{43A73DB9-1E6A-4FC5-BAE3-E98DAE20B87F}"/>
              </a:ext>
            </a:extLst>
          </p:cNvPr>
          <p:cNvSpPr>
            <a:spLocks noGrp="1"/>
          </p:cNvSpPr>
          <p:nvPr/>
        </p:nvSpPr>
        <p:spPr>
          <a:xfrm>
            <a:off x="457200" y="3743325"/>
            <a:ext cx="4667250" cy="552450"/>
          </a:xfrm>
          <a:prstGeom prst="rect">
            <a:avLst/>
          </a:prstGeom>
        </p:spPr>
        <p:txBody>
          <a:bodyPr lIns="0" tIns="0" rIns="0" bIns="0" anchor="t"/>
          <a:lstStyle/>
          <a:p>
            <a:pPr>
              <a:buNone/>
              <a:defRPr sz="2400" b="1">
                <a:solidFill>
                  <a:srgbClr val="2860F5"/>
                </a:solidFill>
                <a:latin typeface="Segoe UI"/>
                <a:ea typeface="Segoe UI"/>
                <a:cs typeface="Segoe UI"/>
              </a:defRPr>
            </a:pPr>
            <a:r>
              <a:t>Max Telomere Start</a:t>
            </a:r>
          </a:p>
        </p:txBody>
      </p:sp>
      <p:sp>
        <p:nvSpPr>
          <p:cNvPr id="10" name="text-87">
            <a:extLst>
              <a:ext uri="{FF2B5EF4-FFF2-40B4-BE49-F238E27FC236}">
                <a16:creationId xmlns:a16="http://schemas.microsoft.com/office/drawing/2014/main" id="{876E5015-A3C6-45BD-ACFB-349B0F005236}"/>
              </a:ext>
            </a:extLst>
          </p:cNvPr>
          <p:cNvSpPr>
            <a:spLocks noGrp="1"/>
          </p:cNvSpPr>
          <p:nvPr/>
        </p:nvSpPr>
        <p:spPr>
          <a:xfrm>
            <a:off x="5810250" y="3743325"/>
            <a:ext cx="5905500" cy="619125"/>
          </a:xfrm>
          <a:prstGeom prst="rect">
            <a:avLst/>
          </a:prstGeom>
        </p:spPr>
        <p:txBody>
          <a:bodyPr lIns="0" tIns="0" rIns="0" bIns="0" anchor="t"/>
          <a:lstStyle/>
          <a:p>
            <a:pPr>
              <a:buNone/>
              <a:defRPr sz="2175" b="0">
                <a:solidFill>
                  <a:srgbClr val="0D182A"/>
                </a:solidFill>
                <a:latin typeface="Segoe UI"/>
                <a:ea typeface="Segoe UI"/>
                <a:cs typeface="Segoe UI"/>
              </a:defRPr>
            </a:pPr>
            <a:r>
              <a:t>Limit on the telomere start position</a:t>
            </a:r>
          </a:p>
        </p:txBody>
      </p:sp>
      <p:sp>
        <p:nvSpPr>
          <p:cNvPr id="11" name="text-88">
            <a:extLst>
              <a:ext uri="{FF2B5EF4-FFF2-40B4-BE49-F238E27FC236}">
                <a16:creationId xmlns:a16="http://schemas.microsoft.com/office/drawing/2014/main" id="{90DCC6FE-B7AB-4CB0-BA13-9438CDFA681C}"/>
              </a:ext>
            </a:extLst>
          </p:cNvPr>
          <p:cNvSpPr>
            <a:spLocks noGrp="1"/>
          </p:cNvSpPr>
          <p:nvPr/>
        </p:nvSpPr>
        <p:spPr>
          <a:xfrm>
            <a:off x="457200" y="4543425"/>
            <a:ext cx="4667250" cy="552450"/>
          </a:xfrm>
          <a:prstGeom prst="rect">
            <a:avLst/>
          </a:prstGeom>
        </p:spPr>
        <p:txBody>
          <a:bodyPr lIns="0" tIns="0" rIns="0" bIns="0" anchor="t"/>
          <a:lstStyle/>
          <a:p>
            <a:pPr>
              <a:buNone/>
              <a:defRPr sz="2400" b="1">
                <a:solidFill>
                  <a:srgbClr val="2860F5"/>
                </a:solidFill>
                <a:latin typeface="Segoe UI"/>
                <a:ea typeface="Segoe UI"/>
                <a:cs typeface="Segoe UI"/>
              </a:defRPr>
            </a:pPr>
            <a:r>
              <a:t>Min Density</a:t>
            </a:r>
          </a:p>
        </p:txBody>
      </p:sp>
      <p:sp>
        <p:nvSpPr>
          <p:cNvPr id="12" name="text-89">
            <a:extLst>
              <a:ext uri="{FF2B5EF4-FFF2-40B4-BE49-F238E27FC236}">
                <a16:creationId xmlns:a16="http://schemas.microsoft.com/office/drawing/2014/main" id="{804E35AA-5C3E-4DB2-91EB-B834FC722828}"/>
              </a:ext>
            </a:extLst>
          </p:cNvPr>
          <p:cNvSpPr>
            <a:spLocks noGrp="1"/>
          </p:cNvSpPr>
          <p:nvPr/>
        </p:nvSpPr>
        <p:spPr>
          <a:xfrm>
            <a:off x="5810250" y="4543425"/>
            <a:ext cx="5905500" cy="619125"/>
          </a:xfrm>
          <a:prstGeom prst="rect">
            <a:avLst/>
          </a:prstGeom>
        </p:spPr>
        <p:txBody>
          <a:bodyPr lIns="0" tIns="0" rIns="0" bIns="0" anchor="t"/>
          <a:lstStyle/>
          <a:p>
            <a:pPr>
              <a:buNone/>
              <a:defRPr sz="2175" b="0">
                <a:solidFill>
                  <a:srgbClr val="0D182A"/>
                </a:solidFill>
                <a:latin typeface="Segoe UI"/>
                <a:ea typeface="Segoe UI"/>
                <a:cs typeface="Segoe UI"/>
              </a:defRPr>
            </a:pPr>
            <a:r>
              <a:t>Minimum telomeric-repeat density</a:t>
            </a:r>
          </a:p>
        </p:txBody>
      </p:sp>
      <p:sp>
        <p:nvSpPr>
          <p:cNvPr id="13" name="text-90">
            <a:extLst>
              <a:ext uri="{FF2B5EF4-FFF2-40B4-BE49-F238E27FC236}">
                <a16:creationId xmlns:a16="http://schemas.microsoft.com/office/drawing/2014/main" id="{F9DDD254-8BD2-46C6-B33C-20D92F9CE2BC}"/>
              </a:ext>
            </a:extLst>
          </p:cNvPr>
          <p:cNvSpPr>
            <a:spLocks noGrp="1"/>
          </p:cNvSpPr>
          <p:nvPr/>
        </p:nvSpPr>
        <p:spPr>
          <a:xfrm>
            <a:off x="457200" y="5343525"/>
            <a:ext cx="4667250" cy="552450"/>
          </a:xfrm>
          <a:prstGeom prst="rect">
            <a:avLst/>
          </a:prstGeom>
        </p:spPr>
        <p:txBody>
          <a:bodyPr lIns="0" tIns="0" rIns="0" bIns="0" anchor="t"/>
          <a:lstStyle/>
          <a:p>
            <a:pPr>
              <a:buNone/>
              <a:defRPr sz="2400" b="1">
                <a:solidFill>
                  <a:srgbClr val="2860F5"/>
                </a:solidFill>
                <a:latin typeface="Segoe UI"/>
                <a:ea typeface="Segoe UI"/>
                <a:cs typeface="Segoe UI"/>
              </a:defRPr>
            </a:pPr>
            <a:r>
              <a:t>Short Telomere Cutoff</a:t>
            </a:r>
          </a:p>
        </p:txBody>
      </p:sp>
      <p:sp>
        <p:nvSpPr>
          <p:cNvPr id="14" name="text-91">
            <a:extLst>
              <a:ext uri="{FF2B5EF4-FFF2-40B4-BE49-F238E27FC236}">
                <a16:creationId xmlns:a16="http://schemas.microsoft.com/office/drawing/2014/main" id="{ADCEBAC6-4837-4943-8C12-DA4876E469D9}"/>
              </a:ext>
            </a:extLst>
          </p:cNvPr>
          <p:cNvSpPr>
            <a:spLocks noGrp="1"/>
          </p:cNvSpPr>
          <p:nvPr/>
        </p:nvSpPr>
        <p:spPr>
          <a:xfrm>
            <a:off x="5810250" y="5343525"/>
            <a:ext cx="5905500" cy="619125"/>
          </a:xfrm>
          <a:prstGeom prst="rect">
            <a:avLst/>
          </a:prstGeom>
        </p:spPr>
        <p:txBody>
          <a:bodyPr lIns="0" tIns="0" rIns="0" bIns="0" anchor="t"/>
          <a:lstStyle/>
          <a:p>
            <a:pPr>
              <a:buNone/>
              <a:defRPr sz="2175" b="0">
                <a:solidFill>
                  <a:srgbClr val="0D182A"/>
                </a:solidFill>
                <a:latin typeface="Segoe UI"/>
                <a:ea typeface="Segoe UI"/>
                <a:cs typeface="Segoe UI"/>
              </a:defRPr>
            </a:pPr>
            <a:r>
              <a:t>Report the percentage below this length</a:t>
            </a:r>
          </a:p>
        </p:txBody>
      </p:sp>
    </p:spTree>
    <p:extLst>
      <p:ext uri="{BB962C8B-B14F-4D97-AF65-F5344CB8AC3E}">
        <p14:creationId xmlns:p14="http://schemas.microsoft.com/office/powerpoint/2010/main" val="925002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5" name="text-92">
            <a:extLst>
              <a:ext uri="{FF2B5EF4-FFF2-40B4-BE49-F238E27FC236}">
                <a16:creationId xmlns:a16="http://schemas.microsoft.com/office/drawing/2014/main" id="{42B91FFF-E6A0-45C3-ACDF-880930A188E6}"/>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NANOTEL • OUTPUT OPTIONS</a:t>
            </a:r>
          </a:p>
        </p:txBody>
      </p:sp>
      <p:sp>
        <p:nvSpPr>
          <p:cNvPr id="2" name="text-93">
            <a:extLst>
              <a:ext uri="{FF2B5EF4-FFF2-40B4-BE49-F238E27FC236}">
                <a16:creationId xmlns:a16="http://schemas.microsoft.com/office/drawing/2014/main" id="{EA9DA0AE-CE58-4DA0-8314-5F76C5501A6D}"/>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94">
            <a:extLst>
              <a:ext uri="{FF2B5EF4-FFF2-40B4-BE49-F238E27FC236}">
                <a16:creationId xmlns:a16="http://schemas.microsoft.com/office/drawing/2014/main" id="{4D5F4A65-F6D6-4CC6-B122-37061B171B52}"/>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12</a:t>
            </a:r>
          </a:p>
        </p:txBody>
      </p:sp>
      <p:sp>
        <p:nvSpPr>
          <p:cNvPr id="4" name="text-95">
            <a:extLst>
              <a:ext uri="{FF2B5EF4-FFF2-40B4-BE49-F238E27FC236}">
                <a16:creationId xmlns:a16="http://schemas.microsoft.com/office/drawing/2014/main" id="{49D933FA-4F06-43CF-96A7-FCA3D7FB631A}"/>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Segoe UI"/>
                <a:ea typeface="Segoe UI"/>
                <a:cs typeface="Segoe UI"/>
              </a:defRPr>
            </a:pPr>
            <a:r>
              <a:rPr sz="4650" b="1">
                <a:solidFill>
                  <a:srgbClr val="FFFFFF"/>
                </a:solidFill>
                <a:latin typeface="Arial"/>
                <a:ea typeface="Arial"/>
                <a:cs typeface="Arial"/>
              </a:rPr>
              <a:t>NanoTel output options</a:t>
            </a:r>
          </a:p>
        </p:txBody>
      </p:sp>
      <p:pic>
        <p:nvPicPr>
          <p:cNvPr id="16" name="Picture 15"/>
          <p:cNvPicPr>
            <a:picLocks noChangeAspect="1"/>
          </p:cNvPicPr>
          <p:nvPr/>
        </p:nvPicPr>
        <p:blipFill>
          <a:blip r:embed="rId3"/>
          <a:stretch/>
        </p:blipFill>
        <p:spPr>
          <a:xfrm>
            <a:off x="457200" y="2150856"/>
            <a:ext cx="7239000" cy="2461038"/>
          </a:xfrm>
          <a:prstGeom prst="rect">
            <a:avLst/>
          </a:prstGeom>
        </p:spPr>
      </p:pic>
      <p:sp>
        <p:nvSpPr>
          <p:cNvPr id="6" name="text-96">
            <a:extLst>
              <a:ext uri="{FF2B5EF4-FFF2-40B4-BE49-F238E27FC236}">
                <a16:creationId xmlns:a16="http://schemas.microsoft.com/office/drawing/2014/main" id="{A8C42833-F201-443A-B542-FB52D3230E1C}"/>
              </a:ext>
            </a:extLst>
          </p:cNvPr>
          <p:cNvSpPr>
            <a:spLocks noGrp="1"/>
          </p:cNvSpPr>
          <p:nvPr/>
        </p:nvSpPr>
        <p:spPr>
          <a:xfrm>
            <a:off x="8286750" y="2190750"/>
            <a:ext cx="3333750" cy="476250"/>
          </a:xfrm>
          <a:prstGeom prst="rect">
            <a:avLst/>
          </a:prstGeom>
        </p:spPr>
        <p:txBody>
          <a:bodyPr lIns="0" tIns="0" rIns="0" bIns="0" anchor="t"/>
          <a:lstStyle/>
          <a:p>
            <a:pPr>
              <a:buNone/>
              <a:defRPr sz="2550" b="1">
                <a:solidFill>
                  <a:srgbClr val="B5F4DE"/>
                </a:solidFill>
                <a:latin typeface="Segoe UI"/>
                <a:ea typeface="Segoe UI"/>
                <a:cs typeface="Segoe UI"/>
              </a:defRPr>
            </a:pPr>
            <a:r>
              <a:t>Summary only</a:t>
            </a:r>
          </a:p>
        </p:txBody>
      </p:sp>
      <p:sp>
        <p:nvSpPr>
          <p:cNvPr id="7" name="text-97">
            <a:extLst>
              <a:ext uri="{FF2B5EF4-FFF2-40B4-BE49-F238E27FC236}">
                <a16:creationId xmlns:a16="http://schemas.microsoft.com/office/drawing/2014/main" id="{45188749-4649-4C68-8596-DCF85F481F71}"/>
              </a:ext>
            </a:extLst>
          </p:cNvPr>
          <p:cNvSpPr>
            <a:spLocks noGrp="1"/>
          </p:cNvSpPr>
          <p:nvPr/>
        </p:nvSpPr>
        <p:spPr>
          <a:xfrm>
            <a:off x="8286750" y="2857500"/>
            <a:ext cx="3333750" cy="1143000"/>
          </a:xfrm>
          <a:prstGeom prst="rect">
            <a:avLst/>
          </a:prstGeom>
        </p:spPr>
        <p:txBody>
          <a:bodyPr lIns="0" tIns="0" rIns="0" bIns="0" anchor="t"/>
          <a:lstStyle/>
          <a:p>
            <a:pPr>
              <a:buNone/>
              <a:defRPr sz="2250" b="0">
                <a:solidFill>
                  <a:srgbClr val="FFFFFF"/>
                </a:solidFill>
                <a:latin typeface="Segoe UI"/>
                <a:ea typeface="Segoe UI"/>
                <a:cs typeface="Segoe UI"/>
              </a:defRPr>
            </a:pPr>
            <a:r>
              <a:t>Compact summaries in one Excel workbook.</a:t>
            </a:r>
          </a:p>
        </p:txBody>
      </p:sp>
      <p:sp>
        <p:nvSpPr>
          <p:cNvPr id="8" name="text-98">
            <a:extLst>
              <a:ext uri="{FF2B5EF4-FFF2-40B4-BE49-F238E27FC236}">
                <a16:creationId xmlns:a16="http://schemas.microsoft.com/office/drawing/2014/main" id="{D2176879-2AD8-43D5-93B3-62F322FD9659}"/>
              </a:ext>
            </a:extLst>
          </p:cNvPr>
          <p:cNvSpPr>
            <a:spLocks noGrp="1"/>
          </p:cNvSpPr>
          <p:nvPr/>
        </p:nvSpPr>
        <p:spPr>
          <a:xfrm>
            <a:off x="8286750" y="4381500"/>
            <a:ext cx="3333750" cy="1476375"/>
          </a:xfrm>
          <a:prstGeom prst="rect">
            <a:avLst/>
          </a:prstGeom>
        </p:spPr>
        <p:txBody>
          <a:bodyPr lIns="0" tIns="0" rIns="0" bIns="0" anchor="t"/>
          <a:lstStyle/>
          <a:p>
            <a:pPr>
              <a:buNone/>
              <a:defRPr sz="2175" b="0">
                <a:solidFill>
                  <a:srgbClr val="FFFFFF"/>
                </a:solidFill>
                <a:latin typeface="Segoe UI"/>
                <a:ea typeface="Segoe UI"/>
                <a:cs typeface="Segoe UI"/>
              </a:defRPr>
            </a:pPr>
            <a:r>
              <a:t>Off: include individual read plots and FASTA files.</a:t>
            </a:r>
          </a:p>
        </p:txBody>
      </p:sp>
      <p:sp>
        <p:nvSpPr>
          <p:cNvPr id="9" name="text-99">
            <a:extLst>
              <a:ext uri="{FF2B5EF4-FFF2-40B4-BE49-F238E27FC236}">
                <a16:creationId xmlns:a16="http://schemas.microsoft.com/office/drawing/2014/main" id="{4BFB72F0-B871-416E-BCAA-7E7E3E8431B1}"/>
              </a:ext>
            </a:extLst>
          </p:cNvPr>
          <p:cNvSpPr>
            <a:spLocks noGrp="1"/>
          </p:cNvSpPr>
          <p:nvPr/>
        </p:nvSpPr>
        <p:spPr>
          <a:xfrm>
            <a:off x="533400" y="5143500"/>
            <a:ext cx="7239000" cy="476250"/>
          </a:xfrm>
          <a:prstGeom prst="rect">
            <a:avLst/>
          </a:prstGeom>
        </p:spPr>
        <p:txBody>
          <a:bodyPr lIns="0" tIns="0" rIns="0" bIns="0" anchor="t"/>
          <a:lstStyle/>
          <a:p>
            <a:pPr>
              <a:buNone/>
              <a:defRPr sz="2550" b="1">
                <a:solidFill>
                  <a:srgbClr val="B5F4DE"/>
                </a:solidFill>
                <a:latin typeface="Segoe UI"/>
                <a:ea typeface="Segoe UI"/>
                <a:cs typeface="Segoe UI"/>
              </a:defRPr>
            </a:pPr>
            <a:r>
              <a:t>Run mapping</a:t>
            </a:r>
          </a:p>
        </p:txBody>
      </p:sp>
      <p:sp>
        <p:nvSpPr>
          <p:cNvPr id="10" name="text-100">
            <a:extLst>
              <a:ext uri="{FF2B5EF4-FFF2-40B4-BE49-F238E27FC236}">
                <a16:creationId xmlns:a16="http://schemas.microsoft.com/office/drawing/2014/main" id="{3895C555-FD8F-431E-8516-90D535F2DF79}"/>
              </a:ext>
            </a:extLst>
          </p:cNvPr>
          <p:cNvSpPr>
            <a:spLocks noGrp="1"/>
          </p:cNvSpPr>
          <p:nvPr/>
        </p:nvSpPr>
        <p:spPr>
          <a:xfrm>
            <a:off x="457200" y="5772150"/>
            <a:ext cx="7239000" cy="438150"/>
          </a:xfrm>
          <a:prstGeom prst="rect">
            <a:avLst/>
          </a:prstGeom>
        </p:spPr>
        <p:txBody>
          <a:bodyPr lIns="0" tIns="0" rIns="0" bIns="0" anchor="t"/>
          <a:lstStyle/>
          <a:p>
            <a:pPr>
              <a:buNone/>
              <a:defRPr sz="2250" b="0">
                <a:solidFill>
                  <a:srgbClr val="FFFFFF"/>
                </a:solidFill>
                <a:latin typeface="Segoe UI"/>
                <a:ea typeface="Segoe UI"/>
                <a:cs typeface="Segoe UI"/>
              </a:defRPr>
            </a:pPr>
            <a:r>
              <a:t>Map NanoTel reads to the genome.</a:t>
            </a:r>
          </a:p>
        </p:txBody>
      </p:sp>
    </p:spTree>
    <p:extLst>
      <p:ext uri="{BB962C8B-B14F-4D97-AF65-F5344CB8AC3E}">
        <p14:creationId xmlns:p14="http://schemas.microsoft.com/office/powerpoint/2010/main" val="141798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7" name="text-101">
            <a:extLst>
              <a:ext uri="{FF2B5EF4-FFF2-40B4-BE49-F238E27FC236}">
                <a16:creationId xmlns:a16="http://schemas.microsoft.com/office/drawing/2014/main" id="{133A806F-D9E6-4C9B-8F54-63BD63F9CF4D}"/>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t>HELP AND INPUT QUESTIONS</a:t>
            </a:r>
          </a:p>
        </p:txBody>
      </p:sp>
      <p:sp>
        <p:nvSpPr>
          <p:cNvPr id="2" name="text-102">
            <a:extLst>
              <a:ext uri="{FF2B5EF4-FFF2-40B4-BE49-F238E27FC236}">
                <a16:creationId xmlns:a16="http://schemas.microsoft.com/office/drawing/2014/main" id="{D5A21DF3-7F90-4C64-8B1A-51F554E018C9}"/>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103">
            <a:extLst>
              <a:ext uri="{FF2B5EF4-FFF2-40B4-BE49-F238E27FC236}">
                <a16:creationId xmlns:a16="http://schemas.microsoft.com/office/drawing/2014/main" id="{E4CCD158-41B3-4E02-98D0-8C721D890B21}"/>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13</a:t>
            </a:r>
          </a:p>
        </p:txBody>
      </p:sp>
      <p:sp>
        <p:nvSpPr>
          <p:cNvPr id="4" name="text-104">
            <a:extLst>
              <a:ext uri="{FF2B5EF4-FFF2-40B4-BE49-F238E27FC236}">
                <a16:creationId xmlns:a16="http://schemas.microsoft.com/office/drawing/2014/main" id="{A1D3D275-F736-4178-8F27-3D3264FA2950}"/>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a:solidFill>
                  <a:srgbClr val="0D182A"/>
                </a:solidFill>
                <a:latin typeface="Arial"/>
                <a:ea typeface="Arial"/>
                <a:cs typeface="Arial"/>
              </a:rPr>
              <a:t>Help and input settings</a:t>
            </a:r>
          </a:p>
        </p:txBody>
      </p:sp>
      <p:sp>
        <p:nvSpPr>
          <p:cNvPr id="5" name="text-105">
            <a:extLst>
              <a:ext uri="{FF2B5EF4-FFF2-40B4-BE49-F238E27FC236}">
                <a16:creationId xmlns:a16="http://schemas.microsoft.com/office/drawing/2014/main" id="{CD673756-1141-4E4F-9E70-D02B65A4D8F4}"/>
              </a:ext>
            </a:extLst>
          </p:cNvPr>
          <p:cNvSpPr>
            <a:spLocks noGrp="1"/>
          </p:cNvSpPr>
          <p:nvPr/>
        </p:nvSpPr>
        <p:spPr>
          <a:xfrm>
            <a:off x="533400" y="2238375"/>
            <a:ext cx="5191125" cy="571500"/>
          </a:xfrm>
          <a:prstGeom prst="rect">
            <a:avLst/>
          </a:prstGeom>
        </p:spPr>
        <p:txBody>
          <a:bodyPr lIns="0" tIns="0" rIns="0" bIns="0" anchor="t"/>
          <a:lstStyle/>
          <a:p>
            <a:pPr>
              <a:buNone/>
              <a:defRPr sz="2550" b="1">
                <a:solidFill>
                  <a:srgbClr val="2860F5"/>
                </a:solidFill>
                <a:latin typeface="Segoe UI"/>
                <a:ea typeface="Segoe UI"/>
                <a:cs typeface="Segoe UI"/>
              </a:defRPr>
            </a:pPr>
            <a:r>
              <a:t>Built-in help</a:t>
            </a:r>
          </a:p>
        </p:txBody>
      </p:sp>
      <p:sp>
        <p:nvSpPr>
          <p:cNvPr id="6" name="text-106">
            <a:extLst>
              <a:ext uri="{FF2B5EF4-FFF2-40B4-BE49-F238E27FC236}">
                <a16:creationId xmlns:a16="http://schemas.microsoft.com/office/drawing/2014/main" id="{A95C4A8D-F996-4FE2-8400-3C44EEA8174D}"/>
              </a:ext>
            </a:extLst>
          </p:cNvPr>
          <p:cNvSpPr>
            <a:spLocks noGrp="1"/>
          </p:cNvSpPr>
          <p:nvPr/>
        </p:nvSpPr>
        <p:spPr>
          <a:xfrm>
            <a:off x="457200" y="3048000"/>
            <a:ext cx="5191125" cy="2333625"/>
          </a:xfrm>
          <a:prstGeom prst="rect">
            <a:avLst/>
          </a:prstGeom>
        </p:spPr>
        <p:txBody>
          <a:bodyPr lIns="0" tIns="0" rIns="0" bIns="0" anchor="t"/>
          <a:lstStyle/>
          <a:p>
            <a:pPr>
              <a:buNone/>
              <a:defRPr sz="2325" b="0">
                <a:solidFill>
                  <a:srgbClr val="0D182A"/>
                </a:solidFill>
                <a:latin typeface="Segoe UI"/>
                <a:ea typeface="Segoe UI"/>
                <a:cs typeface="Segoe UI"/>
              </a:defRPr>
            </a:pPr>
            <a:r>
              <a:t>Use the ? buttons for input and workflow explanations.</a:t>
            </a:r>
          </a:p>
          <a:p>
            <a:pPr>
              <a:buNone/>
              <a:defRPr sz="2325" b="0">
                <a:solidFill>
                  <a:srgbClr val="152033"/>
                </a:solidFill>
                <a:latin typeface="Arial"/>
                <a:ea typeface="Arial"/>
                <a:cs typeface="Arial"/>
              </a:defRPr>
            </a:pPr>
            <a:endParaRPr/>
          </a:p>
          <a:p>
            <a:pPr>
              <a:buNone/>
              <a:defRPr sz="2325" b="0">
                <a:solidFill>
                  <a:srgbClr val="0D182A"/>
                </a:solidFill>
                <a:latin typeface="Segoe UI"/>
                <a:ea typeface="Segoe UI"/>
                <a:cs typeface="Segoe UI"/>
              </a:defRPr>
            </a:pPr>
            <a:r>
              <a:t>Hover over supported controls for short hints.</a:t>
            </a:r>
          </a:p>
        </p:txBody>
      </p:sp>
      <p:pic>
        <p:nvPicPr>
          <p:cNvPr id="17" name="Picture 16"/>
          <p:cNvPicPr>
            <a:picLocks noChangeAspect="1"/>
          </p:cNvPicPr>
          <p:nvPr/>
        </p:nvPicPr>
        <p:blipFill>
          <a:blip r:embed="rId3"/>
          <a:stretch/>
        </p:blipFill>
        <p:spPr>
          <a:xfrm>
            <a:off x="6381750" y="2570485"/>
            <a:ext cx="5334000" cy="1612254"/>
          </a:xfrm>
          <a:prstGeom prst="rect">
            <a:avLst/>
          </a:prstGeom>
        </p:spPr>
      </p:pic>
      <p:sp>
        <p:nvSpPr>
          <p:cNvPr id="8" name="text-107">
            <a:extLst>
              <a:ext uri="{FF2B5EF4-FFF2-40B4-BE49-F238E27FC236}">
                <a16:creationId xmlns:a16="http://schemas.microsoft.com/office/drawing/2014/main" id="{89B94BC5-64FE-493B-8FC1-41228AF06C84}"/>
              </a:ext>
            </a:extLst>
          </p:cNvPr>
          <p:cNvSpPr>
            <a:spLocks noGrp="1"/>
          </p:cNvSpPr>
          <p:nvPr/>
        </p:nvSpPr>
        <p:spPr>
          <a:xfrm>
            <a:off x="6381750" y="4905375"/>
            <a:ext cx="5334000" cy="495300"/>
          </a:xfrm>
          <a:prstGeom prst="rect">
            <a:avLst/>
          </a:prstGeom>
        </p:spPr>
        <p:txBody>
          <a:bodyPr lIns="0" tIns="0" rIns="0" bIns="0" anchor="t"/>
          <a:lstStyle/>
          <a:p>
            <a:pPr>
              <a:buNone/>
              <a:defRPr sz="2550" b="1">
                <a:solidFill>
                  <a:srgbClr val="2860F5"/>
                </a:solidFill>
                <a:latin typeface="Segoe UI"/>
                <a:ea typeface="Segoe UI"/>
                <a:cs typeface="Segoe UI"/>
              </a:defRPr>
            </a:pPr>
            <a:r>
              <a:t>FASTQ and BAM inputs</a:t>
            </a:r>
          </a:p>
        </p:txBody>
      </p:sp>
      <p:sp>
        <p:nvSpPr>
          <p:cNvPr id="9" name="text-108">
            <a:extLst>
              <a:ext uri="{FF2B5EF4-FFF2-40B4-BE49-F238E27FC236}">
                <a16:creationId xmlns:a16="http://schemas.microsoft.com/office/drawing/2014/main" id="{FEF1DEDB-8BC6-429C-B9C2-76D934356ED9}"/>
              </a:ext>
            </a:extLst>
          </p:cNvPr>
          <p:cNvSpPr>
            <a:spLocks noGrp="1"/>
          </p:cNvSpPr>
          <p:nvPr/>
        </p:nvSpPr>
        <p:spPr>
          <a:xfrm>
            <a:off x="6381750" y="5572125"/>
            <a:ext cx="5334000" cy="619125"/>
          </a:xfrm>
          <a:prstGeom prst="rect">
            <a:avLst/>
          </a:prstGeom>
        </p:spPr>
        <p:txBody>
          <a:bodyPr lIns="0" tIns="0" rIns="0" bIns="0" anchor="t"/>
          <a:lstStyle/>
          <a:p>
            <a:pPr>
              <a:buNone/>
              <a:defRPr sz="2175" b="0">
                <a:solidFill>
                  <a:srgbClr val="0D182A"/>
                </a:solidFill>
                <a:latin typeface="Segoe UI"/>
                <a:ea typeface="Segoe UI"/>
                <a:cs typeface="Segoe UI"/>
              </a:defRPr>
            </a:pPr>
            <a:r>
              <a:t>Confirm whether barcode removal trimmed the reads.</a:t>
            </a:r>
          </a:p>
        </p:txBody>
      </p:sp>
    </p:spTree>
    <p:extLst>
      <p:ext uri="{BB962C8B-B14F-4D97-AF65-F5344CB8AC3E}">
        <p14:creationId xmlns:p14="http://schemas.microsoft.com/office/powerpoint/2010/main" val="259994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14" name="text-109">
            <a:extLst>
              <a:ext uri="{FF2B5EF4-FFF2-40B4-BE49-F238E27FC236}">
                <a16:creationId xmlns:a16="http://schemas.microsoft.com/office/drawing/2014/main" id="{936D5DB6-2DD0-4BB7-84B4-2C16E5AB12DF}"/>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Segoe UI"/>
                <a:ea typeface="Segoe UI"/>
                <a:cs typeface="Segoe UI"/>
              </a:defRPr>
            </a:pPr>
            <a:r>
              <a:t>RUN CONTROLS</a:t>
            </a:r>
          </a:p>
        </p:txBody>
      </p:sp>
      <p:sp>
        <p:nvSpPr>
          <p:cNvPr id="2" name="text-110">
            <a:extLst>
              <a:ext uri="{FF2B5EF4-FFF2-40B4-BE49-F238E27FC236}">
                <a16:creationId xmlns:a16="http://schemas.microsoft.com/office/drawing/2014/main" id="{BB48286D-77DD-425D-AC8E-2279810DBDAA}"/>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3" name="text-111">
            <a:extLst>
              <a:ext uri="{FF2B5EF4-FFF2-40B4-BE49-F238E27FC236}">
                <a16:creationId xmlns:a16="http://schemas.microsoft.com/office/drawing/2014/main" id="{EDD1E89D-4A4A-4F68-8975-A7CA72536E7B}"/>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14</a:t>
            </a:r>
          </a:p>
        </p:txBody>
      </p:sp>
      <p:sp>
        <p:nvSpPr>
          <p:cNvPr id="4" name="text-112">
            <a:extLst>
              <a:ext uri="{FF2B5EF4-FFF2-40B4-BE49-F238E27FC236}">
                <a16:creationId xmlns:a16="http://schemas.microsoft.com/office/drawing/2014/main" id="{B5AAB9D5-D037-40A5-8EAD-3D00E62CEC39}"/>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Segoe UI"/>
                <a:ea typeface="Segoe UI"/>
                <a:cs typeface="Segoe UI"/>
              </a:defRPr>
            </a:pPr>
            <a:r>
              <a:rPr sz="4650" b="1">
                <a:solidFill>
                  <a:srgbClr val="0D182A"/>
                </a:solidFill>
                <a:latin typeface="Arial"/>
                <a:ea typeface="Arial"/>
                <a:cs typeface="Arial"/>
              </a:rPr>
              <a:t>Workflow execution</a:t>
            </a:r>
          </a:p>
        </p:txBody>
      </p:sp>
      <p:sp>
        <p:nvSpPr>
          <p:cNvPr id="5" name="text-113">
            <a:extLst>
              <a:ext uri="{FF2B5EF4-FFF2-40B4-BE49-F238E27FC236}">
                <a16:creationId xmlns:a16="http://schemas.microsoft.com/office/drawing/2014/main" id="{F8B8D57A-4F51-4BA8-9918-9E7F37F13529}"/>
              </a:ext>
            </a:extLst>
          </p:cNvPr>
          <p:cNvSpPr>
            <a:spLocks noGrp="1"/>
          </p:cNvSpPr>
          <p:nvPr/>
        </p:nvSpPr>
        <p:spPr>
          <a:xfrm>
            <a:off x="1371600" y="2266950"/>
            <a:ext cx="10191750" cy="657225"/>
          </a:xfrm>
          <a:prstGeom prst="rect">
            <a:avLst/>
          </a:prstGeom>
        </p:spPr>
        <p:txBody>
          <a:bodyPr lIns="0" tIns="0" rIns="0" bIns="0" anchor="t"/>
          <a:lstStyle/>
          <a:p>
            <a:pPr>
              <a:buNone/>
              <a:defRPr sz="3600" b="1">
                <a:solidFill>
                  <a:srgbClr val="2860F5"/>
                </a:solidFill>
                <a:latin typeface="Segoe UI"/>
                <a:ea typeface="Segoe UI"/>
                <a:cs typeface="Segoe UI"/>
              </a:defRPr>
            </a:pPr>
            <a:r>
              <a:t>Run Workflow</a:t>
            </a:r>
          </a:p>
        </p:txBody>
      </p:sp>
      <p:sp>
        <p:nvSpPr>
          <p:cNvPr id="6" name="text-114">
            <a:extLst>
              <a:ext uri="{FF2B5EF4-FFF2-40B4-BE49-F238E27FC236}">
                <a16:creationId xmlns:a16="http://schemas.microsoft.com/office/drawing/2014/main" id="{05B6AA6A-1DC7-4375-9709-C1D3762FE5B5}"/>
              </a:ext>
            </a:extLst>
          </p:cNvPr>
          <p:cNvSpPr>
            <a:spLocks noGrp="1"/>
          </p:cNvSpPr>
          <p:nvPr/>
        </p:nvSpPr>
        <p:spPr>
          <a:xfrm>
            <a:off x="1371600" y="2971800"/>
            <a:ext cx="10096500" cy="542925"/>
          </a:xfrm>
          <a:prstGeom prst="rect">
            <a:avLst/>
          </a:prstGeom>
        </p:spPr>
        <p:txBody>
          <a:bodyPr lIns="0" tIns="0" rIns="0" bIns="0" anchor="t"/>
          <a:lstStyle/>
          <a:p>
            <a:pPr>
              <a:buNone/>
              <a:defRPr sz="2175" b="0">
                <a:solidFill>
                  <a:srgbClr val="0D182A"/>
                </a:solidFill>
                <a:latin typeface="Segoe UI"/>
                <a:ea typeface="Segoe UI"/>
                <a:cs typeface="Segoe UI"/>
              </a:defRPr>
            </a:pPr>
            <a:r>
              <a:t>Start the selected analysis with your settings.</a:t>
            </a:r>
          </a:p>
        </p:txBody>
      </p:sp>
      <p:sp>
        <p:nvSpPr>
          <p:cNvPr id="7" name="text-115">
            <a:extLst>
              <a:ext uri="{FF2B5EF4-FFF2-40B4-BE49-F238E27FC236}">
                <a16:creationId xmlns:a16="http://schemas.microsoft.com/office/drawing/2014/main" id="{6E6F13C6-8489-4F01-8529-258C7BABF897}"/>
              </a:ext>
            </a:extLst>
          </p:cNvPr>
          <p:cNvSpPr>
            <a:spLocks noGrp="1"/>
          </p:cNvSpPr>
          <p:nvPr/>
        </p:nvSpPr>
        <p:spPr>
          <a:xfrm>
            <a:off x="1371600" y="3914775"/>
            <a:ext cx="10191750" cy="542925"/>
          </a:xfrm>
          <a:prstGeom prst="rect">
            <a:avLst/>
          </a:prstGeom>
        </p:spPr>
        <p:txBody>
          <a:bodyPr lIns="0" tIns="0" rIns="0" bIns="0" anchor="t"/>
          <a:lstStyle/>
          <a:p>
            <a:pPr>
              <a:buNone/>
              <a:defRPr sz="2925" b="1">
                <a:solidFill>
                  <a:srgbClr val="0D182A"/>
                </a:solidFill>
                <a:latin typeface="Segoe UI"/>
                <a:ea typeface="Segoe UI"/>
                <a:cs typeface="Segoe UI"/>
              </a:defRPr>
            </a:pPr>
            <a:r>
              <a:t>Execution Log</a:t>
            </a:r>
          </a:p>
        </p:txBody>
      </p:sp>
      <p:sp>
        <p:nvSpPr>
          <p:cNvPr id="8" name="text-116">
            <a:extLst>
              <a:ext uri="{FF2B5EF4-FFF2-40B4-BE49-F238E27FC236}">
                <a16:creationId xmlns:a16="http://schemas.microsoft.com/office/drawing/2014/main" id="{BF8CF565-0594-49F4-9AEE-1B2D2DB6ECEC}"/>
              </a:ext>
            </a:extLst>
          </p:cNvPr>
          <p:cNvSpPr>
            <a:spLocks noGrp="1"/>
          </p:cNvSpPr>
          <p:nvPr/>
        </p:nvSpPr>
        <p:spPr>
          <a:xfrm>
            <a:off x="1371600" y="4543425"/>
            <a:ext cx="10096500" cy="514350"/>
          </a:xfrm>
          <a:prstGeom prst="rect">
            <a:avLst/>
          </a:prstGeom>
        </p:spPr>
        <p:txBody>
          <a:bodyPr lIns="0" tIns="0" rIns="0" bIns="0" anchor="t"/>
          <a:lstStyle/>
          <a:p>
            <a:pPr>
              <a:buNone/>
              <a:defRPr sz="2175" b="0">
                <a:solidFill>
                  <a:srgbClr val="0D182A"/>
                </a:solidFill>
                <a:latin typeface="Segoe UI"/>
                <a:ea typeface="Segoe UI"/>
                <a:cs typeface="Segoe UI"/>
              </a:defRPr>
            </a:pPr>
            <a:r>
              <a:t>Follow processing messages and progress.</a:t>
            </a:r>
          </a:p>
        </p:txBody>
      </p:sp>
      <p:sp>
        <p:nvSpPr>
          <p:cNvPr id="9" name="text-117">
            <a:extLst>
              <a:ext uri="{FF2B5EF4-FFF2-40B4-BE49-F238E27FC236}">
                <a16:creationId xmlns:a16="http://schemas.microsoft.com/office/drawing/2014/main" id="{0E136FCF-DF17-42A2-B58B-C9ED6D236DBB}"/>
              </a:ext>
            </a:extLst>
          </p:cNvPr>
          <p:cNvSpPr>
            <a:spLocks noGrp="1"/>
          </p:cNvSpPr>
          <p:nvPr/>
        </p:nvSpPr>
        <p:spPr>
          <a:xfrm>
            <a:off x="1371600" y="5381625"/>
            <a:ext cx="3095625" cy="542925"/>
          </a:xfrm>
          <a:prstGeom prst="rect">
            <a:avLst/>
          </a:prstGeom>
        </p:spPr>
        <p:txBody>
          <a:bodyPr lIns="0" tIns="0" rIns="0" bIns="0" anchor="t"/>
          <a:lstStyle/>
          <a:p>
            <a:pPr>
              <a:buNone/>
              <a:defRPr sz="2925" b="1">
                <a:solidFill>
                  <a:srgbClr val="0D182A"/>
                </a:solidFill>
                <a:latin typeface="Segoe UI"/>
                <a:ea typeface="Segoe UI"/>
                <a:cs typeface="Segoe UI"/>
              </a:defRPr>
            </a:pPr>
            <a:r>
              <a:t>Cancel</a:t>
            </a:r>
          </a:p>
        </p:txBody>
      </p:sp>
      <p:sp>
        <p:nvSpPr>
          <p:cNvPr id="10" name="text-118">
            <a:extLst>
              <a:ext uri="{FF2B5EF4-FFF2-40B4-BE49-F238E27FC236}">
                <a16:creationId xmlns:a16="http://schemas.microsoft.com/office/drawing/2014/main" id="{1E1A42AC-99FD-4AF7-A227-17FE34C37BD8}"/>
              </a:ext>
            </a:extLst>
          </p:cNvPr>
          <p:cNvSpPr>
            <a:spLocks noGrp="1"/>
          </p:cNvSpPr>
          <p:nvPr/>
        </p:nvSpPr>
        <p:spPr>
          <a:xfrm>
            <a:off x="4667250" y="5476875"/>
            <a:ext cx="6829425" cy="619125"/>
          </a:xfrm>
          <a:prstGeom prst="rect">
            <a:avLst/>
          </a:prstGeom>
        </p:spPr>
        <p:txBody>
          <a:bodyPr lIns="0" tIns="0" rIns="0" bIns="0" anchor="t"/>
          <a:lstStyle/>
          <a:p>
            <a:pPr>
              <a:buNone/>
              <a:defRPr sz="2100" b="0">
                <a:solidFill>
                  <a:srgbClr val="0D182A"/>
                </a:solidFill>
                <a:latin typeface="Segoe UI"/>
                <a:ea typeface="Segoe UI"/>
                <a:cs typeface="Segoe UI"/>
              </a:defRPr>
            </a:pPr>
            <a:r>
              <a:t>Request that the running workflow stops.</a:t>
            </a:r>
          </a:p>
        </p:txBody>
      </p:sp>
      <p:sp>
        <p:nvSpPr>
          <p:cNvPr id="11" name="Rectangle 10">
            <a:extLst>
              <a:ext uri="{FF2B5EF4-FFF2-40B4-BE49-F238E27FC236}">
                <a16:creationId xmlns:a16="http://schemas.microsoft.com/office/drawing/2014/main" id="{8E380C90-43B6-4206-AA09-612214D96C51}"/>
              </a:ext>
            </a:extLst>
          </p:cNvPr>
          <p:cNvSpPr>
            <a:spLocks noGrp="1"/>
          </p:cNvSpPr>
          <p:nvPr/>
        </p:nvSpPr>
        <p:spPr>
          <a:xfrm>
            <a:off x="533400" y="2362200"/>
            <a:ext cx="762000" cy="571500"/>
          </a:xfrm>
          <a:prstGeom prst="rect">
            <a:avLst/>
          </a:prstGeom>
        </p:spPr>
        <p:txBody>
          <a:bodyPr lIns="0" tIns="0" rIns="0" bIns="0" anchor="t"/>
          <a:lstStyle/>
          <a:p>
            <a:pPr>
              <a:buNone/>
              <a:defRPr sz="2625" b="0">
                <a:solidFill>
                  <a:srgbClr val="2860F5"/>
                </a:solidFill>
                <a:latin typeface="Segoe UI"/>
                <a:ea typeface="Segoe UI"/>
                <a:cs typeface="Segoe UI"/>
              </a:defRPr>
            </a:pPr>
            <a:r>
              <a:t>01</a:t>
            </a:r>
          </a:p>
        </p:txBody>
      </p:sp>
      <p:sp>
        <p:nvSpPr>
          <p:cNvPr id="12" name="Rectangle 11">
            <a:extLst>
              <a:ext uri="{FF2B5EF4-FFF2-40B4-BE49-F238E27FC236}">
                <a16:creationId xmlns:a16="http://schemas.microsoft.com/office/drawing/2014/main" id="{414AF8C1-4FE9-4BFF-B79E-EF5BF2592DA0}"/>
              </a:ext>
            </a:extLst>
          </p:cNvPr>
          <p:cNvSpPr>
            <a:spLocks noGrp="1"/>
          </p:cNvSpPr>
          <p:nvPr/>
        </p:nvSpPr>
        <p:spPr>
          <a:xfrm>
            <a:off x="533400" y="3971925"/>
            <a:ext cx="762000" cy="571500"/>
          </a:xfrm>
          <a:prstGeom prst="rect">
            <a:avLst/>
          </a:prstGeom>
        </p:spPr>
        <p:txBody>
          <a:bodyPr lIns="0" tIns="0" rIns="0" bIns="0" anchor="t"/>
          <a:lstStyle/>
          <a:p>
            <a:pPr>
              <a:buNone/>
              <a:defRPr sz="2625" b="0">
                <a:solidFill>
                  <a:srgbClr val="2860F5"/>
                </a:solidFill>
                <a:latin typeface="Segoe UI"/>
                <a:ea typeface="Segoe UI"/>
                <a:cs typeface="Segoe UI"/>
              </a:defRPr>
            </a:pPr>
            <a:r>
              <a:t>02</a:t>
            </a:r>
          </a:p>
        </p:txBody>
      </p:sp>
      <p:sp>
        <p:nvSpPr>
          <p:cNvPr id="13" name="Rectangle 12">
            <a:extLst>
              <a:ext uri="{FF2B5EF4-FFF2-40B4-BE49-F238E27FC236}">
                <a16:creationId xmlns:a16="http://schemas.microsoft.com/office/drawing/2014/main" id="{FBF2FC55-5BA4-44EF-AA66-7C379522C7EB}"/>
              </a:ext>
            </a:extLst>
          </p:cNvPr>
          <p:cNvSpPr>
            <a:spLocks noGrp="1"/>
          </p:cNvSpPr>
          <p:nvPr/>
        </p:nvSpPr>
        <p:spPr>
          <a:xfrm>
            <a:off x="533400" y="5457825"/>
            <a:ext cx="762000" cy="571500"/>
          </a:xfrm>
          <a:prstGeom prst="rect">
            <a:avLst/>
          </a:prstGeom>
        </p:spPr>
        <p:txBody>
          <a:bodyPr lIns="0" tIns="0" rIns="0" bIns="0" anchor="t"/>
          <a:lstStyle/>
          <a:p>
            <a:pPr>
              <a:buNone/>
              <a:defRPr sz="2625" b="0">
                <a:solidFill>
                  <a:srgbClr val="2860F5"/>
                </a:solidFill>
                <a:latin typeface="Segoe UI"/>
                <a:ea typeface="Segoe UI"/>
                <a:cs typeface="Segoe UI"/>
              </a:defRPr>
            </a:pPr>
            <a:r>
              <a:t>03</a:t>
            </a:r>
          </a:p>
        </p:txBody>
      </p:sp>
    </p:spTree>
    <p:extLst>
      <p:ext uri="{BB962C8B-B14F-4D97-AF65-F5344CB8AC3E}">
        <p14:creationId xmlns:p14="http://schemas.microsoft.com/office/powerpoint/2010/main" val="1236364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AD19C9-7727-494C-BF86-F92B5A99DC79}"/>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Bahnschrift"/>
                <a:ea typeface="Bahnschrift"/>
                <a:cs typeface="Bahnschrift"/>
              </a:defRPr>
            </a:pPr>
            <a:r>
              <a:t>EXAMPLE RESULTS • ILLUSTRATIVE TABLE</a:t>
            </a:r>
          </a:p>
        </p:txBody>
      </p:sp>
      <p:sp>
        <p:nvSpPr>
          <p:cNvPr id="2" name="Rectangle 1">
            <a:extLst>
              <a:ext uri="{FF2B5EF4-FFF2-40B4-BE49-F238E27FC236}">
                <a16:creationId xmlns:a16="http://schemas.microsoft.com/office/drawing/2014/main" id="{6021120A-D8FD-417F-A205-DBC6AF2F6CC3}"/>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Bahnschrift"/>
                <a:ea typeface="Bahnschrift"/>
                <a:cs typeface="Bahnschrift"/>
              </a:defRPr>
            </a:pPr>
            <a:r>
              <a:t>Example summary results</a:t>
            </a:r>
          </a:p>
        </p:txBody>
      </p:sp>
      <p:sp>
        <p:nvSpPr>
          <p:cNvPr id="3" name="Rectangle 2">
            <a:extLst>
              <a:ext uri="{FF2B5EF4-FFF2-40B4-BE49-F238E27FC236}">
                <a16:creationId xmlns:a16="http://schemas.microsoft.com/office/drawing/2014/main" id="{09690918-F3CD-4096-86D9-A3251DED6908}"/>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rPr dirty="0"/>
              <a:t>TELOMERE ANALYZER</a:t>
            </a:r>
          </a:p>
        </p:txBody>
      </p:sp>
      <p:sp>
        <p:nvSpPr>
          <p:cNvPr id="8" name="Rectangle 7">
            <a:extLst>
              <a:ext uri="{FF2B5EF4-FFF2-40B4-BE49-F238E27FC236}">
                <a16:creationId xmlns:a16="http://schemas.microsoft.com/office/drawing/2014/main" id="{B5273849-29B3-42BB-9B33-CD9540BE9753}"/>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t>15</a:t>
            </a:r>
          </a:p>
        </p:txBody>
      </p:sp>
      <p:sp>
        <p:nvSpPr>
          <p:cNvPr id="9" name="Rectangle 8">
            <a:extLst>
              <a:ext uri="{FF2B5EF4-FFF2-40B4-BE49-F238E27FC236}">
                <a16:creationId xmlns:a16="http://schemas.microsoft.com/office/drawing/2014/main" id="{51F4E1CA-EC8C-4878-8F16-ECCC00D64B59}"/>
              </a:ext>
            </a:extLst>
          </p:cNvPr>
          <p:cNvSpPr>
            <a:spLocks noGrp="1"/>
          </p:cNvSpPr>
          <p:nvPr/>
        </p:nvSpPr>
        <p:spPr>
          <a:xfrm>
            <a:off x="533400" y="1752600"/>
            <a:ext cx="11125200" cy="361950"/>
          </a:xfrm>
          <a:prstGeom prst="rect">
            <a:avLst/>
          </a:prstGeom>
        </p:spPr>
        <p:txBody>
          <a:bodyPr lIns="0" tIns="0" rIns="0" bIns="0"/>
          <a:lstStyle/>
          <a:p>
            <a:pPr>
              <a:defRPr sz="1875" b="1">
                <a:solidFill>
                  <a:srgbClr val="2860F5"/>
                </a:solidFill>
                <a:latin typeface="Bahnschrift"/>
                <a:ea typeface="Bahnschrift"/>
                <a:cs typeface="Bahnschrift"/>
              </a:defRPr>
            </a:pPr>
            <a:r>
              <a:rPr dirty="0"/>
              <a:t>Illustrative example: barcode03–08 contain simulated values.</a:t>
            </a:r>
          </a:p>
        </p:txBody>
      </p:sp>
      <p:graphicFrame>
        <p:nvGraphicFramePr>
          <p:cNvPr id="17" name="Table 16"/>
          <p:cNvGraphicFramePr/>
          <p:nvPr/>
        </p:nvGraphicFramePr>
        <p:xfrm>
          <a:off x="533400" y="2266950"/>
          <a:ext cx="11125200" cy="3863340"/>
        </p:xfrm>
        <a:graphic>
          <a:graphicData uri="http://schemas.openxmlformats.org/drawingml/2006/table">
            <a:tbl>
              <a:tblPr/>
              <a:tblGrid>
                <a:gridCol w="15049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1895475">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2009775">
                  <a:extLst>
                    <a:ext uri="{9D8B030D-6E8A-4147-A177-3AD203B41FA5}">
                      <a16:colId xmlns:a16="http://schemas.microsoft.com/office/drawing/2014/main" val="20004"/>
                    </a:ext>
                  </a:extLst>
                </a:gridCol>
                <a:gridCol w="1381125">
                  <a:extLst>
                    <a:ext uri="{9D8B030D-6E8A-4147-A177-3AD203B41FA5}">
                      <a16:colId xmlns:a16="http://schemas.microsoft.com/office/drawing/2014/main" val="20005"/>
                    </a:ext>
                  </a:extLst>
                </a:gridCol>
                <a:gridCol w="1819275">
                  <a:extLst>
                    <a:ext uri="{9D8B030D-6E8A-4147-A177-3AD203B41FA5}">
                      <a16:colId xmlns:a16="http://schemas.microsoft.com/office/drawing/2014/main" val="20006"/>
                    </a:ext>
                  </a:extLst>
                </a:gridCol>
              </a:tblGrid>
              <a:tr h="800100">
                <a:tc>
                  <a:txBody>
                    <a:bodyPr/>
                    <a:lstStyle/>
                    <a:p>
                      <a:r>
                        <a:rPr sz="1650" b="1">
                          <a:solidFill>
                            <a:srgbClr val="FFFFFF"/>
                          </a:solidFill>
                          <a:latin typeface="Bahnschrift"/>
                          <a:ea typeface="Bahnschrift"/>
                          <a:cs typeface="Bahnschrift"/>
                        </a:rPr>
                        <a:t>Barcode</a:t>
                      </a:r>
                    </a:p>
                  </a:txBody>
                  <a:tcPr>
                    <a:solidFill>
                      <a:srgbClr val="0D182A"/>
                    </a:solidFill>
                  </a:tcPr>
                </a:tc>
                <a:tc>
                  <a:txBody>
                    <a:bodyPr/>
                    <a:lstStyle/>
                    <a:p>
                      <a:r>
                        <a:rPr sz="1650" b="1" dirty="0">
                          <a:solidFill>
                            <a:srgbClr val="FFFFFF"/>
                          </a:solidFill>
                          <a:latin typeface="Bahnschrift"/>
                          <a:ea typeface="Bahnschrift"/>
                          <a:cs typeface="Bahnschrift"/>
                        </a:rPr>
                        <a:t>Telomeres</a:t>
                      </a:r>
                    </a:p>
                  </a:txBody>
                  <a:tcPr>
                    <a:solidFill>
                      <a:srgbClr val="0D182A"/>
                    </a:solidFill>
                  </a:tcPr>
                </a:tc>
                <a:tc>
                  <a:txBody>
                    <a:bodyPr/>
                    <a:lstStyle/>
                    <a:p>
                      <a:r>
                        <a:rPr sz="1650" b="1">
                          <a:solidFill>
                            <a:srgbClr val="FFFFFF"/>
                          </a:solidFill>
                          <a:latin typeface="Bahnschrift"/>
                          <a:ea typeface="Bahnschrift"/>
                          <a:cs typeface="Bahnschrift"/>
                        </a:rPr>
                        <a:t>Median</a:t>
                      </a:r>
                    </a:p>
                    <a:p>
                      <a:r>
                        <a:rPr sz="1650" b="1">
                          <a:solidFill>
                            <a:srgbClr val="FFFFFF"/>
                          </a:solidFill>
                          <a:latin typeface="Bahnschrift"/>
                          <a:ea typeface="Bahnschrift"/>
                          <a:cs typeface="Bahnschrift"/>
                        </a:rPr>
                        <a:t>telomere</a:t>
                      </a:r>
                    </a:p>
                    <a:p>
                      <a:r>
                        <a:rPr sz="1650" b="1">
                          <a:solidFill>
                            <a:srgbClr val="FFFFFF"/>
                          </a:solidFill>
                          <a:latin typeface="Bahnschrift"/>
                          <a:ea typeface="Bahnschrift"/>
                          <a:cs typeface="Bahnschrift"/>
                        </a:rPr>
                        <a:t>length (bp)</a:t>
                      </a:r>
                    </a:p>
                  </a:txBody>
                  <a:tcPr>
                    <a:solidFill>
                      <a:srgbClr val="0D182A"/>
                    </a:solidFill>
                  </a:tcPr>
                </a:tc>
                <a:tc>
                  <a:txBody>
                    <a:bodyPr/>
                    <a:lstStyle/>
                    <a:p>
                      <a:r>
                        <a:rPr sz="1650" b="1">
                          <a:solidFill>
                            <a:srgbClr val="FFFFFF"/>
                          </a:solidFill>
                          <a:latin typeface="Bahnschrift"/>
                          <a:ea typeface="Bahnschrift"/>
                          <a:cs typeface="Bahnschrift"/>
                        </a:rPr>
                        <a:t>Below</a:t>
                      </a:r>
                    </a:p>
                    <a:p>
                      <a:r>
                        <a:rPr sz="1650" b="1">
                          <a:solidFill>
                            <a:srgbClr val="FFFFFF"/>
                          </a:solidFill>
                          <a:latin typeface="Bahnschrift"/>
                          <a:ea typeface="Bahnschrift"/>
                          <a:cs typeface="Bahnschrift"/>
                        </a:rPr>
                        <a:t>2 kb</a:t>
                      </a:r>
                    </a:p>
                  </a:txBody>
                  <a:tcPr>
                    <a:solidFill>
                      <a:srgbClr val="0D182A"/>
                    </a:solidFill>
                  </a:tcPr>
                </a:tc>
                <a:tc>
                  <a:txBody>
                    <a:bodyPr/>
                    <a:lstStyle/>
                    <a:p>
                      <a:r>
                        <a:rPr sz="1650" b="1">
                          <a:solidFill>
                            <a:srgbClr val="FFFFFF"/>
                          </a:solidFill>
                          <a:latin typeface="Bahnschrift"/>
                          <a:ea typeface="Bahnschrift"/>
                          <a:cs typeface="Bahnschrift"/>
                        </a:rPr>
                        <a:t>Median read</a:t>
                      </a:r>
                    </a:p>
                    <a:p>
                      <a:r>
                        <a:rPr sz="1650" b="1">
                          <a:solidFill>
                            <a:srgbClr val="FFFFFF"/>
                          </a:solidFill>
                          <a:latin typeface="Bahnschrift"/>
                          <a:ea typeface="Bahnschrift"/>
                          <a:cs typeface="Bahnschrift"/>
                        </a:rPr>
                        <a:t>length (bp)</a:t>
                      </a:r>
                    </a:p>
                  </a:txBody>
                  <a:tcPr>
                    <a:solidFill>
                      <a:srgbClr val="0D182A"/>
                    </a:solidFill>
                  </a:tcPr>
                </a:tc>
                <a:tc>
                  <a:txBody>
                    <a:bodyPr/>
                    <a:lstStyle/>
                    <a:p>
                      <a:r>
                        <a:rPr sz="1650" b="1">
                          <a:solidFill>
                            <a:srgbClr val="FFFFFF"/>
                          </a:solidFill>
                          <a:latin typeface="Bahnschrift"/>
                          <a:ea typeface="Bahnschrift"/>
                          <a:cs typeface="Bahnschrift"/>
                        </a:rPr>
                        <a:t>Mean</a:t>
                      </a:r>
                    </a:p>
                    <a:p>
                      <a:r>
                        <a:rPr sz="1650" b="1">
                          <a:solidFill>
                            <a:srgbClr val="FFFFFF"/>
                          </a:solidFill>
                          <a:latin typeface="Bahnschrift"/>
                          <a:ea typeface="Bahnschrift"/>
                          <a:cs typeface="Bahnschrift"/>
                        </a:rPr>
                        <a:t>density</a:t>
                      </a:r>
                    </a:p>
                  </a:txBody>
                  <a:tcPr>
                    <a:solidFill>
                      <a:srgbClr val="0D182A"/>
                    </a:solidFill>
                  </a:tcPr>
                </a:tc>
                <a:tc>
                  <a:txBody>
                    <a:bodyPr/>
                    <a:lstStyle/>
                    <a:p>
                      <a:r>
                        <a:rPr sz="1650" b="1">
                          <a:solidFill>
                            <a:srgbClr val="FFFFFF"/>
                          </a:solidFill>
                          <a:latin typeface="Bahnschrift"/>
                          <a:ea typeface="Bahnschrift"/>
                          <a:cs typeface="Bahnschrift"/>
                        </a:rPr>
                        <a:t>Mean</a:t>
                      </a:r>
                    </a:p>
                    <a:p>
                      <a:r>
                        <a:rPr sz="1650" b="1">
                          <a:solidFill>
                            <a:srgbClr val="FFFFFF"/>
                          </a:solidFill>
                          <a:latin typeface="Bahnschrift"/>
                          <a:ea typeface="Bahnschrift"/>
                          <a:cs typeface="Bahnschrift"/>
                        </a:rPr>
                        <a:t>telomere</a:t>
                      </a:r>
                    </a:p>
                    <a:p>
                      <a:r>
                        <a:rPr sz="1650" b="1">
                          <a:solidFill>
                            <a:srgbClr val="FFFFFF"/>
                          </a:solidFill>
                          <a:latin typeface="Bahnschrift"/>
                          <a:ea typeface="Bahnschrift"/>
                          <a:cs typeface="Bahnschrift"/>
                        </a:rPr>
                        <a:t>start (bp)</a:t>
                      </a:r>
                    </a:p>
                  </a:txBody>
                  <a:tcPr>
                    <a:solidFill>
                      <a:srgbClr val="0D182A"/>
                    </a:solidFill>
                  </a:tcPr>
                </a:tc>
                <a:extLst>
                  <a:ext uri="{0D108BD9-81ED-4DB2-BD59-A6C34878D82A}">
                    <a16:rowId xmlns:a16="http://schemas.microsoft.com/office/drawing/2014/main" val="10000"/>
                  </a:ext>
                </a:extLst>
              </a:tr>
              <a:tr h="369094">
                <a:tc>
                  <a:txBody>
                    <a:bodyPr/>
                    <a:lstStyle/>
                    <a:p>
                      <a:r>
                        <a:rPr sz="1875" b="1">
                          <a:solidFill>
                            <a:srgbClr val="0D182A"/>
                          </a:solidFill>
                          <a:latin typeface="Segoe UI"/>
                          <a:ea typeface="Segoe UI"/>
                          <a:cs typeface="Segoe UI"/>
                        </a:rPr>
                        <a:t>barcode02</a:t>
                      </a:r>
                    </a:p>
                  </a:txBody>
                  <a:tcPr>
                    <a:solidFill>
                      <a:srgbClr val="FFFFFF"/>
                    </a:solidFill>
                  </a:tcPr>
                </a:tc>
                <a:tc>
                  <a:txBody>
                    <a:bodyPr/>
                    <a:lstStyle/>
                    <a:p>
                      <a:r>
                        <a:rPr sz="1875" b="0">
                          <a:solidFill>
                            <a:srgbClr val="0D182A"/>
                          </a:solidFill>
                          <a:latin typeface="Segoe UI"/>
                          <a:ea typeface="Segoe UI"/>
                          <a:cs typeface="Segoe UI"/>
                        </a:rPr>
                        <a:t>12</a:t>
                      </a:r>
                    </a:p>
                  </a:txBody>
                  <a:tcPr>
                    <a:solidFill>
                      <a:srgbClr val="FFFFFF"/>
                    </a:solidFill>
                  </a:tcPr>
                </a:tc>
                <a:tc>
                  <a:txBody>
                    <a:bodyPr/>
                    <a:lstStyle/>
                    <a:p>
                      <a:r>
                        <a:rPr sz="1875" b="0">
                          <a:solidFill>
                            <a:srgbClr val="0D182A"/>
                          </a:solidFill>
                          <a:latin typeface="Segoe UI"/>
                          <a:ea typeface="Segoe UI"/>
                          <a:cs typeface="Segoe UI"/>
                        </a:rPr>
                        <a:t>4,896.5</a:t>
                      </a:r>
                    </a:p>
                  </a:txBody>
                  <a:tcPr>
                    <a:solidFill>
                      <a:srgbClr val="FFFFFF"/>
                    </a:solidFill>
                  </a:tcPr>
                </a:tc>
                <a:tc>
                  <a:txBody>
                    <a:bodyPr/>
                    <a:lstStyle/>
                    <a:p>
                      <a:r>
                        <a:rPr sz="1875" b="0">
                          <a:solidFill>
                            <a:srgbClr val="0D182A"/>
                          </a:solidFill>
                          <a:latin typeface="Segoe UI"/>
                          <a:ea typeface="Segoe UI"/>
                          <a:cs typeface="Segoe UI"/>
                        </a:rPr>
                        <a:t>16.7%</a:t>
                      </a:r>
                    </a:p>
                  </a:txBody>
                  <a:tcPr>
                    <a:solidFill>
                      <a:srgbClr val="FFFFFF"/>
                    </a:solidFill>
                  </a:tcPr>
                </a:tc>
                <a:tc>
                  <a:txBody>
                    <a:bodyPr/>
                    <a:lstStyle/>
                    <a:p>
                      <a:r>
                        <a:rPr sz="1875" b="0">
                          <a:solidFill>
                            <a:srgbClr val="0D182A"/>
                          </a:solidFill>
                          <a:latin typeface="Segoe UI"/>
                          <a:ea typeface="Segoe UI"/>
                          <a:cs typeface="Segoe UI"/>
                        </a:rPr>
                        <a:t>16,096</a:t>
                      </a:r>
                    </a:p>
                  </a:txBody>
                  <a:tcPr>
                    <a:solidFill>
                      <a:srgbClr val="FFFFFF"/>
                    </a:solidFill>
                  </a:tcPr>
                </a:tc>
                <a:tc>
                  <a:txBody>
                    <a:bodyPr/>
                    <a:lstStyle/>
                    <a:p>
                      <a:r>
                        <a:rPr sz="1875" b="0">
                          <a:solidFill>
                            <a:srgbClr val="0D182A"/>
                          </a:solidFill>
                          <a:latin typeface="Segoe UI"/>
                          <a:ea typeface="Segoe UI"/>
                          <a:cs typeface="Segoe UI"/>
                        </a:rPr>
                        <a:t>0.957</a:t>
                      </a:r>
                    </a:p>
                  </a:txBody>
                  <a:tcPr>
                    <a:solidFill>
                      <a:srgbClr val="FFFFFF"/>
                    </a:solidFill>
                  </a:tcPr>
                </a:tc>
                <a:tc>
                  <a:txBody>
                    <a:bodyPr/>
                    <a:lstStyle/>
                    <a:p>
                      <a:r>
                        <a:rPr sz="1875" b="0">
                          <a:solidFill>
                            <a:srgbClr val="0D182A"/>
                          </a:solidFill>
                          <a:latin typeface="Segoe UI"/>
                          <a:ea typeface="Segoe UI"/>
                          <a:cs typeface="Segoe UI"/>
                        </a:rPr>
                        <a:t>85.9</a:t>
                      </a:r>
                    </a:p>
                  </a:txBody>
                  <a:tcPr>
                    <a:solidFill>
                      <a:srgbClr val="FFFFFF"/>
                    </a:solidFill>
                  </a:tcPr>
                </a:tc>
                <a:extLst>
                  <a:ext uri="{0D108BD9-81ED-4DB2-BD59-A6C34878D82A}">
                    <a16:rowId xmlns:a16="http://schemas.microsoft.com/office/drawing/2014/main" val="10001"/>
                  </a:ext>
                </a:extLst>
              </a:tr>
              <a:tr h="369094">
                <a:tc>
                  <a:txBody>
                    <a:bodyPr/>
                    <a:lstStyle/>
                    <a:p>
                      <a:r>
                        <a:rPr sz="1875" b="1">
                          <a:solidFill>
                            <a:srgbClr val="0D182A"/>
                          </a:solidFill>
                          <a:latin typeface="Segoe UI"/>
                          <a:ea typeface="Segoe UI"/>
                          <a:cs typeface="Segoe UI"/>
                        </a:rPr>
                        <a:t>barcode03</a:t>
                      </a:r>
                    </a:p>
                  </a:txBody>
                  <a:tcPr>
                    <a:solidFill>
                      <a:srgbClr val="E8EDF4"/>
                    </a:solidFill>
                  </a:tcPr>
                </a:tc>
                <a:tc>
                  <a:txBody>
                    <a:bodyPr/>
                    <a:lstStyle/>
                    <a:p>
                      <a:r>
                        <a:rPr sz="1875" b="0">
                          <a:solidFill>
                            <a:srgbClr val="0D182A"/>
                          </a:solidFill>
                          <a:latin typeface="Segoe UI"/>
                          <a:ea typeface="Segoe UI"/>
                          <a:cs typeface="Segoe UI"/>
                        </a:rPr>
                        <a:t>32</a:t>
                      </a:r>
                    </a:p>
                  </a:txBody>
                  <a:tcPr>
                    <a:solidFill>
                      <a:srgbClr val="E8EDF4"/>
                    </a:solidFill>
                  </a:tcPr>
                </a:tc>
                <a:tc>
                  <a:txBody>
                    <a:bodyPr/>
                    <a:lstStyle/>
                    <a:p>
                      <a:r>
                        <a:rPr sz="1875" b="0">
                          <a:solidFill>
                            <a:srgbClr val="0D182A"/>
                          </a:solidFill>
                          <a:latin typeface="Segoe UI"/>
                          <a:ea typeface="Segoe UI"/>
                          <a:cs typeface="Segoe UI"/>
                        </a:rPr>
                        <a:t>5,240</a:t>
                      </a:r>
                    </a:p>
                  </a:txBody>
                  <a:tcPr>
                    <a:solidFill>
                      <a:srgbClr val="E8EDF4"/>
                    </a:solidFill>
                  </a:tcPr>
                </a:tc>
                <a:tc>
                  <a:txBody>
                    <a:bodyPr/>
                    <a:lstStyle/>
                    <a:p>
                      <a:r>
                        <a:rPr sz="1875" b="0">
                          <a:solidFill>
                            <a:srgbClr val="0D182A"/>
                          </a:solidFill>
                          <a:latin typeface="Segoe UI"/>
                          <a:ea typeface="Segoe UI"/>
                          <a:cs typeface="Segoe UI"/>
                        </a:rPr>
                        <a:t>6.3%</a:t>
                      </a:r>
                    </a:p>
                  </a:txBody>
                  <a:tcPr>
                    <a:solidFill>
                      <a:srgbClr val="E8EDF4"/>
                    </a:solidFill>
                  </a:tcPr>
                </a:tc>
                <a:tc>
                  <a:txBody>
                    <a:bodyPr/>
                    <a:lstStyle/>
                    <a:p>
                      <a:r>
                        <a:rPr sz="1875" b="0">
                          <a:solidFill>
                            <a:srgbClr val="0D182A"/>
                          </a:solidFill>
                          <a:latin typeface="Segoe UI"/>
                          <a:ea typeface="Segoe UI"/>
                          <a:cs typeface="Segoe UI"/>
                        </a:rPr>
                        <a:t>18,430</a:t>
                      </a:r>
                    </a:p>
                  </a:txBody>
                  <a:tcPr>
                    <a:solidFill>
                      <a:srgbClr val="E8EDF4"/>
                    </a:solidFill>
                  </a:tcPr>
                </a:tc>
                <a:tc>
                  <a:txBody>
                    <a:bodyPr/>
                    <a:lstStyle/>
                    <a:p>
                      <a:r>
                        <a:rPr sz="1875" b="0">
                          <a:solidFill>
                            <a:srgbClr val="0D182A"/>
                          </a:solidFill>
                          <a:latin typeface="Segoe UI"/>
                          <a:ea typeface="Segoe UI"/>
                          <a:cs typeface="Segoe UI"/>
                        </a:rPr>
                        <a:t>0.964</a:t>
                      </a:r>
                    </a:p>
                  </a:txBody>
                  <a:tcPr>
                    <a:solidFill>
                      <a:srgbClr val="E8EDF4"/>
                    </a:solidFill>
                  </a:tcPr>
                </a:tc>
                <a:tc>
                  <a:txBody>
                    <a:bodyPr/>
                    <a:lstStyle/>
                    <a:p>
                      <a:r>
                        <a:rPr sz="1875" b="0">
                          <a:solidFill>
                            <a:srgbClr val="0D182A"/>
                          </a:solidFill>
                          <a:latin typeface="Segoe UI"/>
                          <a:ea typeface="Segoe UI"/>
                          <a:cs typeface="Segoe UI"/>
                        </a:rPr>
                        <a:t>81.2</a:t>
                      </a:r>
                    </a:p>
                  </a:txBody>
                  <a:tcPr>
                    <a:solidFill>
                      <a:srgbClr val="E8EDF4"/>
                    </a:solidFill>
                  </a:tcPr>
                </a:tc>
                <a:extLst>
                  <a:ext uri="{0D108BD9-81ED-4DB2-BD59-A6C34878D82A}">
                    <a16:rowId xmlns:a16="http://schemas.microsoft.com/office/drawing/2014/main" val="10002"/>
                  </a:ext>
                </a:extLst>
              </a:tr>
              <a:tr h="369094">
                <a:tc>
                  <a:txBody>
                    <a:bodyPr/>
                    <a:lstStyle/>
                    <a:p>
                      <a:r>
                        <a:rPr sz="1875" b="1">
                          <a:solidFill>
                            <a:srgbClr val="0D182A"/>
                          </a:solidFill>
                          <a:latin typeface="Segoe UI"/>
                          <a:ea typeface="Segoe UI"/>
                          <a:cs typeface="Segoe UI"/>
                        </a:rPr>
                        <a:t>barcode04</a:t>
                      </a:r>
                    </a:p>
                  </a:txBody>
                  <a:tcPr>
                    <a:solidFill>
                      <a:srgbClr val="FFFFFF"/>
                    </a:solidFill>
                  </a:tcPr>
                </a:tc>
                <a:tc>
                  <a:txBody>
                    <a:bodyPr/>
                    <a:lstStyle/>
                    <a:p>
                      <a:r>
                        <a:rPr sz="1875" b="0">
                          <a:solidFill>
                            <a:srgbClr val="0D182A"/>
                          </a:solidFill>
                          <a:latin typeface="Segoe UI"/>
                          <a:ea typeface="Segoe UI"/>
                          <a:cs typeface="Segoe UI"/>
                        </a:rPr>
                        <a:t>18</a:t>
                      </a:r>
                    </a:p>
                  </a:txBody>
                  <a:tcPr>
                    <a:solidFill>
                      <a:srgbClr val="FFFFFF"/>
                    </a:solidFill>
                  </a:tcPr>
                </a:tc>
                <a:tc>
                  <a:txBody>
                    <a:bodyPr/>
                    <a:lstStyle/>
                    <a:p>
                      <a:r>
                        <a:rPr sz="1875" b="0">
                          <a:solidFill>
                            <a:srgbClr val="0D182A"/>
                          </a:solidFill>
                          <a:latin typeface="Segoe UI"/>
                          <a:ea typeface="Segoe UI"/>
                          <a:cs typeface="Segoe UI"/>
                        </a:rPr>
                        <a:t>4,380</a:t>
                      </a:r>
                    </a:p>
                  </a:txBody>
                  <a:tcPr>
                    <a:solidFill>
                      <a:srgbClr val="FFFFFF"/>
                    </a:solidFill>
                  </a:tcPr>
                </a:tc>
                <a:tc>
                  <a:txBody>
                    <a:bodyPr/>
                    <a:lstStyle/>
                    <a:p>
                      <a:r>
                        <a:rPr sz="1875" b="0">
                          <a:solidFill>
                            <a:srgbClr val="0D182A"/>
                          </a:solidFill>
                          <a:latin typeface="Segoe UI"/>
                          <a:ea typeface="Segoe UI"/>
                          <a:cs typeface="Segoe UI"/>
                        </a:rPr>
                        <a:t>11.1%</a:t>
                      </a:r>
                    </a:p>
                  </a:txBody>
                  <a:tcPr>
                    <a:solidFill>
                      <a:srgbClr val="FFFFFF"/>
                    </a:solidFill>
                  </a:tcPr>
                </a:tc>
                <a:tc>
                  <a:txBody>
                    <a:bodyPr/>
                    <a:lstStyle/>
                    <a:p>
                      <a:r>
                        <a:rPr sz="1875" b="0">
                          <a:solidFill>
                            <a:srgbClr val="0D182A"/>
                          </a:solidFill>
                          <a:latin typeface="Segoe UI"/>
                          <a:ea typeface="Segoe UI"/>
                          <a:cs typeface="Segoe UI"/>
                        </a:rPr>
                        <a:t>15,870</a:t>
                      </a:r>
                    </a:p>
                  </a:txBody>
                  <a:tcPr>
                    <a:solidFill>
                      <a:srgbClr val="FFFFFF"/>
                    </a:solidFill>
                  </a:tcPr>
                </a:tc>
                <a:tc>
                  <a:txBody>
                    <a:bodyPr/>
                    <a:lstStyle/>
                    <a:p>
                      <a:r>
                        <a:rPr sz="1875" b="0">
                          <a:solidFill>
                            <a:srgbClr val="0D182A"/>
                          </a:solidFill>
                          <a:latin typeface="Segoe UI"/>
                          <a:ea typeface="Segoe UI"/>
                          <a:cs typeface="Segoe UI"/>
                        </a:rPr>
                        <a:t>0.948</a:t>
                      </a:r>
                    </a:p>
                  </a:txBody>
                  <a:tcPr>
                    <a:solidFill>
                      <a:srgbClr val="FFFFFF"/>
                    </a:solidFill>
                  </a:tcPr>
                </a:tc>
                <a:tc>
                  <a:txBody>
                    <a:bodyPr/>
                    <a:lstStyle/>
                    <a:p>
                      <a:r>
                        <a:rPr sz="1875" b="0">
                          <a:solidFill>
                            <a:srgbClr val="0D182A"/>
                          </a:solidFill>
                          <a:latin typeface="Segoe UI"/>
                          <a:ea typeface="Segoe UI"/>
                          <a:cs typeface="Segoe UI"/>
                        </a:rPr>
                        <a:t>89.5</a:t>
                      </a:r>
                    </a:p>
                  </a:txBody>
                  <a:tcPr>
                    <a:solidFill>
                      <a:srgbClr val="FFFFFF"/>
                    </a:solidFill>
                  </a:tcPr>
                </a:tc>
                <a:extLst>
                  <a:ext uri="{0D108BD9-81ED-4DB2-BD59-A6C34878D82A}">
                    <a16:rowId xmlns:a16="http://schemas.microsoft.com/office/drawing/2014/main" val="10003"/>
                  </a:ext>
                </a:extLst>
              </a:tr>
              <a:tr h="369094">
                <a:tc>
                  <a:txBody>
                    <a:bodyPr/>
                    <a:lstStyle/>
                    <a:p>
                      <a:r>
                        <a:rPr sz="1875" b="1">
                          <a:solidFill>
                            <a:srgbClr val="0D182A"/>
                          </a:solidFill>
                          <a:latin typeface="Segoe UI"/>
                          <a:ea typeface="Segoe UI"/>
                          <a:cs typeface="Segoe UI"/>
                        </a:rPr>
                        <a:t>barcode05</a:t>
                      </a:r>
                    </a:p>
                  </a:txBody>
                  <a:tcPr>
                    <a:solidFill>
                      <a:srgbClr val="E8EDF4"/>
                    </a:solidFill>
                  </a:tcPr>
                </a:tc>
                <a:tc>
                  <a:txBody>
                    <a:bodyPr/>
                    <a:lstStyle/>
                    <a:p>
                      <a:r>
                        <a:rPr sz="1875" b="0">
                          <a:solidFill>
                            <a:srgbClr val="0D182A"/>
                          </a:solidFill>
                          <a:latin typeface="Segoe UI"/>
                          <a:ea typeface="Segoe UI"/>
                          <a:cs typeface="Segoe UI"/>
                        </a:rPr>
                        <a:t>45</a:t>
                      </a:r>
                    </a:p>
                  </a:txBody>
                  <a:tcPr>
                    <a:solidFill>
                      <a:srgbClr val="E8EDF4"/>
                    </a:solidFill>
                  </a:tcPr>
                </a:tc>
                <a:tc>
                  <a:txBody>
                    <a:bodyPr/>
                    <a:lstStyle/>
                    <a:p>
                      <a:r>
                        <a:rPr sz="1875" b="0">
                          <a:solidFill>
                            <a:srgbClr val="0D182A"/>
                          </a:solidFill>
                          <a:latin typeface="Segoe UI"/>
                          <a:ea typeface="Segoe UI"/>
                          <a:cs typeface="Segoe UI"/>
                        </a:rPr>
                        <a:t>6,110</a:t>
                      </a:r>
                    </a:p>
                  </a:txBody>
                  <a:tcPr>
                    <a:solidFill>
                      <a:srgbClr val="E8EDF4"/>
                    </a:solidFill>
                  </a:tcPr>
                </a:tc>
                <a:tc>
                  <a:txBody>
                    <a:bodyPr/>
                    <a:lstStyle/>
                    <a:p>
                      <a:r>
                        <a:rPr sz="1875" b="0">
                          <a:solidFill>
                            <a:srgbClr val="0D182A"/>
                          </a:solidFill>
                          <a:latin typeface="Segoe UI"/>
                          <a:ea typeface="Segoe UI"/>
                          <a:cs typeface="Segoe UI"/>
                        </a:rPr>
                        <a:t>13.3%</a:t>
                      </a:r>
                    </a:p>
                  </a:txBody>
                  <a:tcPr>
                    <a:solidFill>
                      <a:srgbClr val="E8EDF4"/>
                    </a:solidFill>
                  </a:tcPr>
                </a:tc>
                <a:tc>
                  <a:txBody>
                    <a:bodyPr/>
                    <a:lstStyle/>
                    <a:p>
                      <a:r>
                        <a:rPr sz="1875" b="0">
                          <a:solidFill>
                            <a:srgbClr val="0D182A"/>
                          </a:solidFill>
                          <a:latin typeface="Segoe UI"/>
                          <a:ea typeface="Segoe UI"/>
                          <a:cs typeface="Segoe UI"/>
                        </a:rPr>
                        <a:t>21,260</a:t>
                      </a:r>
                    </a:p>
                  </a:txBody>
                  <a:tcPr>
                    <a:solidFill>
                      <a:srgbClr val="E8EDF4"/>
                    </a:solidFill>
                  </a:tcPr>
                </a:tc>
                <a:tc>
                  <a:txBody>
                    <a:bodyPr/>
                    <a:lstStyle/>
                    <a:p>
                      <a:r>
                        <a:rPr sz="1875" b="0">
                          <a:solidFill>
                            <a:srgbClr val="0D182A"/>
                          </a:solidFill>
                          <a:latin typeface="Segoe UI"/>
                          <a:ea typeface="Segoe UI"/>
                          <a:cs typeface="Segoe UI"/>
                        </a:rPr>
                        <a:t>0.976</a:t>
                      </a:r>
                    </a:p>
                  </a:txBody>
                  <a:tcPr>
                    <a:solidFill>
                      <a:srgbClr val="E8EDF4"/>
                    </a:solidFill>
                  </a:tcPr>
                </a:tc>
                <a:tc>
                  <a:txBody>
                    <a:bodyPr/>
                    <a:lstStyle/>
                    <a:p>
                      <a:r>
                        <a:rPr sz="1875" b="0">
                          <a:solidFill>
                            <a:srgbClr val="0D182A"/>
                          </a:solidFill>
                          <a:latin typeface="Segoe UI"/>
                          <a:ea typeface="Segoe UI"/>
                          <a:cs typeface="Segoe UI"/>
                        </a:rPr>
                        <a:t>76.4</a:t>
                      </a:r>
                    </a:p>
                  </a:txBody>
                  <a:tcPr>
                    <a:solidFill>
                      <a:srgbClr val="E8EDF4"/>
                    </a:solidFill>
                  </a:tcPr>
                </a:tc>
                <a:extLst>
                  <a:ext uri="{0D108BD9-81ED-4DB2-BD59-A6C34878D82A}">
                    <a16:rowId xmlns:a16="http://schemas.microsoft.com/office/drawing/2014/main" val="10004"/>
                  </a:ext>
                </a:extLst>
              </a:tr>
              <a:tr h="369094">
                <a:tc>
                  <a:txBody>
                    <a:bodyPr/>
                    <a:lstStyle/>
                    <a:p>
                      <a:r>
                        <a:rPr sz="1875" b="1">
                          <a:solidFill>
                            <a:srgbClr val="0D182A"/>
                          </a:solidFill>
                          <a:latin typeface="Segoe UI"/>
                          <a:ea typeface="Segoe UI"/>
                          <a:cs typeface="Segoe UI"/>
                        </a:rPr>
                        <a:t>barcode06</a:t>
                      </a:r>
                    </a:p>
                  </a:txBody>
                  <a:tcPr>
                    <a:solidFill>
                      <a:srgbClr val="FFFFFF"/>
                    </a:solidFill>
                  </a:tcPr>
                </a:tc>
                <a:tc>
                  <a:txBody>
                    <a:bodyPr/>
                    <a:lstStyle/>
                    <a:p>
                      <a:r>
                        <a:rPr sz="1875" b="0">
                          <a:solidFill>
                            <a:srgbClr val="0D182A"/>
                          </a:solidFill>
                          <a:latin typeface="Segoe UI"/>
                          <a:ea typeface="Segoe UI"/>
                          <a:cs typeface="Segoe UI"/>
                        </a:rPr>
                        <a:t>27</a:t>
                      </a:r>
                    </a:p>
                  </a:txBody>
                  <a:tcPr>
                    <a:solidFill>
                      <a:srgbClr val="FFFFFF"/>
                    </a:solidFill>
                  </a:tcPr>
                </a:tc>
                <a:tc>
                  <a:txBody>
                    <a:bodyPr/>
                    <a:lstStyle/>
                    <a:p>
                      <a:r>
                        <a:rPr sz="1875" b="0">
                          <a:solidFill>
                            <a:srgbClr val="0D182A"/>
                          </a:solidFill>
                          <a:latin typeface="Segoe UI"/>
                          <a:ea typeface="Segoe UI"/>
                          <a:cs typeface="Segoe UI"/>
                        </a:rPr>
                        <a:t>5,670</a:t>
                      </a:r>
                    </a:p>
                  </a:txBody>
                  <a:tcPr>
                    <a:solidFill>
                      <a:srgbClr val="FFFFFF"/>
                    </a:solidFill>
                  </a:tcPr>
                </a:tc>
                <a:tc>
                  <a:txBody>
                    <a:bodyPr/>
                    <a:lstStyle/>
                    <a:p>
                      <a:r>
                        <a:rPr sz="1875" b="0">
                          <a:solidFill>
                            <a:srgbClr val="0D182A"/>
                          </a:solidFill>
                          <a:latin typeface="Segoe UI"/>
                          <a:ea typeface="Segoe UI"/>
                          <a:cs typeface="Segoe UI"/>
                        </a:rPr>
                        <a:t>7.4%</a:t>
                      </a:r>
                    </a:p>
                  </a:txBody>
                  <a:tcPr>
                    <a:solidFill>
                      <a:srgbClr val="FFFFFF"/>
                    </a:solidFill>
                  </a:tcPr>
                </a:tc>
                <a:tc>
                  <a:txBody>
                    <a:bodyPr/>
                    <a:lstStyle/>
                    <a:p>
                      <a:r>
                        <a:rPr sz="1875" b="0">
                          <a:solidFill>
                            <a:srgbClr val="0D182A"/>
                          </a:solidFill>
                          <a:latin typeface="Segoe UI"/>
                          <a:ea typeface="Segoe UI"/>
                          <a:cs typeface="Segoe UI"/>
                        </a:rPr>
                        <a:t>19,540</a:t>
                      </a:r>
                    </a:p>
                  </a:txBody>
                  <a:tcPr>
                    <a:solidFill>
                      <a:srgbClr val="FFFFFF"/>
                    </a:solidFill>
                  </a:tcPr>
                </a:tc>
                <a:tc>
                  <a:txBody>
                    <a:bodyPr/>
                    <a:lstStyle/>
                    <a:p>
                      <a:r>
                        <a:rPr sz="1875" b="0">
                          <a:solidFill>
                            <a:srgbClr val="0D182A"/>
                          </a:solidFill>
                          <a:latin typeface="Segoe UI"/>
                          <a:ea typeface="Segoe UI"/>
                          <a:cs typeface="Segoe UI"/>
                        </a:rPr>
                        <a:t>0.961</a:t>
                      </a:r>
                    </a:p>
                  </a:txBody>
                  <a:tcPr>
                    <a:solidFill>
                      <a:srgbClr val="FFFFFF"/>
                    </a:solidFill>
                  </a:tcPr>
                </a:tc>
                <a:tc>
                  <a:txBody>
                    <a:bodyPr/>
                    <a:lstStyle/>
                    <a:p>
                      <a:r>
                        <a:rPr sz="1875" b="0">
                          <a:solidFill>
                            <a:srgbClr val="0D182A"/>
                          </a:solidFill>
                          <a:latin typeface="Segoe UI"/>
                          <a:ea typeface="Segoe UI"/>
                          <a:cs typeface="Segoe UI"/>
                        </a:rPr>
                        <a:t>83.7</a:t>
                      </a:r>
                    </a:p>
                  </a:txBody>
                  <a:tcPr>
                    <a:solidFill>
                      <a:srgbClr val="FFFFFF"/>
                    </a:solidFill>
                  </a:tcPr>
                </a:tc>
                <a:extLst>
                  <a:ext uri="{0D108BD9-81ED-4DB2-BD59-A6C34878D82A}">
                    <a16:rowId xmlns:a16="http://schemas.microsoft.com/office/drawing/2014/main" val="10005"/>
                  </a:ext>
                </a:extLst>
              </a:tr>
              <a:tr h="369094">
                <a:tc>
                  <a:txBody>
                    <a:bodyPr/>
                    <a:lstStyle/>
                    <a:p>
                      <a:r>
                        <a:rPr sz="1875" b="1">
                          <a:solidFill>
                            <a:srgbClr val="0D182A"/>
                          </a:solidFill>
                          <a:latin typeface="Segoe UI"/>
                          <a:ea typeface="Segoe UI"/>
                          <a:cs typeface="Segoe UI"/>
                        </a:rPr>
                        <a:t>barcode07</a:t>
                      </a:r>
                    </a:p>
                  </a:txBody>
                  <a:tcPr>
                    <a:solidFill>
                      <a:srgbClr val="E8EDF4"/>
                    </a:solidFill>
                  </a:tcPr>
                </a:tc>
                <a:tc>
                  <a:txBody>
                    <a:bodyPr/>
                    <a:lstStyle/>
                    <a:p>
                      <a:r>
                        <a:rPr sz="1875" b="0">
                          <a:solidFill>
                            <a:srgbClr val="0D182A"/>
                          </a:solidFill>
                          <a:latin typeface="Segoe UI"/>
                          <a:ea typeface="Segoe UI"/>
                          <a:cs typeface="Segoe UI"/>
                        </a:rPr>
                        <a:t>16</a:t>
                      </a:r>
                    </a:p>
                  </a:txBody>
                  <a:tcPr>
                    <a:solidFill>
                      <a:srgbClr val="E8EDF4"/>
                    </a:solidFill>
                  </a:tcPr>
                </a:tc>
                <a:tc>
                  <a:txBody>
                    <a:bodyPr/>
                    <a:lstStyle/>
                    <a:p>
                      <a:r>
                        <a:rPr sz="1875" b="0">
                          <a:solidFill>
                            <a:srgbClr val="0D182A"/>
                          </a:solidFill>
                          <a:latin typeface="Segoe UI"/>
                          <a:ea typeface="Segoe UI"/>
                          <a:cs typeface="Segoe UI"/>
                        </a:rPr>
                        <a:t>3,920</a:t>
                      </a:r>
                    </a:p>
                  </a:txBody>
                  <a:tcPr>
                    <a:solidFill>
                      <a:srgbClr val="E8EDF4"/>
                    </a:solidFill>
                  </a:tcPr>
                </a:tc>
                <a:tc>
                  <a:txBody>
                    <a:bodyPr/>
                    <a:lstStyle/>
                    <a:p>
                      <a:r>
                        <a:rPr sz="1875" b="0">
                          <a:solidFill>
                            <a:srgbClr val="0D182A"/>
                          </a:solidFill>
                          <a:latin typeface="Segoe UI"/>
                          <a:ea typeface="Segoe UI"/>
                          <a:cs typeface="Segoe UI"/>
                        </a:rPr>
                        <a:t>18.8%</a:t>
                      </a:r>
                    </a:p>
                  </a:txBody>
                  <a:tcPr>
                    <a:solidFill>
                      <a:srgbClr val="E8EDF4"/>
                    </a:solidFill>
                  </a:tcPr>
                </a:tc>
                <a:tc>
                  <a:txBody>
                    <a:bodyPr/>
                    <a:lstStyle/>
                    <a:p>
                      <a:r>
                        <a:rPr sz="1875" b="0">
                          <a:solidFill>
                            <a:srgbClr val="0D182A"/>
                          </a:solidFill>
                          <a:latin typeface="Segoe UI"/>
                          <a:ea typeface="Segoe UI"/>
                          <a:cs typeface="Segoe UI"/>
                        </a:rPr>
                        <a:t>14,980</a:t>
                      </a:r>
                    </a:p>
                  </a:txBody>
                  <a:tcPr>
                    <a:solidFill>
                      <a:srgbClr val="E8EDF4"/>
                    </a:solidFill>
                  </a:tcPr>
                </a:tc>
                <a:tc>
                  <a:txBody>
                    <a:bodyPr/>
                    <a:lstStyle/>
                    <a:p>
                      <a:r>
                        <a:rPr sz="1875" b="0">
                          <a:solidFill>
                            <a:srgbClr val="0D182A"/>
                          </a:solidFill>
                          <a:latin typeface="Segoe UI"/>
                          <a:ea typeface="Segoe UI"/>
                          <a:cs typeface="Segoe UI"/>
                        </a:rPr>
                        <a:t>0.942</a:t>
                      </a:r>
                    </a:p>
                  </a:txBody>
                  <a:tcPr>
                    <a:solidFill>
                      <a:srgbClr val="E8EDF4"/>
                    </a:solidFill>
                  </a:tcPr>
                </a:tc>
                <a:tc>
                  <a:txBody>
                    <a:bodyPr/>
                    <a:lstStyle/>
                    <a:p>
                      <a:r>
                        <a:rPr sz="1875" b="0">
                          <a:solidFill>
                            <a:srgbClr val="0D182A"/>
                          </a:solidFill>
                          <a:latin typeface="Segoe UI"/>
                          <a:ea typeface="Segoe UI"/>
                          <a:cs typeface="Segoe UI"/>
                        </a:rPr>
                        <a:t>91.1</a:t>
                      </a:r>
                    </a:p>
                  </a:txBody>
                  <a:tcPr>
                    <a:solidFill>
                      <a:srgbClr val="E8EDF4"/>
                    </a:solidFill>
                  </a:tcPr>
                </a:tc>
                <a:extLst>
                  <a:ext uri="{0D108BD9-81ED-4DB2-BD59-A6C34878D82A}">
                    <a16:rowId xmlns:a16="http://schemas.microsoft.com/office/drawing/2014/main" val="10006"/>
                  </a:ext>
                </a:extLst>
              </a:tr>
              <a:tr h="369094">
                <a:tc>
                  <a:txBody>
                    <a:bodyPr/>
                    <a:lstStyle/>
                    <a:p>
                      <a:r>
                        <a:rPr sz="1875" b="1">
                          <a:solidFill>
                            <a:srgbClr val="0D182A"/>
                          </a:solidFill>
                          <a:latin typeface="Segoe UI"/>
                          <a:ea typeface="Segoe UI"/>
                          <a:cs typeface="Segoe UI"/>
                        </a:rPr>
                        <a:t>barcode08</a:t>
                      </a:r>
                    </a:p>
                  </a:txBody>
                  <a:tcPr>
                    <a:solidFill>
                      <a:srgbClr val="FFFFFF"/>
                    </a:solidFill>
                  </a:tcPr>
                </a:tc>
                <a:tc>
                  <a:txBody>
                    <a:bodyPr/>
                    <a:lstStyle/>
                    <a:p>
                      <a:r>
                        <a:rPr sz="1875" b="0">
                          <a:solidFill>
                            <a:srgbClr val="0D182A"/>
                          </a:solidFill>
                          <a:latin typeface="Segoe UI"/>
                          <a:ea typeface="Segoe UI"/>
                          <a:cs typeface="Segoe UI"/>
                        </a:rPr>
                        <a:t>38</a:t>
                      </a:r>
                    </a:p>
                  </a:txBody>
                  <a:tcPr>
                    <a:solidFill>
                      <a:srgbClr val="FFFFFF"/>
                    </a:solidFill>
                  </a:tcPr>
                </a:tc>
                <a:tc>
                  <a:txBody>
                    <a:bodyPr/>
                    <a:lstStyle/>
                    <a:p>
                      <a:r>
                        <a:rPr sz="1875" b="0">
                          <a:solidFill>
                            <a:srgbClr val="0D182A"/>
                          </a:solidFill>
                          <a:latin typeface="Segoe UI"/>
                          <a:ea typeface="Segoe UI"/>
                          <a:cs typeface="Segoe UI"/>
                        </a:rPr>
                        <a:t>6,480</a:t>
                      </a:r>
                    </a:p>
                  </a:txBody>
                  <a:tcPr>
                    <a:solidFill>
                      <a:srgbClr val="FFFFFF"/>
                    </a:solidFill>
                  </a:tcPr>
                </a:tc>
                <a:tc>
                  <a:txBody>
                    <a:bodyPr/>
                    <a:lstStyle/>
                    <a:p>
                      <a:r>
                        <a:rPr sz="1875" b="0">
                          <a:solidFill>
                            <a:srgbClr val="0D182A"/>
                          </a:solidFill>
                          <a:latin typeface="Segoe UI"/>
                          <a:ea typeface="Segoe UI"/>
                          <a:cs typeface="Segoe UI"/>
                        </a:rPr>
                        <a:t>10.5%</a:t>
                      </a:r>
                    </a:p>
                  </a:txBody>
                  <a:tcPr>
                    <a:solidFill>
                      <a:srgbClr val="FFFFFF"/>
                    </a:solidFill>
                  </a:tcPr>
                </a:tc>
                <a:tc>
                  <a:txBody>
                    <a:bodyPr/>
                    <a:lstStyle/>
                    <a:p>
                      <a:r>
                        <a:rPr sz="1875" b="0">
                          <a:solidFill>
                            <a:srgbClr val="0D182A"/>
                          </a:solidFill>
                          <a:latin typeface="Segoe UI"/>
                          <a:ea typeface="Segoe UI"/>
                          <a:cs typeface="Segoe UI"/>
                        </a:rPr>
                        <a:t>22,150</a:t>
                      </a:r>
                    </a:p>
                  </a:txBody>
                  <a:tcPr>
                    <a:solidFill>
                      <a:srgbClr val="FFFFFF"/>
                    </a:solidFill>
                  </a:tcPr>
                </a:tc>
                <a:tc>
                  <a:txBody>
                    <a:bodyPr/>
                    <a:lstStyle/>
                    <a:p>
                      <a:r>
                        <a:rPr sz="1875" b="0">
                          <a:solidFill>
                            <a:srgbClr val="0D182A"/>
                          </a:solidFill>
                          <a:latin typeface="Segoe UI"/>
                          <a:ea typeface="Segoe UI"/>
                          <a:cs typeface="Segoe UI"/>
                        </a:rPr>
                        <a:t>0.982</a:t>
                      </a:r>
                    </a:p>
                  </a:txBody>
                  <a:tcPr>
                    <a:solidFill>
                      <a:srgbClr val="FFFFFF"/>
                    </a:solidFill>
                  </a:tcPr>
                </a:tc>
                <a:tc>
                  <a:txBody>
                    <a:bodyPr/>
                    <a:lstStyle/>
                    <a:p>
                      <a:r>
                        <a:rPr sz="1875" b="0">
                          <a:solidFill>
                            <a:srgbClr val="0D182A"/>
                          </a:solidFill>
                          <a:latin typeface="Segoe UI"/>
                          <a:ea typeface="Segoe UI"/>
                          <a:cs typeface="Segoe UI"/>
                        </a:rPr>
                        <a:t>74.8</a:t>
                      </a:r>
                    </a:p>
                  </a:txBody>
                  <a:tcPr>
                    <a:solidFill>
                      <a:srgbClr val="FFFFFF"/>
                    </a:solidFill>
                  </a:tcPr>
                </a:tc>
                <a:extLst>
                  <a:ext uri="{0D108BD9-81ED-4DB2-BD59-A6C34878D82A}">
                    <a16:rowId xmlns:a16="http://schemas.microsoft.com/office/drawing/2014/main" val="10007"/>
                  </a:ext>
                </a:extLst>
              </a:tr>
              <a:tr h="369094">
                <a:tc>
                  <a:txBody>
                    <a:bodyPr/>
                    <a:lstStyle/>
                    <a:p>
                      <a:r>
                        <a:rPr sz="1875" b="1">
                          <a:solidFill>
                            <a:srgbClr val="0D182A"/>
                          </a:solidFill>
                          <a:latin typeface="Segoe UI"/>
                          <a:ea typeface="Segoe UI"/>
                          <a:cs typeface="Segoe UI"/>
                        </a:rPr>
                        <a:t>barcode19</a:t>
                      </a:r>
                    </a:p>
                  </a:txBody>
                  <a:tcPr>
                    <a:solidFill>
                      <a:srgbClr val="E8EDF4"/>
                    </a:solidFill>
                  </a:tcPr>
                </a:tc>
                <a:tc>
                  <a:txBody>
                    <a:bodyPr/>
                    <a:lstStyle/>
                    <a:p>
                      <a:r>
                        <a:rPr sz="1875" b="0">
                          <a:solidFill>
                            <a:srgbClr val="0D182A"/>
                          </a:solidFill>
                          <a:latin typeface="Segoe UI"/>
                          <a:ea typeface="Segoe UI"/>
                          <a:cs typeface="Segoe UI"/>
                        </a:rPr>
                        <a:t>1</a:t>
                      </a:r>
                    </a:p>
                  </a:txBody>
                  <a:tcPr>
                    <a:solidFill>
                      <a:srgbClr val="E8EDF4"/>
                    </a:solidFill>
                  </a:tcPr>
                </a:tc>
                <a:tc>
                  <a:txBody>
                    <a:bodyPr/>
                    <a:lstStyle/>
                    <a:p>
                      <a:r>
                        <a:rPr sz="1875" b="0">
                          <a:solidFill>
                            <a:srgbClr val="0D182A"/>
                          </a:solidFill>
                          <a:latin typeface="Segoe UI"/>
                          <a:ea typeface="Segoe UI"/>
                          <a:cs typeface="Segoe UI"/>
                        </a:rPr>
                        <a:t>12,573</a:t>
                      </a:r>
                    </a:p>
                  </a:txBody>
                  <a:tcPr>
                    <a:solidFill>
                      <a:srgbClr val="E8EDF4"/>
                    </a:solidFill>
                  </a:tcPr>
                </a:tc>
                <a:tc>
                  <a:txBody>
                    <a:bodyPr/>
                    <a:lstStyle/>
                    <a:p>
                      <a:r>
                        <a:rPr sz="1875" b="0">
                          <a:solidFill>
                            <a:srgbClr val="0D182A"/>
                          </a:solidFill>
                          <a:latin typeface="Segoe UI"/>
                          <a:ea typeface="Segoe UI"/>
                          <a:cs typeface="Segoe UI"/>
                        </a:rPr>
                        <a:t>0%</a:t>
                      </a:r>
                    </a:p>
                  </a:txBody>
                  <a:tcPr>
                    <a:solidFill>
                      <a:srgbClr val="E8EDF4"/>
                    </a:solidFill>
                  </a:tcPr>
                </a:tc>
                <a:tc>
                  <a:txBody>
                    <a:bodyPr/>
                    <a:lstStyle/>
                    <a:p>
                      <a:r>
                        <a:rPr sz="1875" b="0">
                          <a:solidFill>
                            <a:srgbClr val="0D182A"/>
                          </a:solidFill>
                          <a:latin typeface="Segoe UI"/>
                          <a:ea typeface="Segoe UI"/>
                          <a:cs typeface="Segoe UI"/>
                        </a:rPr>
                        <a:t>17,449</a:t>
                      </a:r>
                    </a:p>
                  </a:txBody>
                  <a:tcPr>
                    <a:solidFill>
                      <a:srgbClr val="E8EDF4"/>
                    </a:solidFill>
                  </a:tcPr>
                </a:tc>
                <a:tc>
                  <a:txBody>
                    <a:bodyPr/>
                    <a:lstStyle/>
                    <a:p>
                      <a:r>
                        <a:rPr sz="1875" b="0">
                          <a:solidFill>
                            <a:srgbClr val="0D182A"/>
                          </a:solidFill>
                          <a:latin typeface="Segoe UI"/>
                          <a:ea typeface="Segoe UI"/>
                          <a:cs typeface="Segoe UI"/>
                        </a:rPr>
                        <a:t>0.935</a:t>
                      </a:r>
                    </a:p>
                  </a:txBody>
                  <a:tcPr>
                    <a:solidFill>
                      <a:srgbClr val="E8EDF4"/>
                    </a:solidFill>
                  </a:tcPr>
                </a:tc>
                <a:tc>
                  <a:txBody>
                    <a:bodyPr/>
                    <a:lstStyle/>
                    <a:p>
                      <a:r>
                        <a:rPr sz="1875" b="0" dirty="0">
                          <a:solidFill>
                            <a:srgbClr val="0D182A"/>
                          </a:solidFill>
                          <a:latin typeface="Segoe UI"/>
                          <a:ea typeface="Segoe UI"/>
                          <a:cs typeface="Segoe UI"/>
                        </a:rPr>
                        <a:t>90</a:t>
                      </a:r>
                    </a:p>
                  </a:txBody>
                  <a:tcPr>
                    <a:solidFill>
                      <a:srgbClr val="E8EDF4"/>
                    </a:solidFill>
                  </a:tcPr>
                </a:tc>
                <a:extLst>
                  <a:ext uri="{0D108BD9-81ED-4DB2-BD59-A6C34878D82A}">
                    <a16:rowId xmlns:a16="http://schemas.microsoft.com/office/drawing/2014/main" val="10008"/>
                  </a:ext>
                </a:extLst>
              </a:tr>
            </a:tbl>
          </a:graphicData>
        </a:graphic>
      </p:graphicFrame>
      <p:sp>
        <p:nvSpPr>
          <p:cNvPr id="11" name="Rectangle 10">
            <a:extLst>
              <a:ext uri="{FF2B5EF4-FFF2-40B4-BE49-F238E27FC236}">
                <a16:creationId xmlns:a16="http://schemas.microsoft.com/office/drawing/2014/main" id="{26B9FA34-4734-4606-A03C-1F1F6F0E1A91}"/>
              </a:ext>
            </a:extLst>
          </p:cNvPr>
          <p:cNvSpPr>
            <a:spLocks noGrp="1"/>
          </p:cNvSpPr>
          <p:nvPr/>
        </p:nvSpPr>
        <p:spPr>
          <a:xfrm>
            <a:off x="533400" y="6105525"/>
            <a:ext cx="11125200" cy="295275"/>
          </a:xfrm>
          <a:prstGeom prst="rect">
            <a:avLst/>
          </a:prstGeom>
        </p:spPr>
        <p:txBody>
          <a:bodyPr lIns="0" tIns="0" rIns="0" bIns="0"/>
          <a:lstStyle/>
          <a:p>
            <a:pPr>
              <a:defRPr sz="1650" b="0">
                <a:solidFill>
                  <a:srgbClr val="68717E"/>
                </a:solidFill>
                <a:latin typeface="Segoe UI"/>
                <a:ea typeface="Segoe UI"/>
                <a:cs typeface="Segoe UI"/>
              </a:defRPr>
            </a:pPr>
            <a:r>
              <a:rPr dirty="0"/>
              <a:t>barcode02 and barcode19: saved results. Other rows: simulated for presentation only.</a:t>
            </a:r>
          </a:p>
        </p:txBody>
      </p:sp>
    </p:spTree>
    <p:extLst>
      <p:ext uri="{BB962C8B-B14F-4D97-AF65-F5344CB8AC3E}">
        <p14:creationId xmlns:p14="http://schemas.microsoft.com/office/powerpoint/2010/main" val="1275735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9C5C57-C81E-4121-94A3-68C5D204E5E1}"/>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Bahnschrift"/>
                <a:ea typeface="Bahnschrift"/>
                <a:cs typeface="Bahnschrift"/>
              </a:defRPr>
            </a:pPr>
            <a:r>
              <a:t>DETAILED RESULTS • BARCODE02 / READ908</a:t>
            </a:r>
          </a:p>
        </p:txBody>
      </p:sp>
      <p:sp>
        <p:nvSpPr>
          <p:cNvPr id="2" name="Rectangle 1">
            <a:extLst>
              <a:ext uri="{FF2B5EF4-FFF2-40B4-BE49-F238E27FC236}">
                <a16:creationId xmlns:a16="http://schemas.microsoft.com/office/drawing/2014/main" id="{0ECD4207-D90C-4612-A6C2-E4BB63F72E61}"/>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Bahnschrift"/>
                <a:ea typeface="Bahnschrift"/>
                <a:cs typeface="Bahnschrift"/>
              </a:defRPr>
            </a:pPr>
            <a:r>
              <a:t>Example per-read result</a:t>
            </a:r>
          </a:p>
        </p:txBody>
      </p:sp>
      <p:sp>
        <p:nvSpPr>
          <p:cNvPr id="3" name="Rectangle 2">
            <a:extLst>
              <a:ext uri="{FF2B5EF4-FFF2-40B4-BE49-F238E27FC236}">
                <a16:creationId xmlns:a16="http://schemas.microsoft.com/office/drawing/2014/main" id="{A68DF8BE-BD75-4B6B-AB27-C70A3377090C}"/>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pic>
        <p:nvPicPr>
          <p:cNvPr id="17" name="Picture 16"/>
          <p:cNvPicPr>
            <a:picLocks noChangeAspect="1"/>
          </p:cNvPicPr>
          <p:nvPr/>
        </p:nvPicPr>
        <p:blipFill>
          <a:blip r:embed="rId3"/>
          <a:stretch/>
        </p:blipFill>
        <p:spPr>
          <a:xfrm>
            <a:off x="533400" y="2295525"/>
            <a:ext cx="7810500" cy="3124200"/>
          </a:xfrm>
          <a:prstGeom prst="rect">
            <a:avLst/>
          </a:prstGeom>
        </p:spPr>
      </p:pic>
      <p:sp>
        <p:nvSpPr>
          <p:cNvPr id="5" name="Rectangle 4">
            <a:extLst>
              <a:ext uri="{FF2B5EF4-FFF2-40B4-BE49-F238E27FC236}">
                <a16:creationId xmlns:a16="http://schemas.microsoft.com/office/drawing/2014/main" id="{ACFA86D1-CA76-4370-B329-877B6F1A5BDA}"/>
              </a:ext>
            </a:extLst>
          </p:cNvPr>
          <p:cNvSpPr>
            <a:spLocks noGrp="1"/>
          </p:cNvSpPr>
          <p:nvPr/>
        </p:nvSpPr>
        <p:spPr>
          <a:xfrm>
            <a:off x="8896350" y="2152650"/>
            <a:ext cx="2809875" cy="638175"/>
          </a:xfrm>
          <a:prstGeom prst="rect">
            <a:avLst/>
          </a:prstGeom>
        </p:spPr>
        <p:txBody>
          <a:bodyPr lIns="0" tIns="0" rIns="0" bIns="0" anchor="t"/>
          <a:lstStyle/>
          <a:p>
            <a:pPr>
              <a:buNone/>
              <a:defRPr sz="3225" b="1">
                <a:solidFill>
                  <a:srgbClr val="2860F5"/>
                </a:solidFill>
                <a:latin typeface="Bahnschrift"/>
                <a:ea typeface="Bahnschrift"/>
                <a:cs typeface="Bahnschrift"/>
              </a:defRPr>
            </a:pPr>
            <a:r>
              <a:t>35,551 bp</a:t>
            </a:r>
          </a:p>
        </p:txBody>
      </p:sp>
      <p:sp>
        <p:nvSpPr>
          <p:cNvPr id="6" name="Rectangle 5">
            <a:extLst>
              <a:ext uri="{FF2B5EF4-FFF2-40B4-BE49-F238E27FC236}">
                <a16:creationId xmlns:a16="http://schemas.microsoft.com/office/drawing/2014/main" id="{1FC18669-6CEF-458D-8B76-457A162A16A6}"/>
              </a:ext>
            </a:extLst>
          </p:cNvPr>
          <p:cNvSpPr>
            <a:spLocks noGrp="1"/>
          </p:cNvSpPr>
          <p:nvPr/>
        </p:nvSpPr>
        <p:spPr>
          <a:xfrm>
            <a:off x="8896350" y="2771775"/>
            <a:ext cx="2809875" cy="419100"/>
          </a:xfrm>
          <a:prstGeom prst="rect">
            <a:avLst/>
          </a:prstGeom>
        </p:spPr>
        <p:txBody>
          <a:bodyPr lIns="0" tIns="0" rIns="0" bIns="0" anchor="t"/>
          <a:lstStyle/>
          <a:p>
            <a:pPr>
              <a:buNone/>
              <a:defRPr sz="1875" b="0">
                <a:solidFill>
                  <a:srgbClr val="0D182A"/>
                </a:solidFill>
                <a:latin typeface="Segoe UI"/>
                <a:ea typeface="Segoe UI"/>
                <a:cs typeface="Segoe UI"/>
              </a:defRPr>
            </a:pPr>
            <a:r>
              <a:t>Read length</a:t>
            </a:r>
          </a:p>
        </p:txBody>
      </p:sp>
      <p:sp>
        <p:nvSpPr>
          <p:cNvPr id="7" name="Rectangle 6">
            <a:extLst>
              <a:ext uri="{FF2B5EF4-FFF2-40B4-BE49-F238E27FC236}">
                <a16:creationId xmlns:a16="http://schemas.microsoft.com/office/drawing/2014/main" id="{081B33DD-A359-4E3D-8E1C-1816873DC871}"/>
              </a:ext>
            </a:extLst>
          </p:cNvPr>
          <p:cNvSpPr>
            <a:spLocks noGrp="1"/>
          </p:cNvSpPr>
          <p:nvPr/>
        </p:nvSpPr>
        <p:spPr>
          <a:xfrm>
            <a:off x="8896350" y="3533775"/>
            <a:ext cx="2809875" cy="638175"/>
          </a:xfrm>
          <a:prstGeom prst="rect">
            <a:avLst/>
          </a:prstGeom>
        </p:spPr>
        <p:txBody>
          <a:bodyPr lIns="0" tIns="0" rIns="0" bIns="0" anchor="t"/>
          <a:lstStyle/>
          <a:p>
            <a:pPr>
              <a:buNone/>
              <a:defRPr sz="3225" b="1">
                <a:solidFill>
                  <a:srgbClr val="2860F5"/>
                </a:solidFill>
                <a:latin typeface="Bahnschrift"/>
                <a:ea typeface="Bahnschrift"/>
                <a:cs typeface="Bahnschrift"/>
              </a:defRPr>
            </a:pPr>
            <a:r>
              <a:t>6,326 bp</a:t>
            </a:r>
          </a:p>
        </p:txBody>
      </p:sp>
      <p:sp>
        <p:nvSpPr>
          <p:cNvPr id="8" name="Rectangle 7">
            <a:extLst>
              <a:ext uri="{FF2B5EF4-FFF2-40B4-BE49-F238E27FC236}">
                <a16:creationId xmlns:a16="http://schemas.microsoft.com/office/drawing/2014/main" id="{D9C94D47-1A5A-4566-A7C9-37D59C422F19}"/>
              </a:ext>
            </a:extLst>
          </p:cNvPr>
          <p:cNvSpPr>
            <a:spLocks noGrp="1"/>
          </p:cNvSpPr>
          <p:nvPr/>
        </p:nvSpPr>
        <p:spPr>
          <a:xfrm>
            <a:off x="8896350" y="4152900"/>
            <a:ext cx="2809875" cy="419100"/>
          </a:xfrm>
          <a:prstGeom prst="rect">
            <a:avLst/>
          </a:prstGeom>
        </p:spPr>
        <p:txBody>
          <a:bodyPr lIns="0" tIns="0" rIns="0" bIns="0" anchor="t"/>
          <a:lstStyle/>
          <a:p>
            <a:pPr>
              <a:buNone/>
              <a:defRPr sz="1875" b="0">
                <a:solidFill>
                  <a:srgbClr val="0D182A"/>
                </a:solidFill>
                <a:latin typeface="Segoe UI"/>
                <a:ea typeface="Segoe UI"/>
                <a:cs typeface="Segoe UI"/>
              </a:defRPr>
            </a:pPr>
            <a:r>
              <a:t>Telomere length</a:t>
            </a:r>
          </a:p>
        </p:txBody>
      </p:sp>
      <p:sp>
        <p:nvSpPr>
          <p:cNvPr id="9" name="Rectangle 8">
            <a:extLst>
              <a:ext uri="{FF2B5EF4-FFF2-40B4-BE49-F238E27FC236}">
                <a16:creationId xmlns:a16="http://schemas.microsoft.com/office/drawing/2014/main" id="{8AD00D34-86A7-42CD-9403-1BFAA3FE47AD}"/>
              </a:ext>
            </a:extLst>
          </p:cNvPr>
          <p:cNvSpPr>
            <a:spLocks noGrp="1"/>
          </p:cNvSpPr>
          <p:nvPr/>
        </p:nvSpPr>
        <p:spPr>
          <a:xfrm>
            <a:off x="8896350" y="4914900"/>
            <a:ext cx="2809875" cy="571500"/>
          </a:xfrm>
          <a:prstGeom prst="rect">
            <a:avLst/>
          </a:prstGeom>
        </p:spPr>
        <p:txBody>
          <a:bodyPr lIns="0" tIns="0" rIns="0" bIns="0" anchor="t"/>
          <a:lstStyle/>
          <a:p>
            <a:pPr>
              <a:buNone/>
              <a:defRPr sz="3225" b="1">
                <a:solidFill>
                  <a:srgbClr val="2860F5"/>
                </a:solidFill>
                <a:latin typeface="Bahnschrift"/>
                <a:ea typeface="Bahnschrift"/>
                <a:cs typeface="Bahnschrift"/>
              </a:defRPr>
            </a:pPr>
            <a:r>
              <a:t>0.933</a:t>
            </a:r>
          </a:p>
        </p:txBody>
      </p:sp>
      <p:sp>
        <p:nvSpPr>
          <p:cNvPr id="10" name="Rectangle 9">
            <a:extLst>
              <a:ext uri="{FF2B5EF4-FFF2-40B4-BE49-F238E27FC236}">
                <a16:creationId xmlns:a16="http://schemas.microsoft.com/office/drawing/2014/main" id="{5A5FED05-D860-4EE7-9203-A99FAE71CA25}"/>
              </a:ext>
            </a:extLst>
          </p:cNvPr>
          <p:cNvSpPr>
            <a:spLocks noGrp="1"/>
          </p:cNvSpPr>
          <p:nvPr/>
        </p:nvSpPr>
        <p:spPr>
          <a:xfrm>
            <a:off x="8896350" y="5514975"/>
            <a:ext cx="2809875" cy="609600"/>
          </a:xfrm>
          <a:prstGeom prst="rect">
            <a:avLst/>
          </a:prstGeom>
        </p:spPr>
        <p:txBody>
          <a:bodyPr lIns="0" tIns="0" rIns="0" bIns="0" anchor="t"/>
          <a:lstStyle/>
          <a:p>
            <a:pPr>
              <a:buNone/>
              <a:defRPr sz="1800" b="0">
                <a:solidFill>
                  <a:srgbClr val="0D182A"/>
                </a:solidFill>
                <a:latin typeface="Segoe UI"/>
                <a:ea typeface="Segoe UI"/>
                <a:cs typeface="Segoe UI"/>
              </a:defRPr>
            </a:pPr>
            <a:r>
              <a:t>Telomeric-repeat density</a:t>
            </a:r>
          </a:p>
        </p:txBody>
      </p:sp>
      <p:sp>
        <p:nvSpPr>
          <p:cNvPr id="11" name="Rectangle 10">
            <a:extLst>
              <a:ext uri="{FF2B5EF4-FFF2-40B4-BE49-F238E27FC236}">
                <a16:creationId xmlns:a16="http://schemas.microsoft.com/office/drawing/2014/main" id="{799C847A-D38E-4ED4-AECE-A9A4FA36942B}"/>
              </a:ext>
            </a:extLst>
          </p:cNvPr>
          <p:cNvSpPr>
            <a:spLocks noGrp="1"/>
          </p:cNvSpPr>
          <p:nvPr/>
        </p:nvSpPr>
        <p:spPr>
          <a:xfrm>
            <a:off x="533400" y="5734050"/>
            <a:ext cx="7810500" cy="504825"/>
          </a:xfrm>
          <a:prstGeom prst="rect">
            <a:avLst/>
          </a:prstGeom>
        </p:spPr>
        <p:txBody>
          <a:bodyPr lIns="0" tIns="0" rIns="0" bIns="0" anchor="t"/>
          <a:lstStyle/>
          <a:p>
            <a:pPr>
              <a:buNone/>
              <a:defRPr sz="2025" b="1">
                <a:solidFill>
                  <a:srgbClr val="0D182A"/>
                </a:solidFill>
                <a:latin typeface="Bahnschrift"/>
                <a:ea typeface="Bahnschrift"/>
                <a:cs typeface="Bahnschrift"/>
              </a:defRPr>
            </a:pPr>
            <a:r>
              <a:t>JPEG plot + FASTA.GZ sequence + a row in the CSV</a:t>
            </a:r>
          </a:p>
        </p:txBody>
      </p:sp>
      <p:sp>
        <p:nvSpPr>
          <p:cNvPr id="12" name="Rectangle 11">
            <a:extLst>
              <a:ext uri="{FF2B5EF4-FFF2-40B4-BE49-F238E27FC236}">
                <a16:creationId xmlns:a16="http://schemas.microsoft.com/office/drawing/2014/main" id="{5BCA310A-EE47-445C-B9E8-71DCBEAD3EB3}"/>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t>16</a:t>
            </a:r>
          </a:p>
        </p:txBody>
      </p:sp>
    </p:spTree>
    <p:extLst>
      <p:ext uri="{BB962C8B-B14F-4D97-AF65-F5344CB8AC3E}">
        <p14:creationId xmlns:p14="http://schemas.microsoft.com/office/powerpoint/2010/main" val="16902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7189D15-88D3-4CFC-B58C-98B945711D5A}"/>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Bahnschrift"/>
                <a:ea typeface="Bahnschrift"/>
                <a:cs typeface="Bahnschrift"/>
              </a:defRPr>
            </a:pPr>
            <a:r>
              <a:t>OUTPUT FORMATS</a:t>
            </a:r>
          </a:p>
        </p:txBody>
      </p:sp>
      <p:sp>
        <p:nvSpPr>
          <p:cNvPr id="2" name="Rectangle 1">
            <a:extLst>
              <a:ext uri="{FF2B5EF4-FFF2-40B4-BE49-F238E27FC236}">
                <a16:creationId xmlns:a16="http://schemas.microsoft.com/office/drawing/2014/main" id="{F50DDB1F-4A86-4C0E-843F-5FB08D7B718C}"/>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Bahnschrift"/>
                <a:ea typeface="Bahnschrift"/>
                <a:cs typeface="Bahnschrift"/>
              </a:defRPr>
            </a:pPr>
            <a:r>
              <a:rPr dirty="0"/>
              <a:t>Output files and formats</a:t>
            </a:r>
          </a:p>
        </p:txBody>
      </p:sp>
      <p:sp>
        <p:nvSpPr>
          <p:cNvPr id="3" name="Rectangle 2">
            <a:extLst>
              <a:ext uri="{FF2B5EF4-FFF2-40B4-BE49-F238E27FC236}">
                <a16:creationId xmlns:a16="http://schemas.microsoft.com/office/drawing/2014/main" id="{CD15755B-76E9-4BDD-AFC0-0D07807D02F4}"/>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4" name="Rectangle 3">
            <a:extLst>
              <a:ext uri="{FF2B5EF4-FFF2-40B4-BE49-F238E27FC236}">
                <a16:creationId xmlns:a16="http://schemas.microsoft.com/office/drawing/2014/main" id="{96587527-1080-4BFE-924C-D698A298AC85}"/>
              </a:ext>
            </a:extLst>
          </p:cNvPr>
          <p:cNvSpPr>
            <a:spLocks noGrp="1"/>
          </p:cNvSpPr>
          <p:nvPr/>
        </p:nvSpPr>
        <p:spPr>
          <a:xfrm>
            <a:off x="533400" y="2066925"/>
            <a:ext cx="5238750" cy="419100"/>
          </a:xfrm>
          <a:prstGeom prst="rect">
            <a:avLst/>
          </a:prstGeom>
        </p:spPr>
        <p:txBody>
          <a:bodyPr lIns="0" tIns="0" rIns="0" bIns="0" anchor="t"/>
          <a:lstStyle/>
          <a:p>
            <a:pPr>
              <a:buNone/>
              <a:defRPr sz="2025" b="1">
                <a:solidFill>
                  <a:srgbClr val="B5F4DE"/>
                </a:solidFill>
                <a:latin typeface="Bahnschrift"/>
                <a:ea typeface="Bahnschrift"/>
                <a:cs typeface="Bahnschrift"/>
              </a:defRPr>
            </a:pPr>
            <a:r>
              <a:t>SUMMARY ONLY</a:t>
            </a:r>
          </a:p>
        </p:txBody>
      </p:sp>
      <p:sp>
        <p:nvSpPr>
          <p:cNvPr id="5" name="Rectangle 4">
            <a:extLst>
              <a:ext uri="{FF2B5EF4-FFF2-40B4-BE49-F238E27FC236}">
                <a16:creationId xmlns:a16="http://schemas.microsoft.com/office/drawing/2014/main" id="{3178708E-DF32-4A04-9ED3-AC8F0A34B036}"/>
              </a:ext>
            </a:extLst>
          </p:cNvPr>
          <p:cNvSpPr>
            <a:spLocks noGrp="1"/>
          </p:cNvSpPr>
          <p:nvPr/>
        </p:nvSpPr>
        <p:spPr>
          <a:xfrm>
            <a:off x="6477000" y="2066925"/>
            <a:ext cx="5181600" cy="419100"/>
          </a:xfrm>
          <a:prstGeom prst="rect">
            <a:avLst/>
          </a:prstGeom>
        </p:spPr>
        <p:txBody>
          <a:bodyPr lIns="0" tIns="0" rIns="0" bIns="0" anchor="t"/>
          <a:lstStyle/>
          <a:p>
            <a:pPr>
              <a:buNone/>
              <a:defRPr sz="2025" b="1">
                <a:solidFill>
                  <a:srgbClr val="B5F4DE"/>
                </a:solidFill>
                <a:latin typeface="Bahnschrift"/>
                <a:ea typeface="Bahnschrift"/>
                <a:cs typeface="Bahnschrift"/>
              </a:defRPr>
            </a:pPr>
            <a:r>
              <a:t>FULL NANOTEL OUTPUT</a:t>
            </a:r>
          </a:p>
        </p:txBody>
      </p:sp>
      <p:sp>
        <p:nvSpPr>
          <p:cNvPr id="6" name="Rectangle 5">
            <a:extLst>
              <a:ext uri="{FF2B5EF4-FFF2-40B4-BE49-F238E27FC236}">
                <a16:creationId xmlns:a16="http://schemas.microsoft.com/office/drawing/2014/main" id="{C788DF8D-7213-46D5-B18B-FE114702EC55}"/>
              </a:ext>
            </a:extLst>
          </p:cNvPr>
          <p:cNvSpPr>
            <a:spLocks noGrp="1"/>
          </p:cNvSpPr>
          <p:nvPr/>
        </p:nvSpPr>
        <p:spPr>
          <a:xfrm>
            <a:off x="533400" y="2705100"/>
            <a:ext cx="5238750" cy="504825"/>
          </a:xfrm>
          <a:prstGeom prst="rect">
            <a:avLst/>
          </a:prstGeom>
        </p:spPr>
        <p:txBody>
          <a:bodyPr lIns="0" tIns="0" rIns="0" bIns="0" anchor="t"/>
          <a:lstStyle/>
          <a:p>
            <a:pPr>
              <a:buNone/>
              <a:defRPr sz="2550" b="1">
                <a:solidFill>
                  <a:srgbClr val="FFFFFF"/>
                </a:solidFill>
                <a:latin typeface="Bahnschrift"/>
                <a:ea typeface="Bahnschrift"/>
                <a:cs typeface="Bahnschrift"/>
              </a:defRPr>
            </a:pPr>
            <a:r>
              <a:t>Excel workbook  .xlsx</a:t>
            </a:r>
          </a:p>
        </p:txBody>
      </p:sp>
      <p:sp>
        <p:nvSpPr>
          <p:cNvPr id="7" name="Rectangle 6">
            <a:extLst>
              <a:ext uri="{FF2B5EF4-FFF2-40B4-BE49-F238E27FC236}">
                <a16:creationId xmlns:a16="http://schemas.microsoft.com/office/drawing/2014/main" id="{AD81B7F3-F7BA-4CA4-89A7-E1E26B7B2CB2}"/>
              </a:ext>
            </a:extLst>
          </p:cNvPr>
          <p:cNvSpPr>
            <a:spLocks noGrp="1"/>
          </p:cNvSpPr>
          <p:nvPr/>
        </p:nvSpPr>
        <p:spPr>
          <a:xfrm>
            <a:off x="533400" y="3305175"/>
            <a:ext cx="5238750" cy="409575"/>
          </a:xfrm>
          <a:prstGeom prst="rect">
            <a:avLst/>
          </a:prstGeom>
        </p:spPr>
        <p:txBody>
          <a:bodyPr lIns="0" tIns="0" rIns="0" bIns="0" anchor="t"/>
          <a:lstStyle/>
          <a:p>
            <a:pPr>
              <a:buNone/>
              <a:defRPr sz="2100" b="0">
                <a:solidFill>
                  <a:srgbClr val="FFFFFF"/>
                </a:solidFill>
                <a:latin typeface="Segoe UI"/>
                <a:ea typeface="Segoe UI"/>
                <a:cs typeface="Segoe UI"/>
              </a:defRPr>
            </a:pPr>
            <a:r>
              <a:t>nanotel_summary.xlsx</a:t>
            </a:r>
          </a:p>
        </p:txBody>
      </p:sp>
      <p:sp>
        <p:nvSpPr>
          <p:cNvPr id="8" name="Rectangle 7">
            <a:extLst>
              <a:ext uri="{FF2B5EF4-FFF2-40B4-BE49-F238E27FC236}">
                <a16:creationId xmlns:a16="http://schemas.microsoft.com/office/drawing/2014/main" id="{0305F564-4652-462C-AE71-B36AD6B23546}"/>
              </a:ext>
            </a:extLst>
          </p:cNvPr>
          <p:cNvSpPr>
            <a:spLocks noGrp="1"/>
          </p:cNvSpPr>
          <p:nvPr/>
        </p:nvSpPr>
        <p:spPr>
          <a:xfrm>
            <a:off x="533400" y="3943350"/>
            <a:ext cx="5238750" cy="1552575"/>
          </a:xfrm>
          <a:prstGeom prst="rect">
            <a:avLst/>
          </a:prstGeom>
        </p:spPr>
        <p:txBody>
          <a:bodyPr lIns="0" tIns="0" rIns="0" bIns="0" anchor="t"/>
          <a:lstStyle/>
          <a:p>
            <a:pPr>
              <a:buNone/>
              <a:defRPr sz="1875" b="0">
                <a:solidFill>
                  <a:srgbClr val="D5DFEB"/>
                </a:solidFill>
                <a:latin typeface="Segoe UI"/>
                <a:ea typeface="Segoe UI"/>
                <a:cs typeface="Segoe UI"/>
              </a:defRPr>
            </a:pPr>
            <a:r>
              <a:t>nanotel_summary</a:t>
            </a:r>
          </a:p>
          <a:p>
            <a:pPr>
              <a:buNone/>
              <a:defRPr sz="1875" b="0">
                <a:solidFill>
                  <a:srgbClr val="D5DFEB"/>
                </a:solidFill>
                <a:latin typeface="Segoe UI"/>
                <a:ea typeface="Segoe UI"/>
                <a:cs typeface="Segoe UI"/>
              </a:defRPr>
            </a:pPr>
            <a:r>
              <a:t>barcode02 / barcode19</a:t>
            </a:r>
          </a:p>
          <a:p>
            <a:pPr>
              <a:buNone/>
              <a:defRPr sz="1875" b="0">
                <a:solidFill>
                  <a:srgbClr val="D5DFEB"/>
                </a:solidFill>
                <a:latin typeface="Segoe UI"/>
                <a:ea typeface="Segoe UI"/>
                <a:cs typeface="Segoe UI"/>
              </a:defRPr>
            </a:pPr>
            <a:r>
              <a:t>filtered_barcode02 / filtered_barcode19</a:t>
            </a:r>
          </a:p>
        </p:txBody>
      </p:sp>
      <p:sp>
        <p:nvSpPr>
          <p:cNvPr id="9" name="Rectangle 8">
            <a:extLst>
              <a:ext uri="{FF2B5EF4-FFF2-40B4-BE49-F238E27FC236}">
                <a16:creationId xmlns:a16="http://schemas.microsoft.com/office/drawing/2014/main" id="{C32AB7EE-9CC1-4E9C-9265-183D94B595D0}"/>
              </a:ext>
            </a:extLst>
          </p:cNvPr>
          <p:cNvSpPr>
            <a:spLocks noGrp="1"/>
          </p:cNvSpPr>
          <p:nvPr/>
        </p:nvSpPr>
        <p:spPr>
          <a:xfrm>
            <a:off x="6477000" y="2705100"/>
            <a:ext cx="1333500" cy="476250"/>
          </a:xfrm>
          <a:prstGeom prst="rect">
            <a:avLst/>
          </a:prstGeom>
        </p:spPr>
        <p:txBody>
          <a:bodyPr lIns="0" tIns="0" rIns="0" bIns="0" anchor="t"/>
          <a:lstStyle/>
          <a:p>
            <a:pPr>
              <a:buNone/>
              <a:defRPr sz="2475" b="1">
                <a:solidFill>
                  <a:srgbClr val="FFFFFF"/>
                </a:solidFill>
                <a:latin typeface="Bahnschrift"/>
                <a:ea typeface="Bahnschrift"/>
                <a:cs typeface="Bahnschrift"/>
              </a:defRPr>
            </a:pPr>
            <a:r>
              <a:t>CSV</a:t>
            </a:r>
          </a:p>
        </p:txBody>
      </p:sp>
      <p:sp>
        <p:nvSpPr>
          <p:cNvPr id="10" name="Rectangle 9">
            <a:extLst>
              <a:ext uri="{FF2B5EF4-FFF2-40B4-BE49-F238E27FC236}">
                <a16:creationId xmlns:a16="http://schemas.microsoft.com/office/drawing/2014/main" id="{C772227B-1A92-440E-84EF-2E2268E8B78E}"/>
              </a:ext>
            </a:extLst>
          </p:cNvPr>
          <p:cNvSpPr>
            <a:spLocks noGrp="1"/>
          </p:cNvSpPr>
          <p:nvPr/>
        </p:nvSpPr>
        <p:spPr>
          <a:xfrm>
            <a:off x="7962900" y="2714625"/>
            <a:ext cx="3695700" cy="723900"/>
          </a:xfrm>
          <a:prstGeom prst="rect">
            <a:avLst/>
          </a:prstGeom>
        </p:spPr>
        <p:txBody>
          <a:bodyPr lIns="0" tIns="0" rIns="0" bIns="0" anchor="t"/>
          <a:lstStyle/>
          <a:p>
            <a:pPr>
              <a:buNone/>
              <a:defRPr sz="2025" b="0">
                <a:solidFill>
                  <a:srgbClr val="FFFFFF"/>
                </a:solidFill>
                <a:latin typeface="Segoe UI"/>
                <a:ea typeface="Segoe UI"/>
                <a:cs typeface="Segoe UI"/>
              </a:defRPr>
            </a:pPr>
            <a:r>
              <a:t>Summary and read-level tables</a:t>
            </a:r>
          </a:p>
        </p:txBody>
      </p:sp>
      <p:sp>
        <p:nvSpPr>
          <p:cNvPr id="11" name="Rectangle 10">
            <a:extLst>
              <a:ext uri="{FF2B5EF4-FFF2-40B4-BE49-F238E27FC236}">
                <a16:creationId xmlns:a16="http://schemas.microsoft.com/office/drawing/2014/main" id="{A024E701-5210-45DC-B9E2-95B118A07191}"/>
              </a:ext>
            </a:extLst>
          </p:cNvPr>
          <p:cNvSpPr>
            <a:spLocks noGrp="1"/>
          </p:cNvSpPr>
          <p:nvPr/>
        </p:nvSpPr>
        <p:spPr>
          <a:xfrm>
            <a:off x="6477000" y="3676650"/>
            <a:ext cx="1333500" cy="476250"/>
          </a:xfrm>
          <a:prstGeom prst="rect">
            <a:avLst/>
          </a:prstGeom>
        </p:spPr>
        <p:txBody>
          <a:bodyPr lIns="0" tIns="0" rIns="0" bIns="0" anchor="t"/>
          <a:lstStyle/>
          <a:p>
            <a:pPr>
              <a:buNone/>
              <a:defRPr sz="2475" b="1">
                <a:solidFill>
                  <a:srgbClr val="FFFFFF"/>
                </a:solidFill>
                <a:latin typeface="Bahnschrift"/>
                <a:ea typeface="Bahnschrift"/>
                <a:cs typeface="Bahnschrift"/>
              </a:defRPr>
            </a:pPr>
            <a:r>
              <a:t>JPEG</a:t>
            </a:r>
          </a:p>
        </p:txBody>
      </p:sp>
      <p:sp>
        <p:nvSpPr>
          <p:cNvPr id="12" name="Rectangle 11">
            <a:extLst>
              <a:ext uri="{FF2B5EF4-FFF2-40B4-BE49-F238E27FC236}">
                <a16:creationId xmlns:a16="http://schemas.microsoft.com/office/drawing/2014/main" id="{76F45EE1-29CB-40C9-AAC1-2BEDD0E9F303}"/>
              </a:ext>
            </a:extLst>
          </p:cNvPr>
          <p:cNvSpPr>
            <a:spLocks noGrp="1"/>
          </p:cNvSpPr>
          <p:nvPr/>
        </p:nvSpPr>
        <p:spPr>
          <a:xfrm>
            <a:off x="7962900" y="3686175"/>
            <a:ext cx="3695700" cy="723900"/>
          </a:xfrm>
          <a:prstGeom prst="rect">
            <a:avLst/>
          </a:prstGeom>
        </p:spPr>
        <p:txBody>
          <a:bodyPr lIns="0" tIns="0" rIns="0" bIns="0" anchor="t"/>
          <a:lstStyle/>
          <a:p>
            <a:pPr>
              <a:buNone/>
              <a:defRPr sz="2025" b="0">
                <a:solidFill>
                  <a:srgbClr val="FFFFFF"/>
                </a:solidFill>
                <a:latin typeface="Segoe UI"/>
                <a:ea typeface="Segoe UI"/>
                <a:cs typeface="Segoe UI"/>
              </a:defRPr>
            </a:pPr>
            <a:r>
              <a:t>Individual-read plots</a:t>
            </a:r>
          </a:p>
        </p:txBody>
      </p:sp>
      <p:sp>
        <p:nvSpPr>
          <p:cNvPr id="13" name="Rectangle 12">
            <a:extLst>
              <a:ext uri="{FF2B5EF4-FFF2-40B4-BE49-F238E27FC236}">
                <a16:creationId xmlns:a16="http://schemas.microsoft.com/office/drawing/2014/main" id="{64DE7480-1EA2-40AA-838E-08B51A8EB342}"/>
              </a:ext>
            </a:extLst>
          </p:cNvPr>
          <p:cNvSpPr>
            <a:spLocks noGrp="1"/>
          </p:cNvSpPr>
          <p:nvPr/>
        </p:nvSpPr>
        <p:spPr>
          <a:xfrm>
            <a:off x="6477000" y="4648200"/>
            <a:ext cx="1476375" cy="476250"/>
          </a:xfrm>
          <a:prstGeom prst="rect">
            <a:avLst/>
          </a:prstGeom>
        </p:spPr>
        <p:txBody>
          <a:bodyPr lIns="0" tIns="0" rIns="0" bIns="0" anchor="t"/>
          <a:lstStyle/>
          <a:p>
            <a:pPr>
              <a:buNone/>
              <a:defRPr sz="2325" b="1">
                <a:solidFill>
                  <a:srgbClr val="FFFFFF"/>
                </a:solidFill>
                <a:latin typeface="Bahnschrift"/>
                <a:ea typeface="Bahnschrift"/>
                <a:cs typeface="Bahnschrift"/>
              </a:defRPr>
            </a:pPr>
            <a:r>
              <a:t>FASTA.GZ</a:t>
            </a:r>
          </a:p>
        </p:txBody>
      </p:sp>
      <p:sp>
        <p:nvSpPr>
          <p:cNvPr id="14" name="Rectangle 13">
            <a:extLst>
              <a:ext uri="{FF2B5EF4-FFF2-40B4-BE49-F238E27FC236}">
                <a16:creationId xmlns:a16="http://schemas.microsoft.com/office/drawing/2014/main" id="{E8D2565B-BF12-47DD-BD82-8B3FE07DB132}"/>
              </a:ext>
            </a:extLst>
          </p:cNvPr>
          <p:cNvSpPr>
            <a:spLocks noGrp="1"/>
          </p:cNvSpPr>
          <p:nvPr/>
        </p:nvSpPr>
        <p:spPr>
          <a:xfrm>
            <a:off x="8096250" y="4657725"/>
            <a:ext cx="3562350" cy="723900"/>
          </a:xfrm>
          <a:prstGeom prst="rect">
            <a:avLst/>
          </a:prstGeom>
        </p:spPr>
        <p:txBody>
          <a:bodyPr lIns="0" tIns="0" rIns="0" bIns="0" anchor="t"/>
          <a:lstStyle/>
          <a:p>
            <a:pPr>
              <a:buNone/>
              <a:defRPr sz="2025" b="0">
                <a:solidFill>
                  <a:srgbClr val="FFFFFF"/>
                </a:solidFill>
                <a:latin typeface="Segoe UI"/>
                <a:ea typeface="Segoe UI"/>
                <a:cs typeface="Segoe UI"/>
              </a:defRPr>
            </a:pPr>
            <a:r>
              <a:t>Compressed read sequences</a:t>
            </a:r>
          </a:p>
        </p:txBody>
      </p:sp>
      <p:sp>
        <p:nvSpPr>
          <p:cNvPr id="15" name="Rectangle 14">
            <a:extLst>
              <a:ext uri="{FF2B5EF4-FFF2-40B4-BE49-F238E27FC236}">
                <a16:creationId xmlns:a16="http://schemas.microsoft.com/office/drawing/2014/main" id="{5D679C1A-76AF-4ADB-BFB7-A0EA6361BF90}"/>
              </a:ext>
            </a:extLst>
          </p:cNvPr>
          <p:cNvSpPr>
            <a:spLocks noGrp="1"/>
          </p:cNvSpPr>
          <p:nvPr/>
        </p:nvSpPr>
        <p:spPr>
          <a:xfrm>
            <a:off x="533400" y="5857875"/>
            <a:ext cx="11125200" cy="419100"/>
          </a:xfrm>
          <a:prstGeom prst="rect">
            <a:avLst/>
          </a:prstGeom>
        </p:spPr>
        <p:txBody>
          <a:bodyPr lIns="0" tIns="0" rIns="0" bIns="0" anchor="t"/>
          <a:lstStyle/>
          <a:p>
            <a:pPr>
              <a:buNone/>
              <a:defRPr sz="2025" b="0">
                <a:solidFill>
                  <a:srgbClr val="A9B9CF"/>
                </a:solidFill>
                <a:latin typeface="Segoe UI"/>
                <a:ea typeface="Segoe UI"/>
                <a:cs typeface="Segoe UI"/>
              </a:defRPr>
            </a:pPr>
            <a:r>
              <a:t>Run records: TXT reports and JSON analysis settings.</a:t>
            </a:r>
          </a:p>
        </p:txBody>
      </p:sp>
      <p:sp>
        <p:nvSpPr>
          <p:cNvPr id="16" name="Rectangle 15">
            <a:extLst>
              <a:ext uri="{FF2B5EF4-FFF2-40B4-BE49-F238E27FC236}">
                <a16:creationId xmlns:a16="http://schemas.microsoft.com/office/drawing/2014/main" id="{3BE32143-FF55-464F-B325-941B24542195}"/>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t>17</a:t>
            </a:r>
          </a:p>
        </p:txBody>
      </p:sp>
    </p:spTree>
    <p:extLst>
      <p:ext uri="{BB962C8B-B14F-4D97-AF65-F5344CB8AC3E}">
        <p14:creationId xmlns:p14="http://schemas.microsoft.com/office/powerpoint/2010/main" val="659325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2EBEA06-EB2F-4E8D-9A07-692D840A379A}"/>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Bahnschrift"/>
                <a:ea typeface="Bahnschrift"/>
                <a:cs typeface="Bahnschrift"/>
              </a:defRPr>
            </a:pPr>
            <a:r>
              <a:t>WHERE TO FIND THE FILES</a:t>
            </a:r>
          </a:p>
        </p:txBody>
      </p:sp>
      <p:sp>
        <p:nvSpPr>
          <p:cNvPr id="2" name="Rectangle 1">
            <a:extLst>
              <a:ext uri="{FF2B5EF4-FFF2-40B4-BE49-F238E27FC236}">
                <a16:creationId xmlns:a16="http://schemas.microsoft.com/office/drawing/2014/main" id="{D285405A-3412-4CD2-B0DD-BF7266E55EB2}"/>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Bahnschrift"/>
                <a:ea typeface="Bahnschrift"/>
                <a:cs typeface="Bahnschrift"/>
              </a:defRPr>
            </a:pPr>
            <a:r>
              <a:t>Output folder structure</a:t>
            </a:r>
          </a:p>
        </p:txBody>
      </p:sp>
      <p:sp>
        <p:nvSpPr>
          <p:cNvPr id="3" name="Rectangle 2">
            <a:extLst>
              <a:ext uri="{FF2B5EF4-FFF2-40B4-BE49-F238E27FC236}">
                <a16:creationId xmlns:a16="http://schemas.microsoft.com/office/drawing/2014/main" id="{CE905EFA-6251-4697-A7EA-D8DDA0D8FEFC}"/>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4" name="Rectangle 3">
            <a:extLst>
              <a:ext uri="{FF2B5EF4-FFF2-40B4-BE49-F238E27FC236}">
                <a16:creationId xmlns:a16="http://schemas.microsoft.com/office/drawing/2014/main" id="{0BE58763-5641-4AF0-88E4-17C5DE54AA27}"/>
              </a:ext>
            </a:extLst>
          </p:cNvPr>
          <p:cNvSpPr>
            <a:spLocks noGrp="1"/>
          </p:cNvSpPr>
          <p:nvPr/>
        </p:nvSpPr>
        <p:spPr>
          <a:xfrm>
            <a:off x="533400" y="1885950"/>
            <a:ext cx="4695825" cy="419100"/>
          </a:xfrm>
          <a:prstGeom prst="rect">
            <a:avLst/>
          </a:prstGeom>
        </p:spPr>
        <p:txBody>
          <a:bodyPr lIns="0" tIns="0" rIns="0" bIns="0" anchor="t"/>
          <a:lstStyle/>
          <a:p>
            <a:pPr>
              <a:buNone/>
              <a:defRPr sz="2025" b="1">
                <a:solidFill>
                  <a:srgbClr val="2860F5"/>
                </a:solidFill>
                <a:latin typeface="Bahnschrift"/>
                <a:ea typeface="Bahnschrift"/>
                <a:cs typeface="Bahnschrift"/>
              </a:defRPr>
            </a:pPr>
            <a:r>
              <a:t>processing/basecalled/</a:t>
            </a:r>
          </a:p>
        </p:txBody>
      </p:sp>
      <p:sp>
        <p:nvSpPr>
          <p:cNvPr id="5" name="Rectangle 4">
            <a:extLst>
              <a:ext uri="{FF2B5EF4-FFF2-40B4-BE49-F238E27FC236}">
                <a16:creationId xmlns:a16="http://schemas.microsoft.com/office/drawing/2014/main" id="{9D40B1BA-E6BF-4BB1-B900-AA3326BA2A51}"/>
              </a:ext>
            </a:extLst>
          </p:cNvPr>
          <p:cNvSpPr>
            <a:spLocks noGrp="1"/>
          </p:cNvSpPr>
          <p:nvPr/>
        </p:nvSpPr>
        <p:spPr>
          <a:xfrm>
            <a:off x="5400675" y="1885950"/>
            <a:ext cx="6257925" cy="419100"/>
          </a:xfrm>
          <a:prstGeom prst="rect">
            <a:avLst/>
          </a:prstGeom>
        </p:spPr>
        <p:txBody>
          <a:bodyPr lIns="0" tIns="0" rIns="0" bIns="0" anchor="t"/>
          <a:lstStyle/>
          <a:p>
            <a:pPr>
              <a:buNone/>
              <a:defRPr sz="1950" b="0">
                <a:solidFill>
                  <a:srgbClr val="0D182A"/>
                </a:solidFill>
                <a:latin typeface="Segoe UI"/>
                <a:ea typeface="Segoe UI"/>
                <a:cs typeface="Segoe UI"/>
              </a:defRPr>
            </a:pPr>
            <a:r>
              <a:t>Dorado basecalled BAM files</a:t>
            </a:r>
          </a:p>
        </p:txBody>
      </p:sp>
      <p:sp>
        <p:nvSpPr>
          <p:cNvPr id="6" name="Rectangle 5">
            <a:extLst>
              <a:ext uri="{FF2B5EF4-FFF2-40B4-BE49-F238E27FC236}">
                <a16:creationId xmlns:a16="http://schemas.microsoft.com/office/drawing/2014/main" id="{79FEA59C-80CC-41C3-94DD-B12BE44DC7A2}"/>
              </a:ext>
            </a:extLst>
          </p:cNvPr>
          <p:cNvSpPr>
            <a:spLocks noGrp="1"/>
          </p:cNvSpPr>
          <p:nvPr/>
        </p:nvSpPr>
        <p:spPr>
          <a:xfrm>
            <a:off x="533400" y="2324100"/>
            <a:ext cx="4695825" cy="419100"/>
          </a:xfrm>
          <a:prstGeom prst="rect">
            <a:avLst/>
          </a:prstGeom>
        </p:spPr>
        <p:txBody>
          <a:bodyPr lIns="0" tIns="0" rIns="0" bIns="0" anchor="t"/>
          <a:lstStyle/>
          <a:p>
            <a:pPr>
              <a:buNone/>
              <a:defRPr sz="2025" b="1">
                <a:solidFill>
                  <a:srgbClr val="2860F5"/>
                </a:solidFill>
                <a:latin typeface="Bahnschrift"/>
                <a:ea typeface="Bahnschrift"/>
                <a:cs typeface="Bahnschrift"/>
              </a:defRPr>
            </a:pPr>
            <a:r>
              <a:t>processing/demultiplexed/</a:t>
            </a:r>
          </a:p>
        </p:txBody>
      </p:sp>
      <p:sp>
        <p:nvSpPr>
          <p:cNvPr id="7" name="Rectangle 6">
            <a:extLst>
              <a:ext uri="{FF2B5EF4-FFF2-40B4-BE49-F238E27FC236}">
                <a16:creationId xmlns:a16="http://schemas.microsoft.com/office/drawing/2014/main" id="{AB88F48F-E065-45B3-A550-8369F1418D6B}"/>
              </a:ext>
            </a:extLst>
          </p:cNvPr>
          <p:cNvSpPr>
            <a:spLocks noGrp="1"/>
          </p:cNvSpPr>
          <p:nvPr/>
        </p:nvSpPr>
        <p:spPr>
          <a:xfrm>
            <a:off x="5400675" y="2324100"/>
            <a:ext cx="6257925" cy="419100"/>
          </a:xfrm>
          <a:prstGeom prst="rect">
            <a:avLst/>
          </a:prstGeom>
        </p:spPr>
        <p:txBody>
          <a:bodyPr lIns="0" tIns="0" rIns="0" bIns="0" anchor="t"/>
          <a:lstStyle/>
          <a:p>
            <a:pPr>
              <a:buNone/>
              <a:defRPr sz="1950" b="0">
                <a:solidFill>
                  <a:srgbClr val="0D182A"/>
                </a:solidFill>
                <a:latin typeface="Segoe UI"/>
                <a:ea typeface="Segoe UI"/>
                <a:cs typeface="Segoe UI"/>
              </a:defRPr>
            </a:pPr>
            <a:r>
              <a:t>BAM files separated by barcode</a:t>
            </a:r>
          </a:p>
        </p:txBody>
      </p:sp>
      <p:sp>
        <p:nvSpPr>
          <p:cNvPr id="8" name="Rectangle 7">
            <a:extLst>
              <a:ext uri="{FF2B5EF4-FFF2-40B4-BE49-F238E27FC236}">
                <a16:creationId xmlns:a16="http://schemas.microsoft.com/office/drawing/2014/main" id="{9C9A23E6-BC6E-4DE7-8355-BAE519594EFB}"/>
              </a:ext>
            </a:extLst>
          </p:cNvPr>
          <p:cNvSpPr>
            <a:spLocks noGrp="1"/>
          </p:cNvSpPr>
          <p:nvPr/>
        </p:nvSpPr>
        <p:spPr>
          <a:xfrm>
            <a:off x="533400" y="2762250"/>
            <a:ext cx="4695825" cy="419100"/>
          </a:xfrm>
          <a:prstGeom prst="rect">
            <a:avLst/>
          </a:prstGeom>
        </p:spPr>
        <p:txBody>
          <a:bodyPr lIns="0" tIns="0" rIns="0" bIns="0" anchor="t"/>
          <a:lstStyle/>
          <a:p>
            <a:pPr>
              <a:buNone/>
              <a:defRPr sz="2025" b="1">
                <a:solidFill>
                  <a:srgbClr val="2860F5"/>
                </a:solidFill>
                <a:latin typeface="Bahnschrift"/>
                <a:ea typeface="Bahnschrift"/>
                <a:cs typeface="Bahnschrift"/>
              </a:defRPr>
            </a:pPr>
            <a:r>
              <a:t>processing/fastq/</a:t>
            </a:r>
          </a:p>
        </p:txBody>
      </p:sp>
      <p:sp>
        <p:nvSpPr>
          <p:cNvPr id="9" name="Rectangle 8">
            <a:extLst>
              <a:ext uri="{FF2B5EF4-FFF2-40B4-BE49-F238E27FC236}">
                <a16:creationId xmlns:a16="http://schemas.microsoft.com/office/drawing/2014/main" id="{344C3586-6ACC-408A-BB90-5A10926812A7}"/>
              </a:ext>
            </a:extLst>
          </p:cNvPr>
          <p:cNvSpPr>
            <a:spLocks noGrp="1"/>
          </p:cNvSpPr>
          <p:nvPr/>
        </p:nvSpPr>
        <p:spPr>
          <a:xfrm>
            <a:off x="5400675" y="2762250"/>
            <a:ext cx="6257925" cy="419100"/>
          </a:xfrm>
          <a:prstGeom prst="rect">
            <a:avLst/>
          </a:prstGeom>
        </p:spPr>
        <p:txBody>
          <a:bodyPr lIns="0" tIns="0" rIns="0" bIns="0" anchor="t"/>
          <a:lstStyle/>
          <a:p>
            <a:pPr>
              <a:buNone/>
              <a:defRPr sz="1950" b="0">
                <a:solidFill>
                  <a:srgbClr val="0D182A"/>
                </a:solidFill>
                <a:latin typeface="Segoe UI"/>
                <a:ea typeface="Segoe UI"/>
                <a:cs typeface="Segoe UI"/>
              </a:defRPr>
            </a:pPr>
            <a:r>
              <a:t>FASTQ reads used for analysis</a:t>
            </a:r>
          </a:p>
        </p:txBody>
      </p:sp>
      <p:sp>
        <p:nvSpPr>
          <p:cNvPr id="10" name="Rectangle 9">
            <a:extLst>
              <a:ext uri="{FF2B5EF4-FFF2-40B4-BE49-F238E27FC236}">
                <a16:creationId xmlns:a16="http://schemas.microsoft.com/office/drawing/2014/main" id="{7715189C-2DCF-41B1-9C37-FF0EA15E7B10}"/>
              </a:ext>
            </a:extLst>
          </p:cNvPr>
          <p:cNvSpPr>
            <a:spLocks noGrp="1"/>
          </p:cNvSpPr>
          <p:nvPr/>
        </p:nvSpPr>
        <p:spPr>
          <a:xfrm>
            <a:off x="533400" y="3200400"/>
            <a:ext cx="4695825" cy="419100"/>
          </a:xfrm>
          <a:prstGeom prst="rect">
            <a:avLst/>
          </a:prstGeom>
        </p:spPr>
        <p:txBody>
          <a:bodyPr lIns="0" tIns="0" rIns="0" bIns="0" anchor="t"/>
          <a:lstStyle/>
          <a:p>
            <a:pPr>
              <a:buNone/>
              <a:defRPr sz="2025" b="1">
                <a:solidFill>
                  <a:srgbClr val="2860F5"/>
                </a:solidFill>
                <a:latin typeface="Bahnschrift"/>
                <a:ea typeface="Bahnschrift"/>
                <a:cs typeface="Bahnschrift"/>
              </a:defRPr>
            </a:pPr>
            <a:r>
              <a:t>processing/aligned/</a:t>
            </a:r>
          </a:p>
        </p:txBody>
      </p:sp>
      <p:sp>
        <p:nvSpPr>
          <p:cNvPr id="11" name="Rectangle 10">
            <a:extLst>
              <a:ext uri="{FF2B5EF4-FFF2-40B4-BE49-F238E27FC236}">
                <a16:creationId xmlns:a16="http://schemas.microsoft.com/office/drawing/2014/main" id="{86610CBE-0864-4BC1-850C-6DF427412912}"/>
              </a:ext>
            </a:extLst>
          </p:cNvPr>
          <p:cNvSpPr>
            <a:spLocks noGrp="1"/>
          </p:cNvSpPr>
          <p:nvPr/>
        </p:nvSpPr>
        <p:spPr>
          <a:xfrm>
            <a:off x="5400675" y="3200400"/>
            <a:ext cx="6257925" cy="419100"/>
          </a:xfrm>
          <a:prstGeom prst="rect">
            <a:avLst/>
          </a:prstGeom>
        </p:spPr>
        <p:txBody>
          <a:bodyPr lIns="0" tIns="0" rIns="0" bIns="0" anchor="t"/>
          <a:lstStyle/>
          <a:p>
            <a:pPr>
              <a:buNone/>
              <a:defRPr sz="1950" b="0">
                <a:solidFill>
                  <a:srgbClr val="0D182A"/>
                </a:solidFill>
                <a:latin typeface="Segoe UI"/>
                <a:ea typeface="Segoe UI"/>
                <a:cs typeface="Segoe UI"/>
              </a:defRPr>
            </a:pPr>
            <a:r>
              <a:t>Reference-aligned reads and alignment summaries</a:t>
            </a:r>
          </a:p>
        </p:txBody>
      </p:sp>
      <p:sp>
        <p:nvSpPr>
          <p:cNvPr id="12" name="Rectangle 11">
            <a:extLst>
              <a:ext uri="{FF2B5EF4-FFF2-40B4-BE49-F238E27FC236}">
                <a16:creationId xmlns:a16="http://schemas.microsoft.com/office/drawing/2014/main" id="{24DC76EB-5AB8-4302-82F7-02E2B85728AC}"/>
              </a:ext>
            </a:extLst>
          </p:cNvPr>
          <p:cNvSpPr>
            <a:spLocks noGrp="1"/>
          </p:cNvSpPr>
          <p:nvPr/>
        </p:nvSpPr>
        <p:spPr>
          <a:xfrm>
            <a:off x="533400" y="3638550"/>
            <a:ext cx="4695825" cy="419100"/>
          </a:xfrm>
          <a:prstGeom prst="rect">
            <a:avLst/>
          </a:prstGeom>
        </p:spPr>
        <p:txBody>
          <a:bodyPr lIns="0" tIns="0" rIns="0" bIns="0" anchor="t"/>
          <a:lstStyle/>
          <a:p>
            <a:pPr>
              <a:buNone/>
              <a:defRPr sz="2025" b="1">
                <a:solidFill>
                  <a:srgbClr val="2860F5"/>
                </a:solidFill>
                <a:latin typeface="Bahnschrift"/>
                <a:ea typeface="Bahnschrift"/>
                <a:cs typeface="Bahnschrift"/>
              </a:defRPr>
            </a:pPr>
            <a:r>
              <a:t>results/nanotel/</a:t>
            </a:r>
          </a:p>
        </p:txBody>
      </p:sp>
      <p:sp>
        <p:nvSpPr>
          <p:cNvPr id="13" name="Rectangle 12">
            <a:extLst>
              <a:ext uri="{FF2B5EF4-FFF2-40B4-BE49-F238E27FC236}">
                <a16:creationId xmlns:a16="http://schemas.microsoft.com/office/drawing/2014/main" id="{27B3B9D2-BAB5-470C-9F88-CD573F5DE315}"/>
              </a:ext>
            </a:extLst>
          </p:cNvPr>
          <p:cNvSpPr>
            <a:spLocks noGrp="1"/>
          </p:cNvSpPr>
          <p:nvPr/>
        </p:nvSpPr>
        <p:spPr>
          <a:xfrm>
            <a:off x="5400675" y="3638550"/>
            <a:ext cx="6257925" cy="419100"/>
          </a:xfrm>
          <a:prstGeom prst="rect">
            <a:avLst/>
          </a:prstGeom>
        </p:spPr>
        <p:txBody>
          <a:bodyPr lIns="0" tIns="0" rIns="0" bIns="0" anchor="t"/>
          <a:lstStyle/>
          <a:p>
            <a:pPr>
              <a:buNone/>
              <a:defRPr sz="1950" b="0">
                <a:solidFill>
                  <a:srgbClr val="0D182A"/>
                </a:solidFill>
                <a:latin typeface="Segoe UI"/>
                <a:ea typeface="Segoe UI"/>
                <a:cs typeface="Segoe UI"/>
              </a:defRPr>
            </a:pPr>
            <a:r>
              <a:t>Telomere results and per-barcode output</a:t>
            </a:r>
          </a:p>
        </p:txBody>
      </p:sp>
      <p:sp>
        <p:nvSpPr>
          <p:cNvPr id="14" name="Rectangle 13">
            <a:extLst>
              <a:ext uri="{FF2B5EF4-FFF2-40B4-BE49-F238E27FC236}">
                <a16:creationId xmlns:a16="http://schemas.microsoft.com/office/drawing/2014/main" id="{F53FB5F7-D02B-4D15-80AF-DDE7EFD70D13}"/>
              </a:ext>
            </a:extLst>
          </p:cNvPr>
          <p:cNvSpPr>
            <a:spLocks noGrp="1"/>
          </p:cNvSpPr>
          <p:nvPr/>
        </p:nvSpPr>
        <p:spPr>
          <a:xfrm>
            <a:off x="533400" y="4076700"/>
            <a:ext cx="4695825" cy="419100"/>
          </a:xfrm>
          <a:prstGeom prst="rect">
            <a:avLst/>
          </a:prstGeom>
        </p:spPr>
        <p:txBody>
          <a:bodyPr lIns="0" tIns="0" rIns="0" bIns="0" anchor="t"/>
          <a:lstStyle/>
          <a:p>
            <a:pPr>
              <a:buNone/>
              <a:defRPr sz="2025" b="1">
                <a:solidFill>
                  <a:srgbClr val="2860F5"/>
                </a:solidFill>
                <a:latin typeface="Bahnschrift"/>
                <a:ea typeface="Bahnschrift"/>
                <a:cs typeface="Bahnschrift"/>
              </a:defRPr>
            </a:pPr>
            <a:r>
              <a:t>results/mapping/</a:t>
            </a:r>
          </a:p>
        </p:txBody>
      </p:sp>
      <p:sp>
        <p:nvSpPr>
          <p:cNvPr id="15" name="Rectangle 14">
            <a:extLst>
              <a:ext uri="{FF2B5EF4-FFF2-40B4-BE49-F238E27FC236}">
                <a16:creationId xmlns:a16="http://schemas.microsoft.com/office/drawing/2014/main" id="{4B8BD387-ECA2-4610-A57F-9DC14C37ECDC}"/>
              </a:ext>
            </a:extLst>
          </p:cNvPr>
          <p:cNvSpPr>
            <a:spLocks noGrp="1"/>
          </p:cNvSpPr>
          <p:nvPr/>
        </p:nvSpPr>
        <p:spPr>
          <a:xfrm>
            <a:off x="5400675" y="4076700"/>
            <a:ext cx="6257925" cy="419100"/>
          </a:xfrm>
          <a:prstGeom prst="rect">
            <a:avLst/>
          </a:prstGeom>
        </p:spPr>
        <p:txBody>
          <a:bodyPr lIns="0" tIns="0" rIns="0" bIns="0" anchor="t"/>
          <a:lstStyle/>
          <a:p>
            <a:pPr>
              <a:buNone/>
              <a:defRPr sz="1950" b="0">
                <a:solidFill>
                  <a:srgbClr val="0D182A"/>
                </a:solidFill>
                <a:latin typeface="Segoe UI"/>
                <a:ea typeface="Segoe UI"/>
                <a:cs typeface="Segoe UI"/>
              </a:defRPr>
            </a:pPr>
            <a:r>
              <a:t>Downstream mapping results, when selected</a:t>
            </a:r>
          </a:p>
        </p:txBody>
      </p:sp>
      <p:sp>
        <p:nvSpPr>
          <p:cNvPr id="16" name="Rectangle 15">
            <a:extLst>
              <a:ext uri="{FF2B5EF4-FFF2-40B4-BE49-F238E27FC236}">
                <a16:creationId xmlns:a16="http://schemas.microsoft.com/office/drawing/2014/main" id="{4BDAFC1D-0616-45F7-9B0A-3ABB80E44F45}"/>
              </a:ext>
            </a:extLst>
          </p:cNvPr>
          <p:cNvSpPr>
            <a:spLocks noGrp="1"/>
          </p:cNvSpPr>
          <p:nvPr/>
        </p:nvSpPr>
        <p:spPr>
          <a:xfrm>
            <a:off x="533400" y="4514850"/>
            <a:ext cx="4695825" cy="419100"/>
          </a:xfrm>
          <a:prstGeom prst="rect">
            <a:avLst/>
          </a:prstGeom>
        </p:spPr>
        <p:txBody>
          <a:bodyPr lIns="0" tIns="0" rIns="0" bIns="0" anchor="t"/>
          <a:lstStyle/>
          <a:p>
            <a:pPr>
              <a:buNone/>
              <a:defRPr sz="2025" b="1">
                <a:solidFill>
                  <a:srgbClr val="2860F5"/>
                </a:solidFill>
                <a:latin typeface="Bahnschrift"/>
                <a:ea typeface="Bahnschrift"/>
                <a:cs typeface="Bahnschrift"/>
              </a:defRPr>
            </a:pPr>
            <a:r>
              <a:t>results/methylation/</a:t>
            </a:r>
          </a:p>
        </p:txBody>
      </p:sp>
      <p:sp>
        <p:nvSpPr>
          <p:cNvPr id="17" name="Rectangle 16">
            <a:extLst>
              <a:ext uri="{FF2B5EF4-FFF2-40B4-BE49-F238E27FC236}">
                <a16:creationId xmlns:a16="http://schemas.microsoft.com/office/drawing/2014/main" id="{025A6A3A-166A-43F1-8BFF-6561F2CF75E3}"/>
              </a:ext>
            </a:extLst>
          </p:cNvPr>
          <p:cNvSpPr>
            <a:spLocks noGrp="1"/>
          </p:cNvSpPr>
          <p:nvPr/>
        </p:nvSpPr>
        <p:spPr>
          <a:xfrm>
            <a:off x="5400675" y="4514850"/>
            <a:ext cx="6257925" cy="419100"/>
          </a:xfrm>
          <a:prstGeom prst="rect">
            <a:avLst/>
          </a:prstGeom>
        </p:spPr>
        <p:txBody>
          <a:bodyPr lIns="0" tIns="0" rIns="0" bIns="0" anchor="t"/>
          <a:lstStyle/>
          <a:p>
            <a:pPr>
              <a:buNone/>
              <a:defRPr sz="1950" b="0">
                <a:solidFill>
                  <a:srgbClr val="0D182A"/>
                </a:solidFill>
                <a:latin typeface="Segoe UI"/>
                <a:ea typeface="Segoe UI"/>
                <a:cs typeface="Segoe UI"/>
              </a:defRPr>
            </a:pPr>
            <a:r>
              <a:t>Methylation outputs, when selected</a:t>
            </a:r>
          </a:p>
        </p:txBody>
      </p:sp>
      <p:sp>
        <p:nvSpPr>
          <p:cNvPr id="18" name="Rectangle 17">
            <a:extLst>
              <a:ext uri="{FF2B5EF4-FFF2-40B4-BE49-F238E27FC236}">
                <a16:creationId xmlns:a16="http://schemas.microsoft.com/office/drawing/2014/main" id="{F75C4B07-E6E7-4745-B367-4CD91B669940}"/>
              </a:ext>
            </a:extLst>
          </p:cNvPr>
          <p:cNvSpPr>
            <a:spLocks noGrp="1"/>
          </p:cNvSpPr>
          <p:nvPr/>
        </p:nvSpPr>
        <p:spPr>
          <a:xfrm>
            <a:off x="533400" y="4953000"/>
            <a:ext cx="4695825" cy="419100"/>
          </a:xfrm>
          <a:prstGeom prst="rect">
            <a:avLst/>
          </a:prstGeom>
        </p:spPr>
        <p:txBody>
          <a:bodyPr lIns="0" tIns="0" rIns="0" bIns="0" anchor="t"/>
          <a:lstStyle/>
          <a:p>
            <a:pPr>
              <a:buNone/>
              <a:defRPr sz="2025" b="1">
                <a:solidFill>
                  <a:srgbClr val="2860F5"/>
                </a:solidFill>
                <a:latin typeface="Bahnschrift"/>
                <a:ea typeface="Bahnschrift"/>
                <a:cs typeface="Bahnschrift"/>
              </a:defRPr>
            </a:pPr>
            <a:r>
              <a:t>results/reports/</a:t>
            </a:r>
          </a:p>
        </p:txBody>
      </p:sp>
      <p:sp>
        <p:nvSpPr>
          <p:cNvPr id="19" name="Rectangle 18">
            <a:extLst>
              <a:ext uri="{FF2B5EF4-FFF2-40B4-BE49-F238E27FC236}">
                <a16:creationId xmlns:a16="http://schemas.microsoft.com/office/drawing/2014/main" id="{3720C946-3F7D-4B81-8199-984B0E5ABEC4}"/>
              </a:ext>
            </a:extLst>
          </p:cNvPr>
          <p:cNvSpPr>
            <a:spLocks noGrp="1"/>
          </p:cNvSpPr>
          <p:nvPr/>
        </p:nvSpPr>
        <p:spPr>
          <a:xfrm>
            <a:off x="5400675" y="4953000"/>
            <a:ext cx="6257925" cy="419100"/>
          </a:xfrm>
          <a:prstGeom prst="rect">
            <a:avLst/>
          </a:prstGeom>
        </p:spPr>
        <p:txBody>
          <a:bodyPr lIns="0" tIns="0" rIns="0" bIns="0" anchor="t"/>
          <a:lstStyle/>
          <a:p>
            <a:pPr>
              <a:buNone/>
              <a:defRPr sz="1950" b="0">
                <a:solidFill>
                  <a:srgbClr val="0D182A"/>
                </a:solidFill>
                <a:latin typeface="Segoe UI"/>
                <a:ea typeface="Segoe UI"/>
                <a:cs typeface="Segoe UI"/>
              </a:defRPr>
            </a:pPr>
            <a:r>
              <a:t>Analysis reports and saved configuration</a:t>
            </a:r>
          </a:p>
        </p:txBody>
      </p:sp>
      <p:sp>
        <p:nvSpPr>
          <p:cNvPr id="20" name="Rectangle 19">
            <a:extLst>
              <a:ext uri="{FF2B5EF4-FFF2-40B4-BE49-F238E27FC236}">
                <a16:creationId xmlns:a16="http://schemas.microsoft.com/office/drawing/2014/main" id="{0B1B75CB-77B2-432F-BFC4-303FA6401B3B}"/>
              </a:ext>
            </a:extLst>
          </p:cNvPr>
          <p:cNvSpPr>
            <a:spLocks noGrp="1"/>
          </p:cNvSpPr>
          <p:nvPr/>
        </p:nvSpPr>
        <p:spPr>
          <a:xfrm>
            <a:off x="533400" y="5391150"/>
            <a:ext cx="4695825" cy="419100"/>
          </a:xfrm>
          <a:prstGeom prst="rect">
            <a:avLst/>
          </a:prstGeom>
        </p:spPr>
        <p:txBody>
          <a:bodyPr lIns="0" tIns="0" rIns="0" bIns="0" anchor="t"/>
          <a:lstStyle/>
          <a:p>
            <a:pPr>
              <a:buNone/>
              <a:defRPr sz="2025" b="1">
                <a:solidFill>
                  <a:srgbClr val="2860F5"/>
                </a:solidFill>
                <a:latin typeface="Bahnschrift"/>
                <a:ea typeface="Bahnschrift"/>
                <a:cs typeface="Bahnschrift"/>
              </a:defRPr>
            </a:pPr>
            <a:r>
              <a:t>results/logs/</a:t>
            </a:r>
          </a:p>
        </p:txBody>
      </p:sp>
      <p:sp>
        <p:nvSpPr>
          <p:cNvPr id="21" name="Rectangle 20">
            <a:extLst>
              <a:ext uri="{FF2B5EF4-FFF2-40B4-BE49-F238E27FC236}">
                <a16:creationId xmlns:a16="http://schemas.microsoft.com/office/drawing/2014/main" id="{DDFAF721-4563-410A-B07A-6323A88D1AC6}"/>
              </a:ext>
            </a:extLst>
          </p:cNvPr>
          <p:cNvSpPr>
            <a:spLocks noGrp="1"/>
          </p:cNvSpPr>
          <p:nvPr/>
        </p:nvSpPr>
        <p:spPr>
          <a:xfrm>
            <a:off x="5400675" y="5391150"/>
            <a:ext cx="6257925" cy="419100"/>
          </a:xfrm>
          <a:prstGeom prst="rect">
            <a:avLst/>
          </a:prstGeom>
        </p:spPr>
        <p:txBody>
          <a:bodyPr lIns="0" tIns="0" rIns="0" bIns="0" anchor="t"/>
          <a:lstStyle/>
          <a:p>
            <a:pPr>
              <a:buNone/>
              <a:defRPr sz="1950" b="0">
                <a:solidFill>
                  <a:srgbClr val="0D182A"/>
                </a:solidFill>
                <a:latin typeface="Segoe UI"/>
                <a:ea typeface="Segoe UI"/>
                <a:cs typeface="Segoe UI"/>
              </a:defRPr>
            </a:pPr>
            <a:r>
              <a:t>Execution logs and troubleshooting information</a:t>
            </a:r>
          </a:p>
        </p:txBody>
      </p:sp>
      <p:sp>
        <p:nvSpPr>
          <p:cNvPr id="22" name="Rectangle 21">
            <a:extLst>
              <a:ext uri="{FF2B5EF4-FFF2-40B4-BE49-F238E27FC236}">
                <a16:creationId xmlns:a16="http://schemas.microsoft.com/office/drawing/2014/main" id="{17955967-8541-43DB-A5EE-6CF9DB134D5D}"/>
              </a:ext>
            </a:extLst>
          </p:cNvPr>
          <p:cNvSpPr>
            <a:spLocks noGrp="1"/>
          </p:cNvSpPr>
          <p:nvPr/>
        </p:nvSpPr>
        <p:spPr>
          <a:xfrm>
            <a:off x="533400" y="5972175"/>
            <a:ext cx="11125200" cy="361950"/>
          </a:xfrm>
          <a:prstGeom prst="rect">
            <a:avLst/>
          </a:prstGeom>
        </p:spPr>
        <p:txBody>
          <a:bodyPr lIns="0" tIns="0" rIns="0" bIns="0" anchor="t"/>
          <a:lstStyle/>
          <a:p>
            <a:pPr>
              <a:buNone/>
              <a:defRPr sz="1800" b="0">
                <a:solidFill>
                  <a:srgbClr val="68717E"/>
                </a:solidFill>
                <a:latin typeface="Segoe UI"/>
                <a:ea typeface="Segoe UI"/>
                <a:cs typeface="Segoe UI"/>
              </a:defRPr>
            </a:pPr>
            <a:r>
              <a:t>Paths are relative to the run folder; only selected stages produce output.</a:t>
            </a:r>
          </a:p>
        </p:txBody>
      </p:sp>
      <p:sp>
        <p:nvSpPr>
          <p:cNvPr id="23" name="Rectangle 22">
            <a:extLst>
              <a:ext uri="{FF2B5EF4-FFF2-40B4-BE49-F238E27FC236}">
                <a16:creationId xmlns:a16="http://schemas.microsoft.com/office/drawing/2014/main" id="{07F09B32-DE22-4618-8BB0-FE3BAE9F08DA}"/>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t>18</a:t>
            </a:r>
          </a:p>
        </p:txBody>
      </p:sp>
    </p:spTree>
    <p:extLst>
      <p:ext uri="{BB962C8B-B14F-4D97-AF65-F5344CB8AC3E}">
        <p14:creationId xmlns:p14="http://schemas.microsoft.com/office/powerpoint/2010/main" val="1114866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4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A225E73-FC73-4CE2-BBF4-7155EC3BDDAB}"/>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2860F5"/>
                </a:solidFill>
                <a:latin typeface="Bahnschrift"/>
                <a:ea typeface="Bahnschrift"/>
                <a:cs typeface="Bahnschrift"/>
              </a:defRPr>
            </a:pPr>
            <a:r>
              <a:t>DETAILED OUTPUT</a:t>
            </a:r>
          </a:p>
        </p:txBody>
      </p:sp>
      <p:sp>
        <p:nvSpPr>
          <p:cNvPr id="2" name="Rectangle 1">
            <a:extLst>
              <a:ext uri="{FF2B5EF4-FFF2-40B4-BE49-F238E27FC236}">
                <a16:creationId xmlns:a16="http://schemas.microsoft.com/office/drawing/2014/main" id="{60723EE2-2191-4AFB-9614-4C24593B23F3}"/>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0D182A"/>
                </a:solidFill>
                <a:latin typeface="Bahnschrift"/>
                <a:ea typeface="Bahnschrift"/>
                <a:cs typeface="Bahnschrift"/>
              </a:defRPr>
            </a:pPr>
            <a:r>
              <a:rPr dirty="0" err="1"/>
              <a:t>NanoTel</a:t>
            </a:r>
            <a:r>
              <a:rPr dirty="0"/>
              <a:t> folder contents</a:t>
            </a:r>
          </a:p>
        </p:txBody>
      </p:sp>
      <p:sp>
        <p:nvSpPr>
          <p:cNvPr id="3" name="Rectangle 2">
            <a:extLst>
              <a:ext uri="{FF2B5EF4-FFF2-40B4-BE49-F238E27FC236}">
                <a16:creationId xmlns:a16="http://schemas.microsoft.com/office/drawing/2014/main" id="{4D7C3EC5-53A2-472F-9295-BABD87D7A518}"/>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68717E"/>
                </a:solidFill>
                <a:latin typeface="Segoe UI"/>
                <a:ea typeface="Segoe UI"/>
                <a:cs typeface="Segoe UI"/>
              </a:defRPr>
            </a:pPr>
            <a:r>
              <a:t>TELOMERE ANALYZER</a:t>
            </a:r>
          </a:p>
        </p:txBody>
      </p:sp>
      <p:sp>
        <p:nvSpPr>
          <p:cNvPr id="4" name="Rectangle 3">
            <a:extLst>
              <a:ext uri="{FF2B5EF4-FFF2-40B4-BE49-F238E27FC236}">
                <a16:creationId xmlns:a16="http://schemas.microsoft.com/office/drawing/2014/main" id="{13E604B8-6F0E-4B0B-A334-6CBD0821789E}"/>
              </a:ext>
            </a:extLst>
          </p:cNvPr>
          <p:cNvSpPr>
            <a:spLocks noGrp="1"/>
          </p:cNvSpPr>
          <p:nvPr/>
        </p:nvSpPr>
        <p:spPr>
          <a:xfrm>
            <a:off x="533400" y="1857375"/>
            <a:ext cx="11125200" cy="457200"/>
          </a:xfrm>
          <a:prstGeom prst="rect">
            <a:avLst/>
          </a:prstGeom>
        </p:spPr>
        <p:txBody>
          <a:bodyPr lIns="0" tIns="0" rIns="0" bIns="0" anchor="t"/>
          <a:lstStyle/>
          <a:p>
            <a:pPr>
              <a:buNone/>
              <a:defRPr sz="2475" b="1">
                <a:solidFill>
                  <a:srgbClr val="2860F5"/>
                </a:solidFill>
                <a:latin typeface="Bahnschrift"/>
                <a:ea typeface="Bahnschrift"/>
                <a:cs typeface="Bahnschrift"/>
              </a:defRPr>
            </a:pPr>
            <a:r>
              <a:rPr dirty="0"/>
              <a:t>results/</a:t>
            </a:r>
            <a:r>
              <a:rPr dirty="0" err="1"/>
              <a:t>nanotel</a:t>
            </a:r>
            <a:r>
              <a:rPr dirty="0"/>
              <a:t>/</a:t>
            </a:r>
          </a:p>
        </p:txBody>
      </p:sp>
      <p:sp>
        <p:nvSpPr>
          <p:cNvPr id="5" name="Rectangle 4">
            <a:extLst>
              <a:ext uri="{FF2B5EF4-FFF2-40B4-BE49-F238E27FC236}">
                <a16:creationId xmlns:a16="http://schemas.microsoft.com/office/drawing/2014/main" id="{DE80474F-DC2B-4E29-8162-B2F9FA2686B1}"/>
              </a:ext>
            </a:extLst>
          </p:cNvPr>
          <p:cNvSpPr>
            <a:spLocks noGrp="1"/>
          </p:cNvSpPr>
          <p:nvPr/>
        </p:nvSpPr>
        <p:spPr>
          <a:xfrm>
            <a:off x="533400" y="2495550"/>
            <a:ext cx="5476875" cy="485775"/>
          </a:xfrm>
          <a:prstGeom prst="rect">
            <a:avLst/>
          </a:prstGeom>
        </p:spPr>
        <p:txBody>
          <a:bodyPr lIns="0" tIns="0" rIns="0" bIns="0" anchor="t"/>
          <a:lstStyle/>
          <a:p>
            <a:pPr>
              <a:buNone/>
              <a:defRPr sz="1950" b="1">
                <a:solidFill>
                  <a:srgbClr val="0D182A"/>
                </a:solidFill>
                <a:latin typeface="Bahnschrift"/>
                <a:ea typeface="Bahnschrift"/>
                <a:cs typeface="Bahnschrift"/>
              </a:defRPr>
            </a:pPr>
            <a:r>
              <a:t>Summary CSV</a:t>
            </a:r>
          </a:p>
        </p:txBody>
      </p:sp>
      <p:sp>
        <p:nvSpPr>
          <p:cNvPr id="6" name="Rectangle 5">
            <a:extLst>
              <a:ext uri="{FF2B5EF4-FFF2-40B4-BE49-F238E27FC236}">
                <a16:creationId xmlns:a16="http://schemas.microsoft.com/office/drawing/2014/main" id="{BDE3CF3A-5A84-4D5C-A1DB-4E6742973C90}"/>
              </a:ext>
            </a:extLst>
          </p:cNvPr>
          <p:cNvSpPr>
            <a:spLocks noGrp="1"/>
          </p:cNvSpPr>
          <p:nvPr/>
        </p:nvSpPr>
        <p:spPr>
          <a:xfrm>
            <a:off x="6343650" y="2495550"/>
            <a:ext cx="5314950" cy="514350"/>
          </a:xfrm>
          <a:prstGeom prst="rect">
            <a:avLst/>
          </a:prstGeom>
        </p:spPr>
        <p:txBody>
          <a:bodyPr lIns="0" tIns="0" rIns="0" bIns="0" anchor="t"/>
          <a:lstStyle/>
          <a:p>
            <a:pPr>
              <a:buNone/>
              <a:defRPr sz="1875" b="0">
                <a:solidFill>
                  <a:srgbClr val="0D182A"/>
                </a:solidFill>
                <a:latin typeface="Segoe UI"/>
                <a:ea typeface="Segoe UI"/>
                <a:cs typeface="Segoe UI"/>
              </a:defRPr>
            </a:pPr>
            <a:r>
              <a:t>Statistics across the processed barcodes</a:t>
            </a:r>
          </a:p>
        </p:txBody>
      </p:sp>
      <p:sp>
        <p:nvSpPr>
          <p:cNvPr id="7" name="Rectangle 6">
            <a:extLst>
              <a:ext uri="{FF2B5EF4-FFF2-40B4-BE49-F238E27FC236}">
                <a16:creationId xmlns:a16="http://schemas.microsoft.com/office/drawing/2014/main" id="{539732FB-8EFB-4009-BDE2-4F1F2CB5F0EC}"/>
              </a:ext>
            </a:extLst>
          </p:cNvPr>
          <p:cNvSpPr>
            <a:spLocks noGrp="1"/>
          </p:cNvSpPr>
          <p:nvPr/>
        </p:nvSpPr>
        <p:spPr>
          <a:xfrm>
            <a:off x="533400" y="3048000"/>
            <a:ext cx="5476875" cy="485775"/>
          </a:xfrm>
          <a:prstGeom prst="rect">
            <a:avLst/>
          </a:prstGeom>
        </p:spPr>
        <p:txBody>
          <a:bodyPr lIns="0" tIns="0" rIns="0" bIns="0" anchor="t"/>
          <a:lstStyle/>
          <a:p>
            <a:pPr>
              <a:buNone/>
              <a:defRPr sz="1950" b="1">
                <a:solidFill>
                  <a:srgbClr val="0D182A"/>
                </a:solidFill>
                <a:latin typeface="Bahnschrift"/>
                <a:ea typeface="Bahnschrift"/>
                <a:cs typeface="Bahnschrift"/>
              </a:defRPr>
            </a:pPr>
            <a:r>
              <a:t>barcodeXX/</a:t>
            </a:r>
          </a:p>
        </p:txBody>
      </p:sp>
      <p:sp>
        <p:nvSpPr>
          <p:cNvPr id="8" name="Rectangle 7">
            <a:extLst>
              <a:ext uri="{FF2B5EF4-FFF2-40B4-BE49-F238E27FC236}">
                <a16:creationId xmlns:a16="http://schemas.microsoft.com/office/drawing/2014/main" id="{D4EF4B06-62B7-47BD-91FB-BA90AFC74DA5}"/>
              </a:ext>
            </a:extLst>
          </p:cNvPr>
          <p:cNvSpPr>
            <a:spLocks noGrp="1"/>
          </p:cNvSpPr>
          <p:nvPr/>
        </p:nvSpPr>
        <p:spPr>
          <a:xfrm>
            <a:off x="6343650" y="3048000"/>
            <a:ext cx="5314950" cy="514350"/>
          </a:xfrm>
          <a:prstGeom prst="rect">
            <a:avLst/>
          </a:prstGeom>
        </p:spPr>
        <p:txBody>
          <a:bodyPr lIns="0" tIns="0" rIns="0" bIns="0" anchor="t"/>
          <a:lstStyle/>
          <a:p>
            <a:pPr>
              <a:buNone/>
              <a:defRPr sz="1875" b="0">
                <a:solidFill>
                  <a:srgbClr val="0D182A"/>
                </a:solidFill>
                <a:latin typeface="Segoe UI"/>
                <a:ea typeface="Segoe UI"/>
                <a:cs typeface="Segoe UI"/>
              </a:defRPr>
            </a:pPr>
            <a:r>
              <a:t>Raw and filtered CSV tables; read identifiers</a:t>
            </a:r>
          </a:p>
        </p:txBody>
      </p:sp>
      <p:sp>
        <p:nvSpPr>
          <p:cNvPr id="9" name="Rectangle 8">
            <a:extLst>
              <a:ext uri="{FF2B5EF4-FFF2-40B4-BE49-F238E27FC236}">
                <a16:creationId xmlns:a16="http://schemas.microsoft.com/office/drawing/2014/main" id="{4070E13F-FD2F-42C5-9B4B-3DDBCF9D79CA}"/>
              </a:ext>
            </a:extLst>
          </p:cNvPr>
          <p:cNvSpPr>
            <a:spLocks noGrp="1"/>
          </p:cNvSpPr>
          <p:nvPr/>
        </p:nvSpPr>
        <p:spPr>
          <a:xfrm>
            <a:off x="533400" y="3600450"/>
            <a:ext cx="5476875" cy="485775"/>
          </a:xfrm>
          <a:prstGeom prst="rect">
            <a:avLst/>
          </a:prstGeom>
        </p:spPr>
        <p:txBody>
          <a:bodyPr lIns="0" tIns="0" rIns="0" bIns="0" anchor="t"/>
          <a:lstStyle/>
          <a:p>
            <a:pPr>
              <a:buNone/>
              <a:defRPr sz="1950" b="1">
                <a:solidFill>
                  <a:srgbClr val="0D182A"/>
                </a:solidFill>
                <a:latin typeface="Bahnschrift"/>
                <a:ea typeface="Bahnschrift"/>
                <a:cs typeface="Bahnschrift"/>
              </a:defRPr>
            </a:pPr>
            <a:r>
              <a:t>barcodeXX/reads/</a:t>
            </a:r>
          </a:p>
        </p:txBody>
      </p:sp>
      <p:sp>
        <p:nvSpPr>
          <p:cNvPr id="10" name="Rectangle 9">
            <a:extLst>
              <a:ext uri="{FF2B5EF4-FFF2-40B4-BE49-F238E27FC236}">
                <a16:creationId xmlns:a16="http://schemas.microsoft.com/office/drawing/2014/main" id="{06F9234F-DDF5-4BBA-A9F0-48B5BCD35CE8}"/>
              </a:ext>
            </a:extLst>
          </p:cNvPr>
          <p:cNvSpPr>
            <a:spLocks noGrp="1"/>
          </p:cNvSpPr>
          <p:nvPr/>
        </p:nvSpPr>
        <p:spPr>
          <a:xfrm>
            <a:off x="6343650" y="3600450"/>
            <a:ext cx="5314950" cy="514350"/>
          </a:xfrm>
          <a:prstGeom prst="rect">
            <a:avLst/>
          </a:prstGeom>
        </p:spPr>
        <p:txBody>
          <a:bodyPr lIns="0" tIns="0" rIns="0" bIns="0" anchor="t"/>
          <a:lstStyle/>
          <a:p>
            <a:pPr>
              <a:buNone/>
              <a:defRPr sz="1875" b="0">
                <a:solidFill>
                  <a:srgbClr val="0D182A"/>
                </a:solidFill>
                <a:latin typeface="Segoe UI"/>
                <a:ea typeface="Segoe UI"/>
                <a:cs typeface="Segoe UI"/>
              </a:defRPr>
            </a:pPr>
            <a:r>
              <a:t>Individual read sequences in FASTA.GZ format</a:t>
            </a:r>
          </a:p>
        </p:txBody>
      </p:sp>
      <p:sp>
        <p:nvSpPr>
          <p:cNvPr id="11" name="Rectangle 10">
            <a:extLst>
              <a:ext uri="{FF2B5EF4-FFF2-40B4-BE49-F238E27FC236}">
                <a16:creationId xmlns:a16="http://schemas.microsoft.com/office/drawing/2014/main" id="{A0B3E13E-CC68-49D8-ACBE-10C011586292}"/>
              </a:ext>
            </a:extLst>
          </p:cNvPr>
          <p:cNvSpPr>
            <a:spLocks noGrp="1"/>
          </p:cNvSpPr>
          <p:nvPr/>
        </p:nvSpPr>
        <p:spPr>
          <a:xfrm>
            <a:off x="533400" y="4152900"/>
            <a:ext cx="5476875" cy="485775"/>
          </a:xfrm>
          <a:prstGeom prst="rect">
            <a:avLst/>
          </a:prstGeom>
        </p:spPr>
        <p:txBody>
          <a:bodyPr lIns="0" tIns="0" rIns="0" bIns="0" anchor="t"/>
          <a:lstStyle/>
          <a:p>
            <a:pPr>
              <a:buNone/>
              <a:defRPr sz="1950" b="1">
                <a:solidFill>
                  <a:srgbClr val="0D182A"/>
                </a:solidFill>
                <a:latin typeface="Bahnschrift"/>
                <a:ea typeface="Bahnschrift"/>
                <a:cs typeface="Bahnschrift"/>
              </a:defRPr>
            </a:pPr>
            <a:r>
              <a:t>barcodeXX/single_read_plots/</a:t>
            </a:r>
          </a:p>
        </p:txBody>
      </p:sp>
      <p:sp>
        <p:nvSpPr>
          <p:cNvPr id="12" name="Rectangle 11">
            <a:extLst>
              <a:ext uri="{FF2B5EF4-FFF2-40B4-BE49-F238E27FC236}">
                <a16:creationId xmlns:a16="http://schemas.microsoft.com/office/drawing/2014/main" id="{A4980270-BF13-406E-9BB8-5B6EA8022956}"/>
              </a:ext>
            </a:extLst>
          </p:cNvPr>
          <p:cNvSpPr>
            <a:spLocks noGrp="1"/>
          </p:cNvSpPr>
          <p:nvPr/>
        </p:nvSpPr>
        <p:spPr>
          <a:xfrm>
            <a:off x="6343650" y="4152900"/>
            <a:ext cx="5314950" cy="514350"/>
          </a:xfrm>
          <a:prstGeom prst="rect">
            <a:avLst/>
          </a:prstGeom>
        </p:spPr>
        <p:txBody>
          <a:bodyPr lIns="0" tIns="0" rIns="0" bIns="0" anchor="t"/>
          <a:lstStyle/>
          <a:p>
            <a:pPr>
              <a:buNone/>
              <a:defRPr sz="1875" b="0">
                <a:solidFill>
                  <a:srgbClr val="0D182A"/>
                </a:solidFill>
                <a:latin typeface="Segoe UI"/>
                <a:ea typeface="Segoe UI"/>
                <a:cs typeface="Segoe UI"/>
              </a:defRPr>
            </a:pPr>
            <a:r>
              <a:t>Original per-read density plots</a:t>
            </a:r>
          </a:p>
        </p:txBody>
      </p:sp>
      <p:sp>
        <p:nvSpPr>
          <p:cNvPr id="13" name="Rectangle 12">
            <a:extLst>
              <a:ext uri="{FF2B5EF4-FFF2-40B4-BE49-F238E27FC236}">
                <a16:creationId xmlns:a16="http://schemas.microsoft.com/office/drawing/2014/main" id="{612FBA36-C50C-40B1-AED8-998A45C4FDBD}"/>
              </a:ext>
            </a:extLst>
          </p:cNvPr>
          <p:cNvSpPr>
            <a:spLocks noGrp="1"/>
          </p:cNvSpPr>
          <p:nvPr/>
        </p:nvSpPr>
        <p:spPr>
          <a:xfrm>
            <a:off x="533400" y="4705350"/>
            <a:ext cx="5476875" cy="485775"/>
          </a:xfrm>
          <a:prstGeom prst="rect">
            <a:avLst/>
          </a:prstGeom>
        </p:spPr>
        <p:txBody>
          <a:bodyPr lIns="0" tIns="0" rIns="0" bIns="0" anchor="t"/>
          <a:lstStyle/>
          <a:p>
            <a:pPr>
              <a:buNone/>
              <a:defRPr sz="1950" b="1">
                <a:solidFill>
                  <a:srgbClr val="0D182A"/>
                </a:solidFill>
                <a:latin typeface="Bahnschrift"/>
                <a:ea typeface="Bahnschrift"/>
                <a:cs typeface="Bahnschrift"/>
              </a:defRPr>
            </a:pPr>
            <a:r>
              <a:t>barcodeXX/single_read_plots_adj/</a:t>
            </a:r>
          </a:p>
        </p:txBody>
      </p:sp>
      <p:sp>
        <p:nvSpPr>
          <p:cNvPr id="14" name="Rectangle 13">
            <a:extLst>
              <a:ext uri="{FF2B5EF4-FFF2-40B4-BE49-F238E27FC236}">
                <a16:creationId xmlns:a16="http://schemas.microsoft.com/office/drawing/2014/main" id="{5BDAE468-B629-4B93-8571-75A8C847951F}"/>
              </a:ext>
            </a:extLst>
          </p:cNvPr>
          <p:cNvSpPr>
            <a:spLocks noGrp="1"/>
          </p:cNvSpPr>
          <p:nvPr/>
        </p:nvSpPr>
        <p:spPr>
          <a:xfrm>
            <a:off x="6343650" y="4705350"/>
            <a:ext cx="5314950" cy="514350"/>
          </a:xfrm>
          <a:prstGeom prst="rect">
            <a:avLst/>
          </a:prstGeom>
        </p:spPr>
        <p:txBody>
          <a:bodyPr lIns="0" tIns="0" rIns="0" bIns="0" anchor="t"/>
          <a:lstStyle/>
          <a:p>
            <a:pPr>
              <a:buNone/>
              <a:defRPr sz="1875" b="0">
                <a:solidFill>
                  <a:srgbClr val="0D182A"/>
                </a:solidFill>
                <a:latin typeface="Segoe UI"/>
                <a:ea typeface="Segoe UI"/>
                <a:cs typeface="Segoe UI"/>
              </a:defRPr>
            </a:pPr>
            <a:r>
              <a:t>Adjusted per-read density plots</a:t>
            </a:r>
          </a:p>
        </p:txBody>
      </p:sp>
      <p:sp>
        <p:nvSpPr>
          <p:cNvPr id="15" name="Rectangle 14">
            <a:extLst>
              <a:ext uri="{FF2B5EF4-FFF2-40B4-BE49-F238E27FC236}">
                <a16:creationId xmlns:a16="http://schemas.microsoft.com/office/drawing/2014/main" id="{DB81F44E-CEB9-4247-98D3-92D0527FCE24}"/>
              </a:ext>
            </a:extLst>
          </p:cNvPr>
          <p:cNvSpPr>
            <a:spLocks noGrp="1"/>
          </p:cNvSpPr>
          <p:nvPr/>
        </p:nvSpPr>
        <p:spPr>
          <a:xfrm>
            <a:off x="533400" y="5495925"/>
            <a:ext cx="5429250" cy="419100"/>
          </a:xfrm>
          <a:prstGeom prst="rect">
            <a:avLst/>
          </a:prstGeom>
        </p:spPr>
        <p:txBody>
          <a:bodyPr lIns="0" tIns="0" rIns="0" bIns="0" anchor="t"/>
          <a:lstStyle/>
          <a:p>
            <a:pPr>
              <a:buNone/>
              <a:defRPr sz="2325" b="1">
                <a:solidFill>
                  <a:srgbClr val="2860F5"/>
                </a:solidFill>
                <a:latin typeface="Bahnschrift"/>
                <a:ea typeface="Bahnschrift"/>
                <a:cs typeface="Bahnschrift"/>
              </a:defRPr>
            </a:pPr>
            <a:r>
              <a:t>Summary-only mode</a:t>
            </a:r>
          </a:p>
        </p:txBody>
      </p:sp>
      <p:sp>
        <p:nvSpPr>
          <p:cNvPr id="16" name="Rectangle 15">
            <a:extLst>
              <a:ext uri="{FF2B5EF4-FFF2-40B4-BE49-F238E27FC236}">
                <a16:creationId xmlns:a16="http://schemas.microsoft.com/office/drawing/2014/main" id="{14F8E324-4687-469E-A920-3FDEE40B9008}"/>
              </a:ext>
            </a:extLst>
          </p:cNvPr>
          <p:cNvSpPr>
            <a:spLocks noGrp="1"/>
          </p:cNvSpPr>
          <p:nvPr/>
        </p:nvSpPr>
        <p:spPr>
          <a:xfrm>
            <a:off x="533400" y="5915025"/>
            <a:ext cx="11125200" cy="419100"/>
          </a:xfrm>
          <a:prstGeom prst="rect">
            <a:avLst/>
          </a:prstGeom>
        </p:spPr>
        <p:txBody>
          <a:bodyPr lIns="0" tIns="0" rIns="0" bIns="0" anchor="t"/>
          <a:lstStyle/>
          <a:p>
            <a:pPr>
              <a:buNone/>
              <a:defRPr sz="2025" b="0">
                <a:solidFill>
                  <a:srgbClr val="0D182A"/>
                </a:solidFill>
                <a:latin typeface="Segoe UI"/>
                <a:ea typeface="Segoe UI"/>
                <a:cs typeface="Segoe UI"/>
              </a:defRPr>
            </a:pPr>
            <a:r>
              <a:rPr dirty="0"/>
              <a:t>results/nanotel_summary.xlsx replaces the detailed </a:t>
            </a:r>
            <a:r>
              <a:rPr dirty="0" err="1"/>
              <a:t>NanoTel</a:t>
            </a:r>
            <a:r>
              <a:rPr dirty="0"/>
              <a:t> folder.</a:t>
            </a:r>
          </a:p>
        </p:txBody>
      </p:sp>
      <p:sp>
        <p:nvSpPr>
          <p:cNvPr id="17" name="Rectangle 16">
            <a:extLst>
              <a:ext uri="{FF2B5EF4-FFF2-40B4-BE49-F238E27FC236}">
                <a16:creationId xmlns:a16="http://schemas.microsoft.com/office/drawing/2014/main" id="{3F9E4CA1-507A-47CC-8F85-AD77CBBDFE5B}"/>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68717E"/>
                </a:solidFill>
                <a:latin typeface="Segoe UI"/>
                <a:ea typeface="Segoe UI"/>
                <a:cs typeface="Segoe UI"/>
              </a:defRPr>
            </a:pPr>
            <a:r>
              <a:t>19</a:t>
            </a:r>
          </a:p>
        </p:txBody>
      </p:sp>
    </p:spTree>
    <p:extLst>
      <p:ext uri="{BB962C8B-B14F-4D97-AF65-F5344CB8AC3E}">
        <p14:creationId xmlns:p14="http://schemas.microsoft.com/office/powerpoint/2010/main" val="1829537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7BDE04E-EAD8-40F3-A072-9CCCBF151FB4}"/>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Bahnschrift"/>
                <a:ea typeface="Bahnschrift"/>
                <a:cs typeface="Bahnschrift"/>
              </a:defRPr>
            </a:pPr>
            <a:r>
              <a:rPr dirty="0"/>
              <a:t>PROPOSED NEXT STEPS</a:t>
            </a:r>
          </a:p>
        </p:txBody>
      </p:sp>
      <p:sp>
        <p:nvSpPr>
          <p:cNvPr id="2" name="Rectangle 1">
            <a:extLst>
              <a:ext uri="{FF2B5EF4-FFF2-40B4-BE49-F238E27FC236}">
                <a16:creationId xmlns:a16="http://schemas.microsoft.com/office/drawing/2014/main" id="{559FC9F1-510A-411B-AB36-D29DCB8F8524}"/>
              </a:ext>
            </a:extLst>
          </p:cNvPr>
          <p:cNvSpPr>
            <a:spLocks noGrp="1"/>
          </p:cNvSpPr>
          <p:nvPr/>
        </p:nvSpPr>
        <p:spPr>
          <a:xfrm>
            <a:off x="533400" y="838200"/>
            <a:ext cx="11125200" cy="857250"/>
          </a:xfrm>
          <a:prstGeom prst="rect">
            <a:avLst/>
          </a:prstGeom>
        </p:spPr>
        <p:txBody>
          <a:bodyPr lIns="0" tIns="0" rIns="0" bIns="0" anchor="t"/>
          <a:lstStyle/>
          <a:p>
            <a:pPr>
              <a:buNone/>
              <a:defRPr sz="4650" b="1">
                <a:solidFill>
                  <a:srgbClr val="FFFFFF"/>
                </a:solidFill>
                <a:latin typeface="Bahnschrift"/>
                <a:ea typeface="Bahnschrift"/>
                <a:cs typeface="Bahnschrift"/>
              </a:defRPr>
            </a:pPr>
            <a:r>
              <a:rPr dirty="0"/>
              <a:t>Future work</a:t>
            </a:r>
          </a:p>
        </p:txBody>
      </p:sp>
      <p:sp>
        <p:nvSpPr>
          <p:cNvPr id="3" name="Rectangle 2">
            <a:extLst>
              <a:ext uri="{FF2B5EF4-FFF2-40B4-BE49-F238E27FC236}">
                <a16:creationId xmlns:a16="http://schemas.microsoft.com/office/drawing/2014/main" id="{3C1A2B40-5948-403E-9A92-43BEF8227E4A}"/>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4" name="Rectangle 3">
            <a:extLst>
              <a:ext uri="{FF2B5EF4-FFF2-40B4-BE49-F238E27FC236}">
                <a16:creationId xmlns:a16="http://schemas.microsoft.com/office/drawing/2014/main" id="{31859B70-2456-4554-8D6B-47545DFDA3A0}"/>
              </a:ext>
            </a:extLst>
          </p:cNvPr>
          <p:cNvSpPr>
            <a:spLocks noGrp="1"/>
          </p:cNvSpPr>
          <p:nvPr/>
        </p:nvSpPr>
        <p:spPr>
          <a:xfrm>
            <a:off x="533400" y="2133600"/>
            <a:ext cx="11125200" cy="428625"/>
          </a:xfrm>
          <a:prstGeom prst="rect">
            <a:avLst/>
          </a:prstGeom>
        </p:spPr>
        <p:txBody>
          <a:bodyPr lIns="0" tIns="0" rIns="0" bIns="0" anchor="t"/>
          <a:lstStyle/>
          <a:p>
            <a:pPr>
              <a:buNone/>
              <a:defRPr sz="2550" b="1">
                <a:solidFill>
                  <a:srgbClr val="B5F4DE"/>
                </a:solidFill>
                <a:latin typeface="Bahnschrift"/>
                <a:ea typeface="Bahnschrift"/>
                <a:cs typeface="Bahnschrift"/>
              </a:defRPr>
            </a:pPr>
            <a:r>
              <a:rPr dirty="0"/>
              <a:t>Broader testing</a:t>
            </a:r>
          </a:p>
        </p:txBody>
      </p:sp>
      <p:sp>
        <p:nvSpPr>
          <p:cNvPr id="5" name="Rectangle 4">
            <a:extLst>
              <a:ext uri="{FF2B5EF4-FFF2-40B4-BE49-F238E27FC236}">
                <a16:creationId xmlns:a16="http://schemas.microsoft.com/office/drawing/2014/main" id="{9678B651-A01B-4639-A408-E740D0C8E64A}"/>
              </a:ext>
            </a:extLst>
          </p:cNvPr>
          <p:cNvSpPr>
            <a:spLocks noGrp="1"/>
          </p:cNvSpPr>
          <p:nvPr/>
        </p:nvSpPr>
        <p:spPr>
          <a:xfrm>
            <a:off x="533400" y="2628900"/>
            <a:ext cx="11125200" cy="457200"/>
          </a:xfrm>
          <a:prstGeom prst="rect">
            <a:avLst/>
          </a:prstGeom>
        </p:spPr>
        <p:txBody>
          <a:bodyPr lIns="0" tIns="0" rIns="0" bIns="0" anchor="t"/>
          <a:lstStyle/>
          <a:p>
            <a:pPr>
              <a:buNone/>
              <a:defRPr sz="2175" b="0">
                <a:solidFill>
                  <a:srgbClr val="FFFFFF"/>
                </a:solidFill>
                <a:latin typeface="Segoe UI"/>
                <a:ea typeface="Segoe UI"/>
                <a:cs typeface="Segoe UI"/>
              </a:defRPr>
            </a:pPr>
            <a:r>
              <a:rPr dirty="0"/>
              <a:t>More barcodes, larger datasets and all input formats</a:t>
            </a:r>
          </a:p>
        </p:txBody>
      </p:sp>
      <p:sp>
        <p:nvSpPr>
          <p:cNvPr id="6" name="Rectangle 5">
            <a:extLst>
              <a:ext uri="{FF2B5EF4-FFF2-40B4-BE49-F238E27FC236}">
                <a16:creationId xmlns:a16="http://schemas.microsoft.com/office/drawing/2014/main" id="{53C4BB52-8404-4BE6-8D55-FAD4B4102293}"/>
              </a:ext>
            </a:extLst>
          </p:cNvPr>
          <p:cNvSpPr>
            <a:spLocks noGrp="1"/>
          </p:cNvSpPr>
          <p:nvPr/>
        </p:nvSpPr>
        <p:spPr>
          <a:xfrm>
            <a:off x="533400" y="3114675"/>
            <a:ext cx="11125200" cy="428625"/>
          </a:xfrm>
          <a:prstGeom prst="rect">
            <a:avLst/>
          </a:prstGeom>
        </p:spPr>
        <p:txBody>
          <a:bodyPr lIns="0" tIns="0" rIns="0" bIns="0" anchor="t"/>
          <a:lstStyle/>
          <a:p>
            <a:pPr>
              <a:buNone/>
              <a:defRPr sz="2550" b="1">
                <a:solidFill>
                  <a:srgbClr val="B5F4DE"/>
                </a:solidFill>
                <a:latin typeface="Bahnschrift"/>
                <a:ea typeface="Bahnschrift"/>
                <a:cs typeface="Bahnschrift"/>
              </a:defRPr>
            </a:pPr>
            <a:r>
              <a:rPr dirty="0"/>
              <a:t>Validation</a:t>
            </a:r>
          </a:p>
        </p:txBody>
      </p:sp>
      <p:sp>
        <p:nvSpPr>
          <p:cNvPr id="7" name="Rectangle 6">
            <a:extLst>
              <a:ext uri="{FF2B5EF4-FFF2-40B4-BE49-F238E27FC236}">
                <a16:creationId xmlns:a16="http://schemas.microsoft.com/office/drawing/2014/main" id="{F560B5FB-D93B-45DA-9389-AC996D830A84}"/>
              </a:ext>
            </a:extLst>
          </p:cNvPr>
          <p:cNvSpPr>
            <a:spLocks noGrp="1"/>
          </p:cNvSpPr>
          <p:nvPr/>
        </p:nvSpPr>
        <p:spPr>
          <a:xfrm>
            <a:off x="533400" y="3609975"/>
            <a:ext cx="11125200" cy="457200"/>
          </a:xfrm>
          <a:prstGeom prst="rect">
            <a:avLst/>
          </a:prstGeom>
        </p:spPr>
        <p:txBody>
          <a:bodyPr lIns="0" tIns="0" rIns="0" bIns="0" anchor="t"/>
          <a:lstStyle/>
          <a:p>
            <a:pPr>
              <a:buNone/>
              <a:defRPr sz="2175" b="0">
                <a:solidFill>
                  <a:srgbClr val="FFFFFF"/>
                </a:solidFill>
                <a:latin typeface="Segoe UI"/>
                <a:ea typeface="Segoe UI"/>
                <a:cs typeface="Segoe UI"/>
              </a:defRPr>
            </a:pPr>
            <a:r>
              <a:rPr dirty="0"/>
              <a:t>Compare mapping and methylation with reference results</a:t>
            </a:r>
          </a:p>
        </p:txBody>
      </p:sp>
      <p:sp>
        <p:nvSpPr>
          <p:cNvPr id="8" name="Rectangle 7">
            <a:extLst>
              <a:ext uri="{FF2B5EF4-FFF2-40B4-BE49-F238E27FC236}">
                <a16:creationId xmlns:a16="http://schemas.microsoft.com/office/drawing/2014/main" id="{C2D51B75-D865-42D2-B98D-6916D791E4E7}"/>
              </a:ext>
            </a:extLst>
          </p:cNvPr>
          <p:cNvSpPr>
            <a:spLocks noGrp="1"/>
          </p:cNvSpPr>
          <p:nvPr/>
        </p:nvSpPr>
        <p:spPr>
          <a:xfrm>
            <a:off x="533400" y="4095750"/>
            <a:ext cx="11125200" cy="428625"/>
          </a:xfrm>
          <a:prstGeom prst="rect">
            <a:avLst/>
          </a:prstGeom>
        </p:spPr>
        <p:txBody>
          <a:bodyPr lIns="0" tIns="0" rIns="0" bIns="0" anchor="t"/>
          <a:lstStyle/>
          <a:p>
            <a:pPr>
              <a:buNone/>
              <a:defRPr sz="2550" b="1">
                <a:solidFill>
                  <a:srgbClr val="B5F4DE"/>
                </a:solidFill>
                <a:latin typeface="Bahnschrift"/>
                <a:ea typeface="Bahnschrift"/>
                <a:cs typeface="Bahnschrift"/>
              </a:defRPr>
            </a:pPr>
            <a:r>
              <a:rPr dirty="0"/>
              <a:t>Installation and setup</a:t>
            </a:r>
          </a:p>
        </p:txBody>
      </p:sp>
      <p:sp>
        <p:nvSpPr>
          <p:cNvPr id="9" name="Rectangle 8">
            <a:extLst>
              <a:ext uri="{FF2B5EF4-FFF2-40B4-BE49-F238E27FC236}">
                <a16:creationId xmlns:a16="http://schemas.microsoft.com/office/drawing/2014/main" id="{ECC9B004-0B75-4625-A166-C0E5C023014C}"/>
              </a:ext>
            </a:extLst>
          </p:cNvPr>
          <p:cNvSpPr>
            <a:spLocks noGrp="1"/>
          </p:cNvSpPr>
          <p:nvPr/>
        </p:nvSpPr>
        <p:spPr>
          <a:xfrm>
            <a:off x="533400" y="4591050"/>
            <a:ext cx="11125200" cy="457200"/>
          </a:xfrm>
          <a:prstGeom prst="rect">
            <a:avLst/>
          </a:prstGeom>
        </p:spPr>
        <p:txBody>
          <a:bodyPr lIns="0" tIns="0" rIns="0" bIns="0" anchor="t"/>
          <a:lstStyle/>
          <a:p>
            <a:pPr>
              <a:buNone/>
              <a:defRPr sz="2175" b="0">
                <a:solidFill>
                  <a:srgbClr val="FFFFFF"/>
                </a:solidFill>
                <a:latin typeface="Segoe UI"/>
                <a:ea typeface="Segoe UI"/>
                <a:cs typeface="Segoe UI"/>
              </a:defRPr>
            </a:pPr>
            <a:r>
              <a:rPr dirty="0"/>
              <a:t>Simplify tool, model and reference configuration</a:t>
            </a:r>
          </a:p>
        </p:txBody>
      </p:sp>
      <p:sp>
        <p:nvSpPr>
          <p:cNvPr id="10" name="Rectangle 9">
            <a:extLst>
              <a:ext uri="{FF2B5EF4-FFF2-40B4-BE49-F238E27FC236}">
                <a16:creationId xmlns:a16="http://schemas.microsoft.com/office/drawing/2014/main" id="{91E69A41-2AC3-4AF6-9059-3C831006D1FE}"/>
              </a:ext>
            </a:extLst>
          </p:cNvPr>
          <p:cNvSpPr>
            <a:spLocks noGrp="1"/>
          </p:cNvSpPr>
          <p:nvPr/>
        </p:nvSpPr>
        <p:spPr>
          <a:xfrm>
            <a:off x="533400" y="5076825"/>
            <a:ext cx="11125200" cy="428625"/>
          </a:xfrm>
          <a:prstGeom prst="rect">
            <a:avLst/>
          </a:prstGeom>
        </p:spPr>
        <p:txBody>
          <a:bodyPr lIns="0" tIns="0" rIns="0" bIns="0" anchor="t"/>
          <a:lstStyle/>
          <a:p>
            <a:pPr>
              <a:buNone/>
              <a:defRPr sz="2550" b="1">
                <a:solidFill>
                  <a:srgbClr val="B5F4DE"/>
                </a:solidFill>
                <a:latin typeface="Bahnschrift"/>
                <a:ea typeface="Bahnschrift"/>
                <a:cs typeface="Bahnschrift"/>
              </a:defRPr>
            </a:pPr>
            <a:r>
              <a:rPr lang="en-US" sz="2550" b="1" dirty="0"/>
              <a:t>Statistical analysis</a:t>
            </a:r>
            <a:br>
              <a:rPr lang="en-US" sz="2550" b="1" dirty="0"/>
            </a:br>
            <a:endParaRPr dirty="0"/>
          </a:p>
        </p:txBody>
      </p:sp>
      <p:sp>
        <p:nvSpPr>
          <p:cNvPr id="11" name="Rectangle 10">
            <a:extLst>
              <a:ext uri="{FF2B5EF4-FFF2-40B4-BE49-F238E27FC236}">
                <a16:creationId xmlns:a16="http://schemas.microsoft.com/office/drawing/2014/main" id="{1692EBBF-7C78-4D8B-A362-4001FB11E2FC}"/>
              </a:ext>
            </a:extLst>
          </p:cNvPr>
          <p:cNvSpPr>
            <a:spLocks noGrp="1"/>
          </p:cNvSpPr>
          <p:nvPr/>
        </p:nvSpPr>
        <p:spPr>
          <a:xfrm>
            <a:off x="533400" y="5572125"/>
            <a:ext cx="11125200" cy="457200"/>
          </a:xfrm>
          <a:prstGeom prst="rect">
            <a:avLst/>
          </a:prstGeom>
        </p:spPr>
        <p:txBody>
          <a:bodyPr lIns="0" tIns="0" rIns="0" bIns="0" anchor="t"/>
          <a:lstStyle/>
          <a:p>
            <a:r>
              <a:rPr lang="en-US" sz="2175" dirty="0">
                <a:solidFill>
                  <a:srgbClr val="FFFFFF"/>
                </a:solidFill>
                <a:latin typeface="Segoe UI"/>
                <a:cs typeface="Segoe UI"/>
              </a:rPr>
              <a:t>Compare median telomere length with and without TVRs, or with and without allowing mismatches.</a:t>
            </a:r>
          </a:p>
        </p:txBody>
      </p:sp>
      <p:sp>
        <p:nvSpPr>
          <p:cNvPr id="12" name="Rectangle 11">
            <a:extLst>
              <a:ext uri="{FF2B5EF4-FFF2-40B4-BE49-F238E27FC236}">
                <a16:creationId xmlns:a16="http://schemas.microsoft.com/office/drawing/2014/main" id="{59E93229-F2A1-4C68-9FFA-8177C3782F7D}"/>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t>20</a:t>
            </a:r>
          </a:p>
        </p:txBody>
      </p:sp>
    </p:spTree>
    <p:extLst>
      <p:ext uri="{BB962C8B-B14F-4D97-AF65-F5344CB8AC3E}">
        <p14:creationId xmlns:p14="http://schemas.microsoft.com/office/powerpoint/2010/main" val="780040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82A"/>
        </a:solidFill>
        <a:effectLst/>
      </p:bgPr>
    </p:bg>
    <p:spTree>
      <p:nvGrpSpPr>
        <p:cNvPr id="1" name=""/>
        <p:cNvGrpSpPr/>
        <p:nvPr/>
      </p:nvGrpSpPr>
      <p:grpSpPr>
        <a:xfrm>
          <a:off x="0" y="0"/>
          <a:ext cx="0" cy="0"/>
          <a:chOff x="0" y="0"/>
          <a:chExt cx="0" cy="0"/>
        </a:xfrm>
      </p:grpSpPr>
      <p:sp>
        <p:nvSpPr>
          <p:cNvPr id="7" name="text-119">
            <a:extLst>
              <a:ext uri="{FF2B5EF4-FFF2-40B4-BE49-F238E27FC236}">
                <a16:creationId xmlns:a16="http://schemas.microsoft.com/office/drawing/2014/main" id="{7E2FDAF2-3CE2-4C9C-8A03-780C7B752224}"/>
              </a:ext>
            </a:extLst>
          </p:cNvPr>
          <p:cNvSpPr>
            <a:spLocks noGrp="1"/>
          </p:cNvSpPr>
          <p:nvPr/>
        </p:nvSpPr>
        <p:spPr>
          <a:xfrm>
            <a:off x="533400" y="285750"/>
            <a:ext cx="10477500" cy="304800"/>
          </a:xfrm>
          <a:prstGeom prst="rect">
            <a:avLst/>
          </a:prstGeom>
        </p:spPr>
        <p:txBody>
          <a:bodyPr lIns="0" tIns="0" rIns="0" bIns="0" anchor="t"/>
          <a:lstStyle/>
          <a:p>
            <a:pPr>
              <a:buNone/>
              <a:defRPr sz="1650" b="1">
                <a:solidFill>
                  <a:srgbClr val="B5F4DE"/>
                </a:solidFill>
                <a:latin typeface="Segoe UI"/>
                <a:ea typeface="Segoe UI"/>
                <a:cs typeface="Segoe UI"/>
              </a:defRPr>
            </a:pPr>
            <a:r>
              <a:t>LIVE DEMO</a:t>
            </a:r>
          </a:p>
        </p:txBody>
      </p:sp>
      <p:sp>
        <p:nvSpPr>
          <p:cNvPr id="2" name="text-120">
            <a:extLst>
              <a:ext uri="{FF2B5EF4-FFF2-40B4-BE49-F238E27FC236}">
                <a16:creationId xmlns:a16="http://schemas.microsoft.com/office/drawing/2014/main" id="{5C26D8A1-1756-49C0-AEC3-980AAB588419}"/>
              </a:ext>
            </a:extLst>
          </p:cNvPr>
          <p:cNvSpPr>
            <a:spLocks noGrp="1"/>
          </p:cNvSpPr>
          <p:nvPr/>
        </p:nvSpPr>
        <p:spPr>
          <a:xfrm>
            <a:off x="533400" y="6438900"/>
            <a:ext cx="9525000" cy="247650"/>
          </a:xfrm>
          <a:prstGeom prst="rect">
            <a:avLst/>
          </a:prstGeom>
        </p:spPr>
        <p:txBody>
          <a:bodyPr lIns="0" tIns="0" rIns="0" bIns="0" anchor="t"/>
          <a:lstStyle/>
          <a:p>
            <a:pPr>
              <a:buNone/>
              <a:defRPr sz="1350" b="0">
                <a:solidFill>
                  <a:srgbClr val="A9B9CF"/>
                </a:solidFill>
                <a:latin typeface="Segoe UI"/>
                <a:ea typeface="Segoe UI"/>
                <a:cs typeface="Segoe UI"/>
              </a:defRPr>
            </a:pPr>
            <a:r>
              <a:t>TELOMERE ANALYZER</a:t>
            </a:r>
          </a:p>
        </p:txBody>
      </p:sp>
      <p:sp>
        <p:nvSpPr>
          <p:cNvPr id="3" name="text-121">
            <a:extLst>
              <a:ext uri="{FF2B5EF4-FFF2-40B4-BE49-F238E27FC236}">
                <a16:creationId xmlns:a16="http://schemas.microsoft.com/office/drawing/2014/main" id="{E169E8D5-A549-423F-A3C9-D3EA2BACBA33}"/>
              </a:ext>
            </a:extLst>
          </p:cNvPr>
          <p:cNvSpPr>
            <a:spLocks noGrp="1"/>
          </p:cNvSpPr>
          <p:nvPr/>
        </p:nvSpPr>
        <p:spPr>
          <a:xfrm>
            <a:off x="11239500" y="6438900"/>
            <a:ext cx="571500" cy="247650"/>
          </a:xfrm>
          <a:prstGeom prst="rect">
            <a:avLst/>
          </a:prstGeom>
        </p:spPr>
        <p:txBody>
          <a:bodyPr lIns="0" tIns="0" rIns="0" bIns="0" anchor="t"/>
          <a:lstStyle/>
          <a:p>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21</a:t>
            </a:r>
          </a:p>
        </p:txBody>
      </p:sp>
      <p:sp>
        <p:nvSpPr>
          <p:cNvPr id="4" name="text-122">
            <a:extLst>
              <a:ext uri="{FF2B5EF4-FFF2-40B4-BE49-F238E27FC236}">
                <a16:creationId xmlns:a16="http://schemas.microsoft.com/office/drawing/2014/main" id="{1DE63249-A9D9-4EE6-861D-BAE604015022}"/>
              </a:ext>
            </a:extLst>
          </p:cNvPr>
          <p:cNvSpPr>
            <a:spLocks noGrp="1"/>
          </p:cNvSpPr>
          <p:nvPr/>
        </p:nvSpPr>
        <p:spPr>
          <a:xfrm>
            <a:off x="533400" y="2124075"/>
            <a:ext cx="11125200" cy="1533525"/>
          </a:xfrm>
          <a:prstGeom prst="rect">
            <a:avLst/>
          </a:prstGeom>
        </p:spPr>
        <p:txBody>
          <a:bodyPr lIns="0" tIns="0" rIns="0" bIns="0" anchor="t"/>
          <a:lstStyle/>
          <a:p>
            <a:pPr>
              <a:buNone/>
              <a:defRPr sz="6600" b="1">
                <a:solidFill>
                  <a:srgbClr val="B5F4DE"/>
                </a:solidFill>
                <a:latin typeface="Segoe UI"/>
                <a:ea typeface="Segoe UI"/>
                <a:cs typeface="Segoe UI"/>
              </a:defRPr>
            </a:pPr>
            <a:r>
              <a:rPr sz="6600" b="1">
                <a:solidFill>
                  <a:srgbClr val="B5F4DE"/>
                </a:solidFill>
                <a:latin typeface="Segoe UI"/>
                <a:ea typeface="Segoe UI"/>
                <a:cs typeface="Segoe UI"/>
              </a:rPr>
              <a:t>Live demonstration</a:t>
            </a:r>
          </a:p>
        </p:txBody>
      </p:sp>
      <p:sp>
        <p:nvSpPr>
          <p:cNvPr id="5" name="text-123">
            <a:extLst>
              <a:ext uri="{FF2B5EF4-FFF2-40B4-BE49-F238E27FC236}">
                <a16:creationId xmlns:a16="http://schemas.microsoft.com/office/drawing/2014/main" id="{DC075878-00E4-43D2-A875-6FD1158C47E0}"/>
              </a:ext>
            </a:extLst>
          </p:cNvPr>
          <p:cNvSpPr>
            <a:spLocks noGrp="1"/>
          </p:cNvSpPr>
          <p:nvPr/>
        </p:nvSpPr>
        <p:spPr>
          <a:xfrm>
            <a:off x="533400" y="4133850"/>
            <a:ext cx="10477500" cy="1285875"/>
          </a:xfrm>
          <a:prstGeom prst="rect">
            <a:avLst/>
          </a:prstGeom>
        </p:spPr>
        <p:txBody>
          <a:bodyPr lIns="0" tIns="0" rIns="0" bIns="0" anchor="t"/>
          <a:lstStyle/>
          <a:p>
            <a:pPr>
              <a:buNone/>
              <a:defRPr sz="2925" b="0">
                <a:solidFill>
                  <a:srgbClr val="FFFFFF"/>
                </a:solidFill>
                <a:latin typeface="Segoe UI"/>
                <a:ea typeface="Segoe UI"/>
                <a:cs typeface="Segoe UI"/>
              </a:defRPr>
            </a:pPr>
            <a:r>
              <a:rPr sz="2925" b="0">
                <a:solidFill>
                  <a:srgbClr val="FFFFFF"/>
                </a:solidFill>
                <a:latin typeface="Segoe UI"/>
                <a:ea typeface="Segoe UI"/>
                <a:cs typeface="Segoe UI"/>
              </a:rPr>
              <a:t>FASTQ input, NanoTel analysis and output review</a:t>
            </a:r>
          </a:p>
        </p:txBody>
      </p:sp>
      <p:sp>
        <p:nvSpPr>
          <p:cNvPr id="6" name="text-124">
            <a:extLst>
              <a:ext uri="{FF2B5EF4-FFF2-40B4-BE49-F238E27FC236}">
                <a16:creationId xmlns:a16="http://schemas.microsoft.com/office/drawing/2014/main" id="{90D90E7F-323F-4FA7-A629-76789DCCF8C3}"/>
              </a:ext>
            </a:extLst>
          </p:cNvPr>
          <p:cNvSpPr>
            <a:spLocks noGrp="1"/>
          </p:cNvSpPr>
          <p:nvPr/>
        </p:nvSpPr>
        <p:spPr>
          <a:xfrm>
            <a:off x="533400" y="5695950"/>
            <a:ext cx="10477500" cy="428625"/>
          </a:xfrm>
          <a:prstGeom prst="rect">
            <a:avLst/>
          </a:prstGeom>
        </p:spPr>
        <p:txBody>
          <a:bodyPr lIns="0" tIns="0" rIns="0" bIns="0" anchor="t"/>
          <a:lstStyle/>
          <a:p>
            <a:pPr>
              <a:buNone/>
              <a:defRPr sz="2025" b="0">
                <a:solidFill>
                  <a:srgbClr val="A9B9CF"/>
                </a:solidFill>
                <a:latin typeface="Segoe UI"/>
                <a:ea typeface="Segoe UI"/>
                <a:cs typeface="Segoe UI"/>
              </a:defRPr>
            </a:pPr>
            <a:r>
              <a:t>Telomere Analyzer • live demonstration</a:t>
            </a:r>
          </a:p>
        </p:txBody>
      </p:sp>
    </p:spTree>
    <p:extLst>
      <p:ext uri="{BB962C8B-B14F-4D97-AF65-F5344CB8AC3E}">
        <p14:creationId xmlns:p14="http://schemas.microsoft.com/office/powerpoint/2010/main" val="16406155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2785</Words>
  <Application>Microsoft Office PowerPoint</Application>
  <DocSecurity>0</DocSecurity>
  <PresentationFormat>Widescreen</PresentationFormat>
  <Paragraphs>317</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Bahnschrift</vt:lpstr>
      <vt:lpstr>Calibri</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ענבר חבושה</cp:lastModifiedBy>
  <cp:revision>1</cp:revision>
  <dcterms:created xsi:type="dcterms:W3CDTF">2026-09-22T12:38:57Z</dcterms:created>
  <dcterms:modified xsi:type="dcterms:W3CDTF">2026-09-22T12:50:29Z</dcterms:modified>
</cp:coreProperties>
</file>