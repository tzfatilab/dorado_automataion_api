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c3e704232c402e" /><Relationship Type="http://schemas.openxmlformats.org/officeDocument/2006/relationships/extended-properties" Target="/docProps/app.xml" Id="R4bbd7c9bd88e4a31" /><Relationship Type="http://schemas.openxmlformats.org/officeDocument/2006/relationships/officeDocument" Target="/ppt/presentation.xml" Id="R41ff92c382914bfc" /></Relationships>
</file>

<file path=ppt/presentation.xml><?xml version="1.0" encoding="utf-8"?>
<p:presentation xmlns:p="http://schemas.openxmlformats.org/presentationml/2006/main">
  <p:sldMasterIdLst>
    <p:sldMasterId xmlns:r="http://schemas.openxmlformats.org/officeDocument/2006/relationships" id="2147483648" r:id="Rfb9bf7003278435f"/>
  </p:sldMasterIdLst>
  <p:notesMasterIdLst>
    <p:notesMasterId xmlns:r="http://schemas.openxmlformats.org/officeDocument/2006/relationships" r:id="Rdd6becc910ef4d97"/>
  </p:notesMasterIdLst>
  <p:sldIdLst>
    <p:sldId xmlns:r="http://schemas.openxmlformats.org/officeDocument/2006/relationships" id="256" r:id="R0c02b499aa834ac0"/>
    <p:sldId xmlns:r="http://schemas.openxmlformats.org/officeDocument/2006/relationships" id="257" r:id="R929e0755681142d7"/>
    <p:sldId xmlns:r="http://schemas.openxmlformats.org/officeDocument/2006/relationships" id="258" r:id="R391e2d4b5f6546f6"/>
    <p:sldId xmlns:r="http://schemas.openxmlformats.org/officeDocument/2006/relationships" id="259" r:id="R2c56072bd4be49fb"/>
    <p:sldId xmlns:r="http://schemas.openxmlformats.org/officeDocument/2006/relationships" id="260" r:id="R04481829b41442da"/>
    <p:sldId xmlns:r="http://schemas.openxmlformats.org/officeDocument/2006/relationships" id="261" r:id="Ra44e07f3a3364ca6"/>
    <p:sldId xmlns:r="http://schemas.openxmlformats.org/officeDocument/2006/relationships" id="262" r:id="Rc888b187be864f79"/>
    <p:sldId xmlns:r="http://schemas.openxmlformats.org/officeDocument/2006/relationships" id="263" r:id="R00aee81819a54892"/>
    <p:sldId xmlns:r="http://schemas.openxmlformats.org/officeDocument/2006/relationships" id="264" r:id="R5f9ca8e00b4f42ed"/>
    <p:sldId xmlns:r="http://schemas.openxmlformats.org/officeDocument/2006/relationships" id="265" r:id="Rdda49ef2eb9c44ad"/>
    <p:sldId xmlns:r="http://schemas.openxmlformats.org/officeDocument/2006/relationships" id="266" r:id="Rff5a3488fe354f62"/>
    <p:sldId xmlns:r="http://schemas.openxmlformats.org/officeDocument/2006/relationships" id="267" r:id="Rf9dfe8d35a744190"/>
    <p:sldId xmlns:r="http://schemas.openxmlformats.org/officeDocument/2006/relationships" id="268" r:id="Ra6a929b425584583"/>
    <p:sldId xmlns:r="http://schemas.openxmlformats.org/officeDocument/2006/relationships" id="269" r:id="Rb1770f9fcf604d69"/>
    <p:sldId xmlns:r="http://schemas.openxmlformats.org/officeDocument/2006/relationships" id="270" r:id="R37792477e25e4390"/>
    <p:sldId xmlns:r="http://schemas.openxmlformats.org/officeDocument/2006/relationships" id="271" r:id="R42211c7095524a3b"/>
    <p:sldId xmlns:r="http://schemas.openxmlformats.org/officeDocument/2006/relationships" id="272" r:id="Rddabd240b8574c2e"/>
    <p:sldId xmlns:r="http://schemas.openxmlformats.org/officeDocument/2006/relationships" id="273" r:id="Ra459285ff35c4d51"/>
    <p:sldId xmlns:r="http://schemas.openxmlformats.org/officeDocument/2006/relationships" id="274" r:id="Rd9c433e85c0d415e"/>
    <p:sldId xmlns:r="http://schemas.openxmlformats.org/officeDocument/2006/relationships" id="275" r:id="R81f62ce13c504565"/>
    <p:sldId xmlns:r="http://schemas.openxmlformats.org/officeDocument/2006/relationships" id="276" r:id="R19febb573bad451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638b0a518741a9" /><Relationship Type="http://schemas.openxmlformats.org/officeDocument/2006/relationships/slideMaster" Target="/ppt/slideMasters/slideMaster1.xml" Id="Rfb9bf7003278435f" /><Relationship Type="http://schemas.openxmlformats.org/officeDocument/2006/relationships/notesMaster" Target="/ppt/notesMasters/notesMaster1.xml" Id="Rdd6becc910ef4d97" /><Relationship Type="http://schemas.openxmlformats.org/officeDocument/2006/relationships/presProps" Target="/ppt/presProps.xml" Id="Rc7c4cce64dfa4de3" /><Relationship Type="http://schemas.openxmlformats.org/officeDocument/2006/relationships/tableStyles" Target="/ppt/tableStyles.xml" Id="R50e42757e11f4583" /><Relationship Type="http://schemas.openxmlformats.org/officeDocument/2006/relationships/slide" Target="/ppt/slides/slide1.xml" Id="R0c02b499aa834ac0" /><Relationship Type="http://schemas.openxmlformats.org/officeDocument/2006/relationships/slide" Target="/ppt/slides/slide2.xml" Id="R929e0755681142d7" /><Relationship Type="http://schemas.openxmlformats.org/officeDocument/2006/relationships/slide" Target="/ppt/slides/slide3.xml" Id="R391e2d4b5f6546f6" /><Relationship Type="http://schemas.openxmlformats.org/officeDocument/2006/relationships/slide" Target="/ppt/slides/slide4.xml" Id="R2c56072bd4be49fb" /><Relationship Type="http://schemas.openxmlformats.org/officeDocument/2006/relationships/slide" Target="/ppt/slides/slide5.xml" Id="R04481829b41442da" /><Relationship Type="http://schemas.openxmlformats.org/officeDocument/2006/relationships/slide" Target="/ppt/slides/slide6.xml" Id="Ra44e07f3a3364ca6" /><Relationship Type="http://schemas.openxmlformats.org/officeDocument/2006/relationships/slide" Target="/ppt/slides/slide7.xml" Id="Rc888b187be864f79" /><Relationship Type="http://schemas.openxmlformats.org/officeDocument/2006/relationships/slide" Target="/ppt/slides/slide8.xml" Id="R00aee81819a54892" /><Relationship Type="http://schemas.openxmlformats.org/officeDocument/2006/relationships/slide" Target="/ppt/slides/slide9.xml" Id="R5f9ca8e00b4f42ed" /><Relationship Type="http://schemas.openxmlformats.org/officeDocument/2006/relationships/slide" Target="/ppt/slides/slide10.xml" Id="Rdda49ef2eb9c44ad" /><Relationship Type="http://schemas.openxmlformats.org/officeDocument/2006/relationships/slide" Target="/ppt/slides/slide11.xml" Id="Rff5a3488fe354f62" /><Relationship Type="http://schemas.openxmlformats.org/officeDocument/2006/relationships/slide" Target="/ppt/slides/slide12.xml" Id="Rf9dfe8d35a744190" /><Relationship Type="http://schemas.openxmlformats.org/officeDocument/2006/relationships/slide" Target="/ppt/slides/slide13.xml" Id="Ra6a929b425584583" /><Relationship Type="http://schemas.openxmlformats.org/officeDocument/2006/relationships/slide" Target="/ppt/slides/slide14.xml" Id="Rb1770f9fcf604d69" /><Relationship Type="http://schemas.openxmlformats.org/officeDocument/2006/relationships/slide" Target="/ppt/slides/slide15.xml" Id="R37792477e25e4390" /><Relationship Type="http://schemas.openxmlformats.org/officeDocument/2006/relationships/slide" Target="/ppt/slides/slide16.xml" Id="R42211c7095524a3b" /><Relationship Type="http://schemas.openxmlformats.org/officeDocument/2006/relationships/slide" Target="/ppt/slides/slide17.xml" Id="Rddabd240b8574c2e" /><Relationship Type="http://schemas.openxmlformats.org/officeDocument/2006/relationships/slide" Target="/ppt/slides/slide18.xml" Id="Ra459285ff35c4d51" /><Relationship Type="http://schemas.openxmlformats.org/officeDocument/2006/relationships/slide" Target="/ppt/slides/slide19.xml" Id="Rd9c433e85c0d415e" /><Relationship Type="http://schemas.openxmlformats.org/officeDocument/2006/relationships/slide" Target="/ppt/slides/slide20.xml" Id="R81f62ce13c504565" /><Relationship Type="http://schemas.openxmlformats.org/officeDocument/2006/relationships/slide" Target="/ppt/slides/slide21.xml" Id="R19febb573bad45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f636a87e6645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f9a6fce3534304" /><Relationship Type="http://schemas.openxmlformats.org/officeDocument/2006/relationships/notesMaster" Target="/ppt/notesMasters/notesMaster1.xml" Id="Ra5b1a63ca8e945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6df4c31c4c4f28" /><Relationship Type="http://schemas.openxmlformats.org/officeDocument/2006/relationships/notesMaster" Target="/ppt/notesMasters/notesMaster1.xml" Id="R91f33ef13af64c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759918bfc04f80" /><Relationship Type="http://schemas.openxmlformats.org/officeDocument/2006/relationships/notesMaster" Target="/ppt/notesMasters/notesMaster1.xml" Id="R14c823bee52e46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608703cc554511" /><Relationship Type="http://schemas.openxmlformats.org/officeDocument/2006/relationships/notesMaster" Target="/ppt/notesMasters/notesMaster1.xml" Id="R760053cdfa2c4b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58e5b687874a21" /><Relationship Type="http://schemas.openxmlformats.org/officeDocument/2006/relationships/notesMaster" Target="/ppt/notesMasters/notesMaster1.xml" Id="R8a3d3aaf9db64b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20449fc5df4465" /><Relationship Type="http://schemas.openxmlformats.org/officeDocument/2006/relationships/notesMaster" Target="/ppt/notesMasters/notesMaster1.xml" Id="R77142875420247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d592cae390493b" /><Relationship Type="http://schemas.openxmlformats.org/officeDocument/2006/relationships/notesMaster" Target="/ppt/notesMasters/notesMaster1.xml" Id="Rcb60e45176be43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dfe5091af74e9a" /><Relationship Type="http://schemas.openxmlformats.org/officeDocument/2006/relationships/notesMaster" Target="/ppt/notesMasters/notesMaster1.xml" Id="Rf0595f8a39044f2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9cd56a5e9248ee" /><Relationship Type="http://schemas.openxmlformats.org/officeDocument/2006/relationships/notesMaster" Target="/ppt/notesMasters/notesMaster1.xml" Id="Rbe44f201b0e348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e9c95976f54d24" /><Relationship Type="http://schemas.openxmlformats.org/officeDocument/2006/relationships/notesMaster" Target="/ppt/notesMasters/notesMaster1.xml" Id="R3c49454ba1b441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80fa0ea410440d" /><Relationship Type="http://schemas.openxmlformats.org/officeDocument/2006/relationships/notesMaster" Target="/ppt/notesMasters/notesMaster1.xml" Id="Rc782b67d107548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a4f07377194ba8" /><Relationship Type="http://schemas.openxmlformats.org/officeDocument/2006/relationships/notesMaster" Target="/ppt/notesMasters/notesMaster1.xml" Id="Rd4dbbb74d06f4e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eddf8d2aa94b99" /><Relationship Type="http://schemas.openxmlformats.org/officeDocument/2006/relationships/notesMaster" Target="/ppt/notesMasters/notesMaster1.xml" Id="R12fe19727e0e40f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b5cf9785b24e7e" /><Relationship Type="http://schemas.openxmlformats.org/officeDocument/2006/relationships/notesMaster" Target="/ppt/notesMasters/notesMaster1.xml" Id="R868c246ff41a4a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d5e7e6448a4928" /><Relationship Type="http://schemas.openxmlformats.org/officeDocument/2006/relationships/notesMaster" Target="/ppt/notesMasters/notesMaster1.xml" Id="R4189cbd34c284e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ef862fef2543e8" /><Relationship Type="http://schemas.openxmlformats.org/officeDocument/2006/relationships/notesMaster" Target="/ppt/notesMasters/notesMaster1.xml" Id="Rcb5f1fc56c9c4f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8df429d9034e50" /><Relationship Type="http://schemas.openxmlformats.org/officeDocument/2006/relationships/notesMaster" Target="/ppt/notesMasters/notesMaster1.xml" Id="R07100c9af8014b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73ddb1821f4d67" /><Relationship Type="http://schemas.openxmlformats.org/officeDocument/2006/relationships/notesMaster" Target="/ppt/notesMasters/notesMaster1.xml" Id="Rdf406d9bef004a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745a988ade24c03" /><Relationship Type="http://schemas.openxmlformats.org/officeDocument/2006/relationships/notesMaster" Target="/ppt/notesMasters/notesMaster1.xml" Id="Rd78c0cfa0b5249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45490da0b91400a" /><Relationship Type="http://schemas.openxmlformats.org/officeDocument/2006/relationships/notesMaster" Target="/ppt/notesMasters/notesMaster1.xml" Id="Rb405c0964ec14ba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0a13926df3d498b" /><Relationship Type="http://schemas.openxmlformats.org/officeDocument/2006/relationships/notesMaster" Target="/ppt/notesMasters/notesMaster1.xml" Id="Ra2be1814f01248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to the joke in the previous lab presentation. The message is an illustrative reconstruction, not a verbatim quotation or screenshot of a real conversation. Say: Last time, I joked about a biologist sending a message asking for help with the analysis. Pause before revealing the reply on the next slide. Suggested pacing: roughly 1 minute across slides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callback requested for this lab meeting: the reply to a biologist asking for help is Do it yourself! Explain that the GUI is intended to let lab members run the workflow independently. Keep this brief, then move to the interface and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self-service use of the established analysis workflow after the software and required resources have been set up. This is the design goal, not a measured usability claim. Explain: I wanted biologists to choose their data, configure the analysis and obtain outputs themselves, without waiting for someone else to execute each run. Approx. 1–2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fresh capture of the current GUI with Basecalling and NanoTel selected. No analysis was executed for the screenshot. Orient the audience: input at the top, output and organism below it, analysis steps in the middle, advanced options at the bottom, Run and Cancel at the end. Source: current AppWindow and section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and pipeline_runner.py. Show the three entry points and the folder chooser. POD5 starts from raw signal; BAM skips basecalling and is converted for downstream analysis; FASTQ starts from sequence reads. Barcode organization may still require demultiplexing. Users select the input directory through the folder 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output_section.py and config_section.py. Output Path selects the base output location. The organism menu offers Mouse, Human and Zebra Fish. These select configuration presets; references and external resources must already be configured. Do not imply that all species have equal validation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workflow_section.py. The two main stages are Basecalling and NanoTel Analysis. Both can be selected for a raw-signal-to-telomere workflow. BAM and FASTQ can enter the NanoTel path without basecalling. Advanced options are enabled for selected steps. This selection is independent of input controls; input compatibility is checked before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The modified-base choices are None, 5mCpG and 5mCpG + 5hmCpG. They are mutually exclusive. Choosing either modified-base mode automatically selects chromosome mapping and prevents unchecking it while the mode remains selected. Returning to None leaves mapping selected but allows it to be unchecked. Show the dependency as a helpful GUI behavior; do not claim fresh biological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TVR means telomere variant repeats. Preset uses organism-specific patterns, TSQ1 uses the TSQ1 pattern, and Manual accepts custom DNA patterns. These modes are independent and can be combined. None selected means no TVR patterns. TSQ1 initially enables one mismatch, which the user can clear unless Preset controls exact matching. The screenshot shows TSQ1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_prompt_manual_tvr_patterns and _sync_tvr_mismatch_state in advanced_section.py. The dialog is captured directly from the real app, with no submitted values. Manual accepts A/C/G/T and separators and normalizes to uppercase. Allow 1 mismatch affects telomere and TVR pattern matching. Selecting Preset forces exact matching and disables the checkbox.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workflow_section.py and saved configuration. Explain each control in user terms. Minimum read length is an input/filter threshold; edge distance and maximum telomere start govern proximity to read ends and start position. Minimum density is a repeat-density threshold. Short Telomere Cutoff controls the percentage reported below the selected length. The values shown are captured settings, not recommendations for every dataset. Trimming status can change effective values downstream.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Summary only skips individual-read FASTA and plot files and keeps summary output in one Excel workbook. Turning it off retains detailed outputs. Run mapping requests mapping of NanoTel reads. This is separate from the chromosome mapping checkbox within the basecalling card. The screenshot shows both Summary only and Run mapping selected as configuration examples, not an executed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advanced_section.py and AppWindow._prompt_non_pod5_trim_status. Question-mark help buttons explain inputs and analysis steps. Tooltips clarify specific controls. For FASTQ/BAM with NanoTel, the app asks whether reads were trimmed for barcode removal. The screenshot is a real dialog opened and cancelled for capture. The user should answer based on known preprocessing rather than guess.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action_section.py, AppWindow and worker_thread.py. Run Workflow checks setup and starts execution. Execution Log displays messages and progress. Cancel requests stopping; do not promise immediate termination of every subprocess. Present the user-facing controls only. This sets up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test/Telomere Analyzer_20260914_132210/results/nanotel/nanotel_summary_statistics.csv, saved 14 September 2026. The displayed table reproduces actual values, with shorter presentation-friendly headers. Original columns: barcode, amount_of_telomeres, median_telomere_length, below_2kb_pct, mean_density. Additional columns in the CSV are med_read_len and mean_telo_start. Barcode02: 12 retained telomeres, median 4896.5 bp, 16.7% below 2 kb, mean density 0.957. Barcode19: 1 retained telomere, median 12573 bp, 0% below 2 kb, mean density 0.935. Mapping and methylation were disabled. This is an output example, not a comparison of biological conditions. No new analysis was run while preparing these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image: test/Telomere Analyzer_20260914_132210/results/nanotel/barcode02/single_read_plots_adj/read908.jpeg. Cross-check: filtered_summaryBARCODE02.csv, Serial 908. Read length 35551 bp; telomere start 96, end 6421, length 6326 bp; density 0.933291179260196 (rounded to 0.933). The same read is present in the filtered output. The plot is unchanged from the saved run. Red denotes the telomere interval, blue the subtelomere annotation, and the filled trace is repeat density along the read. Show how a summary can be traced back to an individual read, plot and sequence. Example files: read908.jpeg and reads/read908.fasta.gz.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full run test/Telomere Analyzer_20260914_132210/results; workbook inspected at test/Telomere Analyzer_20260914_113518/results/nanotel_summary.xlsx; r_analyzer.py workbook creation. The workbook is a separate run with different settings and values, so its contents are described structurally, not equated numerically with the preceding CSV example. Actual workbook tabs: nanotel_summary, barcode02, barcode19, filtered_barcode02, filtered_barcode19. Summary-only skips per-read plots and FASTA files; full mode retains CSV and detailed read outputs. Reports include complete_pipeline_report.txt and r_pipeline_config.json. When basecalling is selected, upstream BAM/FASTQ outputs also exist. These three slides show NanoTel outputs only; mapping and methylation were not run in the numerical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current PathManager path getters and directory_structure in default_config.json. Paths are relative to the run folder. processing holds intermediate data, while results holds analysis outputs, reports and logs. Folders are created as needed, so a run may not include every folder. Mapping and methylation are optional. BAM conversion may produce FASTQ from pre-existing BAM rather than new basecalling. Logs are under results/logs, not the run root.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existing full run test/Telomere Analyzer_20260914_132210/results/nanotel and NanoTel.R. Per-barcode directories contain raw and filtered summary CSVs, read IDs, and detailed plot/sequence folders. The plot subfolders hold original and adjusted plot versions, respectively. Full output is not identical to summary-only output. In summary-only mode, r_analyzer.py writes results/nanotel_summary.xlsx then removes the temporary NanoTel tree after a successful save. The current code names the summary worksheet NanoTel Statistics; the older saved workbook used nanotel_summary. Do not confuse worksheet name with output 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priorities for discussion with the lab, not completed or committed milestones. Grounded in packaging/README.md, BIOCONDA_BUILD_REHEARSAL.md and current validation gaps. 1. Broader representative inputs and barcodes, performance and output checks. 2. Validate mapping and methylation against agreed reference results, including modified-base-tagged BAM fixtures. 3. Simplify external resource selection and setup, and complete packaging tests. 4. Observe lab members using the GUI and improve help and workflows from their feedback. The main presentation still ends with the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 allow 6–8 minutes within a 20–25 minute talk. Suggested sequence: 1. Switch to the real GUI. 2. Choose FASTQ and select C:/Users/inbar/OneDrive/Desktop/Dudi/test/fastq. 3. Choose a fresh demo output directory; do not overwrite the saved demonstration run. 4. Choose the organism appropriate to the known dataset; confirm this before the meeting. 5. Select NanoTel only, show TVR and thresholds, and keep mapping off for the basic example. 6. Choose summary-only if a compact workbook is the desired endpoint. 7. Run and answer the trimming question from the dataset provenance. 8. Show the execution log and open the generated output. Rehearse this exact workflow beforehand with the configured external tools and paths; a fresh analysis was not executed during slide preparation. The existing saved outputs under test/Telomere Analyzer_20260914_132210 can serve as an explicitly labelled previous-run fallback. End by inviting a colleague to try the workflow themselves. Sources and evidence for all slides: current dorado_gui section modules and AppWindow; GUI screenshots captured without executing an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059fd1bfec4d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2f816862b54e57" /><Relationship Type="http://schemas.openxmlformats.org/officeDocument/2006/relationships/slideLayout" Target="/ppt/slideLayouts/slideLayout1.xml" Id="Re4afa4528ed940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afa4528ed940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53781727e24a27" /><Relationship Type="http://schemas.openxmlformats.org/officeDocument/2006/relationships/notesSlide" Target="/ppt/notesSlides/notesSlide1.xml" Id="R65927d50645a48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b5e09f19744ecf" /><Relationship Type="http://schemas.openxmlformats.org/officeDocument/2006/relationships/notesSlide" Target="/ppt/notesSlides/notesSlide2.xml" Id="R6912d583994f42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afd6f73e994e70" /><Relationship Type="http://schemas.openxmlformats.org/officeDocument/2006/relationships/notesSlide" Target="/ppt/notesSlides/notesSlide3.xml" Id="R4957e61fafd943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8dd60429ee4fb7" /><Relationship Type="http://schemas.openxmlformats.org/officeDocument/2006/relationships/image" Target="/ppt/media/image.png" Id="Rfd00fcb301594d6c" /><Relationship Type="http://schemas.openxmlformats.org/officeDocument/2006/relationships/notesSlide" Target="/ppt/notesSlides/notesSlide4.xml" Id="R87a18a82364b42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450fbdcfe14a48" /><Relationship Type="http://schemas.openxmlformats.org/officeDocument/2006/relationships/image" Target="/ppt/media/image2.png" Id="R0c34f15a1f294f61" /><Relationship Type="http://schemas.openxmlformats.org/officeDocument/2006/relationships/notesSlide" Target="/ppt/notesSlides/notesSlide5.xml" Id="R5787c26c70f947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21bc674dc4476d" /><Relationship Type="http://schemas.openxmlformats.org/officeDocument/2006/relationships/image" Target="/ppt/media/image3.png" Id="R98d3951543af4f2c" /><Relationship Type="http://schemas.openxmlformats.org/officeDocument/2006/relationships/image" Target="/ppt/media/image4.png" Id="Rd319c0f516704343" /><Relationship Type="http://schemas.openxmlformats.org/officeDocument/2006/relationships/notesSlide" Target="/ppt/notesSlides/notesSlide6.xml" Id="Ra8b87bec225541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8f9a61fe474d94" /><Relationship Type="http://schemas.openxmlformats.org/officeDocument/2006/relationships/image" Target="/ppt/media/image5.png" Id="R9fb06eeb906246a4" /><Relationship Type="http://schemas.openxmlformats.org/officeDocument/2006/relationships/notesSlide" Target="/ppt/notesSlides/notesSlide7.xml" Id="Radd65953288640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77d47944af4613" /><Relationship Type="http://schemas.openxmlformats.org/officeDocument/2006/relationships/image" Target="/ppt/media/image6.png" Id="Rf816afe18a2c4a98" /><Relationship Type="http://schemas.openxmlformats.org/officeDocument/2006/relationships/notesSlide" Target="/ppt/notesSlides/notesSlide8.xml" Id="R1d6ed20bbe6b4f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9ebd9c7ea284465" /><Relationship Type="http://schemas.openxmlformats.org/officeDocument/2006/relationships/image" Target="/ppt/media/image7.png" Id="Ref041ab52ba44beb" /><Relationship Type="http://schemas.openxmlformats.org/officeDocument/2006/relationships/notesSlide" Target="/ppt/notesSlides/notesSlide9.xml" Id="Ra188daf6063a45c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c01ffbda9f14f45" /><Relationship Type="http://schemas.openxmlformats.org/officeDocument/2006/relationships/image" Target="/ppt/media/image8.png" Id="R91d6db8882e5431c" /><Relationship Type="http://schemas.openxmlformats.org/officeDocument/2006/relationships/notesSlide" Target="/ppt/notesSlides/notesSlide10.xml" Id="Rfccd3a471ab543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296faba1d24dec" /><Relationship Type="http://schemas.openxmlformats.org/officeDocument/2006/relationships/notesSlide" Target="/ppt/notesSlides/notesSlide11.xml" Id="Rbae7e664b1444a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3caad0fc6bf4f0f" /><Relationship Type="http://schemas.openxmlformats.org/officeDocument/2006/relationships/image" Target="/ppt/media/image9.png" Id="R138e787564734f18" /><Relationship Type="http://schemas.openxmlformats.org/officeDocument/2006/relationships/notesSlide" Target="/ppt/notesSlides/notesSlide12.xml" Id="R0bb0d661c6bf4f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47137105bd54e58" /><Relationship Type="http://schemas.openxmlformats.org/officeDocument/2006/relationships/image" Target="/ppt/media/image10.png" Id="Rfe2d81d01959463f" /><Relationship Type="http://schemas.openxmlformats.org/officeDocument/2006/relationships/notesSlide" Target="/ppt/notesSlides/notesSlide13.xml" Id="Rfa33351492f544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f9e0e89a48d4a71" /><Relationship Type="http://schemas.openxmlformats.org/officeDocument/2006/relationships/notesSlide" Target="/ppt/notesSlides/notesSlide14.xml" Id="R5d4c2233d33049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26910f23dd4024" /><Relationship Type="http://schemas.openxmlformats.org/officeDocument/2006/relationships/notesSlide" Target="/ppt/notesSlides/notesSlide15.xml" Id="Rd4d7ec7957e14e7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36c7027cfd3467a" /><Relationship Type="http://schemas.openxmlformats.org/officeDocument/2006/relationships/image" Target="/ppt/media/image.jpeg" Id="R72ba80b55db24619" /><Relationship Type="http://schemas.openxmlformats.org/officeDocument/2006/relationships/notesSlide" Target="/ppt/notesSlides/notesSlide16.xml" Id="R71d36f3e963349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fca7ab23c443fa" /><Relationship Type="http://schemas.openxmlformats.org/officeDocument/2006/relationships/notesSlide" Target="/ppt/notesSlides/notesSlide17.xml" Id="R13fc5fbc8c1c40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9102a9399940ca" /><Relationship Type="http://schemas.openxmlformats.org/officeDocument/2006/relationships/notesSlide" Target="/ppt/notesSlides/notesSlide18.xml" Id="R40aa4debd39644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f105e7305a4039" /><Relationship Type="http://schemas.openxmlformats.org/officeDocument/2006/relationships/notesSlide" Target="/ppt/notesSlides/notesSlide19.xml" Id="R29a14ca053c84a8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69567dcc42a4f6d" /><Relationship Type="http://schemas.openxmlformats.org/officeDocument/2006/relationships/notesSlide" Target="/ppt/notesSlides/notesSlide20.xml" Id="Rcca7bde0cdd048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b91ed664473453c" /><Relationship Type="http://schemas.openxmlformats.org/officeDocument/2006/relationships/notesSlide" Target="/ppt/notesSlides/notesSlide21.xml" Id="R9007866ab0a14453" /></Relationships>
</file>

<file path=ppt/slides/slide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A2A0C71D-C23C-4CAF-904D-C3F8D4DE28E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PREVIOUS LAB MEETING</a:t>
            </a:r>
          </a:p>
        </p:txBody>
      </p:sp>
      <p:sp>
        <p:nvSpPr>
          <p:cNvPr id="2" name="text-2">
            <a:extLst xmlns:a="http://schemas.openxmlformats.org/drawingml/2006/main">
              <a:ext uri="{FF2B5EF4-FFF2-40B4-BE49-F238E27FC236}">
                <a16:creationId xmlns:a16="http://schemas.microsoft.com/office/drawing/2014/main" id="{87412681-C8A9-4F5C-8DF3-7246421F2F2B}"/>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3">
            <a:extLst xmlns:a="http://schemas.openxmlformats.org/drawingml/2006/main">
              <a:ext uri="{FF2B5EF4-FFF2-40B4-BE49-F238E27FC236}">
                <a16:creationId xmlns:a16="http://schemas.microsoft.com/office/drawing/2014/main" id="{8429FBDF-503B-45FA-8E6A-CBA7AAABF9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01</a:t>
            </a:r>
          </a:p>
        </p:txBody>
      </p:sp>
      <p:sp>
        <p:nvSpPr>
          <p:cNvPr id="4" name="text-4">
            <a:extLst xmlns:a="http://schemas.openxmlformats.org/drawingml/2006/main">
              <a:ext uri="{FF2B5EF4-FFF2-40B4-BE49-F238E27FC236}">
                <a16:creationId xmlns:a16="http://schemas.microsoft.com/office/drawing/2014/main" id="{3B63C170-2BE0-400D-9E43-9091343F2F80}"/>
              </a:ext>
            </a:extLst>
          </p:cNvPr>
          <p:cNvSpPr>
            <a:spLocks xmlns:a="http://schemas.openxmlformats.org/drawingml/2006/main" noGrp="1"/>
          </p:cNvSpPr>
          <p:nvPr/>
        </p:nvSpPr>
        <p:spPr>
          <a:xfrm xmlns:a="http://schemas.openxmlformats.org/drawingml/2006/main">
            <a:off x="533400" y="1838325"/>
            <a:ext cx="10477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t>A biologist in the lab:</a:t>
            </a:r>
          </a:p>
        </p:txBody>
      </p:sp>
      <p:sp>
        <p:nvSpPr>
          <p:cNvPr id="5" name="text-5">
            <a:extLst xmlns:a="http://schemas.openxmlformats.org/drawingml/2006/main">
              <a:ext uri="{FF2B5EF4-FFF2-40B4-BE49-F238E27FC236}">
                <a16:creationId xmlns:a16="http://schemas.microsoft.com/office/drawing/2014/main" id="{AE6314AE-F438-439A-9D63-6DAF8E4867CF}"/>
              </a:ext>
            </a:extLst>
          </p:cNvPr>
          <p:cNvSpPr>
            <a:spLocks xmlns:a="http://schemas.openxmlformats.org/drawingml/2006/main" noGrp="1"/>
          </p:cNvSpPr>
          <p:nvPr/>
        </p:nvSpPr>
        <p:spPr>
          <a:xfrm xmlns:a="http://schemas.openxmlformats.org/drawingml/2006/main">
            <a:off x="533400" y="2695575"/>
            <a:ext cx="11125200" cy="2324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FFFFFF"/>
                </a:solidFill>
                <a:latin typeface="Segoe UI"/>
                <a:ea typeface="Segoe UI"/>
                <a:cs typeface="Segoe UI"/>
              </a:defRPr>
            </a:pPr>
            <a:r>
              <a:t>“Can you help me</a:t>
            </a:r>
          </a:p>
          <a:p xmlns:a="http://schemas.openxmlformats.org/drawingml/2006/main">
            <a:pPr>
              <a:buNone/>
              <a:defRPr sz="6600" b="1">
                <a:solidFill>
                  <a:srgbClr val="FFFFFF"/>
                </a:solidFill>
                <a:latin typeface="Segoe UI"/>
                <a:ea typeface="Segoe UI"/>
                <a:cs typeface="Segoe UI"/>
              </a:defRPr>
            </a:pPr>
            <a:r>
              <a:t>analyze my data?”</a:t>
            </a:r>
          </a:p>
        </p:txBody>
      </p:sp>
      <p:sp>
        <p:nvSpPr>
          <p:cNvPr id="6" name="Rectangle 5">
            <a:extLst xmlns:a="http://schemas.openxmlformats.org/drawingml/2006/main">
              <a:ext uri="{FF2B5EF4-FFF2-40B4-BE49-F238E27FC236}">
                <a16:creationId xmlns:a16="http://schemas.microsoft.com/office/drawing/2014/main" id="{EEE29FB3-C4A5-47E7-87C5-2715DB5F6316}"/>
              </a:ext>
            </a:extLst>
          </p:cNvPr>
          <p:cNvSpPr>
            <a:spLocks xmlns:a="http://schemas.openxmlformats.org/drawingml/2006/main" noGrp="1"/>
          </p:cNvSpPr>
          <p:nvPr/>
        </p:nvSpPr>
        <p:spPr>
          <a:xfrm xmlns:a="http://schemas.openxmlformats.org/drawingml/2006/main">
            <a:off x="533400" y="5543550"/>
            <a:ext cx="104775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950" b="1">
                <a:solidFill>
                  <a:srgbClr val="B5F4DE"/>
                </a:solidFill>
                <a:latin typeface="Segoe UI"/>
                <a:ea typeface="Segoe UI"/>
                <a:cs typeface="Segoe UI"/>
              </a:defRPr>
            </a:pPr>
            <a:r>
              <a:t/>
            </a:r>
          </a:p>
        </p:txBody>
      </p:sp>
    </p:spTree>
    <p:extLst>
      <p:ext uri="{BB962C8B-B14F-4D97-AF65-F5344CB8AC3E}">
        <p14:creationId xmlns:p14="http://schemas.microsoft.com/office/powerpoint/2010/main" val="731156692"/>
      </p:ext>
    </p:extLst>
  </p:cSld>
</p:sld>
</file>

<file path=ppt/slides/slide2.xml><?xml version="1.0" encoding="utf-8"?>
<p:sld xmlns:p="http://schemas.openxmlformats.org/presentationml/2006/main">
  <p:cSld>
    <p:bg>
      <p:bgPr>
        <a:solidFill xmlns:a="http://schemas.openxmlformats.org/drawingml/2006/main">
          <a:srgbClr val="2860F5"/>
        </a:solidFill>
      </p:bgPr>
    </p:bg>
    <p:spTree>
      <p:nvGrpSpPr>
        <p:cNvPr id="1" name=""/>
        <p:cNvGrpSpPr/>
        <p:nvPr/>
      </p:nvGrpSpPr>
      <p:grpSpPr>
        <a:xfrm xmlns:a="http://schemas.openxmlformats.org/drawingml/2006/main"/>
      </p:grpSpPr>
      <p:sp>
        <p:nvSpPr>
          <p:cNvPr id="6" name="text-6">
            <a:extLst xmlns:a="http://schemas.openxmlformats.org/drawingml/2006/main">
              <a:ext uri="{FF2B5EF4-FFF2-40B4-BE49-F238E27FC236}">
                <a16:creationId xmlns:a16="http://schemas.microsoft.com/office/drawing/2014/main" id="{94768C85-6F3D-484B-8776-4EC5DF805442}"/>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GUI DEMONSTRATION</a:t>
            </a:r>
          </a:p>
        </p:txBody>
      </p:sp>
      <p:sp>
        <p:nvSpPr>
          <p:cNvPr id="2" name="text-7">
            <a:extLst xmlns:a="http://schemas.openxmlformats.org/drawingml/2006/main">
              <a:ext uri="{FF2B5EF4-FFF2-40B4-BE49-F238E27FC236}">
                <a16:creationId xmlns:a16="http://schemas.microsoft.com/office/drawing/2014/main" id="{D92368AC-6471-49C4-AF37-27D32A0BA30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t>TELOMERE ANALYZER</a:t>
            </a:r>
          </a:p>
        </p:txBody>
      </p:sp>
      <p:sp>
        <p:nvSpPr>
          <p:cNvPr id="3" name="text-8">
            <a:extLst xmlns:a="http://schemas.openxmlformats.org/drawingml/2006/main">
              <a:ext uri="{FF2B5EF4-FFF2-40B4-BE49-F238E27FC236}">
                <a16:creationId xmlns:a16="http://schemas.microsoft.com/office/drawing/2014/main" id="{C3560B41-CC45-4116-8F10-582DDC3C1DD6}"/>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D9E4FF"/>
                </a:solidFill>
                <a:latin typeface="Segoe UI"/>
                <a:ea typeface="Segoe UI"/>
                <a:cs typeface="Segoe UI"/>
              </a:defRPr>
            </a:pPr>
            <a:r>
              <a:rPr sz="1350" b="0">
                <a:solidFill>
                  <a:srgbClr val="D9E4FF"/>
                </a:solidFill>
                <a:latin typeface="Segoe UI"/>
                <a:ea typeface="Segoe UI"/>
                <a:cs typeface="Segoe UI"/>
              </a:rPr>
              <a:t>02</a:t>
            </a:r>
          </a:p>
        </p:txBody>
      </p:sp>
      <p:sp>
        <p:nvSpPr>
          <p:cNvPr id="4" name="text-9">
            <a:extLst xmlns:a="http://schemas.openxmlformats.org/drawingml/2006/main">
              <a:ext uri="{FF2B5EF4-FFF2-40B4-BE49-F238E27FC236}">
                <a16:creationId xmlns:a16="http://schemas.microsoft.com/office/drawing/2014/main" id="{2D136804-3C04-424C-B7B8-4AD5E6350A64}"/>
              </a:ext>
            </a:extLst>
          </p:cNvPr>
          <p:cNvSpPr>
            <a:spLocks xmlns:a="http://schemas.openxmlformats.org/drawingml/2006/main" noGrp="1"/>
          </p:cNvSpPr>
          <p:nvPr/>
        </p:nvSpPr>
        <p:spPr>
          <a:xfrm xmlns:a="http://schemas.openxmlformats.org/drawingml/2006/main">
            <a:off x="533400" y="1933575"/>
            <a:ext cx="11125200" cy="2495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Do it</a:t>
            </a:r>
          </a:p>
          <a:p xmlns:a="http://schemas.openxmlformats.org/drawingml/2006/main">
            <a:pPr>
              <a:buNone/>
              <a:defRPr sz="8100" b="1">
                <a:solidFill>
                  <a:srgbClr val="FFFFFF"/>
                </a:solidFill>
                <a:latin typeface="Segoe UI"/>
                <a:ea typeface="Segoe UI"/>
                <a:cs typeface="Segoe UI"/>
              </a:defRPr>
            </a:pPr>
            <a:r>
              <a:rPr sz="8100" b="1">
                <a:solidFill>
                  <a:srgbClr val="FFFFFF"/>
                </a:solidFill>
                <a:latin typeface="Arial"/>
                <a:ea typeface="Arial"/>
                <a:cs typeface="Arial"/>
              </a:rPr>
              <a:t>yourself!</a:t>
            </a:r>
          </a:p>
        </p:txBody>
      </p:sp>
      <p:sp>
        <p:nvSpPr>
          <p:cNvPr id="5" name="text-10">
            <a:extLst xmlns:a="http://schemas.openxmlformats.org/drawingml/2006/main">
              <a:ext uri="{FF2B5EF4-FFF2-40B4-BE49-F238E27FC236}">
                <a16:creationId xmlns:a16="http://schemas.microsoft.com/office/drawing/2014/main" id="{C7837720-00FB-401B-9EF8-4448853EBCAA}"/>
              </a:ext>
            </a:extLst>
          </p:cNvPr>
          <p:cNvSpPr>
            <a:spLocks xmlns:a="http://schemas.openxmlformats.org/drawingml/2006/main" noGrp="1"/>
          </p:cNvSpPr>
          <p:nvPr/>
        </p:nvSpPr>
        <p:spPr>
          <a:xfrm xmlns:a="http://schemas.openxmlformats.org/drawingml/2006/main">
            <a:off x="533400" y="5067300"/>
            <a:ext cx="10477500" cy="685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450" b="1">
                <a:solidFill>
                  <a:srgbClr val="B5F4DE"/>
                </a:solidFill>
                <a:latin typeface="Segoe UI"/>
                <a:ea typeface="Segoe UI"/>
                <a:cs typeface="Segoe UI"/>
              </a:defRPr>
            </a:pPr>
            <a:r>
              <a:t>Using the GUI</a:t>
            </a:r>
          </a:p>
        </p:txBody>
      </p:sp>
    </p:spTree>
    <p:extLst>
      <p:ext uri="{BB962C8B-B14F-4D97-AF65-F5344CB8AC3E}">
        <p14:creationId xmlns:p14="http://schemas.microsoft.com/office/powerpoint/2010/main" val="1914502747"/>
      </p:ext>
    </p:extLst>
  </p:cSld>
</p:sld>
</file>

<file path=ppt/slides/slide3.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2" name="text-11">
            <a:extLst xmlns:a="http://schemas.openxmlformats.org/drawingml/2006/main">
              <a:ext uri="{FF2B5EF4-FFF2-40B4-BE49-F238E27FC236}">
                <a16:creationId xmlns:a16="http://schemas.microsoft.com/office/drawing/2014/main" id="{A70EF6E1-4337-4C0F-A865-AD4CF64E709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PROJECT OBJECTIVE</a:t>
            </a:r>
          </a:p>
        </p:txBody>
      </p:sp>
      <p:sp>
        <p:nvSpPr>
          <p:cNvPr id="2" name="text-12">
            <a:extLst xmlns:a="http://schemas.openxmlformats.org/drawingml/2006/main">
              <a:ext uri="{FF2B5EF4-FFF2-40B4-BE49-F238E27FC236}">
                <a16:creationId xmlns:a16="http://schemas.microsoft.com/office/drawing/2014/main" id="{0EFC6B8E-DDFB-4F2A-9A37-66F1872C458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3">
            <a:extLst xmlns:a="http://schemas.openxmlformats.org/drawingml/2006/main">
              <a:ext uri="{FF2B5EF4-FFF2-40B4-BE49-F238E27FC236}">
                <a16:creationId xmlns:a16="http://schemas.microsoft.com/office/drawing/2014/main" id="{17BEA751-3D8A-4F94-BD95-D8EEF031283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03</a:t>
            </a:r>
          </a:p>
        </p:txBody>
      </p:sp>
      <p:sp>
        <p:nvSpPr>
          <p:cNvPr id="4" name="text-14">
            <a:extLst xmlns:a="http://schemas.openxmlformats.org/drawingml/2006/main">
              <a:ext uri="{FF2B5EF4-FFF2-40B4-BE49-F238E27FC236}">
                <a16:creationId xmlns:a16="http://schemas.microsoft.com/office/drawing/2014/main" id="{BDA82327-EB6C-457A-9F90-5609415B914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Motivation</a:t>
            </a:r>
          </a:p>
        </p:txBody>
      </p:sp>
      <p:sp>
        <p:nvSpPr>
          <p:cNvPr id="5" name="text-15">
            <a:extLst xmlns:a="http://schemas.openxmlformats.org/drawingml/2006/main">
              <a:ext uri="{FF2B5EF4-FFF2-40B4-BE49-F238E27FC236}">
                <a16:creationId xmlns:a16="http://schemas.microsoft.com/office/drawing/2014/main" id="{F5207F0A-D55E-44D1-8BFA-2A32E4A3A46B}"/>
              </a:ext>
            </a:extLst>
          </p:cNvPr>
          <p:cNvSpPr>
            <a:spLocks xmlns:a="http://schemas.openxmlformats.org/drawingml/2006/main" noGrp="1"/>
          </p:cNvSpPr>
          <p:nvPr/>
        </p:nvSpPr>
        <p:spPr>
          <a:xfrm xmlns:a="http://schemas.openxmlformats.org/drawingml/2006/main">
            <a:off x="1476375" y="23050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Select input data</a:t>
            </a:r>
          </a:p>
        </p:txBody>
      </p:sp>
      <p:sp>
        <p:nvSpPr>
          <p:cNvPr id="6" name="text-16">
            <a:extLst xmlns:a="http://schemas.openxmlformats.org/drawingml/2006/main">
              <a:ext uri="{FF2B5EF4-FFF2-40B4-BE49-F238E27FC236}">
                <a16:creationId xmlns:a16="http://schemas.microsoft.com/office/drawing/2014/main" id="{7212F038-FD93-4D70-A520-A9BFE385E166}"/>
              </a:ext>
            </a:extLst>
          </p:cNvPr>
          <p:cNvSpPr>
            <a:spLocks xmlns:a="http://schemas.openxmlformats.org/drawingml/2006/main" noGrp="1"/>
          </p:cNvSpPr>
          <p:nvPr/>
        </p:nvSpPr>
        <p:spPr>
          <a:xfrm xmlns:a="http://schemas.openxmlformats.org/drawingml/2006/main">
            <a:off x="1476375" y="34099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FFFFFF"/>
                </a:solidFill>
                <a:latin typeface="Segoe UI"/>
                <a:ea typeface="Segoe UI"/>
                <a:cs typeface="Segoe UI"/>
              </a:defRPr>
            </a:pPr>
            <a:r>
              <a:t>Configure analysis parameters</a:t>
            </a:r>
          </a:p>
        </p:txBody>
      </p:sp>
      <p:sp>
        <p:nvSpPr>
          <p:cNvPr id="7" name="text-17">
            <a:extLst xmlns:a="http://schemas.openxmlformats.org/drawingml/2006/main">
              <a:ext uri="{FF2B5EF4-FFF2-40B4-BE49-F238E27FC236}">
                <a16:creationId xmlns:a16="http://schemas.microsoft.com/office/drawing/2014/main" id="{B23A7276-BE20-4120-93A3-C15841EC90A6}"/>
              </a:ext>
            </a:extLst>
          </p:cNvPr>
          <p:cNvSpPr>
            <a:spLocks xmlns:a="http://schemas.openxmlformats.org/drawingml/2006/main" noGrp="1"/>
          </p:cNvSpPr>
          <p:nvPr/>
        </p:nvSpPr>
        <p:spPr>
          <a:xfrm xmlns:a="http://schemas.openxmlformats.org/drawingml/2006/main">
            <a:off x="1476375" y="4514850"/>
            <a:ext cx="97155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375" b="1">
                <a:solidFill>
                  <a:srgbClr val="B5F4DE"/>
                </a:solidFill>
                <a:latin typeface="Segoe UI"/>
                <a:ea typeface="Segoe UI"/>
                <a:cs typeface="Segoe UI"/>
              </a:defRPr>
            </a:pPr>
            <a:r>
              <a:rPr sz="3375" b="1">
                <a:solidFill>
                  <a:srgbClr val="B5F4DE"/>
                </a:solidFill>
                <a:latin typeface="Segoe UI"/>
                <a:ea typeface="Segoe UI"/>
                <a:cs typeface="Segoe UI"/>
              </a:rPr>
              <a:t>Run the workflow and review outputs</a:t>
            </a:r>
          </a:p>
        </p:txBody>
      </p:sp>
      <p:sp>
        <p:nvSpPr>
          <p:cNvPr id="8" name="text-18">
            <a:extLst xmlns:a="http://schemas.openxmlformats.org/drawingml/2006/main">
              <a:ext uri="{FF2B5EF4-FFF2-40B4-BE49-F238E27FC236}">
                <a16:creationId xmlns:a16="http://schemas.microsoft.com/office/drawing/2014/main" id="{10CF1FEC-1F9A-4F13-BD39-75AEC3A770C9}"/>
              </a:ext>
            </a:extLst>
          </p:cNvPr>
          <p:cNvSpPr>
            <a:spLocks xmlns:a="http://schemas.openxmlformats.org/drawingml/2006/main" noGrp="1"/>
          </p:cNvSpPr>
          <p:nvPr/>
        </p:nvSpPr>
        <p:spPr>
          <a:xfrm xmlns:a="http://schemas.openxmlformats.org/drawingml/2006/main">
            <a:off x="533400" y="5715000"/>
            <a:ext cx="110490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A9B9CF"/>
                </a:solidFill>
                <a:latin typeface="Segoe UI"/>
                <a:ea typeface="Segoe UI"/>
                <a:cs typeface="Segoe UI"/>
              </a:defRPr>
            </a:pPr>
            <a:r>
              <a:rPr sz="2100" b="0">
                <a:solidFill>
                  <a:srgbClr val="A9B9CF"/>
                </a:solidFill>
                <a:latin typeface="Segoe UI"/>
                <a:ea typeface="Segoe UI"/>
                <a:cs typeface="Segoe UI"/>
              </a:rPr>
              <a:t>Goal: allow biologists in the lab to run the analysis independently.</a:t>
            </a:r>
          </a:p>
        </p:txBody>
      </p:sp>
      <p:sp>
        <p:nvSpPr>
          <p:cNvPr id="9" name="Rectangle 8">
            <a:extLst xmlns:a="http://schemas.openxmlformats.org/drawingml/2006/main">
              <a:ext uri="{FF2B5EF4-FFF2-40B4-BE49-F238E27FC236}">
                <a16:creationId xmlns:a16="http://schemas.microsoft.com/office/drawing/2014/main" id="{8865DABC-367D-40C3-860B-173E83D5BA89}"/>
              </a:ext>
            </a:extLst>
          </p:cNvPr>
          <p:cNvSpPr>
            <a:spLocks xmlns:a="http://schemas.openxmlformats.org/drawingml/2006/main" noGrp="1"/>
          </p:cNvSpPr>
          <p:nvPr/>
        </p:nvSpPr>
        <p:spPr>
          <a:xfrm xmlns:a="http://schemas.openxmlformats.org/drawingml/2006/main">
            <a:off x="533400" y="23717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01</a:t>
            </a:r>
          </a:p>
        </p:txBody>
      </p:sp>
      <p:sp>
        <p:nvSpPr>
          <p:cNvPr id="10" name="Rectangle 9">
            <a:extLst xmlns:a="http://schemas.openxmlformats.org/drawingml/2006/main">
              <a:ext uri="{FF2B5EF4-FFF2-40B4-BE49-F238E27FC236}">
                <a16:creationId xmlns:a16="http://schemas.microsoft.com/office/drawing/2014/main" id="{FA0652E9-767E-4A7A-9212-B63F86FC302C}"/>
              </a:ext>
            </a:extLst>
          </p:cNvPr>
          <p:cNvSpPr>
            <a:spLocks xmlns:a="http://schemas.openxmlformats.org/drawingml/2006/main" noGrp="1"/>
          </p:cNvSpPr>
          <p:nvPr/>
        </p:nvSpPr>
        <p:spPr>
          <a:xfrm xmlns:a="http://schemas.openxmlformats.org/drawingml/2006/main">
            <a:off x="533400" y="34766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02</a:t>
            </a:r>
          </a:p>
        </p:txBody>
      </p:sp>
      <p:sp>
        <p:nvSpPr>
          <p:cNvPr id="11" name="Rectangle 10">
            <a:extLst xmlns:a="http://schemas.openxmlformats.org/drawingml/2006/main">
              <a:ext uri="{FF2B5EF4-FFF2-40B4-BE49-F238E27FC236}">
                <a16:creationId xmlns:a16="http://schemas.microsoft.com/office/drawing/2014/main" id="{5EC75A2E-84EC-4A3D-9B85-A907B848E12A}"/>
              </a:ext>
            </a:extLst>
          </p:cNvPr>
          <p:cNvSpPr>
            <a:spLocks xmlns:a="http://schemas.openxmlformats.org/drawingml/2006/main" noGrp="1"/>
          </p:cNvSpPr>
          <p:nvPr/>
        </p:nvSpPr>
        <p:spPr>
          <a:xfrm xmlns:a="http://schemas.openxmlformats.org/drawingml/2006/main">
            <a:off x="533400" y="4581525"/>
            <a:ext cx="790575" cy="5905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775" b="0">
                <a:solidFill>
                  <a:srgbClr val="B5F4DE"/>
                </a:solidFill>
                <a:latin typeface="Segoe UI"/>
                <a:ea typeface="Segoe UI"/>
                <a:cs typeface="Segoe UI"/>
              </a:defRPr>
            </a:pPr>
            <a:r>
              <a:t>03</a:t>
            </a:r>
          </a:p>
        </p:txBody>
      </p:sp>
    </p:spTree>
    <p:extLst>
      <p:ext uri="{BB962C8B-B14F-4D97-AF65-F5344CB8AC3E}">
        <p14:creationId xmlns:p14="http://schemas.microsoft.com/office/powerpoint/2010/main" val="988424390"/>
      </p:ext>
    </p:extLst>
  </p:cSld>
</p:sld>
</file>

<file path=ppt/slides/slide4.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19">
            <a:extLst xmlns:a="http://schemas.openxmlformats.org/drawingml/2006/main">
              <a:ext uri="{FF2B5EF4-FFF2-40B4-BE49-F238E27FC236}">
                <a16:creationId xmlns:a16="http://schemas.microsoft.com/office/drawing/2014/main" id="{7600D459-8BCE-4370-9318-DC99462DC44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THE GUI</a:t>
            </a:r>
          </a:p>
        </p:txBody>
      </p:sp>
      <p:sp>
        <p:nvSpPr>
          <p:cNvPr id="2" name="text-20">
            <a:extLst xmlns:a="http://schemas.openxmlformats.org/drawingml/2006/main">
              <a:ext uri="{FF2B5EF4-FFF2-40B4-BE49-F238E27FC236}">
                <a16:creationId xmlns:a16="http://schemas.microsoft.com/office/drawing/2014/main" id="{E92E3885-3253-4EFD-A9AC-B5959A1D36D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21">
            <a:extLst xmlns:a="http://schemas.openxmlformats.org/drawingml/2006/main">
              <a:ext uri="{FF2B5EF4-FFF2-40B4-BE49-F238E27FC236}">
                <a16:creationId xmlns:a16="http://schemas.microsoft.com/office/drawing/2014/main" id="{E2DAF17A-4FB7-4E98-A920-FC5C4314557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04</a:t>
            </a:r>
          </a:p>
        </p:txBody>
      </p:sp>
      <p:sp>
        <p:nvSpPr>
          <p:cNvPr id="4" name="text-22">
            <a:extLst xmlns:a="http://schemas.openxmlformats.org/drawingml/2006/main">
              <a:ext uri="{FF2B5EF4-FFF2-40B4-BE49-F238E27FC236}">
                <a16:creationId xmlns:a16="http://schemas.microsoft.com/office/drawing/2014/main" id="{066B7B4C-8634-437A-89E6-2DD8248D43E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Telomere Analyzer GUI</a:t>
            </a:r>
          </a:p>
        </p:txBody>
      </p:sp>
      <p:pic>
        <p:nvPicPr>
          <p:cNvPr id="11" name="Picture 9"/>
          <p:cNvPicPr>
            <a:picLocks xmlns:a="http://schemas.openxmlformats.org/drawingml/2006/main" noChangeAspect="1"/>
          </p:cNvPicPr>
          <p:nvPr/>
        </p:nvPicPr>
        <p:blipFill>
          <a:blip xmlns:r="http://schemas.openxmlformats.org/officeDocument/2006/relationships" xmlns:a="http://schemas.openxmlformats.org/drawingml/2006/main" r:embed="Rfd00fcb301594d6c"/>
          <a:stretch xmlns:a="http://schemas.openxmlformats.org/drawingml/2006/main"/>
        </p:blipFill>
        <p:spPr>
          <a:xfrm xmlns:a="http://schemas.openxmlformats.org/drawingml/2006/main">
            <a:off x="533400" y="1771650"/>
            <a:ext cx="11125200" cy="4495800"/>
          </a:xfrm>
          <a:prstGeom xmlns:a="http://schemas.openxmlformats.org/drawingml/2006/main" prst="rect">
            <a:avLst/>
          </a:prstGeom>
        </p:spPr>
      </p:pic>
    </p:spTree>
    <p:extLst>
      <p:ext uri="{BB962C8B-B14F-4D97-AF65-F5344CB8AC3E}">
        <p14:creationId xmlns:p14="http://schemas.microsoft.com/office/powerpoint/2010/main" val="1920071540"/>
      </p:ext>
    </p:extLst>
  </p:cSld>
</p:sld>
</file>

<file path=ppt/slides/slide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23">
            <a:extLst xmlns:a="http://schemas.openxmlformats.org/drawingml/2006/main">
              <a:ext uri="{FF2B5EF4-FFF2-40B4-BE49-F238E27FC236}">
                <a16:creationId xmlns:a16="http://schemas.microsoft.com/office/drawing/2014/main" id="{FACFCD14-8808-40E7-A050-5EEB24149D0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INPUT DATA</a:t>
            </a:r>
          </a:p>
        </p:txBody>
      </p:sp>
      <p:sp>
        <p:nvSpPr>
          <p:cNvPr id="2" name="text-24">
            <a:extLst xmlns:a="http://schemas.openxmlformats.org/drawingml/2006/main">
              <a:ext uri="{FF2B5EF4-FFF2-40B4-BE49-F238E27FC236}">
                <a16:creationId xmlns:a16="http://schemas.microsoft.com/office/drawing/2014/main" id="{E7E306F0-7678-4ADD-82C0-58E182DB96B0}"/>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25">
            <a:extLst xmlns:a="http://schemas.openxmlformats.org/drawingml/2006/main">
              <a:ext uri="{FF2B5EF4-FFF2-40B4-BE49-F238E27FC236}">
                <a16:creationId xmlns:a16="http://schemas.microsoft.com/office/drawing/2014/main" id="{FC159E9C-9381-4B5F-BBBD-DA094B01C1D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05</a:t>
            </a:r>
          </a:p>
        </p:txBody>
      </p:sp>
      <p:sp>
        <p:nvSpPr>
          <p:cNvPr id="4" name="text-26">
            <a:extLst xmlns:a="http://schemas.openxmlformats.org/drawingml/2006/main">
              <a:ext uri="{FF2B5EF4-FFF2-40B4-BE49-F238E27FC236}">
                <a16:creationId xmlns:a16="http://schemas.microsoft.com/office/drawing/2014/main" id="{46504EA1-B404-4CE9-949D-E138A339B8F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Input data</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0c34f15a1f294f61"/>
          <a:stretch xmlns:a="http://schemas.openxmlformats.org/drawingml/2006/main"/>
        </p:blipFill>
        <p:spPr>
          <a:xfrm xmlns:a="http://schemas.openxmlformats.org/drawingml/2006/main">
            <a:off x="457200" y="2081227"/>
            <a:ext cx="11277600" cy="1704947"/>
          </a:xfrm>
          <a:prstGeom xmlns:a="http://schemas.openxmlformats.org/drawingml/2006/main" prst="rect">
            <a:avLst/>
          </a:prstGeom>
        </p:spPr>
      </p:pic>
      <p:sp>
        <p:nvSpPr>
          <p:cNvPr id="6" name="text-27">
            <a:extLst xmlns:a="http://schemas.openxmlformats.org/drawingml/2006/main">
              <a:ext uri="{FF2B5EF4-FFF2-40B4-BE49-F238E27FC236}">
                <a16:creationId xmlns:a16="http://schemas.microsoft.com/office/drawing/2014/main" id="{FBB108D3-484B-40A5-838A-6BC343236A22}"/>
              </a:ext>
            </a:extLst>
          </p:cNvPr>
          <p:cNvSpPr>
            <a:spLocks xmlns:a="http://schemas.openxmlformats.org/drawingml/2006/main" noGrp="1"/>
          </p:cNvSpPr>
          <p:nvPr/>
        </p:nvSpPr>
        <p:spPr>
          <a:xfrm xmlns:a="http://schemas.openxmlformats.org/drawingml/2006/main">
            <a:off x="53340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POD5</a:t>
            </a:r>
          </a:p>
        </p:txBody>
      </p:sp>
      <p:sp>
        <p:nvSpPr>
          <p:cNvPr id="7" name="text-28">
            <a:extLst xmlns:a="http://schemas.openxmlformats.org/drawingml/2006/main">
              <a:ext uri="{FF2B5EF4-FFF2-40B4-BE49-F238E27FC236}">
                <a16:creationId xmlns:a16="http://schemas.microsoft.com/office/drawing/2014/main" id="{3C5E314E-20F0-4A29-8899-6661D4A96F8C}"/>
              </a:ext>
            </a:extLst>
          </p:cNvPr>
          <p:cNvSpPr>
            <a:spLocks xmlns:a="http://schemas.openxmlformats.org/drawingml/2006/main" noGrp="1"/>
          </p:cNvSpPr>
          <p:nvPr/>
        </p:nvSpPr>
        <p:spPr>
          <a:xfrm xmlns:a="http://schemas.openxmlformats.org/drawingml/2006/main">
            <a:off x="45720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Raw signals</a:t>
            </a:r>
          </a:p>
          <a:p xmlns:a="http://schemas.openxmlformats.org/drawingml/2006/main">
            <a:pPr>
              <a:buNone/>
              <a:defRPr sz="2175" b="0">
                <a:solidFill>
                  <a:srgbClr val="0D182A"/>
                </a:solidFill>
                <a:latin typeface="Segoe UI"/>
                <a:ea typeface="Segoe UI"/>
                <a:cs typeface="Segoe UI"/>
              </a:defRPr>
            </a:pPr>
            <a:r>
              <a:t>Start with basecalling.</a:t>
            </a:r>
          </a:p>
        </p:txBody>
      </p:sp>
      <p:sp>
        <p:nvSpPr>
          <p:cNvPr id="8" name="text-29">
            <a:extLst xmlns:a="http://schemas.openxmlformats.org/drawingml/2006/main">
              <a:ext uri="{FF2B5EF4-FFF2-40B4-BE49-F238E27FC236}">
                <a16:creationId xmlns:a16="http://schemas.microsoft.com/office/drawing/2014/main" id="{126DB059-40A4-4EA3-9A01-97C59E0EAEE8}"/>
              </a:ext>
            </a:extLst>
          </p:cNvPr>
          <p:cNvSpPr>
            <a:spLocks xmlns:a="http://schemas.openxmlformats.org/drawingml/2006/main" noGrp="1"/>
          </p:cNvSpPr>
          <p:nvPr/>
        </p:nvSpPr>
        <p:spPr>
          <a:xfrm xmlns:a="http://schemas.openxmlformats.org/drawingml/2006/main">
            <a:off x="4371975"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BAM</a:t>
            </a:r>
          </a:p>
        </p:txBody>
      </p:sp>
      <p:sp>
        <p:nvSpPr>
          <p:cNvPr id="9" name="text-30">
            <a:extLst xmlns:a="http://schemas.openxmlformats.org/drawingml/2006/main">
              <a:ext uri="{FF2B5EF4-FFF2-40B4-BE49-F238E27FC236}">
                <a16:creationId xmlns:a16="http://schemas.microsoft.com/office/drawing/2014/main" id="{F1EFBEC9-4DD2-487E-852A-CFFBE0836D33}"/>
              </a:ext>
            </a:extLst>
          </p:cNvPr>
          <p:cNvSpPr>
            <a:spLocks xmlns:a="http://schemas.openxmlformats.org/drawingml/2006/main" noGrp="1"/>
          </p:cNvSpPr>
          <p:nvPr/>
        </p:nvSpPr>
        <p:spPr>
          <a:xfrm xmlns:a="http://schemas.openxmlformats.org/drawingml/2006/main">
            <a:off x="4410075"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Basecalled reads</a:t>
            </a:r>
          </a:p>
          <a:p xmlns:a="http://schemas.openxmlformats.org/drawingml/2006/main">
            <a:pPr>
              <a:buNone/>
              <a:defRPr sz="2175" b="0">
                <a:solidFill>
                  <a:srgbClr val="0D182A"/>
                </a:solidFill>
                <a:latin typeface="Segoe UI"/>
                <a:ea typeface="Segoe UI"/>
                <a:cs typeface="Segoe UI"/>
              </a:defRPr>
            </a:pPr>
            <a:r>
              <a:t>Skip basecalling.</a:t>
            </a:r>
          </a:p>
        </p:txBody>
      </p:sp>
      <p:sp>
        <p:nvSpPr>
          <p:cNvPr id="10" name="text-31">
            <a:extLst xmlns:a="http://schemas.openxmlformats.org/drawingml/2006/main">
              <a:ext uri="{FF2B5EF4-FFF2-40B4-BE49-F238E27FC236}">
                <a16:creationId xmlns:a16="http://schemas.microsoft.com/office/drawing/2014/main" id="{0DA4FA36-845E-4540-AE84-26B764A2F14A}"/>
              </a:ext>
            </a:extLst>
          </p:cNvPr>
          <p:cNvSpPr>
            <a:spLocks xmlns:a="http://schemas.openxmlformats.org/drawingml/2006/main" noGrp="1"/>
          </p:cNvSpPr>
          <p:nvPr/>
        </p:nvSpPr>
        <p:spPr>
          <a:xfrm xmlns:a="http://schemas.openxmlformats.org/drawingml/2006/main">
            <a:off x="8210550" y="4171950"/>
            <a:ext cx="3429000" cy="666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75" b="1">
                <a:solidFill>
                  <a:srgbClr val="2860F5"/>
                </a:solidFill>
                <a:latin typeface="Segoe UI"/>
                <a:ea typeface="Segoe UI"/>
                <a:cs typeface="Segoe UI"/>
              </a:defRPr>
            </a:pPr>
            <a:r>
              <a:t>FASTQ</a:t>
            </a:r>
          </a:p>
        </p:txBody>
      </p:sp>
      <p:sp>
        <p:nvSpPr>
          <p:cNvPr id="11" name="text-32">
            <a:extLst xmlns:a="http://schemas.openxmlformats.org/drawingml/2006/main">
              <a:ext uri="{FF2B5EF4-FFF2-40B4-BE49-F238E27FC236}">
                <a16:creationId xmlns:a16="http://schemas.microsoft.com/office/drawing/2014/main" id="{E4B54E98-4591-4FAD-A394-A8C3C11E9E0C}"/>
              </a:ext>
            </a:extLst>
          </p:cNvPr>
          <p:cNvSpPr>
            <a:spLocks xmlns:a="http://schemas.openxmlformats.org/drawingml/2006/main" noGrp="1"/>
          </p:cNvSpPr>
          <p:nvPr/>
        </p:nvSpPr>
        <p:spPr>
          <a:xfrm xmlns:a="http://schemas.openxmlformats.org/drawingml/2006/main">
            <a:off x="8362950" y="4943475"/>
            <a:ext cx="333375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Sequence reads</a:t>
            </a:r>
          </a:p>
          <a:p xmlns:a="http://schemas.openxmlformats.org/drawingml/2006/main">
            <a:pPr>
              <a:buNone/>
              <a:defRPr sz="2175" b="0">
                <a:solidFill>
                  <a:srgbClr val="0D182A"/>
                </a:solidFill>
                <a:latin typeface="Segoe UI"/>
                <a:ea typeface="Segoe UI"/>
                <a:cs typeface="Segoe UI"/>
              </a:defRPr>
            </a:pPr>
            <a:r>
              <a:t>Continue to NanoTel.</a:t>
            </a:r>
          </a:p>
        </p:txBody>
      </p:sp>
    </p:spTree>
    <p:extLst>
      <p:ext uri="{BB962C8B-B14F-4D97-AF65-F5344CB8AC3E}">
        <p14:creationId xmlns:p14="http://schemas.microsoft.com/office/powerpoint/2010/main" val="492475051"/>
      </p:ext>
    </p:extLst>
  </p:cSld>
</p:sld>
</file>

<file path=ppt/slides/slide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33">
            <a:extLst xmlns:a="http://schemas.openxmlformats.org/drawingml/2006/main">
              <a:ext uri="{FF2B5EF4-FFF2-40B4-BE49-F238E27FC236}">
                <a16:creationId xmlns:a16="http://schemas.microsoft.com/office/drawing/2014/main" id="{1470AD6A-76E6-4823-B78B-AE012ACC79B8}"/>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SETUP</a:t>
            </a:r>
          </a:p>
        </p:txBody>
      </p:sp>
      <p:sp>
        <p:nvSpPr>
          <p:cNvPr id="2" name="text-34">
            <a:extLst xmlns:a="http://schemas.openxmlformats.org/drawingml/2006/main">
              <a:ext uri="{FF2B5EF4-FFF2-40B4-BE49-F238E27FC236}">
                <a16:creationId xmlns:a16="http://schemas.microsoft.com/office/drawing/2014/main" id="{45D4992D-D8A9-4A81-B674-42CD64E1C3D5}"/>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35">
            <a:extLst xmlns:a="http://schemas.openxmlformats.org/drawingml/2006/main">
              <a:ext uri="{FF2B5EF4-FFF2-40B4-BE49-F238E27FC236}">
                <a16:creationId xmlns:a16="http://schemas.microsoft.com/office/drawing/2014/main" id="{A8D9D16B-BA09-4806-8FEF-FDE9533F7AF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06</a:t>
            </a:r>
          </a:p>
        </p:txBody>
      </p:sp>
      <p:sp>
        <p:nvSpPr>
          <p:cNvPr id="4" name="text-36">
            <a:extLst xmlns:a="http://schemas.openxmlformats.org/drawingml/2006/main">
              <a:ext uri="{FF2B5EF4-FFF2-40B4-BE49-F238E27FC236}">
                <a16:creationId xmlns:a16="http://schemas.microsoft.com/office/drawing/2014/main" id="{FC48BF7E-DCE7-4DFF-94AA-B299906520E8}"/>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Output directory and organism</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98d3951543af4f2c"/>
          <a:stretch xmlns:a="http://schemas.openxmlformats.org/drawingml/2006/main"/>
        </p:blipFill>
        <p:spPr>
          <a:xfrm xmlns:a="http://schemas.openxmlformats.org/drawingml/2006/main">
            <a:off x="533400" y="2390775"/>
            <a:ext cx="11125200" cy="1047750"/>
          </a:xfrm>
          <a:prstGeom xmlns:a="http://schemas.openxmlformats.org/drawingml/2006/main" prst="rect">
            <a:avLst/>
          </a:prstGeom>
        </p:spPr>
      </p:pic>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d319c0f516704343"/>
          <a:stretch xmlns:a="http://schemas.openxmlformats.org/drawingml/2006/main"/>
        </p:blipFill>
        <p:spPr>
          <a:xfrm xmlns:a="http://schemas.openxmlformats.org/drawingml/2006/main">
            <a:off x="533400" y="4676775"/>
            <a:ext cx="5524500" cy="1047750"/>
          </a:xfrm>
          <a:prstGeom xmlns:a="http://schemas.openxmlformats.org/drawingml/2006/main" prst="rect">
            <a:avLst/>
          </a:prstGeom>
        </p:spPr>
      </p:pic>
      <p:sp>
        <p:nvSpPr>
          <p:cNvPr id="7" name="text-37">
            <a:extLst xmlns:a="http://schemas.openxmlformats.org/drawingml/2006/main">
              <a:ext uri="{FF2B5EF4-FFF2-40B4-BE49-F238E27FC236}">
                <a16:creationId xmlns:a16="http://schemas.microsoft.com/office/drawing/2014/main" id="{D7B9068A-7A46-4162-8650-53BCE29AB944}"/>
              </a:ext>
            </a:extLst>
          </p:cNvPr>
          <p:cNvSpPr>
            <a:spLocks xmlns:a="http://schemas.openxmlformats.org/drawingml/2006/main" noGrp="1"/>
          </p:cNvSpPr>
          <p:nvPr/>
        </p:nvSpPr>
        <p:spPr>
          <a:xfrm xmlns:a="http://schemas.openxmlformats.org/drawingml/2006/main">
            <a:off x="533400" y="19145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Output Path</a:t>
            </a:r>
          </a:p>
        </p:txBody>
      </p:sp>
      <p:sp>
        <p:nvSpPr>
          <p:cNvPr id="8" name="text-38">
            <a:extLst xmlns:a="http://schemas.openxmlformats.org/drawingml/2006/main">
              <a:ext uri="{FF2B5EF4-FFF2-40B4-BE49-F238E27FC236}">
                <a16:creationId xmlns:a16="http://schemas.microsoft.com/office/drawing/2014/main" id="{593E95AD-0920-430B-B3A0-81C5C86C56A6}"/>
              </a:ext>
            </a:extLst>
          </p:cNvPr>
          <p:cNvSpPr>
            <a:spLocks xmlns:a="http://schemas.openxmlformats.org/drawingml/2006/main" noGrp="1"/>
          </p:cNvSpPr>
          <p:nvPr/>
        </p:nvSpPr>
        <p:spPr>
          <a:xfrm xmlns:a="http://schemas.openxmlformats.org/drawingml/2006/main">
            <a:off x="533400" y="3571875"/>
            <a:ext cx="10668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 the destination for your run.</a:t>
            </a:r>
          </a:p>
        </p:txBody>
      </p:sp>
      <p:sp>
        <p:nvSpPr>
          <p:cNvPr id="9" name="text-39">
            <a:extLst xmlns:a="http://schemas.openxmlformats.org/drawingml/2006/main">
              <a:ext uri="{FF2B5EF4-FFF2-40B4-BE49-F238E27FC236}">
                <a16:creationId xmlns:a16="http://schemas.microsoft.com/office/drawing/2014/main" id="{91233E65-7BD7-410D-A67E-0B9E7FAB0ED9}"/>
              </a:ext>
            </a:extLst>
          </p:cNvPr>
          <p:cNvSpPr>
            <a:spLocks xmlns:a="http://schemas.openxmlformats.org/drawingml/2006/main" noGrp="1"/>
          </p:cNvSpPr>
          <p:nvPr/>
        </p:nvSpPr>
        <p:spPr>
          <a:xfrm xmlns:a="http://schemas.openxmlformats.org/drawingml/2006/main">
            <a:off x="533400" y="4162425"/>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Organism</a:t>
            </a:r>
          </a:p>
        </p:txBody>
      </p:sp>
      <p:sp>
        <p:nvSpPr>
          <p:cNvPr id="10" name="text-40">
            <a:extLst xmlns:a="http://schemas.openxmlformats.org/drawingml/2006/main">
              <a:ext uri="{FF2B5EF4-FFF2-40B4-BE49-F238E27FC236}">
                <a16:creationId xmlns:a16="http://schemas.microsoft.com/office/drawing/2014/main" id="{E790D870-C49F-42D8-92CE-6FE799395AA3}"/>
              </a:ext>
            </a:extLst>
          </p:cNvPr>
          <p:cNvSpPr>
            <a:spLocks xmlns:a="http://schemas.openxmlformats.org/drawingml/2006/main" noGrp="1"/>
          </p:cNvSpPr>
          <p:nvPr/>
        </p:nvSpPr>
        <p:spPr>
          <a:xfrm xmlns:a="http://schemas.openxmlformats.org/drawingml/2006/main">
            <a:off x="6543675" y="4924425"/>
            <a:ext cx="4953000" cy="819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Mouse • Human • Zebra Fish</a:t>
            </a:r>
          </a:p>
        </p:txBody>
      </p:sp>
    </p:spTree>
    <p:extLst>
      <p:ext uri="{BB962C8B-B14F-4D97-AF65-F5344CB8AC3E}">
        <p14:creationId xmlns:p14="http://schemas.microsoft.com/office/powerpoint/2010/main" val="68689878"/>
      </p:ext>
    </p:extLst>
  </p:cSld>
</p:sld>
</file>

<file path=ppt/slides/slide7.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41">
            <a:extLst xmlns:a="http://schemas.openxmlformats.org/drawingml/2006/main">
              <a:ext uri="{FF2B5EF4-FFF2-40B4-BE49-F238E27FC236}">
                <a16:creationId xmlns:a16="http://schemas.microsoft.com/office/drawing/2014/main" id="{A1A91230-714F-4894-BFE5-0E8BE69DFB4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ANALYSIS STEPS</a:t>
            </a:r>
          </a:p>
        </p:txBody>
      </p:sp>
      <p:sp>
        <p:nvSpPr>
          <p:cNvPr id="2" name="text-42">
            <a:extLst xmlns:a="http://schemas.openxmlformats.org/drawingml/2006/main">
              <a:ext uri="{FF2B5EF4-FFF2-40B4-BE49-F238E27FC236}">
                <a16:creationId xmlns:a16="http://schemas.microsoft.com/office/drawing/2014/main" id="{1D7146C9-ED50-4BAB-B83C-440831966096}"/>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43">
            <a:extLst xmlns:a="http://schemas.openxmlformats.org/drawingml/2006/main">
              <a:ext uri="{FF2B5EF4-FFF2-40B4-BE49-F238E27FC236}">
                <a16:creationId xmlns:a16="http://schemas.microsoft.com/office/drawing/2014/main" id="{E77EE328-559F-43E1-B9DA-E98D9A9F6F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07</a:t>
            </a:r>
          </a:p>
        </p:txBody>
      </p:sp>
      <p:sp>
        <p:nvSpPr>
          <p:cNvPr id="4" name="text-44">
            <a:extLst xmlns:a="http://schemas.openxmlformats.org/drawingml/2006/main">
              <a:ext uri="{FF2B5EF4-FFF2-40B4-BE49-F238E27FC236}">
                <a16:creationId xmlns:a16="http://schemas.microsoft.com/office/drawing/2014/main" id="{4155C7D3-1FCE-457D-931A-53A9A28EA48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Analysis steps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9fb06eeb906246a4"/>
          <a:stretch xmlns:a="http://schemas.openxmlformats.org/drawingml/2006/main"/>
        </p:blipFill>
        <p:spPr>
          <a:xfrm xmlns:a="http://schemas.openxmlformats.org/drawingml/2006/main">
            <a:off x="457200" y="2302156"/>
            <a:ext cx="11277600" cy="1205938"/>
          </a:xfrm>
          <a:prstGeom xmlns:a="http://schemas.openxmlformats.org/drawingml/2006/main" prst="rect">
            <a:avLst/>
          </a:prstGeom>
        </p:spPr>
      </p:pic>
      <p:sp>
        <p:nvSpPr>
          <p:cNvPr id="6" name="text-45">
            <a:extLst xmlns:a="http://schemas.openxmlformats.org/drawingml/2006/main">
              <a:ext uri="{FF2B5EF4-FFF2-40B4-BE49-F238E27FC236}">
                <a16:creationId xmlns:a16="http://schemas.microsoft.com/office/drawing/2014/main" id="{BD7DD90A-C991-4A9F-AA57-36F7E6550089}"/>
              </a:ext>
            </a:extLst>
          </p:cNvPr>
          <p:cNvSpPr>
            <a:spLocks xmlns:a="http://schemas.openxmlformats.org/drawingml/2006/main" noGrp="1"/>
          </p:cNvSpPr>
          <p:nvPr/>
        </p:nvSpPr>
        <p:spPr>
          <a:xfrm xmlns:a="http://schemas.openxmlformats.org/drawingml/2006/main">
            <a:off x="533400" y="4133850"/>
            <a:ext cx="5191125"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Basecalling</a:t>
            </a:r>
          </a:p>
        </p:txBody>
      </p:sp>
      <p:sp>
        <p:nvSpPr>
          <p:cNvPr id="7" name="text-46">
            <a:extLst xmlns:a="http://schemas.openxmlformats.org/drawingml/2006/main">
              <a:ext uri="{FF2B5EF4-FFF2-40B4-BE49-F238E27FC236}">
                <a16:creationId xmlns:a16="http://schemas.microsoft.com/office/drawing/2014/main" id="{810EB671-641E-481E-9136-1378025F4460}"/>
              </a:ext>
            </a:extLst>
          </p:cNvPr>
          <p:cNvSpPr>
            <a:spLocks xmlns:a="http://schemas.openxmlformats.org/drawingml/2006/main" noGrp="1"/>
          </p:cNvSpPr>
          <p:nvPr/>
        </p:nvSpPr>
        <p:spPr>
          <a:xfrm xmlns:a="http://schemas.openxmlformats.org/drawingml/2006/main">
            <a:off x="533400" y="4895850"/>
            <a:ext cx="5191125"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Convert POD5 signals into sequence reads.</a:t>
            </a:r>
          </a:p>
        </p:txBody>
      </p:sp>
      <p:sp>
        <p:nvSpPr>
          <p:cNvPr id="8" name="text-47">
            <a:extLst xmlns:a="http://schemas.openxmlformats.org/drawingml/2006/main">
              <a:ext uri="{FF2B5EF4-FFF2-40B4-BE49-F238E27FC236}">
                <a16:creationId xmlns:a16="http://schemas.microsoft.com/office/drawing/2014/main" id="{CCD7D3F7-70EA-47EE-9CF9-A98306C73C74}"/>
              </a:ext>
            </a:extLst>
          </p:cNvPr>
          <p:cNvSpPr>
            <a:spLocks xmlns:a="http://schemas.openxmlformats.org/drawingml/2006/main" noGrp="1"/>
          </p:cNvSpPr>
          <p:nvPr/>
        </p:nvSpPr>
        <p:spPr>
          <a:xfrm xmlns:a="http://schemas.openxmlformats.org/drawingml/2006/main">
            <a:off x="6381750" y="4133850"/>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2860F5"/>
                </a:solidFill>
                <a:latin typeface="Segoe UI"/>
                <a:ea typeface="Segoe UI"/>
                <a:cs typeface="Segoe UI"/>
              </a:defRPr>
            </a:pPr>
            <a:r>
              <a:t>NanoTel Analysis</a:t>
            </a:r>
          </a:p>
        </p:txBody>
      </p:sp>
      <p:sp>
        <p:nvSpPr>
          <p:cNvPr id="9" name="text-48">
            <a:extLst xmlns:a="http://schemas.openxmlformats.org/drawingml/2006/main">
              <a:ext uri="{FF2B5EF4-FFF2-40B4-BE49-F238E27FC236}">
                <a16:creationId xmlns:a16="http://schemas.microsoft.com/office/drawing/2014/main" id="{04942B0C-5FD2-4B87-9D0F-1C3D96104560}"/>
              </a:ext>
            </a:extLst>
          </p:cNvPr>
          <p:cNvSpPr>
            <a:spLocks xmlns:a="http://schemas.openxmlformats.org/drawingml/2006/main" noGrp="1"/>
          </p:cNvSpPr>
          <p:nvPr/>
        </p:nvSpPr>
        <p:spPr>
          <a:xfrm xmlns:a="http://schemas.openxmlformats.org/drawingml/2006/main">
            <a:off x="6381750" y="4895850"/>
            <a:ext cx="5334000" cy="1095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Analyze telomere content and generate summaries.</a:t>
            </a:r>
          </a:p>
        </p:txBody>
      </p:sp>
    </p:spTree>
    <p:extLst>
      <p:ext uri="{BB962C8B-B14F-4D97-AF65-F5344CB8AC3E}">
        <p14:creationId xmlns:p14="http://schemas.microsoft.com/office/powerpoint/2010/main" val="1463783836"/>
      </p:ext>
    </p:extLst>
  </p:cSld>
</p:sld>
</file>

<file path=ppt/slides/slide8.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49">
            <a:extLst xmlns:a="http://schemas.openxmlformats.org/drawingml/2006/main">
              <a:ext uri="{FF2B5EF4-FFF2-40B4-BE49-F238E27FC236}">
                <a16:creationId xmlns:a16="http://schemas.microsoft.com/office/drawing/2014/main" id="{0C07940F-2360-451F-BAB2-984E09C0A2D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BASECALLING OPTIONS</a:t>
            </a:r>
          </a:p>
        </p:txBody>
      </p:sp>
      <p:sp>
        <p:nvSpPr>
          <p:cNvPr id="2" name="text-50">
            <a:extLst xmlns:a="http://schemas.openxmlformats.org/drawingml/2006/main">
              <a:ext uri="{FF2B5EF4-FFF2-40B4-BE49-F238E27FC236}">
                <a16:creationId xmlns:a16="http://schemas.microsoft.com/office/drawing/2014/main" id="{F7756C69-1AC5-4C08-83D9-47A360608C5E}"/>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51">
            <a:extLst xmlns:a="http://schemas.openxmlformats.org/drawingml/2006/main">
              <a:ext uri="{FF2B5EF4-FFF2-40B4-BE49-F238E27FC236}">
                <a16:creationId xmlns:a16="http://schemas.microsoft.com/office/drawing/2014/main" id="{A819AA8B-77B7-4B62-9D0C-60AD8DAD81F7}"/>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08</a:t>
            </a:r>
          </a:p>
        </p:txBody>
      </p:sp>
      <p:sp>
        <p:nvSpPr>
          <p:cNvPr id="4" name="text-52">
            <a:extLst xmlns:a="http://schemas.openxmlformats.org/drawingml/2006/main">
              <a:ext uri="{FF2B5EF4-FFF2-40B4-BE49-F238E27FC236}">
                <a16:creationId xmlns:a16="http://schemas.microsoft.com/office/drawing/2014/main" id="{A8FCC4FB-174E-45A0-A953-7109CF5FC15E}"/>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Basecalling options</a:t>
            </a:r>
          </a:p>
        </p:txBody>
      </p:sp>
      <p:pic>
        <p:nvPicPr>
          <p:cNvPr id="15" name="Picture 14"/>
          <p:cNvPicPr>
            <a:picLocks xmlns:a="http://schemas.openxmlformats.org/drawingml/2006/main" noChangeAspect="1"/>
          </p:cNvPicPr>
          <p:nvPr/>
        </p:nvPicPr>
        <p:blipFill>
          <a:blip xmlns:r="http://schemas.openxmlformats.org/officeDocument/2006/relationships" xmlns:a="http://schemas.openxmlformats.org/drawingml/2006/main" r:embed="Rf816afe18a2c4a98"/>
          <a:stretch xmlns:a="http://schemas.openxmlformats.org/drawingml/2006/main"/>
        </p:blipFill>
        <p:spPr>
          <a:xfrm xmlns:a="http://schemas.openxmlformats.org/drawingml/2006/main">
            <a:off x="457200" y="2284206"/>
            <a:ext cx="7239000" cy="2461038"/>
          </a:xfrm>
          <a:prstGeom xmlns:a="http://schemas.openxmlformats.org/drawingml/2006/main" prst="rect">
            <a:avLst/>
          </a:prstGeom>
        </p:spPr>
      </p:pic>
      <p:sp>
        <p:nvSpPr>
          <p:cNvPr id="6" name="text-53">
            <a:extLst xmlns:a="http://schemas.openxmlformats.org/drawingml/2006/main">
              <a:ext uri="{FF2B5EF4-FFF2-40B4-BE49-F238E27FC236}">
                <a16:creationId xmlns:a16="http://schemas.microsoft.com/office/drawing/2014/main" id="{2405A6C0-21AD-486D-944A-47A77F533C2D}"/>
              </a:ext>
            </a:extLst>
          </p:cNvPr>
          <p:cNvSpPr>
            <a:spLocks xmlns:a="http://schemas.openxmlformats.org/drawingml/2006/main" noGrp="1"/>
          </p:cNvSpPr>
          <p:nvPr/>
        </p:nvSpPr>
        <p:spPr>
          <a:xfrm xmlns:a="http://schemas.openxmlformats.org/drawingml/2006/main">
            <a:off x="828675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B5F4DE"/>
                </a:solidFill>
                <a:latin typeface="Segoe UI"/>
                <a:ea typeface="Segoe UI"/>
                <a:cs typeface="Segoe UI"/>
              </a:defRPr>
            </a:pPr>
            <a:r>
              <a:t>Methylation Type</a:t>
            </a:r>
          </a:p>
        </p:txBody>
      </p:sp>
      <p:sp>
        <p:nvSpPr>
          <p:cNvPr id="7" name="text-54">
            <a:extLst xmlns:a="http://schemas.openxmlformats.org/drawingml/2006/main">
              <a:ext uri="{FF2B5EF4-FFF2-40B4-BE49-F238E27FC236}">
                <a16:creationId xmlns:a16="http://schemas.microsoft.com/office/drawing/2014/main" id="{593A1565-8199-477B-AF38-BA39DE44D8BD}"/>
              </a:ext>
            </a:extLst>
          </p:cNvPr>
          <p:cNvSpPr>
            <a:spLocks xmlns:a="http://schemas.openxmlformats.org/drawingml/2006/main" noGrp="1"/>
          </p:cNvSpPr>
          <p:nvPr/>
        </p:nvSpPr>
        <p:spPr>
          <a:xfrm xmlns:a="http://schemas.openxmlformats.org/drawingml/2006/main">
            <a:off x="8286750" y="2952750"/>
            <a:ext cx="3429000" cy="1562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None</a:t>
            </a:r>
          </a:p>
          <a:p xmlns:a="http://schemas.openxmlformats.org/drawingml/2006/main">
            <a:pPr>
              <a:buNone/>
              <a:defRPr sz="2250" b="0">
                <a:solidFill>
                  <a:srgbClr val="FFFFFF"/>
                </a:solidFill>
                <a:latin typeface="Segoe UI"/>
                <a:ea typeface="Segoe UI"/>
                <a:cs typeface="Segoe UI"/>
              </a:defRPr>
            </a:pPr>
            <a:r>
              <a:t>5mCpG</a:t>
            </a:r>
          </a:p>
          <a:p xmlns:a="http://schemas.openxmlformats.org/drawingml/2006/main">
            <a:pPr>
              <a:buNone/>
              <a:defRPr sz="2250" b="0">
                <a:solidFill>
                  <a:srgbClr val="FFFFFF"/>
                </a:solidFill>
                <a:latin typeface="Segoe UI"/>
                <a:ea typeface="Segoe UI"/>
                <a:cs typeface="Segoe UI"/>
              </a:defRPr>
            </a:pPr>
            <a:r>
              <a:t>5mCpG + 5hmCpG</a:t>
            </a:r>
          </a:p>
        </p:txBody>
      </p:sp>
      <p:sp>
        <p:nvSpPr>
          <p:cNvPr id="8" name="text-55">
            <a:extLst xmlns:a="http://schemas.openxmlformats.org/drawingml/2006/main">
              <a:ext uri="{FF2B5EF4-FFF2-40B4-BE49-F238E27FC236}">
                <a16:creationId xmlns:a16="http://schemas.microsoft.com/office/drawing/2014/main" id="{595BDF70-A000-4301-BC6E-7462BC48AC05}"/>
              </a:ext>
            </a:extLst>
          </p:cNvPr>
          <p:cNvSpPr>
            <a:spLocks xmlns:a="http://schemas.openxmlformats.org/drawingml/2006/main" noGrp="1"/>
          </p:cNvSpPr>
          <p:nvPr/>
        </p:nvSpPr>
        <p:spPr>
          <a:xfrm xmlns:a="http://schemas.openxmlformats.org/drawingml/2006/main">
            <a:off x="533400" y="5248275"/>
            <a:ext cx="11049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Chromosome Mapping</a:t>
            </a:r>
          </a:p>
        </p:txBody>
      </p:sp>
      <p:sp>
        <p:nvSpPr>
          <p:cNvPr id="9" name="text-56">
            <a:extLst xmlns:a="http://schemas.openxmlformats.org/drawingml/2006/main">
              <a:ext uri="{FF2B5EF4-FFF2-40B4-BE49-F238E27FC236}">
                <a16:creationId xmlns:a16="http://schemas.microsoft.com/office/drawing/2014/main" id="{F672FBA0-248C-4024-90AF-0A50D184ED86}"/>
              </a:ext>
            </a:extLst>
          </p:cNvPr>
          <p:cNvSpPr>
            <a:spLocks xmlns:a="http://schemas.openxmlformats.org/drawingml/2006/main" noGrp="1"/>
          </p:cNvSpPr>
          <p:nvPr/>
        </p:nvSpPr>
        <p:spPr>
          <a:xfrm xmlns:a="http://schemas.openxmlformats.org/drawingml/2006/main">
            <a:off x="457200" y="5800725"/>
            <a:ext cx="11239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Align reads to the genome; required when modifications are selected.</a:t>
            </a:r>
          </a:p>
        </p:txBody>
      </p:sp>
    </p:spTree>
    <p:extLst>
      <p:ext uri="{BB962C8B-B14F-4D97-AF65-F5344CB8AC3E}">
        <p14:creationId xmlns:p14="http://schemas.microsoft.com/office/powerpoint/2010/main" val="1360648963"/>
      </p:ext>
    </p:extLst>
  </p:cSld>
</p:sld>
</file>

<file path=ppt/slides/slide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57">
            <a:extLst xmlns:a="http://schemas.openxmlformats.org/drawingml/2006/main">
              <a:ext uri="{FF2B5EF4-FFF2-40B4-BE49-F238E27FC236}">
                <a16:creationId xmlns:a16="http://schemas.microsoft.com/office/drawing/2014/main" id="{B29BF157-2942-48D0-80D4-F39912FCD0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TVR OPTIONS</a:t>
            </a:r>
          </a:p>
        </p:txBody>
      </p:sp>
      <p:sp>
        <p:nvSpPr>
          <p:cNvPr id="2" name="text-58">
            <a:extLst xmlns:a="http://schemas.openxmlformats.org/drawingml/2006/main">
              <a:ext uri="{FF2B5EF4-FFF2-40B4-BE49-F238E27FC236}">
                <a16:creationId xmlns:a16="http://schemas.microsoft.com/office/drawing/2014/main" id="{70EB7BE5-9D75-477E-96E3-16A220BFBDA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59">
            <a:extLst xmlns:a="http://schemas.openxmlformats.org/drawingml/2006/main">
              <a:ext uri="{FF2B5EF4-FFF2-40B4-BE49-F238E27FC236}">
                <a16:creationId xmlns:a16="http://schemas.microsoft.com/office/drawing/2014/main" id="{1D7DBC4F-A491-49F3-8465-FDA6DA582179}"/>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09</a:t>
            </a:r>
          </a:p>
        </p:txBody>
      </p:sp>
      <p:sp>
        <p:nvSpPr>
          <p:cNvPr id="4" name="text-60">
            <a:extLst xmlns:a="http://schemas.openxmlformats.org/drawingml/2006/main">
              <a:ext uri="{FF2B5EF4-FFF2-40B4-BE49-F238E27FC236}">
                <a16:creationId xmlns:a16="http://schemas.microsoft.com/office/drawing/2014/main" id="{CAAA48A2-FEAA-4F4B-B956-18F960D35C6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TVR options</a:t>
            </a:r>
          </a:p>
        </p:txBody>
      </p:sp>
      <p:pic>
        <p:nvPicPr>
          <p:cNvPr id="18" name="Picture 17"/>
          <p:cNvPicPr>
            <a:picLocks xmlns:a="http://schemas.openxmlformats.org/drawingml/2006/main" noChangeAspect="1"/>
          </p:cNvPicPr>
          <p:nvPr/>
        </p:nvPicPr>
        <p:blipFill>
          <a:blip xmlns:r="http://schemas.openxmlformats.org/officeDocument/2006/relationships" xmlns:a="http://schemas.openxmlformats.org/drawingml/2006/main" r:embed="Ref041ab52ba44beb"/>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61">
            <a:extLst xmlns:a="http://schemas.openxmlformats.org/drawingml/2006/main">
              <a:ext uri="{FF2B5EF4-FFF2-40B4-BE49-F238E27FC236}">
                <a16:creationId xmlns:a16="http://schemas.microsoft.com/office/drawing/2014/main" id="{1EA42CB5-2EE4-4C47-8A47-2C4089BA63F7}"/>
              </a:ext>
            </a:extLst>
          </p:cNvPr>
          <p:cNvSpPr>
            <a:spLocks xmlns:a="http://schemas.openxmlformats.org/drawingml/2006/main" noGrp="1"/>
          </p:cNvSpPr>
          <p:nvPr/>
        </p:nvSpPr>
        <p:spPr>
          <a:xfrm xmlns:a="http://schemas.openxmlformats.org/drawingml/2006/main">
            <a:off x="8286750" y="207645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Preset</a:t>
            </a:r>
          </a:p>
        </p:txBody>
      </p:sp>
      <p:sp>
        <p:nvSpPr>
          <p:cNvPr id="7" name="text-62">
            <a:extLst xmlns:a="http://schemas.openxmlformats.org/drawingml/2006/main">
              <a:ext uri="{FF2B5EF4-FFF2-40B4-BE49-F238E27FC236}">
                <a16:creationId xmlns:a16="http://schemas.microsoft.com/office/drawing/2014/main" id="{E358A90B-F70E-4C9A-A7F5-3F86FFFD93B6}"/>
              </a:ext>
            </a:extLst>
          </p:cNvPr>
          <p:cNvSpPr>
            <a:spLocks xmlns:a="http://schemas.openxmlformats.org/drawingml/2006/main" noGrp="1"/>
          </p:cNvSpPr>
          <p:nvPr/>
        </p:nvSpPr>
        <p:spPr>
          <a:xfrm xmlns:a="http://schemas.openxmlformats.org/drawingml/2006/main">
            <a:off x="8286750" y="253365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Organism-specific patterns</a:t>
            </a:r>
          </a:p>
        </p:txBody>
      </p:sp>
      <p:sp>
        <p:nvSpPr>
          <p:cNvPr id="8" name="text-63">
            <a:extLst xmlns:a="http://schemas.openxmlformats.org/drawingml/2006/main">
              <a:ext uri="{FF2B5EF4-FFF2-40B4-BE49-F238E27FC236}">
                <a16:creationId xmlns:a16="http://schemas.microsoft.com/office/drawing/2014/main" id="{F13EA020-7D54-4374-BF2E-94D1D7BCBABE}"/>
              </a:ext>
            </a:extLst>
          </p:cNvPr>
          <p:cNvSpPr>
            <a:spLocks xmlns:a="http://schemas.openxmlformats.org/drawingml/2006/main" noGrp="1"/>
          </p:cNvSpPr>
          <p:nvPr/>
        </p:nvSpPr>
        <p:spPr>
          <a:xfrm xmlns:a="http://schemas.openxmlformats.org/drawingml/2006/main">
            <a:off x="8286750" y="3324225"/>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TSQ1</a:t>
            </a:r>
          </a:p>
        </p:txBody>
      </p:sp>
      <p:sp>
        <p:nvSpPr>
          <p:cNvPr id="9" name="text-64">
            <a:extLst xmlns:a="http://schemas.openxmlformats.org/drawingml/2006/main">
              <a:ext uri="{FF2B5EF4-FFF2-40B4-BE49-F238E27FC236}">
                <a16:creationId xmlns:a16="http://schemas.microsoft.com/office/drawing/2014/main" id="{470B4A04-385C-496B-9BA6-3030EA041EE1}"/>
              </a:ext>
            </a:extLst>
          </p:cNvPr>
          <p:cNvSpPr>
            <a:spLocks xmlns:a="http://schemas.openxmlformats.org/drawingml/2006/main" noGrp="1"/>
          </p:cNvSpPr>
          <p:nvPr/>
        </p:nvSpPr>
        <p:spPr>
          <a:xfrm xmlns:a="http://schemas.openxmlformats.org/drawingml/2006/main">
            <a:off x="8286750" y="3781425"/>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The TSQ1 repeat pattern</a:t>
            </a:r>
          </a:p>
        </p:txBody>
      </p:sp>
      <p:sp>
        <p:nvSpPr>
          <p:cNvPr id="10" name="text-65">
            <a:extLst xmlns:a="http://schemas.openxmlformats.org/drawingml/2006/main">
              <a:ext uri="{FF2B5EF4-FFF2-40B4-BE49-F238E27FC236}">
                <a16:creationId xmlns:a16="http://schemas.microsoft.com/office/drawing/2014/main" id="{892E5AC4-A288-4C63-8DEE-C93FE66A43D3}"/>
              </a:ext>
            </a:extLst>
          </p:cNvPr>
          <p:cNvSpPr>
            <a:spLocks xmlns:a="http://schemas.openxmlformats.org/drawingml/2006/main" noGrp="1"/>
          </p:cNvSpPr>
          <p:nvPr/>
        </p:nvSpPr>
        <p:spPr>
          <a:xfrm xmlns:a="http://schemas.openxmlformats.org/drawingml/2006/main">
            <a:off x="8286750" y="4572000"/>
            <a:ext cx="3333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2860F5"/>
                </a:solidFill>
                <a:latin typeface="Segoe UI"/>
                <a:ea typeface="Segoe UI"/>
                <a:cs typeface="Segoe UI"/>
              </a:defRPr>
            </a:pPr>
            <a:r>
              <a:t>Manual</a:t>
            </a:r>
          </a:p>
        </p:txBody>
      </p:sp>
      <p:sp>
        <p:nvSpPr>
          <p:cNvPr id="11" name="text-66">
            <a:extLst xmlns:a="http://schemas.openxmlformats.org/drawingml/2006/main">
              <a:ext uri="{FF2B5EF4-FFF2-40B4-BE49-F238E27FC236}">
                <a16:creationId xmlns:a16="http://schemas.microsoft.com/office/drawing/2014/main" id="{35CFC218-A44A-4659-A934-6A87A549DD36}"/>
              </a:ext>
            </a:extLst>
          </p:cNvPr>
          <p:cNvSpPr>
            <a:spLocks xmlns:a="http://schemas.openxmlformats.org/drawingml/2006/main" noGrp="1"/>
          </p:cNvSpPr>
          <p:nvPr/>
        </p:nvSpPr>
        <p:spPr>
          <a:xfrm xmlns:a="http://schemas.openxmlformats.org/drawingml/2006/main">
            <a:off x="8286750" y="5029200"/>
            <a:ext cx="333375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0D182A"/>
                </a:solidFill>
                <a:latin typeface="Segoe UI"/>
                <a:ea typeface="Segoe UI"/>
                <a:cs typeface="Segoe UI"/>
              </a:defRPr>
            </a:pPr>
            <a:r>
              <a:t>Your own DNA patterns</a:t>
            </a:r>
          </a:p>
        </p:txBody>
      </p:sp>
      <p:sp>
        <p:nvSpPr>
          <p:cNvPr id="12" name="text-67">
            <a:extLst xmlns:a="http://schemas.openxmlformats.org/drawingml/2006/main">
              <a:ext uri="{FF2B5EF4-FFF2-40B4-BE49-F238E27FC236}">
                <a16:creationId xmlns:a16="http://schemas.microsoft.com/office/drawing/2014/main" id="{315E14B6-056A-42F1-81E2-71AA65ED5FE9}"/>
              </a:ext>
            </a:extLst>
          </p:cNvPr>
          <p:cNvSpPr>
            <a:spLocks xmlns:a="http://schemas.openxmlformats.org/drawingml/2006/main" noGrp="1"/>
          </p:cNvSpPr>
          <p:nvPr/>
        </p:nvSpPr>
        <p:spPr>
          <a:xfrm xmlns:a="http://schemas.openxmlformats.org/drawingml/2006/main">
            <a:off x="457200" y="5648325"/>
            <a:ext cx="763524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Combine modes, or leave all unselected to skip TVR patterns.</a:t>
            </a:r>
          </a:p>
        </p:txBody>
      </p:sp>
    </p:spTree>
    <p:extLst>
      <p:ext uri="{BB962C8B-B14F-4D97-AF65-F5344CB8AC3E}">
        <p14:creationId xmlns:p14="http://schemas.microsoft.com/office/powerpoint/2010/main" val="1104009615"/>
      </p:ext>
    </p:extLst>
  </p:cSld>
</p:sld>
</file>

<file path=ppt/slides/slide10.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5" name="text-68">
            <a:extLst xmlns:a="http://schemas.openxmlformats.org/drawingml/2006/main">
              <a:ext uri="{FF2B5EF4-FFF2-40B4-BE49-F238E27FC236}">
                <a16:creationId xmlns:a16="http://schemas.microsoft.com/office/drawing/2014/main" id="{7A451CE1-AC27-4740-997E-A3DE3082EF05}"/>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PATTERN MATCHING</a:t>
            </a:r>
          </a:p>
        </p:txBody>
      </p:sp>
      <p:sp>
        <p:nvSpPr>
          <p:cNvPr id="2" name="text-69">
            <a:extLst xmlns:a="http://schemas.openxmlformats.org/drawingml/2006/main">
              <a:ext uri="{FF2B5EF4-FFF2-40B4-BE49-F238E27FC236}">
                <a16:creationId xmlns:a16="http://schemas.microsoft.com/office/drawing/2014/main" id="{7A512A98-E9EA-4FB2-91F3-3EA58EBE6631}"/>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70">
            <a:extLst xmlns:a="http://schemas.openxmlformats.org/drawingml/2006/main">
              <a:ext uri="{FF2B5EF4-FFF2-40B4-BE49-F238E27FC236}">
                <a16:creationId xmlns:a16="http://schemas.microsoft.com/office/drawing/2014/main" id="{8AF1B14A-DC75-4E00-8850-7F0A4452279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10</a:t>
            </a:r>
          </a:p>
        </p:txBody>
      </p:sp>
      <p:sp>
        <p:nvSpPr>
          <p:cNvPr id="4" name="text-71">
            <a:extLst xmlns:a="http://schemas.openxmlformats.org/drawingml/2006/main">
              <a:ext uri="{FF2B5EF4-FFF2-40B4-BE49-F238E27FC236}">
                <a16:creationId xmlns:a16="http://schemas.microsoft.com/office/drawing/2014/main" id="{33A8A0CD-89E4-4ED5-81EE-5CE8BEB5D3A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Pattern matching options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91d6db8882e5431c"/>
          <a:stretch xmlns:a="http://schemas.openxmlformats.org/drawingml/2006/main"/>
        </p:blipFill>
        <p:spPr>
          <a:xfrm xmlns:a="http://schemas.openxmlformats.org/drawingml/2006/main">
            <a:off x="457200" y="2399225"/>
            <a:ext cx="5143500" cy="2107176"/>
          </a:xfrm>
          <a:prstGeom xmlns:a="http://schemas.openxmlformats.org/drawingml/2006/main" prst="rect">
            <a:avLst/>
          </a:prstGeom>
        </p:spPr>
      </p:pic>
      <p:sp>
        <p:nvSpPr>
          <p:cNvPr id="6" name="text-72">
            <a:extLst xmlns:a="http://schemas.openxmlformats.org/drawingml/2006/main">
              <a:ext uri="{FF2B5EF4-FFF2-40B4-BE49-F238E27FC236}">
                <a16:creationId xmlns:a16="http://schemas.microsoft.com/office/drawing/2014/main" id="{7F806321-704A-49F4-9725-D75840278ED2}"/>
              </a:ext>
            </a:extLst>
          </p:cNvPr>
          <p:cNvSpPr>
            <a:spLocks xmlns:a="http://schemas.openxmlformats.org/drawingml/2006/main" noGrp="1"/>
          </p:cNvSpPr>
          <p:nvPr/>
        </p:nvSpPr>
        <p:spPr>
          <a:xfrm xmlns:a="http://schemas.openxmlformats.org/drawingml/2006/main">
            <a:off x="533400" y="5076825"/>
            <a:ext cx="519112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Manual patterns</a:t>
            </a:r>
          </a:p>
        </p:txBody>
      </p:sp>
      <p:sp>
        <p:nvSpPr>
          <p:cNvPr id="7" name="text-73">
            <a:extLst xmlns:a="http://schemas.openxmlformats.org/drawingml/2006/main">
              <a:ext uri="{FF2B5EF4-FFF2-40B4-BE49-F238E27FC236}">
                <a16:creationId xmlns:a16="http://schemas.microsoft.com/office/drawing/2014/main" id="{64913607-7C6E-4AAC-894E-A54ADF9F8A88}"/>
              </a:ext>
            </a:extLst>
          </p:cNvPr>
          <p:cNvSpPr>
            <a:spLocks xmlns:a="http://schemas.openxmlformats.org/drawingml/2006/main" noGrp="1"/>
          </p:cNvSpPr>
          <p:nvPr/>
        </p:nvSpPr>
        <p:spPr>
          <a:xfrm xmlns:a="http://schemas.openxmlformats.org/drawingml/2006/main">
            <a:off x="457200" y="5686425"/>
            <a:ext cx="51911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Enter DNA patterns separated by spaces.</a:t>
            </a:r>
          </a:p>
        </p:txBody>
      </p:sp>
      <p:sp>
        <p:nvSpPr>
          <p:cNvPr id="8" name="text-74">
            <a:extLst xmlns:a="http://schemas.openxmlformats.org/drawingml/2006/main">
              <a:ext uri="{FF2B5EF4-FFF2-40B4-BE49-F238E27FC236}">
                <a16:creationId xmlns:a16="http://schemas.microsoft.com/office/drawing/2014/main" id="{741EEF5D-51CD-42DA-82C6-4C86EE45F9FF}"/>
              </a:ext>
            </a:extLst>
          </p:cNvPr>
          <p:cNvSpPr>
            <a:spLocks xmlns:a="http://schemas.openxmlformats.org/drawingml/2006/main" noGrp="1"/>
          </p:cNvSpPr>
          <p:nvPr/>
        </p:nvSpPr>
        <p:spPr>
          <a:xfrm xmlns:a="http://schemas.openxmlformats.org/drawingml/2006/main">
            <a:off x="6381750" y="227647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Allow 1 mismatch</a:t>
            </a:r>
          </a:p>
        </p:txBody>
      </p:sp>
      <p:sp>
        <p:nvSpPr>
          <p:cNvPr id="9" name="text-75">
            <a:extLst xmlns:a="http://schemas.openxmlformats.org/drawingml/2006/main">
              <a:ext uri="{FF2B5EF4-FFF2-40B4-BE49-F238E27FC236}">
                <a16:creationId xmlns:a16="http://schemas.microsoft.com/office/drawing/2014/main" id="{2A906778-4FD5-462D-9DE4-0A252D5F6993}"/>
              </a:ext>
            </a:extLst>
          </p:cNvPr>
          <p:cNvSpPr>
            <a:spLocks xmlns:a="http://schemas.openxmlformats.org/drawingml/2006/main" noGrp="1"/>
          </p:cNvSpPr>
          <p:nvPr/>
        </p:nvSpPr>
        <p:spPr>
          <a:xfrm xmlns:a="http://schemas.openxmlformats.org/drawingml/2006/main">
            <a:off x="6381750" y="2971800"/>
            <a:ext cx="533400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Permit one difference in telomere and TVR patterns.</a:t>
            </a:r>
          </a:p>
        </p:txBody>
      </p:sp>
      <p:sp>
        <p:nvSpPr>
          <p:cNvPr id="10" name="text-76">
            <a:extLst xmlns:a="http://schemas.openxmlformats.org/drawingml/2006/main">
              <a:ext uri="{FF2B5EF4-FFF2-40B4-BE49-F238E27FC236}">
                <a16:creationId xmlns:a16="http://schemas.microsoft.com/office/drawing/2014/main" id="{73A9EA40-5481-4503-AA85-5F9F90695B51}"/>
              </a:ext>
            </a:extLst>
          </p:cNvPr>
          <p:cNvSpPr>
            <a:spLocks xmlns:a="http://schemas.openxmlformats.org/drawingml/2006/main" noGrp="1"/>
          </p:cNvSpPr>
          <p:nvPr/>
        </p:nvSpPr>
        <p:spPr>
          <a:xfrm xmlns:a="http://schemas.openxmlformats.org/drawingml/2006/main">
            <a:off x="6381750" y="4552950"/>
            <a:ext cx="5334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0D182A"/>
                </a:solidFill>
                <a:latin typeface="Segoe UI"/>
                <a:ea typeface="Segoe UI"/>
                <a:cs typeface="Segoe UI"/>
              </a:defRPr>
            </a:pPr>
            <a:r>
              <a:t>Preset uses exact matching.</a:t>
            </a:r>
          </a:p>
        </p:txBody>
      </p:sp>
      <p:sp>
        <p:nvSpPr>
          <p:cNvPr id="11" name="text-77">
            <a:extLst xmlns:a="http://schemas.openxmlformats.org/drawingml/2006/main">
              <a:ext uri="{FF2B5EF4-FFF2-40B4-BE49-F238E27FC236}">
                <a16:creationId xmlns:a16="http://schemas.microsoft.com/office/drawing/2014/main" id="{DBD5FD1C-1194-456C-90D5-D489DC901769}"/>
              </a:ext>
            </a:extLst>
          </p:cNvPr>
          <p:cNvSpPr>
            <a:spLocks xmlns:a="http://schemas.openxmlformats.org/drawingml/2006/main" noGrp="1"/>
          </p:cNvSpPr>
          <p:nvPr/>
        </p:nvSpPr>
        <p:spPr>
          <a:xfrm xmlns:a="http://schemas.openxmlformats.org/drawingml/2006/main">
            <a:off x="6381750" y="5314950"/>
            <a:ext cx="53340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Selecting Preset disables the mismatch option.</a:t>
            </a:r>
          </a:p>
        </p:txBody>
      </p:sp>
    </p:spTree>
    <p:extLst>
      <p:ext uri="{BB962C8B-B14F-4D97-AF65-F5344CB8AC3E}">
        <p14:creationId xmlns:p14="http://schemas.microsoft.com/office/powerpoint/2010/main" val="656073071"/>
      </p:ext>
    </p:extLst>
  </p:cSld>
</p:sld>
</file>

<file path=ppt/slides/slide11.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5" name="text-78">
            <a:extLst xmlns:a="http://schemas.openxmlformats.org/drawingml/2006/main">
              <a:ext uri="{FF2B5EF4-FFF2-40B4-BE49-F238E27FC236}">
                <a16:creationId xmlns:a16="http://schemas.microsoft.com/office/drawing/2014/main" id="{10FEC68C-6DD7-425E-8BF9-ED9A3C10E10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NANOTEL • NUMERIC OPTIONS</a:t>
            </a:r>
          </a:p>
        </p:txBody>
      </p:sp>
      <p:sp>
        <p:nvSpPr>
          <p:cNvPr id="2" name="text-79">
            <a:extLst xmlns:a="http://schemas.openxmlformats.org/drawingml/2006/main">
              <a:ext uri="{FF2B5EF4-FFF2-40B4-BE49-F238E27FC236}">
                <a16:creationId xmlns:a16="http://schemas.microsoft.com/office/drawing/2014/main" id="{35C42D44-8886-4F7D-9691-75394D651D7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80">
            <a:extLst xmlns:a="http://schemas.openxmlformats.org/drawingml/2006/main">
              <a:ext uri="{FF2B5EF4-FFF2-40B4-BE49-F238E27FC236}">
                <a16:creationId xmlns:a16="http://schemas.microsoft.com/office/drawing/2014/main" id="{2DB7CDFB-7300-4838-AA82-AF0751716F04}"/>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11</a:t>
            </a:r>
          </a:p>
        </p:txBody>
      </p:sp>
      <p:sp>
        <p:nvSpPr>
          <p:cNvPr id="4" name="text-81">
            <a:extLst xmlns:a="http://schemas.openxmlformats.org/drawingml/2006/main">
              <a:ext uri="{FF2B5EF4-FFF2-40B4-BE49-F238E27FC236}">
                <a16:creationId xmlns:a16="http://schemas.microsoft.com/office/drawing/2014/main" id="{F81D1C75-A9B2-4D9E-B209-8AB9BEA11B56}"/>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275" b="1">
                <a:solidFill>
                  <a:srgbClr val="0D182A"/>
                </a:solidFill>
                <a:latin typeface="Segoe UI"/>
                <a:ea typeface="Segoe UI"/>
                <a:cs typeface="Segoe UI"/>
              </a:defRPr>
            </a:pPr>
            <a:r>
              <a:rPr sz="4275" b="1">
                <a:solidFill>
                  <a:srgbClr val="0D182A"/>
                </a:solidFill>
                <a:latin typeface="Arial"/>
                <a:ea typeface="Arial"/>
                <a:cs typeface="Arial"/>
              </a:rPr>
              <a:t>Filtering and reporting parameters</a:t>
            </a:r>
          </a:p>
        </p:txBody>
      </p:sp>
      <p:sp>
        <p:nvSpPr>
          <p:cNvPr id="5" name="text-82">
            <a:extLst xmlns:a="http://schemas.openxmlformats.org/drawingml/2006/main">
              <a:ext uri="{FF2B5EF4-FFF2-40B4-BE49-F238E27FC236}">
                <a16:creationId xmlns:a16="http://schemas.microsoft.com/office/drawing/2014/main" id="{1C535630-D523-4540-B77F-08EC5F1BA43E}"/>
              </a:ext>
            </a:extLst>
          </p:cNvPr>
          <p:cNvSpPr>
            <a:spLocks xmlns:a="http://schemas.openxmlformats.org/drawingml/2006/main" noGrp="1"/>
          </p:cNvSpPr>
          <p:nvPr/>
        </p:nvSpPr>
        <p:spPr>
          <a:xfrm xmlns:a="http://schemas.openxmlformats.org/drawingml/2006/main">
            <a:off x="457200" y="21431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Read Length (bp)</a:t>
            </a:r>
          </a:p>
        </p:txBody>
      </p:sp>
      <p:sp>
        <p:nvSpPr>
          <p:cNvPr id="6" name="text-83">
            <a:extLst xmlns:a="http://schemas.openxmlformats.org/drawingml/2006/main">
              <a:ext uri="{FF2B5EF4-FFF2-40B4-BE49-F238E27FC236}">
                <a16:creationId xmlns:a16="http://schemas.microsoft.com/office/drawing/2014/main" id="{DA59870A-A5B2-4C1B-8C03-572ED051A401}"/>
              </a:ext>
            </a:extLst>
          </p:cNvPr>
          <p:cNvSpPr>
            <a:spLocks xmlns:a="http://schemas.openxmlformats.org/drawingml/2006/main" noGrp="1"/>
          </p:cNvSpPr>
          <p:nvPr/>
        </p:nvSpPr>
        <p:spPr>
          <a:xfrm xmlns:a="http://schemas.openxmlformats.org/drawingml/2006/main">
            <a:off x="5810250" y="21431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accepted read length</a:t>
            </a:r>
          </a:p>
        </p:txBody>
      </p:sp>
      <p:sp>
        <p:nvSpPr>
          <p:cNvPr id="7" name="text-84">
            <a:extLst xmlns:a="http://schemas.openxmlformats.org/drawingml/2006/main">
              <a:ext uri="{FF2B5EF4-FFF2-40B4-BE49-F238E27FC236}">
                <a16:creationId xmlns:a16="http://schemas.microsoft.com/office/drawing/2014/main" id="{4FD33363-0FAB-487D-8059-701B40F76206}"/>
              </a:ext>
            </a:extLst>
          </p:cNvPr>
          <p:cNvSpPr>
            <a:spLocks xmlns:a="http://schemas.openxmlformats.org/drawingml/2006/main" noGrp="1"/>
          </p:cNvSpPr>
          <p:nvPr/>
        </p:nvSpPr>
        <p:spPr>
          <a:xfrm xmlns:a="http://schemas.openxmlformats.org/drawingml/2006/main">
            <a:off x="457200" y="29432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Edge Distance</a:t>
            </a:r>
          </a:p>
        </p:txBody>
      </p:sp>
      <p:sp>
        <p:nvSpPr>
          <p:cNvPr id="8" name="text-85">
            <a:extLst xmlns:a="http://schemas.openxmlformats.org/drawingml/2006/main">
              <a:ext uri="{FF2B5EF4-FFF2-40B4-BE49-F238E27FC236}">
                <a16:creationId xmlns:a16="http://schemas.microsoft.com/office/drawing/2014/main" id="{8D242702-1B21-4DB5-AAED-184B245AB261}"/>
              </a:ext>
            </a:extLst>
          </p:cNvPr>
          <p:cNvSpPr>
            <a:spLocks xmlns:a="http://schemas.openxmlformats.org/drawingml/2006/main" noGrp="1"/>
          </p:cNvSpPr>
          <p:nvPr/>
        </p:nvSpPr>
        <p:spPr>
          <a:xfrm xmlns:a="http://schemas.openxmlformats.org/drawingml/2006/main">
            <a:off x="5810250" y="29432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Allowed distance from a read end</a:t>
            </a:r>
          </a:p>
        </p:txBody>
      </p:sp>
      <p:sp>
        <p:nvSpPr>
          <p:cNvPr id="9" name="text-86">
            <a:extLst xmlns:a="http://schemas.openxmlformats.org/drawingml/2006/main">
              <a:ext uri="{FF2B5EF4-FFF2-40B4-BE49-F238E27FC236}">
                <a16:creationId xmlns:a16="http://schemas.microsoft.com/office/drawing/2014/main" id="{43A73DB9-1E6A-4FC5-BAE3-E98DAE20B87F}"/>
              </a:ext>
            </a:extLst>
          </p:cNvPr>
          <p:cNvSpPr>
            <a:spLocks xmlns:a="http://schemas.openxmlformats.org/drawingml/2006/main" noGrp="1"/>
          </p:cNvSpPr>
          <p:nvPr/>
        </p:nvSpPr>
        <p:spPr>
          <a:xfrm xmlns:a="http://schemas.openxmlformats.org/drawingml/2006/main">
            <a:off x="457200" y="37433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Max Telomere Start</a:t>
            </a:r>
          </a:p>
        </p:txBody>
      </p:sp>
      <p:sp>
        <p:nvSpPr>
          <p:cNvPr id="10" name="text-87">
            <a:extLst xmlns:a="http://schemas.openxmlformats.org/drawingml/2006/main">
              <a:ext uri="{FF2B5EF4-FFF2-40B4-BE49-F238E27FC236}">
                <a16:creationId xmlns:a16="http://schemas.microsoft.com/office/drawing/2014/main" id="{876E5015-A3C6-45BD-ACFB-349B0F005236}"/>
              </a:ext>
            </a:extLst>
          </p:cNvPr>
          <p:cNvSpPr>
            <a:spLocks xmlns:a="http://schemas.openxmlformats.org/drawingml/2006/main" noGrp="1"/>
          </p:cNvSpPr>
          <p:nvPr/>
        </p:nvSpPr>
        <p:spPr>
          <a:xfrm xmlns:a="http://schemas.openxmlformats.org/drawingml/2006/main">
            <a:off x="5810250" y="37433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Limit on the telomere start position</a:t>
            </a:r>
          </a:p>
        </p:txBody>
      </p:sp>
      <p:sp>
        <p:nvSpPr>
          <p:cNvPr id="11" name="text-88">
            <a:extLst xmlns:a="http://schemas.openxmlformats.org/drawingml/2006/main">
              <a:ext uri="{FF2B5EF4-FFF2-40B4-BE49-F238E27FC236}">
                <a16:creationId xmlns:a16="http://schemas.microsoft.com/office/drawing/2014/main" id="{90DCC6FE-B7AB-4CB0-BA13-9438CDFA681C}"/>
              </a:ext>
            </a:extLst>
          </p:cNvPr>
          <p:cNvSpPr>
            <a:spLocks xmlns:a="http://schemas.openxmlformats.org/drawingml/2006/main" noGrp="1"/>
          </p:cNvSpPr>
          <p:nvPr/>
        </p:nvSpPr>
        <p:spPr>
          <a:xfrm xmlns:a="http://schemas.openxmlformats.org/drawingml/2006/main">
            <a:off x="457200" y="45434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Min Density</a:t>
            </a:r>
          </a:p>
        </p:txBody>
      </p:sp>
      <p:sp>
        <p:nvSpPr>
          <p:cNvPr id="12" name="text-89">
            <a:extLst xmlns:a="http://schemas.openxmlformats.org/drawingml/2006/main">
              <a:ext uri="{FF2B5EF4-FFF2-40B4-BE49-F238E27FC236}">
                <a16:creationId xmlns:a16="http://schemas.microsoft.com/office/drawing/2014/main" id="{804E35AA-5C3E-4DB2-91EB-B834FC722828}"/>
              </a:ext>
            </a:extLst>
          </p:cNvPr>
          <p:cNvSpPr>
            <a:spLocks xmlns:a="http://schemas.openxmlformats.org/drawingml/2006/main" noGrp="1"/>
          </p:cNvSpPr>
          <p:nvPr/>
        </p:nvSpPr>
        <p:spPr>
          <a:xfrm xmlns:a="http://schemas.openxmlformats.org/drawingml/2006/main">
            <a:off x="5810250" y="45434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Minimum telomeric-repeat density</a:t>
            </a:r>
          </a:p>
        </p:txBody>
      </p:sp>
      <p:sp>
        <p:nvSpPr>
          <p:cNvPr id="13" name="text-90">
            <a:extLst xmlns:a="http://schemas.openxmlformats.org/drawingml/2006/main">
              <a:ext uri="{FF2B5EF4-FFF2-40B4-BE49-F238E27FC236}">
                <a16:creationId xmlns:a16="http://schemas.microsoft.com/office/drawing/2014/main" id="{F9DDD254-8BD2-46C6-B33C-20D92F9CE2BC}"/>
              </a:ext>
            </a:extLst>
          </p:cNvPr>
          <p:cNvSpPr>
            <a:spLocks xmlns:a="http://schemas.openxmlformats.org/drawingml/2006/main" noGrp="1"/>
          </p:cNvSpPr>
          <p:nvPr/>
        </p:nvSpPr>
        <p:spPr>
          <a:xfrm xmlns:a="http://schemas.openxmlformats.org/drawingml/2006/main">
            <a:off x="457200" y="5343525"/>
            <a:ext cx="4667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1">
                <a:solidFill>
                  <a:srgbClr val="2860F5"/>
                </a:solidFill>
                <a:latin typeface="Segoe UI"/>
                <a:ea typeface="Segoe UI"/>
                <a:cs typeface="Segoe UI"/>
              </a:defRPr>
            </a:pPr>
            <a:r>
              <a:t>Short Telomere Cutoff</a:t>
            </a:r>
          </a:p>
        </p:txBody>
      </p:sp>
      <p:sp>
        <p:nvSpPr>
          <p:cNvPr id="14" name="text-91">
            <a:extLst xmlns:a="http://schemas.openxmlformats.org/drawingml/2006/main">
              <a:ext uri="{FF2B5EF4-FFF2-40B4-BE49-F238E27FC236}">
                <a16:creationId xmlns:a16="http://schemas.microsoft.com/office/drawing/2014/main" id="{ADCEBAC6-4837-4943-8C12-DA4876E469D9}"/>
              </a:ext>
            </a:extLst>
          </p:cNvPr>
          <p:cNvSpPr>
            <a:spLocks xmlns:a="http://schemas.openxmlformats.org/drawingml/2006/main" noGrp="1"/>
          </p:cNvSpPr>
          <p:nvPr/>
        </p:nvSpPr>
        <p:spPr>
          <a:xfrm xmlns:a="http://schemas.openxmlformats.org/drawingml/2006/main">
            <a:off x="5810250" y="5343525"/>
            <a:ext cx="59055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Report the percentage below this length</a:t>
            </a:r>
          </a:p>
        </p:txBody>
      </p:sp>
    </p:spTree>
    <p:extLst>
      <p:ext uri="{BB962C8B-B14F-4D97-AF65-F5344CB8AC3E}">
        <p14:creationId xmlns:p14="http://schemas.microsoft.com/office/powerpoint/2010/main" val="925002915"/>
      </p:ext>
    </p:extLst>
  </p:cSld>
</p:sld>
</file>

<file path=ppt/slides/slide12.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5" name="text-92">
            <a:extLst xmlns:a="http://schemas.openxmlformats.org/drawingml/2006/main">
              <a:ext uri="{FF2B5EF4-FFF2-40B4-BE49-F238E27FC236}">
                <a16:creationId xmlns:a16="http://schemas.microsoft.com/office/drawing/2014/main" id="{42B91FFF-E6A0-45C3-ACDF-880930A188E6}"/>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NANOTEL • OUTPUT OPTIONS</a:t>
            </a:r>
          </a:p>
        </p:txBody>
      </p:sp>
      <p:sp>
        <p:nvSpPr>
          <p:cNvPr id="2" name="text-93">
            <a:extLst xmlns:a="http://schemas.openxmlformats.org/drawingml/2006/main">
              <a:ext uri="{FF2B5EF4-FFF2-40B4-BE49-F238E27FC236}">
                <a16:creationId xmlns:a16="http://schemas.microsoft.com/office/drawing/2014/main" id="{EA9DA0AE-CE58-4DA0-8314-5F76C5501A6D}"/>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94">
            <a:extLst xmlns:a="http://schemas.openxmlformats.org/drawingml/2006/main">
              <a:ext uri="{FF2B5EF4-FFF2-40B4-BE49-F238E27FC236}">
                <a16:creationId xmlns:a16="http://schemas.microsoft.com/office/drawing/2014/main" id="{4D5F4A65-F6D6-4CC6-B122-37061B171B52}"/>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12</a:t>
            </a:r>
          </a:p>
        </p:txBody>
      </p:sp>
      <p:sp>
        <p:nvSpPr>
          <p:cNvPr id="4" name="text-95">
            <a:extLst xmlns:a="http://schemas.openxmlformats.org/drawingml/2006/main">
              <a:ext uri="{FF2B5EF4-FFF2-40B4-BE49-F238E27FC236}">
                <a16:creationId xmlns:a16="http://schemas.microsoft.com/office/drawing/2014/main" id="{49D933FA-4F06-43CF-96A7-FCA3D7FB631A}"/>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Segoe UI"/>
                <a:ea typeface="Segoe UI"/>
                <a:cs typeface="Segoe UI"/>
              </a:defRPr>
            </a:pPr>
            <a:r>
              <a:rPr sz="4650" b="1">
                <a:solidFill>
                  <a:srgbClr val="FFFFFF"/>
                </a:solidFill>
                <a:latin typeface="Arial"/>
                <a:ea typeface="Arial"/>
                <a:cs typeface="Arial"/>
              </a:rPr>
              <a:t>NanoTel output options</a:t>
            </a:r>
          </a:p>
        </p:txBody>
      </p:sp>
      <p:pic>
        <p:nvPicPr>
          <p:cNvPr id="16" name="Picture 15"/>
          <p:cNvPicPr>
            <a:picLocks xmlns:a="http://schemas.openxmlformats.org/drawingml/2006/main" noChangeAspect="1"/>
          </p:cNvPicPr>
          <p:nvPr/>
        </p:nvPicPr>
        <p:blipFill>
          <a:blip xmlns:r="http://schemas.openxmlformats.org/officeDocument/2006/relationships" xmlns:a="http://schemas.openxmlformats.org/drawingml/2006/main" r:embed="R138e787564734f18"/>
          <a:stretch xmlns:a="http://schemas.openxmlformats.org/drawingml/2006/main"/>
        </p:blipFill>
        <p:spPr>
          <a:xfrm xmlns:a="http://schemas.openxmlformats.org/drawingml/2006/main">
            <a:off x="457200" y="2150856"/>
            <a:ext cx="7239000" cy="2461038"/>
          </a:xfrm>
          <a:prstGeom xmlns:a="http://schemas.openxmlformats.org/drawingml/2006/main" prst="rect">
            <a:avLst/>
          </a:prstGeom>
        </p:spPr>
      </p:pic>
      <p:sp>
        <p:nvSpPr>
          <p:cNvPr id="6" name="text-96">
            <a:extLst xmlns:a="http://schemas.openxmlformats.org/drawingml/2006/main">
              <a:ext uri="{FF2B5EF4-FFF2-40B4-BE49-F238E27FC236}">
                <a16:creationId xmlns:a16="http://schemas.microsoft.com/office/drawing/2014/main" id="{A8C42833-F201-443A-B542-FB52D3230E1C}"/>
              </a:ext>
            </a:extLst>
          </p:cNvPr>
          <p:cNvSpPr>
            <a:spLocks xmlns:a="http://schemas.openxmlformats.org/drawingml/2006/main" noGrp="1"/>
          </p:cNvSpPr>
          <p:nvPr/>
        </p:nvSpPr>
        <p:spPr>
          <a:xfrm xmlns:a="http://schemas.openxmlformats.org/drawingml/2006/main">
            <a:off x="8286750" y="2190750"/>
            <a:ext cx="333375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Summary only</a:t>
            </a:r>
          </a:p>
        </p:txBody>
      </p:sp>
      <p:sp>
        <p:nvSpPr>
          <p:cNvPr id="7" name="text-97">
            <a:extLst xmlns:a="http://schemas.openxmlformats.org/drawingml/2006/main">
              <a:ext uri="{FF2B5EF4-FFF2-40B4-BE49-F238E27FC236}">
                <a16:creationId xmlns:a16="http://schemas.microsoft.com/office/drawing/2014/main" id="{45188749-4649-4C68-8596-DCF85F481F71}"/>
              </a:ext>
            </a:extLst>
          </p:cNvPr>
          <p:cNvSpPr>
            <a:spLocks xmlns:a="http://schemas.openxmlformats.org/drawingml/2006/main" noGrp="1"/>
          </p:cNvSpPr>
          <p:nvPr/>
        </p:nvSpPr>
        <p:spPr>
          <a:xfrm xmlns:a="http://schemas.openxmlformats.org/drawingml/2006/main">
            <a:off x="8286750" y="2857500"/>
            <a:ext cx="3333750" cy="1143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Compact summaries in one Excel workbook.</a:t>
            </a:r>
          </a:p>
        </p:txBody>
      </p:sp>
      <p:sp>
        <p:nvSpPr>
          <p:cNvPr id="8" name="text-98">
            <a:extLst xmlns:a="http://schemas.openxmlformats.org/drawingml/2006/main">
              <a:ext uri="{FF2B5EF4-FFF2-40B4-BE49-F238E27FC236}">
                <a16:creationId xmlns:a16="http://schemas.microsoft.com/office/drawing/2014/main" id="{D2176879-2AD8-43D5-93B3-62F322FD9659}"/>
              </a:ext>
            </a:extLst>
          </p:cNvPr>
          <p:cNvSpPr>
            <a:spLocks xmlns:a="http://schemas.openxmlformats.org/drawingml/2006/main" noGrp="1"/>
          </p:cNvSpPr>
          <p:nvPr/>
        </p:nvSpPr>
        <p:spPr>
          <a:xfrm xmlns:a="http://schemas.openxmlformats.org/drawingml/2006/main">
            <a:off x="8286750" y="4381500"/>
            <a:ext cx="3333750" cy="1476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FFFFFF"/>
                </a:solidFill>
                <a:latin typeface="Segoe UI"/>
                <a:ea typeface="Segoe UI"/>
                <a:cs typeface="Segoe UI"/>
              </a:defRPr>
            </a:pPr>
            <a:r>
              <a:t>Off: include individual read plots and FASTA files.</a:t>
            </a:r>
          </a:p>
        </p:txBody>
      </p:sp>
      <p:sp>
        <p:nvSpPr>
          <p:cNvPr id="9" name="text-99">
            <a:extLst xmlns:a="http://schemas.openxmlformats.org/drawingml/2006/main">
              <a:ext uri="{FF2B5EF4-FFF2-40B4-BE49-F238E27FC236}">
                <a16:creationId xmlns:a16="http://schemas.microsoft.com/office/drawing/2014/main" id="{4BFB72F0-B871-416E-BCAA-7E7E3E8431B1}"/>
              </a:ext>
            </a:extLst>
          </p:cNvPr>
          <p:cNvSpPr>
            <a:spLocks xmlns:a="http://schemas.openxmlformats.org/drawingml/2006/main" noGrp="1"/>
          </p:cNvSpPr>
          <p:nvPr/>
        </p:nvSpPr>
        <p:spPr>
          <a:xfrm xmlns:a="http://schemas.openxmlformats.org/drawingml/2006/main">
            <a:off x="533400" y="5143500"/>
            <a:ext cx="723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B5F4DE"/>
                </a:solidFill>
                <a:latin typeface="Segoe UI"/>
                <a:ea typeface="Segoe UI"/>
                <a:cs typeface="Segoe UI"/>
              </a:defRPr>
            </a:pPr>
            <a:r>
              <a:t>Run mapping</a:t>
            </a:r>
          </a:p>
        </p:txBody>
      </p:sp>
      <p:sp>
        <p:nvSpPr>
          <p:cNvPr id="10" name="text-100">
            <a:extLst xmlns:a="http://schemas.openxmlformats.org/drawingml/2006/main">
              <a:ext uri="{FF2B5EF4-FFF2-40B4-BE49-F238E27FC236}">
                <a16:creationId xmlns:a16="http://schemas.microsoft.com/office/drawing/2014/main" id="{3895C555-FD8F-431E-8516-90D535F2DF79}"/>
              </a:ext>
            </a:extLst>
          </p:cNvPr>
          <p:cNvSpPr>
            <a:spLocks xmlns:a="http://schemas.openxmlformats.org/drawingml/2006/main" noGrp="1"/>
          </p:cNvSpPr>
          <p:nvPr/>
        </p:nvSpPr>
        <p:spPr>
          <a:xfrm xmlns:a="http://schemas.openxmlformats.org/drawingml/2006/main">
            <a:off x="457200" y="5772150"/>
            <a:ext cx="7239000" cy="4381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250" b="0">
                <a:solidFill>
                  <a:srgbClr val="FFFFFF"/>
                </a:solidFill>
                <a:latin typeface="Segoe UI"/>
                <a:ea typeface="Segoe UI"/>
                <a:cs typeface="Segoe UI"/>
              </a:defRPr>
            </a:pPr>
            <a:r>
              <a:t>Map NanoTel reads to the genome.</a:t>
            </a:r>
          </a:p>
        </p:txBody>
      </p:sp>
    </p:spTree>
    <p:extLst>
      <p:ext uri="{BB962C8B-B14F-4D97-AF65-F5344CB8AC3E}">
        <p14:creationId xmlns:p14="http://schemas.microsoft.com/office/powerpoint/2010/main" val="1417982856"/>
      </p:ext>
    </p:extLst>
  </p:cSld>
</p:sld>
</file>

<file path=ppt/slides/slide13.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7" name="text-101">
            <a:extLst xmlns:a="http://schemas.openxmlformats.org/drawingml/2006/main">
              <a:ext uri="{FF2B5EF4-FFF2-40B4-BE49-F238E27FC236}">
                <a16:creationId xmlns:a16="http://schemas.microsoft.com/office/drawing/2014/main" id="{133A806F-D9E6-4C9B-8F54-63BD63F9CF4D}"/>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HELP AND INPUT QUESTIONS</a:t>
            </a:r>
          </a:p>
        </p:txBody>
      </p:sp>
      <p:sp>
        <p:nvSpPr>
          <p:cNvPr id="2" name="text-102">
            <a:extLst xmlns:a="http://schemas.openxmlformats.org/drawingml/2006/main">
              <a:ext uri="{FF2B5EF4-FFF2-40B4-BE49-F238E27FC236}">
                <a16:creationId xmlns:a16="http://schemas.microsoft.com/office/drawing/2014/main" id="{D5A21DF3-7F90-4C64-8B1A-51F554E018C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03">
            <a:extLst xmlns:a="http://schemas.openxmlformats.org/drawingml/2006/main">
              <a:ext uri="{FF2B5EF4-FFF2-40B4-BE49-F238E27FC236}">
                <a16:creationId xmlns:a16="http://schemas.microsoft.com/office/drawing/2014/main" id="{E4CCD158-41B3-4E02-98D0-8C721D890B21}"/>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13</a:t>
            </a:r>
          </a:p>
        </p:txBody>
      </p:sp>
      <p:sp>
        <p:nvSpPr>
          <p:cNvPr id="4" name="text-104">
            <a:extLst xmlns:a="http://schemas.openxmlformats.org/drawingml/2006/main">
              <a:ext uri="{FF2B5EF4-FFF2-40B4-BE49-F238E27FC236}">
                <a16:creationId xmlns:a16="http://schemas.microsoft.com/office/drawing/2014/main" id="{A1D3D275-F736-4178-8F27-3D3264FA2950}"/>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Help and input settings</a:t>
            </a:r>
          </a:p>
        </p:txBody>
      </p:sp>
      <p:sp>
        <p:nvSpPr>
          <p:cNvPr id="5" name="text-105">
            <a:extLst xmlns:a="http://schemas.openxmlformats.org/drawingml/2006/main">
              <a:ext uri="{FF2B5EF4-FFF2-40B4-BE49-F238E27FC236}">
                <a16:creationId xmlns:a16="http://schemas.microsoft.com/office/drawing/2014/main" id="{CD673756-1141-4E4F-9E70-D02B65A4D8F4}"/>
              </a:ext>
            </a:extLst>
          </p:cNvPr>
          <p:cNvSpPr>
            <a:spLocks xmlns:a="http://schemas.openxmlformats.org/drawingml/2006/main" noGrp="1"/>
          </p:cNvSpPr>
          <p:nvPr/>
        </p:nvSpPr>
        <p:spPr>
          <a:xfrm xmlns:a="http://schemas.openxmlformats.org/drawingml/2006/main">
            <a:off x="533400" y="2238375"/>
            <a:ext cx="519112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Built-in help</a:t>
            </a:r>
          </a:p>
        </p:txBody>
      </p:sp>
      <p:sp>
        <p:nvSpPr>
          <p:cNvPr id="6" name="text-106">
            <a:extLst xmlns:a="http://schemas.openxmlformats.org/drawingml/2006/main">
              <a:ext uri="{FF2B5EF4-FFF2-40B4-BE49-F238E27FC236}">
                <a16:creationId xmlns:a16="http://schemas.microsoft.com/office/drawing/2014/main" id="{A95C4A8D-F996-4FE2-8400-3C44EEA8174D}"/>
              </a:ext>
            </a:extLst>
          </p:cNvPr>
          <p:cNvSpPr>
            <a:spLocks xmlns:a="http://schemas.openxmlformats.org/drawingml/2006/main" noGrp="1"/>
          </p:cNvSpPr>
          <p:nvPr/>
        </p:nvSpPr>
        <p:spPr>
          <a:xfrm xmlns:a="http://schemas.openxmlformats.org/drawingml/2006/main">
            <a:off x="457200" y="3048000"/>
            <a:ext cx="5191125" cy="2333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0">
                <a:solidFill>
                  <a:srgbClr val="0D182A"/>
                </a:solidFill>
                <a:latin typeface="Segoe UI"/>
                <a:ea typeface="Segoe UI"/>
                <a:cs typeface="Segoe UI"/>
              </a:defRPr>
            </a:pPr>
            <a:r>
              <a:t>Use the ? buttons for input and workflow explanations.</a:t>
            </a:r>
          </a:p>
          <a:p xmlns:a="http://schemas.openxmlformats.org/drawingml/2006/main">
            <a:pPr>
              <a:buNone/>
              <a:defRPr sz="2325" b="0">
                <a:solidFill>
                  <a:srgbClr val="152033"/>
                </a:solidFill>
                <a:latin typeface="Arial"/>
                <a:ea typeface="Arial"/>
                <a:cs typeface="Arial"/>
              </a:defRPr>
            </a:pPr>
          </a:p>
          <a:p xmlns:a="http://schemas.openxmlformats.org/drawingml/2006/main">
            <a:pPr>
              <a:buNone/>
              <a:defRPr sz="2325" b="0">
                <a:solidFill>
                  <a:srgbClr val="0D182A"/>
                </a:solidFill>
                <a:latin typeface="Segoe UI"/>
                <a:ea typeface="Segoe UI"/>
                <a:cs typeface="Segoe UI"/>
              </a:defRPr>
            </a:pPr>
            <a:r>
              <a:t>Hover over supported controls for short hints.</a:t>
            </a:r>
          </a:p>
        </p:txBody>
      </p:sp>
      <p:pic>
        <p:nvPicPr>
          <p:cNvPr id="17" name="Picture 16"/>
          <p:cNvPicPr>
            <a:picLocks xmlns:a="http://schemas.openxmlformats.org/drawingml/2006/main" noChangeAspect="1"/>
          </p:cNvPicPr>
          <p:nvPr/>
        </p:nvPicPr>
        <p:blipFill>
          <a:blip xmlns:r="http://schemas.openxmlformats.org/officeDocument/2006/relationships" xmlns:a="http://schemas.openxmlformats.org/drawingml/2006/main" r:embed="Rfe2d81d01959463f"/>
          <a:stretch xmlns:a="http://schemas.openxmlformats.org/drawingml/2006/main"/>
        </p:blipFill>
        <p:spPr>
          <a:xfrm xmlns:a="http://schemas.openxmlformats.org/drawingml/2006/main">
            <a:off x="6381750" y="2570485"/>
            <a:ext cx="5334000" cy="1612254"/>
          </a:xfrm>
          <a:prstGeom xmlns:a="http://schemas.openxmlformats.org/drawingml/2006/main" prst="rect">
            <a:avLst/>
          </a:prstGeom>
        </p:spPr>
      </p:pic>
      <p:sp>
        <p:nvSpPr>
          <p:cNvPr id="8" name="text-107">
            <a:extLst xmlns:a="http://schemas.openxmlformats.org/drawingml/2006/main">
              <a:ext uri="{FF2B5EF4-FFF2-40B4-BE49-F238E27FC236}">
                <a16:creationId xmlns:a16="http://schemas.microsoft.com/office/drawing/2014/main" id="{89B94BC5-64FE-493B-8FC1-41228AF06C84}"/>
              </a:ext>
            </a:extLst>
          </p:cNvPr>
          <p:cNvSpPr>
            <a:spLocks xmlns:a="http://schemas.openxmlformats.org/drawingml/2006/main" noGrp="1"/>
          </p:cNvSpPr>
          <p:nvPr/>
        </p:nvSpPr>
        <p:spPr>
          <a:xfrm xmlns:a="http://schemas.openxmlformats.org/drawingml/2006/main">
            <a:off x="6381750" y="4905375"/>
            <a:ext cx="5334000" cy="4953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2860F5"/>
                </a:solidFill>
                <a:latin typeface="Segoe UI"/>
                <a:ea typeface="Segoe UI"/>
                <a:cs typeface="Segoe UI"/>
              </a:defRPr>
            </a:pPr>
            <a:r>
              <a:t>FASTQ and BAM inputs</a:t>
            </a:r>
          </a:p>
        </p:txBody>
      </p:sp>
      <p:sp>
        <p:nvSpPr>
          <p:cNvPr id="9" name="text-108">
            <a:extLst xmlns:a="http://schemas.openxmlformats.org/drawingml/2006/main">
              <a:ext uri="{FF2B5EF4-FFF2-40B4-BE49-F238E27FC236}">
                <a16:creationId xmlns:a16="http://schemas.microsoft.com/office/drawing/2014/main" id="{FEF1DEDB-8BC6-429C-B9C2-76D934356ED9}"/>
              </a:ext>
            </a:extLst>
          </p:cNvPr>
          <p:cNvSpPr>
            <a:spLocks xmlns:a="http://schemas.openxmlformats.org/drawingml/2006/main" noGrp="1"/>
          </p:cNvSpPr>
          <p:nvPr/>
        </p:nvSpPr>
        <p:spPr>
          <a:xfrm xmlns:a="http://schemas.openxmlformats.org/drawingml/2006/main">
            <a:off x="6381750" y="5572125"/>
            <a:ext cx="5334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Confirm whether barcode removal trimmed the reads.</a:t>
            </a:r>
          </a:p>
        </p:txBody>
      </p:sp>
    </p:spTree>
    <p:extLst>
      <p:ext uri="{BB962C8B-B14F-4D97-AF65-F5344CB8AC3E}">
        <p14:creationId xmlns:p14="http://schemas.microsoft.com/office/powerpoint/2010/main" val="259994329"/>
      </p:ext>
    </p:extLst>
  </p:cSld>
</p:sld>
</file>

<file path=ppt/slides/slide14.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4" name="text-109">
            <a:extLst xmlns:a="http://schemas.openxmlformats.org/drawingml/2006/main">
              <a:ext uri="{FF2B5EF4-FFF2-40B4-BE49-F238E27FC236}">
                <a16:creationId xmlns:a16="http://schemas.microsoft.com/office/drawing/2014/main" id="{936D5DB6-2DD0-4BB7-84B4-2C16E5AB12DF}"/>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Segoe UI"/>
                <a:ea typeface="Segoe UI"/>
                <a:cs typeface="Segoe UI"/>
              </a:defRPr>
            </a:pPr>
            <a:r>
              <a:t>RUN CONTROLS</a:t>
            </a:r>
          </a:p>
        </p:txBody>
      </p:sp>
      <p:sp>
        <p:nvSpPr>
          <p:cNvPr id="2" name="text-110">
            <a:extLst xmlns:a="http://schemas.openxmlformats.org/drawingml/2006/main">
              <a:ext uri="{FF2B5EF4-FFF2-40B4-BE49-F238E27FC236}">
                <a16:creationId xmlns:a16="http://schemas.microsoft.com/office/drawing/2014/main" id="{BB48286D-77DD-425D-AC8E-2279810DBDA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3" name="text-111">
            <a:extLst xmlns:a="http://schemas.openxmlformats.org/drawingml/2006/main">
              <a:ext uri="{FF2B5EF4-FFF2-40B4-BE49-F238E27FC236}">
                <a16:creationId xmlns:a16="http://schemas.microsoft.com/office/drawing/2014/main" id="{EDD1E89D-4A4A-4F68-8975-A7CA72536E7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rPr sz="1350" b="0">
                <a:solidFill>
                  <a:srgbClr val="68717E"/>
                </a:solidFill>
                <a:latin typeface="Segoe UI"/>
                <a:ea typeface="Segoe UI"/>
                <a:cs typeface="Segoe UI"/>
              </a:rPr>
              <a:t>14</a:t>
            </a:r>
          </a:p>
        </p:txBody>
      </p:sp>
      <p:sp>
        <p:nvSpPr>
          <p:cNvPr id="4" name="text-112">
            <a:extLst xmlns:a="http://schemas.openxmlformats.org/drawingml/2006/main">
              <a:ext uri="{FF2B5EF4-FFF2-40B4-BE49-F238E27FC236}">
                <a16:creationId xmlns:a16="http://schemas.microsoft.com/office/drawing/2014/main" id="{B5AAB9D5-D037-40A5-8EAD-3D00E62CEC39}"/>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Segoe UI"/>
                <a:ea typeface="Segoe UI"/>
                <a:cs typeface="Segoe UI"/>
              </a:defRPr>
            </a:pPr>
            <a:r>
              <a:rPr sz="4650" b="1">
                <a:solidFill>
                  <a:srgbClr val="0D182A"/>
                </a:solidFill>
                <a:latin typeface="Arial"/>
                <a:ea typeface="Arial"/>
                <a:cs typeface="Arial"/>
              </a:rPr>
              <a:t>Workflow execution</a:t>
            </a:r>
          </a:p>
        </p:txBody>
      </p:sp>
      <p:sp>
        <p:nvSpPr>
          <p:cNvPr id="5" name="text-113">
            <a:extLst xmlns:a="http://schemas.openxmlformats.org/drawingml/2006/main">
              <a:ext uri="{FF2B5EF4-FFF2-40B4-BE49-F238E27FC236}">
                <a16:creationId xmlns:a16="http://schemas.microsoft.com/office/drawing/2014/main" id="{F8B8D57A-4F51-4BA8-9918-9E7F37F13529}"/>
              </a:ext>
            </a:extLst>
          </p:cNvPr>
          <p:cNvSpPr>
            <a:spLocks xmlns:a="http://schemas.openxmlformats.org/drawingml/2006/main" noGrp="1"/>
          </p:cNvSpPr>
          <p:nvPr/>
        </p:nvSpPr>
        <p:spPr>
          <a:xfrm xmlns:a="http://schemas.openxmlformats.org/drawingml/2006/main">
            <a:off x="1371600" y="2266950"/>
            <a:ext cx="10191750" cy="6572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600" b="1">
                <a:solidFill>
                  <a:srgbClr val="2860F5"/>
                </a:solidFill>
                <a:latin typeface="Segoe UI"/>
                <a:ea typeface="Segoe UI"/>
                <a:cs typeface="Segoe UI"/>
              </a:defRPr>
            </a:pPr>
            <a:r>
              <a:t>Run Workflow</a:t>
            </a:r>
          </a:p>
        </p:txBody>
      </p:sp>
      <p:sp>
        <p:nvSpPr>
          <p:cNvPr id="6" name="text-114">
            <a:extLst xmlns:a="http://schemas.openxmlformats.org/drawingml/2006/main">
              <a:ext uri="{FF2B5EF4-FFF2-40B4-BE49-F238E27FC236}">
                <a16:creationId xmlns:a16="http://schemas.microsoft.com/office/drawing/2014/main" id="{05B6AA6A-1DC7-4375-9709-C1D3762FE5B5}"/>
              </a:ext>
            </a:extLst>
          </p:cNvPr>
          <p:cNvSpPr>
            <a:spLocks xmlns:a="http://schemas.openxmlformats.org/drawingml/2006/main" noGrp="1"/>
          </p:cNvSpPr>
          <p:nvPr/>
        </p:nvSpPr>
        <p:spPr>
          <a:xfrm xmlns:a="http://schemas.openxmlformats.org/drawingml/2006/main">
            <a:off x="1371600" y="2971800"/>
            <a:ext cx="1009650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Start the selected analysis with your settings.</a:t>
            </a:r>
          </a:p>
        </p:txBody>
      </p:sp>
      <p:sp>
        <p:nvSpPr>
          <p:cNvPr id="7" name="text-115">
            <a:extLst xmlns:a="http://schemas.openxmlformats.org/drawingml/2006/main">
              <a:ext uri="{FF2B5EF4-FFF2-40B4-BE49-F238E27FC236}">
                <a16:creationId xmlns:a16="http://schemas.microsoft.com/office/drawing/2014/main" id="{6E6F13C6-8489-4F01-8529-258C7BABF897}"/>
              </a:ext>
            </a:extLst>
          </p:cNvPr>
          <p:cNvSpPr>
            <a:spLocks xmlns:a="http://schemas.openxmlformats.org/drawingml/2006/main" noGrp="1"/>
          </p:cNvSpPr>
          <p:nvPr/>
        </p:nvSpPr>
        <p:spPr>
          <a:xfrm xmlns:a="http://schemas.openxmlformats.org/drawingml/2006/main">
            <a:off x="1371600" y="3914775"/>
            <a:ext cx="10191750"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Execution Log</a:t>
            </a:r>
          </a:p>
        </p:txBody>
      </p:sp>
      <p:sp>
        <p:nvSpPr>
          <p:cNvPr id="8" name="text-116">
            <a:extLst xmlns:a="http://schemas.openxmlformats.org/drawingml/2006/main">
              <a:ext uri="{FF2B5EF4-FFF2-40B4-BE49-F238E27FC236}">
                <a16:creationId xmlns:a16="http://schemas.microsoft.com/office/drawing/2014/main" id="{BF8CF565-0594-49F4-9AEE-1B2D2DB6ECEC}"/>
              </a:ext>
            </a:extLst>
          </p:cNvPr>
          <p:cNvSpPr>
            <a:spLocks xmlns:a="http://schemas.openxmlformats.org/drawingml/2006/main" noGrp="1"/>
          </p:cNvSpPr>
          <p:nvPr/>
        </p:nvSpPr>
        <p:spPr>
          <a:xfrm xmlns:a="http://schemas.openxmlformats.org/drawingml/2006/main">
            <a:off x="1371600" y="4543425"/>
            <a:ext cx="1009650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0">
                <a:solidFill>
                  <a:srgbClr val="0D182A"/>
                </a:solidFill>
                <a:latin typeface="Segoe UI"/>
                <a:ea typeface="Segoe UI"/>
                <a:cs typeface="Segoe UI"/>
              </a:defRPr>
            </a:pPr>
            <a:r>
              <a:t>Follow processing messages and progress.</a:t>
            </a:r>
          </a:p>
        </p:txBody>
      </p:sp>
      <p:sp>
        <p:nvSpPr>
          <p:cNvPr id="9" name="text-117">
            <a:extLst xmlns:a="http://schemas.openxmlformats.org/drawingml/2006/main">
              <a:ext uri="{FF2B5EF4-FFF2-40B4-BE49-F238E27FC236}">
                <a16:creationId xmlns:a16="http://schemas.microsoft.com/office/drawing/2014/main" id="{0E136FCF-DF17-42A2-B58B-C9ED6D236DBB}"/>
              </a:ext>
            </a:extLst>
          </p:cNvPr>
          <p:cNvSpPr>
            <a:spLocks xmlns:a="http://schemas.openxmlformats.org/drawingml/2006/main" noGrp="1"/>
          </p:cNvSpPr>
          <p:nvPr/>
        </p:nvSpPr>
        <p:spPr>
          <a:xfrm xmlns:a="http://schemas.openxmlformats.org/drawingml/2006/main">
            <a:off x="1371600" y="5381625"/>
            <a:ext cx="3095625" cy="5429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1">
                <a:solidFill>
                  <a:srgbClr val="0D182A"/>
                </a:solidFill>
                <a:latin typeface="Segoe UI"/>
                <a:ea typeface="Segoe UI"/>
                <a:cs typeface="Segoe UI"/>
              </a:defRPr>
            </a:pPr>
            <a:r>
              <a:t>Cancel</a:t>
            </a:r>
          </a:p>
        </p:txBody>
      </p:sp>
      <p:sp>
        <p:nvSpPr>
          <p:cNvPr id="10" name="text-118">
            <a:extLst xmlns:a="http://schemas.openxmlformats.org/drawingml/2006/main">
              <a:ext uri="{FF2B5EF4-FFF2-40B4-BE49-F238E27FC236}">
                <a16:creationId xmlns:a16="http://schemas.microsoft.com/office/drawing/2014/main" id="{1E1A42AC-99FD-4AF7-A227-17FE34C37BD8}"/>
              </a:ext>
            </a:extLst>
          </p:cNvPr>
          <p:cNvSpPr>
            <a:spLocks xmlns:a="http://schemas.openxmlformats.org/drawingml/2006/main" noGrp="1"/>
          </p:cNvSpPr>
          <p:nvPr/>
        </p:nvSpPr>
        <p:spPr>
          <a:xfrm xmlns:a="http://schemas.openxmlformats.org/drawingml/2006/main">
            <a:off x="4667250" y="5476875"/>
            <a:ext cx="6829425"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0D182A"/>
                </a:solidFill>
                <a:latin typeface="Segoe UI"/>
                <a:ea typeface="Segoe UI"/>
                <a:cs typeface="Segoe UI"/>
              </a:defRPr>
            </a:pPr>
            <a:r>
              <a:t>Request that the running workflow stops.</a:t>
            </a:r>
          </a:p>
        </p:txBody>
      </p:sp>
      <p:sp>
        <p:nvSpPr>
          <p:cNvPr id="11" name="Rectangle 10">
            <a:extLst xmlns:a="http://schemas.openxmlformats.org/drawingml/2006/main">
              <a:ext uri="{FF2B5EF4-FFF2-40B4-BE49-F238E27FC236}">
                <a16:creationId xmlns:a16="http://schemas.microsoft.com/office/drawing/2014/main" id="{8E380C90-43B6-4206-AA09-612214D96C51}"/>
              </a:ext>
            </a:extLst>
          </p:cNvPr>
          <p:cNvSpPr>
            <a:spLocks xmlns:a="http://schemas.openxmlformats.org/drawingml/2006/main" noGrp="1"/>
          </p:cNvSpPr>
          <p:nvPr/>
        </p:nvSpPr>
        <p:spPr>
          <a:xfrm xmlns:a="http://schemas.openxmlformats.org/drawingml/2006/main">
            <a:off x="533400" y="2362200"/>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01</a:t>
            </a:r>
          </a:p>
        </p:txBody>
      </p:sp>
      <p:sp>
        <p:nvSpPr>
          <p:cNvPr id="12" name="Rectangle 11">
            <a:extLst xmlns:a="http://schemas.openxmlformats.org/drawingml/2006/main">
              <a:ext uri="{FF2B5EF4-FFF2-40B4-BE49-F238E27FC236}">
                <a16:creationId xmlns:a16="http://schemas.microsoft.com/office/drawing/2014/main" id="{414AF8C1-4FE9-4BFF-B79E-EF5BF2592DA0}"/>
              </a:ext>
            </a:extLst>
          </p:cNvPr>
          <p:cNvSpPr>
            <a:spLocks xmlns:a="http://schemas.openxmlformats.org/drawingml/2006/main" noGrp="1"/>
          </p:cNvSpPr>
          <p:nvPr/>
        </p:nvSpPr>
        <p:spPr>
          <a:xfrm xmlns:a="http://schemas.openxmlformats.org/drawingml/2006/main">
            <a:off x="533400" y="39719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02</a:t>
            </a:r>
          </a:p>
        </p:txBody>
      </p:sp>
      <p:sp>
        <p:nvSpPr>
          <p:cNvPr id="13" name="Rectangle 12">
            <a:extLst xmlns:a="http://schemas.openxmlformats.org/drawingml/2006/main">
              <a:ext uri="{FF2B5EF4-FFF2-40B4-BE49-F238E27FC236}">
                <a16:creationId xmlns:a16="http://schemas.microsoft.com/office/drawing/2014/main" id="{FBF2FC55-5BA4-44EF-AA66-7C379522C7EB}"/>
              </a:ext>
            </a:extLst>
          </p:cNvPr>
          <p:cNvSpPr>
            <a:spLocks xmlns:a="http://schemas.openxmlformats.org/drawingml/2006/main" noGrp="1"/>
          </p:cNvSpPr>
          <p:nvPr/>
        </p:nvSpPr>
        <p:spPr>
          <a:xfrm xmlns:a="http://schemas.openxmlformats.org/drawingml/2006/main">
            <a:off x="533400" y="5457825"/>
            <a:ext cx="762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625" b="0">
                <a:solidFill>
                  <a:srgbClr val="2860F5"/>
                </a:solidFill>
                <a:latin typeface="Segoe UI"/>
                <a:ea typeface="Segoe UI"/>
                <a:cs typeface="Segoe UI"/>
              </a:defRPr>
            </a:pPr>
            <a:r>
              <a:t>03</a:t>
            </a:r>
          </a:p>
        </p:txBody>
      </p:sp>
    </p:spTree>
    <p:extLst>
      <p:ext uri="{BB962C8B-B14F-4D97-AF65-F5344CB8AC3E}">
        <p14:creationId xmlns:p14="http://schemas.microsoft.com/office/powerpoint/2010/main" val="1236364068"/>
      </p:ext>
    </p:extLst>
  </p:cSld>
</p:sld>
</file>

<file path=ppt/slides/slide15.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0AD19C9-7727-494C-BF86-F92B5A99DC79}"/>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EXAMPLE RESULTS • SAVED NANOTEL RUN</a:t>
            </a:r>
          </a:p>
        </p:txBody>
      </p:sp>
      <p:sp>
        <p:nvSpPr>
          <p:cNvPr id="2" name="">
            <a:extLst xmlns:a="http://schemas.openxmlformats.org/drawingml/2006/main">
              <a:ext uri="{FF2B5EF4-FFF2-40B4-BE49-F238E27FC236}">
                <a16:creationId xmlns:a16="http://schemas.microsoft.com/office/drawing/2014/main" id="{6021120A-D8FD-417F-A205-DBC6AF2F6CC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summary results</a:t>
            </a:r>
          </a:p>
        </p:txBody>
      </p:sp>
      <p:sp>
        <p:nvSpPr>
          <p:cNvPr id="3" name="">
            <a:extLst xmlns:a="http://schemas.openxmlformats.org/drawingml/2006/main">
              <a:ext uri="{FF2B5EF4-FFF2-40B4-BE49-F238E27FC236}">
                <a16:creationId xmlns:a16="http://schemas.microsoft.com/office/drawing/2014/main" id="{09690918-F3CD-4096-86D9-A3251DED690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99F596C1-0506-4504-A971-1A7DE3AD9FD3}"/>
              </a:ext>
            </a:extLst>
          </p:cNvPr>
          <p:cNvSpPr>
            <a:spLocks xmlns:a="http://schemas.openxmlformats.org/drawingml/2006/main" noGrp="1"/>
          </p:cNvSpPr>
          <p:nvPr/>
        </p:nvSpPr>
        <p:spPr>
          <a:xfrm xmlns:a="http://schemas.openxmlformats.org/drawingml/2006/main">
            <a:off x="533400" y="1876425"/>
            <a:ext cx="11125200"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00" b="0">
                <a:solidFill>
                  <a:srgbClr val="0D182A"/>
                </a:solidFill>
                <a:latin typeface="Segoe UI"/>
                <a:ea typeface="Segoe UI"/>
                <a:cs typeface="Segoe UI"/>
              </a:defRPr>
            </a:pPr>
            <a:r>
              <a:t>Summary statistics for each barcode after filtering.</a:t>
            </a:r>
          </a:p>
        </p:txBody>
      </p:sp>
      <p:graphicFrame>
        <p:nvGraphicFramePr>
          <p:cNvPr id="14" name=""/>
          <p:cNvGraphicFramePr/>
          <p:nvPr/>
        </p:nvGraphicFramePr>
        <p:xfrm>
          <a:off xmlns:a="http://schemas.openxmlformats.org/drawingml/2006/main" x="533400" y="2800350"/>
          <a:ext xmlns:a="http://schemas.openxmlformats.org/drawingml/2006/main" cx="11125200" cy="2133600"/>
        </p:xfrm>
        <a:graphic xmlns:a="http://schemas.openxmlformats.org/drawingml/2006/main">
          <a:graphicData uri="http://schemas.openxmlformats.org/drawingml/2006/table">
            <a:tbl>
              <a:tblPr/>
              <a:tblGrid>
                <a:gridCol w="2095500"/>
                <a:gridCol w="1714500"/>
                <a:gridCol w="2952750"/>
                <a:gridCol w="2190750"/>
                <a:gridCol w="2171700"/>
              </a:tblGrid>
              <a:tr h="711200">
                <a:tc>
                  <a:txBody>
                    <a:bodyPr/>
                    <a:lstStyle/>
                    <a:p>
                      <a:r>
                        <a:rPr sz="1950" b="1">
                          <a:solidFill>
                            <a:srgbClr val="FFFFFF"/>
                          </a:solidFill>
                          <a:latin typeface="Bahnschrift"/>
                          <a:ea typeface="Bahnschrift"/>
                          <a:cs typeface="Bahnschrift"/>
                        </a:rPr>
                        <a:t>Barcode</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Telomeres</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Median length</a:t>
                      </a:r>
                    </a:p>
                    <a:p>
                      <a:r>
                        <a:rPr sz="1950" b="1">
                          <a:solidFill>
                            <a:srgbClr val="FFFFFF"/>
                          </a:solidFill>
                          <a:latin typeface="Bahnschrift"/>
                          <a:ea typeface="Bahnschrift"/>
                          <a:cs typeface="Bahnschrift"/>
                        </a:rPr>
                        <a:t>(bp)</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Below 2 kb</a:t>
                      </a:r>
                    </a:p>
                  </a:txBody>
                  <a:tcPr marL="91440" marR="91440" marT="45720" marB="45720">
                    <a:solidFill>
                      <a:srgbClr val="0D182A"/>
                    </a:solidFill>
                  </a:tcPr>
                </a:tc>
                <a:tc>
                  <a:txBody>
                    <a:bodyPr/>
                    <a:lstStyle/>
                    <a:p>
                      <a:r>
                        <a:rPr sz="1950" b="1">
                          <a:solidFill>
                            <a:srgbClr val="FFFFFF"/>
                          </a:solidFill>
                          <a:latin typeface="Bahnschrift"/>
                          <a:ea typeface="Bahnschrift"/>
                          <a:cs typeface="Bahnschrift"/>
                        </a:rPr>
                        <a:t>Mean</a:t>
                      </a:r>
                    </a:p>
                    <a:p>
                      <a:r>
                        <a:rPr sz="1950" b="1">
                          <a:solidFill>
                            <a:srgbClr val="FFFFFF"/>
                          </a:solidFill>
                          <a:latin typeface="Bahnschrift"/>
                          <a:ea typeface="Bahnschrift"/>
                          <a:cs typeface="Bahnschrift"/>
                        </a:rPr>
                        <a:t>density</a:t>
                      </a:r>
                    </a:p>
                  </a:txBody>
                  <a:tcPr marL="91440" marR="91440" marT="45720" marB="45720">
                    <a:solidFill>
                      <a:srgbClr val="0D182A"/>
                    </a:solidFill>
                  </a:tcPr>
                </a:tc>
              </a:tr>
              <a:tr h="711200">
                <a:tc>
                  <a:txBody>
                    <a:bodyPr/>
                    <a:lstStyle/>
                    <a:p>
                      <a:r>
                        <a:rPr sz="2400" b="0">
                          <a:solidFill>
                            <a:srgbClr val="0D182A"/>
                          </a:solidFill>
                          <a:latin typeface="Segoe UI"/>
                          <a:ea typeface="Segoe UI"/>
                          <a:cs typeface="Segoe UI"/>
                        </a:rPr>
                        <a:t>barcode02</a:t>
                      </a:r>
                    </a:p>
                  </a:txBody>
                  <a:tcPr marL="91440" marR="91440" marT="45720" marB="45720">
                    <a:solidFill>
                      <a:srgbClr val="FFFFFF"/>
                    </a:solidFill>
                  </a:tcPr>
                </a:tc>
                <a:tc>
                  <a:txBody>
                    <a:bodyPr/>
                    <a:lstStyle/>
                    <a:p>
                      <a:r>
                        <a:rPr sz="2400" b="0">
                          <a:solidFill>
                            <a:srgbClr val="0D182A"/>
                          </a:solidFill>
                          <a:latin typeface="Segoe UI"/>
                          <a:ea typeface="Segoe UI"/>
                          <a:cs typeface="Segoe UI"/>
                        </a:rPr>
                        <a:t>12</a:t>
                      </a:r>
                    </a:p>
                  </a:txBody>
                  <a:tcPr marL="91440" marR="91440" marT="45720" marB="45720">
                    <a:solidFill>
                      <a:srgbClr val="FFFFFF"/>
                    </a:solidFill>
                  </a:tcPr>
                </a:tc>
                <a:tc>
                  <a:txBody>
                    <a:bodyPr/>
                    <a:lstStyle/>
                    <a:p>
                      <a:r>
                        <a:rPr sz="2400" b="0">
                          <a:solidFill>
                            <a:srgbClr val="0D182A"/>
                          </a:solidFill>
                          <a:latin typeface="Segoe UI"/>
                          <a:ea typeface="Segoe UI"/>
                          <a:cs typeface="Segoe UI"/>
                        </a:rPr>
                        <a:t>4,896.5</a:t>
                      </a:r>
                    </a:p>
                  </a:txBody>
                  <a:tcPr marL="91440" marR="91440" marT="45720" marB="45720">
                    <a:solidFill>
                      <a:srgbClr val="FFFFFF"/>
                    </a:solidFill>
                  </a:tcPr>
                </a:tc>
                <a:tc>
                  <a:txBody>
                    <a:bodyPr/>
                    <a:lstStyle/>
                    <a:p>
                      <a:r>
                        <a:rPr sz="2400" b="0">
                          <a:solidFill>
                            <a:srgbClr val="0D182A"/>
                          </a:solidFill>
                          <a:latin typeface="Segoe UI"/>
                          <a:ea typeface="Segoe UI"/>
                          <a:cs typeface="Segoe UI"/>
                        </a:rPr>
                        <a:t>16.7%</a:t>
                      </a:r>
                    </a:p>
                  </a:txBody>
                  <a:tcPr marL="91440" marR="91440" marT="45720" marB="45720">
                    <a:solidFill>
                      <a:srgbClr val="FFFFFF"/>
                    </a:solidFill>
                  </a:tcPr>
                </a:tc>
                <a:tc>
                  <a:txBody>
                    <a:bodyPr/>
                    <a:lstStyle/>
                    <a:p>
                      <a:r>
                        <a:rPr sz="2400" b="0">
                          <a:solidFill>
                            <a:srgbClr val="0D182A"/>
                          </a:solidFill>
                          <a:latin typeface="Segoe UI"/>
                          <a:ea typeface="Segoe UI"/>
                          <a:cs typeface="Segoe UI"/>
                        </a:rPr>
                        <a:t>0.957</a:t>
                      </a:r>
                    </a:p>
                  </a:txBody>
                  <a:tcPr marL="91440" marR="91440" marT="45720" marB="45720">
                    <a:solidFill>
                      <a:srgbClr val="FFFFFF"/>
                    </a:solidFill>
                  </a:tcPr>
                </a:tc>
              </a:tr>
              <a:tr h="711200">
                <a:tc>
                  <a:txBody>
                    <a:bodyPr/>
                    <a:lstStyle/>
                    <a:p>
                      <a:r>
                        <a:rPr sz="2400" b="0">
                          <a:solidFill>
                            <a:srgbClr val="0D182A"/>
                          </a:solidFill>
                          <a:latin typeface="Segoe UI"/>
                          <a:ea typeface="Segoe UI"/>
                          <a:cs typeface="Segoe UI"/>
                        </a:rPr>
                        <a:t>barcode19</a:t>
                      </a:r>
                    </a:p>
                  </a:txBody>
                  <a:tcPr marL="91440" marR="91440" marT="45720" marB="45720">
                    <a:solidFill>
                      <a:srgbClr val="E8EDF4"/>
                    </a:solidFill>
                  </a:tcPr>
                </a:tc>
                <a:tc>
                  <a:txBody>
                    <a:bodyPr/>
                    <a:lstStyle/>
                    <a:p>
                      <a:r>
                        <a:rPr sz="2400" b="0">
                          <a:solidFill>
                            <a:srgbClr val="0D182A"/>
                          </a:solidFill>
                          <a:latin typeface="Segoe UI"/>
                          <a:ea typeface="Segoe UI"/>
                          <a:cs typeface="Segoe UI"/>
                        </a:rPr>
                        <a:t>1</a:t>
                      </a:r>
                    </a:p>
                  </a:txBody>
                  <a:tcPr marL="91440" marR="91440" marT="45720" marB="45720">
                    <a:solidFill>
                      <a:srgbClr val="E8EDF4"/>
                    </a:solidFill>
                  </a:tcPr>
                </a:tc>
                <a:tc>
                  <a:txBody>
                    <a:bodyPr/>
                    <a:lstStyle/>
                    <a:p>
                      <a:r>
                        <a:rPr sz="2400" b="0">
                          <a:solidFill>
                            <a:srgbClr val="0D182A"/>
                          </a:solidFill>
                          <a:latin typeface="Segoe UI"/>
                          <a:ea typeface="Segoe UI"/>
                          <a:cs typeface="Segoe UI"/>
                        </a:rPr>
                        <a:t>12,573</a:t>
                      </a:r>
                    </a:p>
                  </a:txBody>
                  <a:tcPr marL="91440" marR="91440" marT="45720" marB="45720">
                    <a:solidFill>
                      <a:srgbClr val="E8EDF4"/>
                    </a:solidFill>
                  </a:tcPr>
                </a:tc>
                <a:tc>
                  <a:txBody>
                    <a:bodyPr/>
                    <a:lstStyle/>
                    <a:p>
                      <a:r>
                        <a:rPr sz="2400" b="0">
                          <a:solidFill>
                            <a:srgbClr val="0D182A"/>
                          </a:solidFill>
                          <a:latin typeface="Segoe UI"/>
                          <a:ea typeface="Segoe UI"/>
                          <a:cs typeface="Segoe UI"/>
                        </a:rPr>
                        <a:t>0%</a:t>
                      </a:r>
                    </a:p>
                  </a:txBody>
                  <a:tcPr marL="91440" marR="91440" marT="45720" marB="45720">
                    <a:solidFill>
                      <a:srgbClr val="E8EDF4"/>
                    </a:solidFill>
                  </a:tcPr>
                </a:tc>
                <a:tc>
                  <a:txBody>
                    <a:bodyPr/>
                    <a:lstStyle/>
                    <a:p>
                      <a:r>
                        <a:rPr sz="2400" b="0">
                          <a:solidFill>
                            <a:srgbClr val="0D182A"/>
                          </a:solidFill>
                          <a:latin typeface="Segoe UI"/>
                          <a:ea typeface="Segoe UI"/>
                          <a:cs typeface="Segoe UI"/>
                        </a:rPr>
                        <a:t>0.935</a:t>
                      </a:r>
                    </a:p>
                  </a:txBody>
                  <a:tcPr marL="91440" marR="91440" marT="45720" marB="45720">
                    <a:solidFill>
                      <a:srgbClr val="E8EDF4"/>
                    </a:solidFill>
                  </a:tcPr>
                </a:tc>
              </a:tr>
            </a:tbl>
          </a:graphicData>
        </a:graphic>
      </p:graphicFrame>
      <p:sp>
        <p:nvSpPr>
          <p:cNvPr id="6" name="">
            <a:extLst xmlns:a="http://schemas.openxmlformats.org/drawingml/2006/main">
              <a:ext uri="{FF2B5EF4-FFF2-40B4-BE49-F238E27FC236}">
                <a16:creationId xmlns:a16="http://schemas.microsoft.com/office/drawing/2014/main" id="{4B46B8B6-8EB6-4F65-BF94-6DA4E8A089CC}"/>
              </a:ext>
            </a:extLst>
          </p:cNvPr>
          <p:cNvSpPr>
            <a:spLocks xmlns:a="http://schemas.openxmlformats.org/drawingml/2006/main" noGrp="1"/>
          </p:cNvSpPr>
          <p:nvPr/>
        </p:nvSpPr>
        <p:spPr>
          <a:xfrm xmlns:a="http://schemas.openxmlformats.org/drawingml/2006/main">
            <a:off x="533400" y="5210175"/>
            <a:ext cx="11125200" cy="4476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75" b="1">
                <a:solidFill>
                  <a:srgbClr val="2860F5"/>
                </a:solidFill>
                <a:latin typeface="Bahnschrift"/>
                <a:ea typeface="Bahnschrift"/>
                <a:cs typeface="Bahnschrift"/>
              </a:defRPr>
            </a:pPr>
            <a:r>
              <a:t>nanotel_summary_statistics.csv</a:t>
            </a:r>
          </a:p>
        </p:txBody>
      </p:sp>
      <p:sp>
        <p:nvSpPr>
          <p:cNvPr id="7" name="">
            <a:extLst xmlns:a="http://schemas.openxmlformats.org/drawingml/2006/main">
              <a:ext uri="{FF2B5EF4-FFF2-40B4-BE49-F238E27FC236}">
                <a16:creationId xmlns:a16="http://schemas.microsoft.com/office/drawing/2014/main" id="{B6BEF820-2446-4583-A87B-CEC33F06ACC1}"/>
              </a:ext>
            </a:extLst>
          </p:cNvPr>
          <p:cNvSpPr>
            <a:spLocks xmlns:a="http://schemas.openxmlformats.org/drawingml/2006/main" noGrp="1"/>
          </p:cNvSpPr>
          <p:nvPr/>
        </p:nvSpPr>
        <p:spPr>
          <a:xfrm xmlns:a="http://schemas.openxmlformats.org/drawingml/2006/main">
            <a:off x="533400" y="5781675"/>
            <a:ext cx="11125200"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68717E"/>
                </a:solidFill>
                <a:latin typeface="Segoe UI"/>
                <a:ea typeface="Segoe UI"/>
                <a:cs typeface="Segoe UI"/>
              </a:defRPr>
            </a:pPr>
            <a:r>
              <a:t>Illustrative output: barcode19 contains only one retained observation.</a:t>
            </a:r>
          </a:p>
        </p:txBody>
      </p:sp>
      <p:sp>
        <p:nvSpPr>
          <p:cNvPr id="8" name="">
            <a:extLst xmlns:a="http://schemas.openxmlformats.org/drawingml/2006/main">
              <a:ext uri="{FF2B5EF4-FFF2-40B4-BE49-F238E27FC236}">
                <a16:creationId xmlns:a16="http://schemas.microsoft.com/office/drawing/2014/main" id="{B5273849-29B3-42BB-9B33-CD9540BE975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15</a:t>
            </a:r>
          </a:p>
        </p:txBody>
      </p:sp>
    </p:spTree>
    <p:extLst>
      <p:ext uri="{BB962C8B-B14F-4D97-AF65-F5344CB8AC3E}">
        <p14:creationId xmlns:p14="http://schemas.microsoft.com/office/powerpoint/2010/main" val="1275735081"/>
      </p:ext>
    </p:extLst>
  </p:cSld>
</p:sld>
</file>

<file path=ppt/slides/slide16.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9C5C57-C81E-4121-94A3-68C5D204E5E1}"/>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2860F5"/>
                </a:solidFill>
                <a:latin typeface="Bahnschrift"/>
                <a:ea typeface="Bahnschrift"/>
                <a:cs typeface="Bahnschrift"/>
              </a:defRPr>
            </a:pPr>
            <a:r>
              <a:t>DETAILED RESULTS • BARCODE02 / READ908</a:t>
            </a:r>
          </a:p>
        </p:txBody>
      </p:sp>
      <p:sp>
        <p:nvSpPr>
          <p:cNvPr id="2" name="">
            <a:extLst xmlns:a="http://schemas.openxmlformats.org/drawingml/2006/main">
              <a:ext uri="{FF2B5EF4-FFF2-40B4-BE49-F238E27FC236}">
                <a16:creationId xmlns:a16="http://schemas.microsoft.com/office/drawing/2014/main" id="{0ECD4207-D90C-4612-A6C2-E4BB63F72E61}"/>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0D182A"/>
                </a:solidFill>
                <a:latin typeface="Bahnschrift"/>
                <a:ea typeface="Bahnschrift"/>
                <a:cs typeface="Bahnschrift"/>
              </a:defRPr>
            </a:pPr>
            <a:r>
              <a:t>Example per-read result</a:t>
            </a:r>
          </a:p>
        </p:txBody>
      </p:sp>
      <p:sp>
        <p:nvSpPr>
          <p:cNvPr id="3" name="">
            <a:extLst xmlns:a="http://schemas.openxmlformats.org/drawingml/2006/main">
              <a:ext uri="{FF2B5EF4-FFF2-40B4-BE49-F238E27FC236}">
                <a16:creationId xmlns:a16="http://schemas.microsoft.com/office/drawing/2014/main" id="{A68DF8BE-BD75-4B6B-AB27-C70A3377090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TELOMERE ANALYZER</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2ba80b55db24619"/>
          <a:stretch xmlns:a="http://schemas.openxmlformats.org/drawingml/2006/main"/>
        </p:blipFill>
        <p:spPr>
          <a:xfrm xmlns:a="http://schemas.openxmlformats.org/drawingml/2006/main">
            <a:off x="533400" y="2295525"/>
            <a:ext cx="7810500" cy="3124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CFA86D1-CA76-4370-B329-877B6F1A5BDA}"/>
              </a:ext>
            </a:extLst>
          </p:cNvPr>
          <p:cNvSpPr>
            <a:spLocks xmlns:a="http://schemas.openxmlformats.org/drawingml/2006/main" noGrp="1"/>
          </p:cNvSpPr>
          <p:nvPr/>
        </p:nvSpPr>
        <p:spPr>
          <a:xfrm xmlns:a="http://schemas.openxmlformats.org/drawingml/2006/main">
            <a:off x="8896350" y="2152650"/>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35,551 bp</a:t>
            </a:r>
          </a:p>
        </p:txBody>
      </p:sp>
      <p:sp>
        <p:nvSpPr>
          <p:cNvPr id="6" name="">
            <a:extLst xmlns:a="http://schemas.openxmlformats.org/drawingml/2006/main">
              <a:ext uri="{FF2B5EF4-FFF2-40B4-BE49-F238E27FC236}">
                <a16:creationId xmlns:a16="http://schemas.microsoft.com/office/drawing/2014/main" id="{1FC18669-6CEF-458D-8B76-457A162A16A6}"/>
              </a:ext>
            </a:extLst>
          </p:cNvPr>
          <p:cNvSpPr>
            <a:spLocks xmlns:a="http://schemas.openxmlformats.org/drawingml/2006/main" noGrp="1"/>
          </p:cNvSpPr>
          <p:nvPr/>
        </p:nvSpPr>
        <p:spPr>
          <a:xfrm xmlns:a="http://schemas.openxmlformats.org/drawingml/2006/main">
            <a:off x="8896350" y="2771775"/>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Read length</a:t>
            </a:r>
          </a:p>
        </p:txBody>
      </p:sp>
      <p:sp>
        <p:nvSpPr>
          <p:cNvPr id="7" name="">
            <a:extLst xmlns:a="http://schemas.openxmlformats.org/drawingml/2006/main">
              <a:ext uri="{FF2B5EF4-FFF2-40B4-BE49-F238E27FC236}">
                <a16:creationId xmlns:a16="http://schemas.microsoft.com/office/drawing/2014/main" id="{081B33DD-A359-4E3D-8E1C-1816873DC871}"/>
              </a:ext>
            </a:extLst>
          </p:cNvPr>
          <p:cNvSpPr>
            <a:spLocks xmlns:a="http://schemas.openxmlformats.org/drawingml/2006/main" noGrp="1"/>
          </p:cNvSpPr>
          <p:nvPr/>
        </p:nvSpPr>
        <p:spPr>
          <a:xfrm xmlns:a="http://schemas.openxmlformats.org/drawingml/2006/main">
            <a:off x="8896350" y="3533775"/>
            <a:ext cx="2809875" cy="6381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6,326 bp</a:t>
            </a:r>
          </a:p>
        </p:txBody>
      </p:sp>
      <p:sp>
        <p:nvSpPr>
          <p:cNvPr id="8" name="">
            <a:extLst xmlns:a="http://schemas.openxmlformats.org/drawingml/2006/main">
              <a:ext uri="{FF2B5EF4-FFF2-40B4-BE49-F238E27FC236}">
                <a16:creationId xmlns:a16="http://schemas.microsoft.com/office/drawing/2014/main" id="{D9C94D47-1A5A-4566-A7C9-37D59C422F19}"/>
              </a:ext>
            </a:extLst>
          </p:cNvPr>
          <p:cNvSpPr>
            <a:spLocks xmlns:a="http://schemas.openxmlformats.org/drawingml/2006/main" noGrp="1"/>
          </p:cNvSpPr>
          <p:nvPr/>
        </p:nvSpPr>
        <p:spPr>
          <a:xfrm xmlns:a="http://schemas.openxmlformats.org/drawingml/2006/main">
            <a:off x="8896350" y="4152900"/>
            <a:ext cx="280987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0D182A"/>
                </a:solidFill>
                <a:latin typeface="Segoe UI"/>
                <a:ea typeface="Segoe UI"/>
                <a:cs typeface="Segoe UI"/>
              </a:defRPr>
            </a:pPr>
            <a:r>
              <a:t>Telomere length</a:t>
            </a:r>
          </a:p>
        </p:txBody>
      </p:sp>
      <p:sp>
        <p:nvSpPr>
          <p:cNvPr id="9" name="">
            <a:extLst xmlns:a="http://schemas.openxmlformats.org/drawingml/2006/main">
              <a:ext uri="{FF2B5EF4-FFF2-40B4-BE49-F238E27FC236}">
                <a16:creationId xmlns:a16="http://schemas.microsoft.com/office/drawing/2014/main" id="{8AD00D34-86A7-42CD-9403-1BFAA3FE47AD}"/>
              </a:ext>
            </a:extLst>
          </p:cNvPr>
          <p:cNvSpPr>
            <a:spLocks xmlns:a="http://schemas.openxmlformats.org/drawingml/2006/main" noGrp="1"/>
          </p:cNvSpPr>
          <p:nvPr/>
        </p:nvSpPr>
        <p:spPr>
          <a:xfrm xmlns:a="http://schemas.openxmlformats.org/drawingml/2006/main">
            <a:off x="8896350" y="4914900"/>
            <a:ext cx="2809875"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3225" b="1">
                <a:solidFill>
                  <a:srgbClr val="2860F5"/>
                </a:solidFill>
                <a:latin typeface="Bahnschrift"/>
                <a:ea typeface="Bahnschrift"/>
                <a:cs typeface="Bahnschrift"/>
              </a:defRPr>
            </a:pPr>
            <a:r>
              <a:t>0.933</a:t>
            </a:r>
          </a:p>
        </p:txBody>
      </p:sp>
      <p:sp>
        <p:nvSpPr>
          <p:cNvPr id="10" name="">
            <a:extLst xmlns:a="http://schemas.openxmlformats.org/drawingml/2006/main">
              <a:ext uri="{FF2B5EF4-FFF2-40B4-BE49-F238E27FC236}">
                <a16:creationId xmlns:a16="http://schemas.microsoft.com/office/drawing/2014/main" id="{5A5FED05-D860-4EE7-9203-A99FAE71CA25}"/>
              </a:ext>
            </a:extLst>
          </p:cNvPr>
          <p:cNvSpPr>
            <a:spLocks xmlns:a="http://schemas.openxmlformats.org/drawingml/2006/main" noGrp="1"/>
          </p:cNvSpPr>
          <p:nvPr/>
        </p:nvSpPr>
        <p:spPr>
          <a:xfrm xmlns:a="http://schemas.openxmlformats.org/drawingml/2006/main">
            <a:off x="8896350" y="5514975"/>
            <a:ext cx="2809875" cy="6096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00" b="0">
                <a:solidFill>
                  <a:srgbClr val="0D182A"/>
                </a:solidFill>
                <a:latin typeface="Segoe UI"/>
                <a:ea typeface="Segoe UI"/>
                <a:cs typeface="Segoe UI"/>
              </a:defRPr>
            </a:pPr>
            <a:r>
              <a:t>Telomeric-repeat density</a:t>
            </a:r>
          </a:p>
        </p:txBody>
      </p:sp>
      <p:sp>
        <p:nvSpPr>
          <p:cNvPr id="11" name="">
            <a:extLst xmlns:a="http://schemas.openxmlformats.org/drawingml/2006/main">
              <a:ext uri="{FF2B5EF4-FFF2-40B4-BE49-F238E27FC236}">
                <a16:creationId xmlns:a16="http://schemas.microsoft.com/office/drawing/2014/main" id="{799C847A-D38E-4ED4-AECE-A9A4FA36942B}"/>
              </a:ext>
            </a:extLst>
          </p:cNvPr>
          <p:cNvSpPr>
            <a:spLocks xmlns:a="http://schemas.openxmlformats.org/drawingml/2006/main" noGrp="1"/>
          </p:cNvSpPr>
          <p:nvPr/>
        </p:nvSpPr>
        <p:spPr>
          <a:xfrm xmlns:a="http://schemas.openxmlformats.org/drawingml/2006/main">
            <a:off x="533400" y="5734050"/>
            <a:ext cx="781050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0D182A"/>
                </a:solidFill>
                <a:latin typeface="Bahnschrift"/>
                <a:ea typeface="Bahnschrift"/>
                <a:cs typeface="Bahnschrift"/>
              </a:defRPr>
            </a:pPr>
            <a:r>
              <a:t>JPEG plot + FASTA.GZ sequence + a row in the CSV</a:t>
            </a:r>
          </a:p>
        </p:txBody>
      </p:sp>
      <p:sp>
        <p:nvSpPr>
          <p:cNvPr id="12" name="">
            <a:extLst xmlns:a="http://schemas.openxmlformats.org/drawingml/2006/main">
              <a:ext uri="{FF2B5EF4-FFF2-40B4-BE49-F238E27FC236}">
                <a16:creationId xmlns:a16="http://schemas.microsoft.com/office/drawing/2014/main" id="{5BCA310A-EE47-445C-B9E8-71DCBEAD3EB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68717E"/>
                </a:solidFill>
                <a:latin typeface="Segoe UI"/>
                <a:ea typeface="Segoe UI"/>
                <a:cs typeface="Segoe UI"/>
              </a:defRPr>
            </a:pPr>
            <a:r>
              <a:t>16</a:t>
            </a:r>
          </a:p>
        </p:txBody>
      </p:sp>
    </p:spTree>
    <p:extLst>
      <p:ext uri="{BB962C8B-B14F-4D97-AF65-F5344CB8AC3E}">
        <p14:creationId xmlns:p14="http://schemas.microsoft.com/office/powerpoint/2010/main" val="16902269"/>
      </p:ext>
    </p:extLst>
  </p:cSld>
</p:sld>
</file>

<file path=ppt/slides/slide17.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189D15-88D3-4CFC-B58C-98B945711D5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Bahnschrift"/>
                <a:ea typeface="Bahnschrift"/>
                <a:cs typeface="Bahnschrift"/>
              </a:defRPr>
            </a:pPr>
            <a:r>
              <a:t>OUTPUT FORMATS</a:t>
            </a:r>
          </a:p>
        </p:txBody>
      </p:sp>
      <p:sp>
        <p:nvSpPr>
          <p:cNvPr id="2" name="">
            <a:extLst xmlns:a="http://schemas.openxmlformats.org/drawingml/2006/main">
              <a:ext uri="{FF2B5EF4-FFF2-40B4-BE49-F238E27FC236}">
                <a16:creationId xmlns:a16="http://schemas.microsoft.com/office/drawing/2014/main" id="{F50DDB1F-4A86-4C0E-843F-5FB08D7B718C}"/>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4650" b="1">
                <a:solidFill>
                  <a:srgbClr val="FFFFFF"/>
                </a:solidFill>
                <a:latin typeface="Bahnschrift"/>
                <a:ea typeface="Bahnschrift"/>
                <a:cs typeface="Bahnschrift"/>
              </a:defRPr>
            </a:pPr>
            <a:r>
              <a:t>Output files and formats</a:t>
            </a:r>
          </a:p>
        </p:txBody>
      </p:sp>
      <p:sp>
        <p:nvSpPr>
          <p:cNvPr id="3" name="">
            <a:extLst xmlns:a="http://schemas.openxmlformats.org/drawingml/2006/main">
              <a:ext uri="{FF2B5EF4-FFF2-40B4-BE49-F238E27FC236}">
                <a16:creationId xmlns:a16="http://schemas.microsoft.com/office/drawing/2014/main" id="{CD15755B-76E9-4BDD-AFC0-0D07807D02F4}"/>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96587527-1080-4BFE-924C-D698A298AC85}"/>
              </a:ext>
            </a:extLst>
          </p:cNvPr>
          <p:cNvSpPr>
            <a:spLocks xmlns:a="http://schemas.openxmlformats.org/drawingml/2006/main" noGrp="1"/>
          </p:cNvSpPr>
          <p:nvPr/>
        </p:nvSpPr>
        <p:spPr>
          <a:xfrm xmlns:a="http://schemas.openxmlformats.org/drawingml/2006/main">
            <a:off x="533400" y="2066925"/>
            <a:ext cx="52387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SUMMARY ONLY</a:t>
            </a:r>
          </a:p>
        </p:txBody>
      </p:sp>
      <p:sp>
        <p:nvSpPr>
          <p:cNvPr id="5" name="">
            <a:extLst xmlns:a="http://schemas.openxmlformats.org/drawingml/2006/main">
              <a:ext uri="{FF2B5EF4-FFF2-40B4-BE49-F238E27FC236}">
                <a16:creationId xmlns:a16="http://schemas.microsoft.com/office/drawing/2014/main" id="{3178708E-DF32-4A04-9ED3-AC8F0A34B036}"/>
              </a:ext>
            </a:extLst>
          </p:cNvPr>
          <p:cNvSpPr>
            <a:spLocks xmlns:a="http://schemas.openxmlformats.org/drawingml/2006/main" noGrp="1"/>
          </p:cNvSpPr>
          <p:nvPr/>
        </p:nvSpPr>
        <p:spPr>
          <a:xfrm xmlns:a="http://schemas.openxmlformats.org/drawingml/2006/main">
            <a:off x="6477000" y="2066925"/>
            <a:ext cx="51816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1">
                <a:solidFill>
                  <a:srgbClr val="B5F4DE"/>
                </a:solidFill>
                <a:latin typeface="Bahnschrift"/>
                <a:ea typeface="Bahnschrift"/>
                <a:cs typeface="Bahnschrift"/>
              </a:defRPr>
            </a:pPr>
            <a:r>
              <a:t>FULL NANOTEL OUTPUT</a:t>
            </a:r>
          </a:p>
        </p:txBody>
      </p:sp>
      <p:sp>
        <p:nvSpPr>
          <p:cNvPr id="6" name="">
            <a:extLst xmlns:a="http://schemas.openxmlformats.org/drawingml/2006/main">
              <a:ext uri="{FF2B5EF4-FFF2-40B4-BE49-F238E27FC236}">
                <a16:creationId xmlns:a16="http://schemas.microsoft.com/office/drawing/2014/main" id="{C788DF8D-7213-46D5-B18B-FE114702EC55}"/>
              </a:ext>
            </a:extLst>
          </p:cNvPr>
          <p:cNvSpPr>
            <a:spLocks xmlns:a="http://schemas.openxmlformats.org/drawingml/2006/main" noGrp="1"/>
          </p:cNvSpPr>
          <p:nvPr/>
        </p:nvSpPr>
        <p:spPr>
          <a:xfrm xmlns:a="http://schemas.openxmlformats.org/drawingml/2006/main">
            <a:off x="533400" y="2705100"/>
            <a:ext cx="5238750" cy="5048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550" b="1">
                <a:solidFill>
                  <a:srgbClr val="FFFFFF"/>
                </a:solidFill>
                <a:latin typeface="Bahnschrift"/>
                <a:ea typeface="Bahnschrift"/>
                <a:cs typeface="Bahnschrift"/>
              </a:defRPr>
            </a:pPr>
            <a:r>
              <a:t>Excel workbook  .xlsx</a:t>
            </a:r>
          </a:p>
        </p:txBody>
      </p:sp>
      <p:sp>
        <p:nvSpPr>
          <p:cNvPr id="7" name="">
            <a:extLst xmlns:a="http://schemas.openxmlformats.org/drawingml/2006/main">
              <a:ext uri="{FF2B5EF4-FFF2-40B4-BE49-F238E27FC236}">
                <a16:creationId xmlns:a16="http://schemas.microsoft.com/office/drawing/2014/main" id="{AD81B7F3-F7BA-4CA4-89A7-E1E26B7B2CB2}"/>
              </a:ext>
            </a:extLst>
          </p:cNvPr>
          <p:cNvSpPr>
            <a:spLocks xmlns:a="http://schemas.openxmlformats.org/drawingml/2006/main" noGrp="1"/>
          </p:cNvSpPr>
          <p:nvPr/>
        </p:nvSpPr>
        <p:spPr>
          <a:xfrm xmlns:a="http://schemas.openxmlformats.org/drawingml/2006/main">
            <a:off x="533400" y="3305175"/>
            <a:ext cx="5238750" cy="409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100" b="0">
                <a:solidFill>
                  <a:srgbClr val="FFFFFF"/>
                </a:solidFill>
                <a:latin typeface="Segoe UI"/>
                <a:ea typeface="Segoe UI"/>
                <a:cs typeface="Segoe UI"/>
              </a:defRPr>
            </a:pPr>
            <a:r>
              <a:t>nanotel_summary.xlsx</a:t>
            </a:r>
          </a:p>
        </p:txBody>
      </p:sp>
      <p:sp>
        <p:nvSpPr>
          <p:cNvPr id="8" name="">
            <a:extLst xmlns:a="http://schemas.openxmlformats.org/drawingml/2006/main">
              <a:ext uri="{FF2B5EF4-FFF2-40B4-BE49-F238E27FC236}">
                <a16:creationId xmlns:a16="http://schemas.microsoft.com/office/drawing/2014/main" id="{0305F564-4652-462C-AE71-B36AD6B23546}"/>
              </a:ext>
            </a:extLst>
          </p:cNvPr>
          <p:cNvSpPr>
            <a:spLocks xmlns:a="http://schemas.openxmlformats.org/drawingml/2006/main" noGrp="1"/>
          </p:cNvSpPr>
          <p:nvPr/>
        </p:nvSpPr>
        <p:spPr>
          <a:xfrm xmlns:a="http://schemas.openxmlformats.org/drawingml/2006/main">
            <a:off x="533400" y="3943350"/>
            <a:ext cx="5238750" cy="15525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875" b="0">
                <a:solidFill>
                  <a:srgbClr val="D5DFEB"/>
                </a:solidFill>
                <a:latin typeface="Segoe UI"/>
                <a:ea typeface="Segoe UI"/>
                <a:cs typeface="Segoe UI"/>
              </a:defRPr>
            </a:pPr>
            <a:r>
              <a:t>nanotel_summary</a:t>
            </a:r>
          </a:p>
          <a:p xmlns:a="http://schemas.openxmlformats.org/drawingml/2006/main">
            <a:pPr>
              <a:buNone/>
              <a:defRPr sz="1875" b="0">
                <a:solidFill>
                  <a:srgbClr val="D5DFEB"/>
                </a:solidFill>
                <a:latin typeface="Segoe UI"/>
                <a:ea typeface="Segoe UI"/>
                <a:cs typeface="Segoe UI"/>
              </a:defRPr>
            </a:pPr>
            <a:r>
              <a:t>barcode02 / barcode19</a:t>
            </a:r>
          </a:p>
          <a:p xmlns:a="http://schemas.openxmlformats.org/drawingml/2006/main">
            <a:pPr>
              <a:buNone/>
              <a:defRPr sz="1875" b="0">
                <a:solidFill>
                  <a:srgbClr val="D5DFEB"/>
                </a:solidFill>
                <a:latin typeface="Segoe UI"/>
                <a:ea typeface="Segoe UI"/>
                <a:cs typeface="Segoe UI"/>
              </a:defRPr>
            </a:pPr>
            <a:r>
              <a:t>filtered_barcode02 / filtered_barcode19</a:t>
            </a:r>
          </a:p>
        </p:txBody>
      </p:sp>
      <p:sp>
        <p:nvSpPr>
          <p:cNvPr id="9" name="">
            <a:extLst xmlns:a="http://schemas.openxmlformats.org/drawingml/2006/main">
              <a:ext uri="{FF2B5EF4-FFF2-40B4-BE49-F238E27FC236}">
                <a16:creationId xmlns:a16="http://schemas.microsoft.com/office/drawing/2014/main" id="{C32AB7EE-9CC1-4E9C-9265-183D94B595D0}"/>
              </a:ext>
            </a:extLst>
          </p:cNvPr>
          <p:cNvSpPr>
            <a:spLocks xmlns:a="http://schemas.openxmlformats.org/drawingml/2006/main" noGrp="1"/>
          </p:cNvSpPr>
          <p:nvPr/>
        </p:nvSpPr>
        <p:spPr>
          <a:xfrm xmlns:a="http://schemas.openxmlformats.org/drawingml/2006/main">
            <a:off x="6477000" y="270510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CSV</a:t>
            </a:r>
          </a:p>
        </p:txBody>
      </p:sp>
      <p:sp>
        <p:nvSpPr>
          <p:cNvPr id="10" name="">
            <a:extLst xmlns:a="http://schemas.openxmlformats.org/drawingml/2006/main">
              <a:ext uri="{FF2B5EF4-FFF2-40B4-BE49-F238E27FC236}">
                <a16:creationId xmlns:a16="http://schemas.microsoft.com/office/drawing/2014/main" id="{C772227B-1A92-440E-84EF-2E2268E8B78E}"/>
              </a:ext>
            </a:extLst>
          </p:cNvPr>
          <p:cNvSpPr>
            <a:spLocks xmlns:a="http://schemas.openxmlformats.org/drawingml/2006/main" noGrp="1"/>
          </p:cNvSpPr>
          <p:nvPr/>
        </p:nvSpPr>
        <p:spPr>
          <a:xfrm xmlns:a="http://schemas.openxmlformats.org/drawingml/2006/main">
            <a:off x="7962900" y="271462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Summary and read-level tables</a:t>
            </a:r>
          </a:p>
        </p:txBody>
      </p:sp>
      <p:sp>
        <p:nvSpPr>
          <p:cNvPr id="11" name="">
            <a:extLst xmlns:a="http://schemas.openxmlformats.org/drawingml/2006/main">
              <a:ext uri="{FF2B5EF4-FFF2-40B4-BE49-F238E27FC236}">
                <a16:creationId xmlns:a16="http://schemas.microsoft.com/office/drawing/2014/main" id="{A024E701-5210-45DC-B9E2-95B118A07191}"/>
              </a:ext>
            </a:extLst>
          </p:cNvPr>
          <p:cNvSpPr>
            <a:spLocks xmlns:a="http://schemas.openxmlformats.org/drawingml/2006/main" noGrp="1"/>
          </p:cNvSpPr>
          <p:nvPr/>
        </p:nvSpPr>
        <p:spPr>
          <a:xfrm xmlns:a="http://schemas.openxmlformats.org/drawingml/2006/main">
            <a:off x="6477000" y="3676650"/>
            <a:ext cx="13335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475" b="1">
                <a:solidFill>
                  <a:srgbClr val="FFFFFF"/>
                </a:solidFill>
                <a:latin typeface="Bahnschrift"/>
                <a:ea typeface="Bahnschrift"/>
                <a:cs typeface="Bahnschrift"/>
              </a:defRPr>
            </a:pPr>
            <a:r>
              <a:t>JPEG</a:t>
            </a:r>
          </a:p>
        </p:txBody>
      </p:sp>
      <p:sp>
        <p:nvSpPr>
          <p:cNvPr id="12" name="">
            <a:extLst xmlns:a="http://schemas.openxmlformats.org/drawingml/2006/main">
              <a:ext uri="{FF2B5EF4-FFF2-40B4-BE49-F238E27FC236}">
                <a16:creationId xmlns:a16="http://schemas.microsoft.com/office/drawing/2014/main" id="{76F45EE1-29CB-40C9-AAC1-2BEDD0E9F303}"/>
              </a:ext>
            </a:extLst>
          </p:cNvPr>
          <p:cNvSpPr>
            <a:spLocks xmlns:a="http://schemas.openxmlformats.org/drawingml/2006/main" noGrp="1"/>
          </p:cNvSpPr>
          <p:nvPr/>
        </p:nvSpPr>
        <p:spPr>
          <a:xfrm xmlns:a="http://schemas.openxmlformats.org/drawingml/2006/main">
            <a:off x="7962900" y="3686175"/>
            <a:ext cx="369570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Individual-read plots</a:t>
            </a:r>
          </a:p>
        </p:txBody>
      </p:sp>
      <p:sp>
        <p:nvSpPr>
          <p:cNvPr id="13" name="">
            <a:extLst xmlns:a="http://schemas.openxmlformats.org/drawingml/2006/main">
              <a:ext uri="{FF2B5EF4-FFF2-40B4-BE49-F238E27FC236}">
                <a16:creationId xmlns:a16="http://schemas.microsoft.com/office/drawing/2014/main" id="{64DE7480-1EA2-40AA-838E-08B51A8EB342}"/>
              </a:ext>
            </a:extLst>
          </p:cNvPr>
          <p:cNvSpPr>
            <a:spLocks xmlns:a="http://schemas.openxmlformats.org/drawingml/2006/main" noGrp="1"/>
          </p:cNvSpPr>
          <p:nvPr/>
        </p:nvSpPr>
        <p:spPr>
          <a:xfrm xmlns:a="http://schemas.openxmlformats.org/drawingml/2006/main">
            <a:off x="6477000" y="4648200"/>
            <a:ext cx="1476375"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325" b="1">
                <a:solidFill>
                  <a:srgbClr val="FFFFFF"/>
                </a:solidFill>
                <a:latin typeface="Bahnschrift"/>
                <a:ea typeface="Bahnschrift"/>
                <a:cs typeface="Bahnschrift"/>
              </a:defRPr>
            </a:pPr>
            <a:r>
              <a:t>FASTA.GZ</a:t>
            </a:r>
          </a:p>
        </p:txBody>
      </p:sp>
      <p:sp>
        <p:nvSpPr>
          <p:cNvPr id="14" name="">
            <a:extLst xmlns:a="http://schemas.openxmlformats.org/drawingml/2006/main">
              <a:ext uri="{FF2B5EF4-FFF2-40B4-BE49-F238E27FC236}">
                <a16:creationId xmlns:a16="http://schemas.microsoft.com/office/drawing/2014/main" id="{E8D2565B-BF12-47DD-BD82-8B3FE07DB132}"/>
              </a:ext>
            </a:extLst>
          </p:cNvPr>
          <p:cNvSpPr>
            <a:spLocks xmlns:a="http://schemas.openxmlformats.org/drawingml/2006/main" noGrp="1"/>
          </p:cNvSpPr>
          <p:nvPr/>
        </p:nvSpPr>
        <p:spPr>
          <a:xfrm xmlns:a="http://schemas.openxmlformats.org/drawingml/2006/main">
            <a:off x="8096250" y="4657725"/>
            <a:ext cx="3562350" cy="723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FFFFFF"/>
                </a:solidFill>
                <a:latin typeface="Segoe UI"/>
                <a:ea typeface="Segoe UI"/>
                <a:cs typeface="Segoe UI"/>
              </a:defRPr>
            </a:pPr>
            <a:r>
              <a:t>Compressed read sequences</a:t>
            </a:r>
          </a:p>
        </p:txBody>
      </p:sp>
      <p:sp>
        <p:nvSpPr>
          <p:cNvPr id="15" name="">
            <a:extLst xmlns:a="http://schemas.openxmlformats.org/drawingml/2006/main">
              <a:ext uri="{FF2B5EF4-FFF2-40B4-BE49-F238E27FC236}">
                <a16:creationId xmlns:a16="http://schemas.microsoft.com/office/drawing/2014/main" id="{5D679C1A-76AF-4ADB-BFB7-A0EA6361BF90}"/>
              </a:ext>
            </a:extLst>
          </p:cNvPr>
          <p:cNvSpPr>
            <a:spLocks xmlns:a="http://schemas.openxmlformats.org/drawingml/2006/main" noGrp="1"/>
          </p:cNvSpPr>
          <p:nvPr/>
        </p:nvSpPr>
        <p:spPr>
          <a:xfrm xmlns:a="http://schemas.openxmlformats.org/drawingml/2006/main">
            <a:off x="533400" y="585787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Run records: TXT reports and JSON analysis settings.</a:t>
            </a:r>
          </a:p>
        </p:txBody>
      </p:sp>
      <p:sp>
        <p:nvSpPr>
          <p:cNvPr id="16" name="">
            <a:extLst xmlns:a="http://schemas.openxmlformats.org/drawingml/2006/main">
              <a:ext uri="{FF2B5EF4-FFF2-40B4-BE49-F238E27FC236}">
                <a16:creationId xmlns:a16="http://schemas.microsoft.com/office/drawing/2014/main" id="{3BE32143-FF55-464F-B325-941B24542195}"/>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17</a:t>
            </a:r>
          </a:p>
        </p:txBody>
      </p:sp>
    </p:spTree>
    <p:extLst>
      <p:ext uri="{BB962C8B-B14F-4D97-AF65-F5344CB8AC3E}">
        <p14:creationId xmlns:p14="http://schemas.microsoft.com/office/powerpoint/2010/main" val="659325908"/>
      </p:ext>
    </p:extLst>
  </p:cSld>
</p:sld>
</file>

<file path=ppt/slides/slide18.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EBEA06-EB2F-4E8D-9A07-692D840A379A}"/>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2860F5"/>
                </a:solidFill>
                <a:latin typeface="Bahnschrift"/>
                <a:ea typeface="Bahnschrift"/>
                <a:cs typeface="Bahnschrift"/>
              </a:defRPr>
            </a:pPr>
            <a:r>
              <a:t>WHERE TO FIND THE FILES</a:t>
            </a:r>
          </a:p>
        </p:txBody>
      </p:sp>
      <p:sp>
        <p:nvSpPr>
          <p:cNvPr id="2" name="">
            <a:extLst xmlns:a="http://schemas.openxmlformats.org/drawingml/2006/main">
              <a:ext uri="{FF2B5EF4-FFF2-40B4-BE49-F238E27FC236}">
                <a16:creationId xmlns:a16="http://schemas.microsoft.com/office/drawing/2014/main" id="{D285405A-3412-4CD2-B0DD-BF7266E55EB2}"/>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4650" b="1">
                <a:solidFill>
                  <a:srgbClr val="0D182A"/>
                </a:solidFill>
                <a:latin typeface="Bahnschrift"/>
                <a:ea typeface="Bahnschrift"/>
                <a:cs typeface="Bahnschrift"/>
              </a:defRPr>
            </a:pPr>
            <a:r>
              <a:t>Output folder structure</a:t>
            </a:r>
          </a:p>
        </p:txBody>
      </p:sp>
      <p:sp>
        <p:nvSpPr>
          <p:cNvPr id="3" name="">
            <a:extLst xmlns:a="http://schemas.openxmlformats.org/drawingml/2006/main">
              <a:ext uri="{FF2B5EF4-FFF2-40B4-BE49-F238E27FC236}">
                <a16:creationId xmlns:a16="http://schemas.microsoft.com/office/drawing/2014/main" id="{CE905EFA-6251-4697-A7EA-D8DDA0D8FEFC}"/>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0BE58763-5641-4AF0-88E4-17C5DE54AA27}"/>
              </a:ext>
            </a:extLst>
          </p:cNvPr>
          <p:cNvSpPr>
            <a:spLocks xmlns:a="http://schemas.openxmlformats.org/drawingml/2006/main" noGrp="1"/>
          </p:cNvSpPr>
          <p:nvPr/>
        </p:nvSpPr>
        <p:spPr>
          <a:xfrm xmlns:a="http://schemas.openxmlformats.org/drawingml/2006/main">
            <a:off x="533400" y="18859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processing/basecalled/</a:t>
            </a:r>
          </a:p>
        </p:txBody>
      </p:sp>
      <p:sp>
        <p:nvSpPr>
          <p:cNvPr id="5" name="">
            <a:extLst xmlns:a="http://schemas.openxmlformats.org/drawingml/2006/main">
              <a:ext uri="{FF2B5EF4-FFF2-40B4-BE49-F238E27FC236}">
                <a16:creationId xmlns:a16="http://schemas.microsoft.com/office/drawing/2014/main" id="{9D40B1BA-E6BF-4BB1-B900-AA3326BA2A51}"/>
              </a:ext>
            </a:extLst>
          </p:cNvPr>
          <p:cNvSpPr>
            <a:spLocks xmlns:a="http://schemas.openxmlformats.org/drawingml/2006/main" noGrp="1"/>
          </p:cNvSpPr>
          <p:nvPr/>
        </p:nvSpPr>
        <p:spPr>
          <a:xfrm xmlns:a="http://schemas.openxmlformats.org/drawingml/2006/main">
            <a:off x="5400675" y="18859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Dorado basecalled BAM files</a:t>
            </a:r>
          </a:p>
        </p:txBody>
      </p:sp>
      <p:sp>
        <p:nvSpPr>
          <p:cNvPr id="6" name="">
            <a:extLst xmlns:a="http://schemas.openxmlformats.org/drawingml/2006/main">
              <a:ext uri="{FF2B5EF4-FFF2-40B4-BE49-F238E27FC236}">
                <a16:creationId xmlns:a16="http://schemas.microsoft.com/office/drawing/2014/main" id="{79FEA59C-80CC-41C3-94DD-B12BE44DC7A2}"/>
              </a:ext>
            </a:extLst>
          </p:cNvPr>
          <p:cNvSpPr>
            <a:spLocks xmlns:a="http://schemas.openxmlformats.org/drawingml/2006/main" noGrp="1"/>
          </p:cNvSpPr>
          <p:nvPr/>
        </p:nvSpPr>
        <p:spPr>
          <a:xfrm xmlns:a="http://schemas.openxmlformats.org/drawingml/2006/main">
            <a:off x="533400" y="23241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processing/demultiplexed/</a:t>
            </a:r>
          </a:p>
        </p:txBody>
      </p:sp>
      <p:sp>
        <p:nvSpPr>
          <p:cNvPr id="7" name="">
            <a:extLst xmlns:a="http://schemas.openxmlformats.org/drawingml/2006/main">
              <a:ext uri="{FF2B5EF4-FFF2-40B4-BE49-F238E27FC236}">
                <a16:creationId xmlns:a16="http://schemas.microsoft.com/office/drawing/2014/main" id="{AB88F48F-E065-45B3-A550-8369F1418D6B}"/>
              </a:ext>
            </a:extLst>
          </p:cNvPr>
          <p:cNvSpPr>
            <a:spLocks xmlns:a="http://schemas.openxmlformats.org/drawingml/2006/main" noGrp="1"/>
          </p:cNvSpPr>
          <p:nvPr/>
        </p:nvSpPr>
        <p:spPr>
          <a:xfrm xmlns:a="http://schemas.openxmlformats.org/drawingml/2006/main">
            <a:off x="5400675" y="23241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BAM files separated by barcode</a:t>
            </a:r>
          </a:p>
        </p:txBody>
      </p:sp>
      <p:sp>
        <p:nvSpPr>
          <p:cNvPr id="8" name="">
            <a:extLst xmlns:a="http://schemas.openxmlformats.org/drawingml/2006/main">
              <a:ext uri="{FF2B5EF4-FFF2-40B4-BE49-F238E27FC236}">
                <a16:creationId xmlns:a16="http://schemas.microsoft.com/office/drawing/2014/main" id="{9C9A23E6-BC6E-4DE7-8355-BAE519594EFB}"/>
              </a:ext>
            </a:extLst>
          </p:cNvPr>
          <p:cNvSpPr>
            <a:spLocks xmlns:a="http://schemas.openxmlformats.org/drawingml/2006/main" noGrp="1"/>
          </p:cNvSpPr>
          <p:nvPr/>
        </p:nvSpPr>
        <p:spPr>
          <a:xfrm xmlns:a="http://schemas.openxmlformats.org/drawingml/2006/main">
            <a:off x="533400" y="27622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processing/fastq/</a:t>
            </a:r>
          </a:p>
        </p:txBody>
      </p:sp>
      <p:sp>
        <p:nvSpPr>
          <p:cNvPr id="9" name="">
            <a:extLst xmlns:a="http://schemas.openxmlformats.org/drawingml/2006/main">
              <a:ext uri="{FF2B5EF4-FFF2-40B4-BE49-F238E27FC236}">
                <a16:creationId xmlns:a16="http://schemas.microsoft.com/office/drawing/2014/main" id="{344C3586-6ACC-408A-BB90-5A10926812A7}"/>
              </a:ext>
            </a:extLst>
          </p:cNvPr>
          <p:cNvSpPr>
            <a:spLocks xmlns:a="http://schemas.openxmlformats.org/drawingml/2006/main" noGrp="1"/>
          </p:cNvSpPr>
          <p:nvPr/>
        </p:nvSpPr>
        <p:spPr>
          <a:xfrm xmlns:a="http://schemas.openxmlformats.org/drawingml/2006/main">
            <a:off x="5400675" y="27622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FASTQ reads used for analysis</a:t>
            </a:r>
          </a:p>
        </p:txBody>
      </p:sp>
      <p:sp>
        <p:nvSpPr>
          <p:cNvPr id="10" name="">
            <a:extLst xmlns:a="http://schemas.openxmlformats.org/drawingml/2006/main">
              <a:ext uri="{FF2B5EF4-FFF2-40B4-BE49-F238E27FC236}">
                <a16:creationId xmlns:a16="http://schemas.microsoft.com/office/drawing/2014/main" id="{7715189C-2DCF-41B1-9C37-FF0EA15E7B10}"/>
              </a:ext>
            </a:extLst>
          </p:cNvPr>
          <p:cNvSpPr>
            <a:spLocks xmlns:a="http://schemas.openxmlformats.org/drawingml/2006/main" noGrp="1"/>
          </p:cNvSpPr>
          <p:nvPr/>
        </p:nvSpPr>
        <p:spPr>
          <a:xfrm xmlns:a="http://schemas.openxmlformats.org/drawingml/2006/main">
            <a:off x="533400" y="32004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processing/aligned/</a:t>
            </a:r>
          </a:p>
        </p:txBody>
      </p:sp>
      <p:sp>
        <p:nvSpPr>
          <p:cNvPr id="11" name="">
            <a:extLst xmlns:a="http://schemas.openxmlformats.org/drawingml/2006/main">
              <a:ext uri="{FF2B5EF4-FFF2-40B4-BE49-F238E27FC236}">
                <a16:creationId xmlns:a16="http://schemas.microsoft.com/office/drawing/2014/main" id="{86610CBE-0864-4BC1-850C-6DF427412912}"/>
              </a:ext>
            </a:extLst>
          </p:cNvPr>
          <p:cNvSpPr>
            <a:spLocks xmlns:a="http://schemas.openxmlformats.org/drawingml/2006/main" noGrp="1"/>
          </p:cNvSpPr>
          <p:nvPr/>
        </p:nvSpPr>
        <p:spPr>
          <a:xfrm xmlns:a="http://schemas.openxmlformats.org/drawingml/2006/main">
            <a:off x="5400675" y="32004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Reference-aligned reads and alignment summaries</a:t>
            </a:r>
          </a:p>
        </p:txBody>
      </p:sp>
      <p:sp>
        <p:nvSpPr>
          <p:cNvPr id="12" name="">
            <a:extLst xmlns:a="http://schemas.openxmlformats.org/drawingml/2006/main">
              <a:ext uri="{FF2B5EF4-FFF2-40B4-BE49-F238E27FC236}">
                <a16:creationId xmlns:a16="http://schemas.microsoft.com/office/drawing/2014/main" id="{24DC76EB-5AB8-4302-82F7-02E2B85728AC}"/>
              </a:ext>
            </a:extLst>
          </p:cNvPr>
          <p:cNvSpPr>
            <a:spLocks xmlns:a="http://schemas.openxmlformats.org/drawingml/2006/main" noGrp="1"/>
          </p:cNvSpPr>
          <p:nvPr/>
        </p:nvSpPr>
        <p:spPr>
          <a:xfrm xmlns:a="http://schemas.openxmlformats.org/drawingml/2006/main">
            <a:off x="533400" y="36385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results/nanotel/</a:t>
            </a:r>
          </a:p>
        </p:txBody>
      </p:sp>
      <p:sp>
        <p:nvSpPr>
          <p:cNvPr id="13" name="">
            <a:extLst xmlns:a="http://schemas.openxmlformats.org/drawingml/2006/main">
              <a:ext uri="{FF2B5EF4-FFF2-40B4-BE49-F238E27FC236}">
                <a16:creationId xmlns:a16="http://schemas.microsoft.com/office/drawing/2014/main" id="{27B3B9D2-BAB5-470C-9F88-CD573F5DE315}"/>
              </a:ext>
            </a:extLst>
          </p:cNvPr>
          <p:cNvSpPr>
            <a:spLocks xmlns:a="http://schemas.openxmlformats.org/drawingml/2006/main" noGrp="1"/>
          </p:cNvSpPr>
          <p:nvPr/>
        </p:nvSpPr>
        <p:spPr>
          <a:xfrm xmlns:a="http://schemas.openxmlformats.org/drawingml/2006/main">
            <a:off x="5400675" y="36385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Telomere results and per-barcode output</a:t>
            </a:r>
          </a:p>
        </p:txBody>
      </p:sp>
      <p:sp>
        <p:nvSpPr>
          <p:cNvPr id="14" name="">
            <a:extLst xmlns:a="http://schemas.openxmlformats.org/drawingml/2006/main">
              <a:ext uri="{FF2B5EF4-FFF2-40B4-BE49-F238E27FC236}">
                <a16:creationId xmlns:a16="http://schemas.microsoft.com/office/drawing/2014/main" id="{F53FB5F7-D02B-4D15-80AF-DDE7EFD70D13}"/>
              </a:ext>
            </a:extLst>
          </p:cNvPr>
          <p:cNvSpPr>
            <a:spLocks xmlns:a="http://schemas.openxmlformats.org/drawingml/2006/main" noGrp="1"/>
          </p:cNvSpPr>
          <p:nvPr/>
        </p:nvSpPr>
        <p:spPr>
          <a:xfrm xmlns:a="http://schemas.openxmlformats.org/drawingml/2006/main">
            <a:off x="533400" y="40767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results/mapping/</a:t>
            </a:r>
          </a:p>
        </p:txBody>
      </p:sp>
      <p:sp>
        <p:nvSpPr>
          <p:cNvPr id="15" name="">
            <a:extLst xmlns:a="http://schemas.openxmlformats.org/drawingml/2006/main">
              <a:ext uri="{FF2B5EF4-FFF2-40B4-BE49-F238E27FC236}">
                <a16:creationId xmlns:a16="http://schemas.microsoft.com/office/drawing/2014/main" id="{4B8BD387-ECA2-4610-A57F-9DC14C37ECDC}"/>
              </a:ext>
            </a:extLst>
          </p:cNvPr>
          <p:cNvSpPr>
            <a:spLocks xmlns:a="http://schemas.openxmlformats.org/drawingml/2006/main" noGrp="1"/>
          </p:cNvSpPr>
          <p:nvPr/>
        </p:nvSpPr>
        <p:spPr>
          <a:xfrm xmlns:a="http://schemas.openxmlformats.org/drawingml/2006/main">
            <a:off x="5400675" y="40767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Downstream mapping results, when selected</a:t>
            </a:r>
          </a:p>
        </p:txBody>
      </p:sp>
      <p:sp>
        <p:nvSpPr>
          <p:cNvPr id="16" name="">
            <a:extLst xmlns:a="http://schemas.openxmlformats.org/drawingml/2006/main">
              <a:ext uri="{FF2B5EF4-FFF2-40B4-BE49-F238E27FC236}">
                <a16:creationId xmlns:a16="http://schemas.microsoft.com/office/drawing/2014/main" id="{4BDAFC1D-0616-45F7-9B0A-3ABB80E44F45}"/>
              </a:ext>
            </a:extLst>
          </p:cNvPr>
          <p:cNvSpPr>
            <a:spLocks xmlns:a="http://schemas.openxmlformats.org/drawingml/2006/main" noGrp="1"/>
          </p:cNvSpPr>
          <p:nvPr/>
        </p:nvSpPr>
        <p:spPr>
          <a:xfrm xmlns:a="http://schemas.openxmlformats.org/drawingml/2006/main">
            <a:off x="533400" y="45148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results/methylation/</a:t>
            </a:r>
          </a:p>
        </p:txBody>
      </p:sp>
      <p:sp>
        <p:nvSpPr>
          <p:cNvPr id="17" name="">
            <a:extLst xmlns:a="http://schemas.openxmlformats.org/drawingml/2006/main">
              <a:ext uri="{FF2B5EF4-FFF2-40B4-BE49-F238E27FC236}">
                <a16:creationId xmlns:a16="http://schemas.microsoft.com/office/drawing/2014/main" id="{025A6A3A-166A-43F1-8BFF-6561F2CF75E3}"/>
              </a:ext>
            </a:extLst>
          </p:cNvPr>
          <p:cNvSpPr>
            <a:spLocks xmlns:a="http://schemas.openxmlformats.org/drawingml/2006/main" noGrp="1"/>
          </p:cNvSpPr>
          <p:nvPr/>
        </p:nvSpPr>
        <p:spPr>
          <a:xfrm xmlns:a="http://schemas.openxmlformats.org/drawingml/2006/main">
            <a:off x="5400675" y="45148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Methylation outputs, when selected</a:t>
            </a:r>
          </a:p>
        </p:txBody>
      </p:sp>
      <p:sp>
        <p:nvSpPr>
          <p:cNvPr id="18" name="">
            <a:extLst xmlns:a="http://schemas.openxmlformats.org/drawingml/2006/main">
              <a:ext uri="{FF2B5EF4-FFF2-40B4-BE49-F238E27FC236}">
                <a16:creationId xmlns:a16="http://schemas.microsoft.com/office/drawing/2014/main" id="{F75C4B07-E6E7-4745-B367-4CD91B669940}"/>
              </a:ext>
            </a:extLst>
          </p:cNvPr>
          <p:cNvSpPr>
            <a:spLocks xmlns:a="http://schemas.openxmlformats.org/drawingml/2006/main" noGrp="1"/>
          </p:cNvSpPr>
          <p:nvPr/>
        </p:nvSpPr>
        <p:spPr>
          <a:xfrm xmlns:a="http://schemas.openxmlformats.org/drawingml/2006/main">
            <a:off x="533400" y="495300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results/reports/</a:t>
            </a:r>
          </a:p>
        </p:txBody>
      </p:sp>
      <p:sp>
        <p:nvSpPr>
          <p:cNvPr id="19" name="">
            <a:extLst xmlns:a="http://schemas.openxmlformats.org/drawingml/2006/main">
              <a:ext uri="{FF2B5EF4-FFF2-40B4-BE49-F238E27FC236}">
                <a16:creationId xmlns:a16="http://schemas.microsoft.com/office/drawing/2014/main" id="{3720C946-3F7D-4B81-8199-984B0E5ABEC4}"/>
              </a:ext>
            </a:extLst>
          </p:cNvPr>
          <p:cNvSpPr>
            <a:spLocks xmlns:a="http://schemas.openxmlformats.org/drawingml/2006/main" noGrp="1"/>
          </p:cNvSpPr>
          <p:nvPr/>
        </p:nvSpPr>
        <p:spPr>
          <a:xfrm xmlns:a="http://schemas.openxmlformats.org/drawingml/2006/main">
            <a:off x="5400675" y="495300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Analysis reports and saved configuration</a:t>
            </a:r>
          </a:p>
        </p:txBody>
      </p:sp>
      <p:sp>
        <p:nvSpPr>
          <p:cNvPr id="20" name="">
            <a:extLst xmlns:a="http://schemas.openxmlformats.org/drawingml/2006/main">
              <a:ext uri="{FF2B5EF4-FFF2-40B4-BE49-F238E27FC236}">
                <a16:creationId xmlns:a16="http://schemas.microsoft.com/office/drawing/2014/main" id="{0B1B75CB-77B2-432F-BFC4-303FA6401B3B}"/>
              </a:ext>
            </a:extLst>
          </p:cNvPr>
          <p:cNvSpPr>
            <a:spLocks xmlns:a="http://schemas.openxmlformats.org/drawingml/2006/main" noGrp="1"/>
          </p:cNvSpPr>
          <p:nvPr/>
        </p:nvSpPr>
        <p:spPr>
          <a:xfrm xmlns:a="http://schemas.openxmlformats.org/drawingml/2006/main">
            <a:off x="533400" y="5391150"/>
            <a:ext cx="46958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1">
                <a:solidFill>
                  <a:srgbClr val="2860F5"/>
                </a:solidFill>
                <a:latin typeface="Bahnschrift"/>
                <a:ea typeface="Bahnschrift"/>
                <a:cs typeface="Bahnschrift"/>
              </a:defRPr>
            </a:pPr>
            <a:r>
              <a:t>results/logs/</a:t>
            </a:r>
          </a:p>
        </p:txBody>
      </p:sp>
      <p:sp>
        <p:nvSpPr>
          <p:cNvPr id="21" name="">
            <a:extLst xmlns:a="http://schemas.openxmlformats.org/drawingml/2006/main">
              <a:ext uri="{FF2B5EF4-FFF2-40B4-BE49-F238E27FC236}">
                <a16:creationId xmlns:a16="http://schemas.microsoft.com/office/drawing/2014/main" id="{DDFAF721-4563-410A-B07A-6323A88D1AC6}"/>
              </a:ext>
            </a:extLst>
          </p:cNvPr>
          <p:cNvSpPr>
            <a:spLocks xmlns:a="http://schemas.openxmlformats.org/drawingml/2006/main" noGrp="1"/>
          </p:cNvSpPr>
          <p:nvPr/>
        </p:nvSpPr>
        <p:spPr>
          <a:xfrm xmlns:a="http://schemas.openxmlformats.org/drawingml/2006/main">
            <a:off x="5400675" y="5391150"/>
            <a:ext cx="6257925"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0">
                <a:solidFill>
                  <a:srgbClr val="0D182A"/>
                </a:solidFill>
                <a:latin typeface="Segoe UI"/>
                <a:ea typeface="Segoe UI"/>
                <a:cs typeface="Segoe UI"/>
              </a:defRPr>
            </a:pPr>
            <a:r>
              <a:t>Execution logs and troubleshooting information</a:t>
            </a:r>
          </a:p>
        </p:txBody>
      </p:sp>
      <p:sp>
        <p:nvSpPr>
          <p:cNvPr id="22" name="">
            <a:extLst xmlns:a="http://schemas.openxmlformats.org/drawingml/2006/main">
              <a:ext uri="{FF2B5EF4-FFF2-40B4-BE49-F238E27FC236}">
                <a16:creationId xmlns:a16="http://schemas.microsoft.com/office/drawing/2014/main" id="{17955967-8541-43DB-A5EE-6CF9DB134D5D}"/>
              </a:ext>
            </a:extLst>
          </p:cNvPr>
          <p:cNvSpPr>
            <a:spLocks xmlns:a="http://schemas.openxmlformats.org/drawingml/2006/main" noGrp="1"/>
          </p:cNvSpPr>
          <p:nvPr/>
        </p:nvSpPr>
        <p:spPr>
          <a:xfrm xmlns:a="http://schemas.openxmlformats.org/drawingml/2006/main">
            <a:off x="533400" y="5972175"/>
            <a:ext cx="11125200" cy="3619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68717E"/>
                </a:solidFill>
                <a:latin typeface="Segoe UI"/>
                <a:ea typeface="Segoe UI"/>
                <a:cs typeface="Segoe UI"/>
              </a:defRPr>
            </a:pPr>
            <a:r>
              <a:t>Paths are relative to the run folder; only selected stages produce output.</a:t>
            </a:r>
          </a:p>
        </p:txBody>
      </p:sp>
      <p:sp>
        <p:nvSpPr>
          <p:cNvPr id="23" name="">
            <a:extLst xmlns:a="http://schemas.openxmlformats.org/drawingml/2006/main">
              <a:ext uri="{FF2B5EF4-FFF2-40B4-BE49-F238E27FC236}">
                <a16:creationId xmlns:a16="http://schemas.microsoft.com/office/drawing/2014/main" id="{07F09B32-DE22-4618-8BB0-FE3BAE9F08DA}"/>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8717E"/>
                </a:solidFill>
                <a:latin typeface="Segoe UI"/>
                <a:ea typeface="Segoe UI"/>
                <a:cs typeface="Segoe UI"/>
              </a:defRPr>
            </a:pPr>
            <a:r>
              <a:t>18</a:t>
            </a:r>
          </a:p>
        </p:txBody>
      </p:sp>
    </p:spTree>
    <p:extLst>
      <p:ext uri="{BB962C8B-B14F-4D97-AF65-F5344CB8AC3E}">
        <p14:creationId xmlns:p14="http://schemas.microsoft.com/office/powerpoint/2010/main" val="1114866228"/>
      </p:ext>
    </p:extLst>
  </p:cSld>
</p:sld>
</file>

<file path=ppt/slides/slide19.xml><?xml version="1.0" encoding="utf-8"?>
<p:sld xmlns:p="http://schemas.openxmlformats.org/presentationml/2006/main">
  <p:cSld>
    <p:bg>
      <p:bgPr>
        <a:solidFill xmlns:a="http://schemas.openxmlformats.org/drawingml/2006/main">
          <a:srgbClr val="F5F4F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225E73-FC73-4CE2-BBF4-7155EC3BDDAB}"/>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2860F5"/>
                </a:solidFill>
                <a:latin typeface="Bahnschrift"/>
                <a:ea typeface="Bahnschrift"/>
                <a:cs typeface="Bahnschrift"/>
              </a:defRPr>
            </a:pPr>
            <a:r>
              <a:t>DETAILED OUTPUT</a:t>
            </a:r>
          </a:p>
        </p:txBody>
      </p:sp>
      <p:sp>
        <p:nvSpPr>
          <p:cNvPr id="2" name="">
            <a:extLst xmlns:a="http://schemas.openxmlformats.org/drawingml/2006/main">
              <a:ext uri="{FF2B5EF4-FFF2-40B4-BE49-F238E27FC236}">
                <a16:creationId xmlns:a16="http://schemas.microsoft.com/office/drawing/2014/main" id="{60723EE2-2191-4AFB-9614-4C24593B23F3}"/>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4650" b="1">
                <a:solidFill>
                  <a:srgbClr val="0D182A"/>
                </a:solidFill>
                <a:latin typeface="Bahnschrift"/>
                <a:ea typeface="Bahnschrift"/>
                <a:cs typeface="Bahnschrift"/>
              </a:defRPr>
            </a:pPr>
            <a:r>
              <a:t>NanoTel folder contents</a:t>
            </a:r>
          </a:p>
        </p:txBody>
      </p:sp>
      <p:sp>
        <p:nvSpPr>
          <p:cNvPr id="3" name="">
            <a:extLst xmlns:a="http://schemas.openxmlformats.org/drawingml/2006/main">
              <a:ext uri="{FF2B5EF4-FFF2-40B4-BE49-F238E27FC236}">
                <a16:creationId xmlns:a16="http://schemas.microsoft.com/office/drawing/2014/main" id="{4D7C3EC5-53A2-472F-9295-BABD87D7A518}"/>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8717E"/>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13E604B8-6F0E-4B0B-A334-6CBD0821789E}"/>
              </a:ext>
            </a:extLst>
          </p:cNvPr>
          <p:cNvSpPr>
            <a:spLocks xmlns:a="http://schemas.openxmlformats.org/drawingml/2006/main" noGrp="1"/>
          </p:cNvSpPr>
          <p:nvPr/>
        </p:nvSpPr>
        <p:spPr>
          <a:xfrm xmlns:a="http://schemas.openxmlformats.org/drawingml/2006/main">
            <a:off x="533400" y="18573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75" b="1">
                <a:solidFill>
                  <a:srgbClr val="2860F5"/>
                </a:solidFill>
                <a:latin typeface="Bahnschrift"/>
                <a:ea typeface="Bahnschrift"/>
                <a:cs typeface="Bahnschrift"/>
              </a:defRPr>
            </a:pPr>
            <a:r>
              <a:t>results/nanotel/</a:t>
            </a:r>
          </a:p>
        </p:txBody>
      </p:sp>
      <p:sp>
        <p:nvSpPr>
          <p:cNvPr id="5" name="">
            <a:extLst xmlns:a="http://schemas.openxmlformats.org/drawingml/2006/main">
              <a:ext uri="{FF2B5EF4-FFF2-40B4-BE49-F238E27FC236}">
                <a16:creationId xmlns:a16="http://schemas.microsoft.com/office/drawing/2014/main" id="{DE80474F-DC2B-4E29-8162-B2F9FA2686B1}"/>
              </a:ext>
            </a:extLst>
          </p:cNvPr>
          <p:cNvSpPr>
            <a:spLocks xmlns:a="http://schemas.openxmlformats.org/drawingml/2006/main" noGrp="1"/>
          </p:cNvSpPr>
          <p:nvPr/>
        </p:nvSpPr>
        <p:spPr>
          <a:xfrm xmlns:a="http://schemas.openxmlformats.org/drawingml/2006/main">
            <a:off x="533400" y="24955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1">
                <a:solidFill>
                  <a:srgbClr val="0D182A"/>
                </a:solidFill>
                <a:latin typeface="Bahnschrift"/>
                <a:ea typeface="Bahnschrift"/>
                <a:cs typeface="Bahnschrift"/>
              </a:defRPr>
            </a:pPr>
            <a:r>
              <a:t>Summary CSV</a:t>
            </a:r>
          </a:p>
        </p:txBody>
      </p:sp>
      <p:sp>
        <p:nvSpPr>
          <p:cNvPr id="6" name="">
            <a:extLst xmlns:a="http://schemas.openxmlformats.org/drawingml/2006/main">
              <a:ext uri="{FF2B5EF4-FFF2-40B4-BE49-F238E27FC236}">
                <a16:creationId xmlns:a16="http://schemas.microsoft.com/office/drawing/2014/main" id="{BDE3CF3A-5A84-4D5C-A1DB-4E6742973C90}"/>
              </a:ext>
            </a:extLst>
          </p:cNvPr>
          <p:cNvSpPr>
            <a:spLocks xmlns:a="http://schemas.openxmlformats.org/drawingml/2006/main" noGrp="1"/>
          </p:cNvSpPr>
          <p:nvPr/>
        </p:nvSpPr>
        <p:spPr>
          <a:xfrm xmlns:a="http://schemas.openxmlformats.org/drawingml/2006/main">
            <a:off x="6343650" y="24955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0D182A"/>
                </a:solidFill>
                <a:latin typeface="Segoe UI"/>
                <a:ea typeface="Segoe UI"/>
                <a:cs typeface="Segoe UI"/>
              </a:defRPr>
            </a:pPr>
            <a:r>
              <a:t>Statistics across the processed barcodes</a:t>
            </a:r>
          </a:p>
        </p:txBody>
      </p:sp>
      <p:sp>
        <p:nvSpPr>
          <p:cNvPr id="7" name="">
            <a:extLst xmlns:a="http://schemas.openxmlformats.org/drawingml/2006/main">
              <a:ext uri="{FF2B5EF4-FFF2-40B4-BE49-F238E27FC236}">
                <a16:creationId xmlns:a16="http://schemas.microsoft.com/office/drawing/2014/main" id="{539732FB-8EFB-4009-BDE2-4F1F2CB5F0EC}"/>
              </a:ext>
            </a:extLst>
          </p:cNvPr>
          <p:cNvSpPr>
            <a:spLocks xmlns:a="http://schemas.openxmlformats.org/drawingml/2006/main" noGrp="1"/>
          </p:cNvSpPr>
          <p:nvPr/>
        </p:nvSpPr>
        <p:spPr>
          <a:xfrm xmlns:a="http://schemas.openxmlformats.org/drawingml/2006/main">
            <a:off x="533400" y="30480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1">
                <a:solidFill>
                  <a:srgbClr val="0D182A"/>
                </a:solidFill>
                <a:latin typeface="Bahnschrift"/>
                <a:ea typeface="Bahnschrift"/>
                <a:cs typeface="Bahnschrift"/>
              </a:defRPr>
            </a:pPr>
            <a:r>
              <a:t>barcodeXX/</a:t>
            </a:r>
          </a:p>
        </p:txBody>
      </p:sp>
      <p:sp>
        <p:nvSpPr>
          <p:cNvPr id="8" name="">
            <a:extLst xmlns:a="http://schemas.openxmlformats.org/drawingml/2006/main">
              <a:ext uri="{FF2B5EF4-FFF2-40B4-BE49-F238E27FC236}">
                <a16:creationId xmlns:a16="http://schemas.microsoft.com/office/drawing/2014/main" id="{D4EF4B06-62B7-47BD-91FB-BA90AFC74DA5}"/>
              </a:ext>
            </a:extLst>
          </p:cNvPr>
          <p:cNvSpPr>
            <a:spLocks xmlns:a="http://schemas.openxmlformats.org/drawingml/2006/main" noGrp="1"/>
          </p:cNvSpPr>
          <p:nvPr/>
        </p:nvSpPr>
        <p:spPr>
          <a:xfrm xmlns:a="http://schemas.openxmlformats.org/drawingml/2006/main">
            <a:off x="6343650" y="30480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0D182A"/>
                </a:solidFill>
                <a:latin typeface="Segoe UI"/>
                <a:ea typeface="Segoe UI"/>
                <a:cs typeface="Segoe UI"/>
              </a:defRPr>
            </a:pPr>
            <a:r>
              <a:t>Raw and filtered CSV tables; read identifiers</a:t>
            </a:r>
          </a:p>
        </p:txBody>
      </p:sp>
      <p:sp>
        <p:nvSpPr>
          <p:cNvPr id="9" name="">
            <a:extLst xmlns:a="http://schemas.openxmlformats.org/drawingml/2006/main">
              <a:ext uri="{FF2B5EF4-FFF2-40B4-BE49-F238E27FC236}">
                <a16:creationId xmlns:a16="http://schemas.microsoft.com/office/drawing/2014/main" id="{4070E13F-FD2F-42C5-9B4B-3DDBCF9D79CA}"/>
              </a:ext>
            </a:extLst>
          </p:cNvPr>
          <p:cNvSpPr>
            <a:spLocks xmlns:a="http://schemas.openxmlformats.org/drawingml/2006/main" noGrp="1"/>
          </p:cNvSpPr>
          <p:nvPr/>
        </p:nvSpPr>
        <p:spPr>
          <a:xfrm xmlns:a="http://schemas.openxmlformats.org/drawingml/2006/main">
            <a:off x="533400" y="36004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1">
                <a:solidFill>
                  <a:srgbClr val="0D182A"/>
                </a:solidFill>
                <a:latin typeface="Bahnschrift"/>
                <a:ea typeface="Bahnschrift"/>
                <a:cs typeface="Bahnschrift"/>
              </a:defRPr>
            </a:pPr>
            <a:r>
              <a:t>barcodeXX/reads/</a:t>
            </a:r>
          </a:p>
        </p:txBody>
      </p:sp>
      <p:sp>
        <p:nvSpPr>
          <p:cNvPr id="10" name="">
            <a:extLst xmlns:a="http://schemas.openxmlformats.org/drawingml/2006/main">
              <a:ext uri="{FF2B5EF4-FFF2-40B4-BE49-F238E27FC236}">
                <a16:creationId xmlns:a16="http://schemas.microsoft.com/office/drawing/2014/main" id="{06F9234F-DDF5-4BBA-A9F0-48B5BCD35CE8}"/>
              </a:ext>
            </a:extLst>
          </p:cNvPr>
          <p:cNvSpPr>
            <a:spLocks xmlns:a="http://schemas.openxmlformats.org/drawingml/2006/main" noGrp="1"/>
          </p:cNvSpPr>
          <p:nvPr/>
        </p:nvSpPr>
        <p:spPr>
          <a:xfrm xmlns:a="http://schemas.openxmlformats.org/drawingml/2006/main">
            <a:off x="6343650" y="36004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0D182A"/>
                </a:solidFill>
                <a:latin typeface="Segoe UI"/>
                <a:ea typeface="Segoe UI"/>
                <a:cs typeface="Segoe UI"/>
              </a:defRPr>
            </a:pPr>
            <a:r>
              <a:t>Individual read sequences in FASTA.GZ format</a:t>
            </a:r>
          </a:p>
        </p:txBody>
      </p:sp>
      <p:sp>
        <p:nvSpPr>
          <p:cNvPr id="11" name="">
            <a:extLst xmlns:a="http://schemas.openxmlformats.org/drawingml/2006/main">
              <a:ext uri="{FF2B5EF4-FFF2-40B4-BE49-F238E27FC236}">
                <a16:creationId xmlns:a16="http://schemas.microsoft.com/office/drawing/2014/main" id="{A0B3E13E-CC68-49D8-ACBE-10C011586292}"/>
              </a:ext>
            </a:extLst>
          </p:cNvPr>
          <p:cNvSpPr>
            <a:spLocks xmlns:a="http://schemas.openxmlformats.org/drawingml/2006/main" noGrp="1"/>
          </p:cNvSpPr>
          <p:nvPr/>
        </p:nvSpPr>
        <p:spPr>
          <a:xfrm xmlns:a="http://schemas.openxmlformats.org/drawingml/2006/main">
            <a:off x="533400" y="415290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1">
                <a:solidFill>
                  <a:srgbClr val="0D182A"/>
                </a:solidFill>
                <a:latin typeface="Bahnschrift"/>
                <a:ea typeface="Bahnschrift"/>
                <a:cs typeface="Bahnschrift"/>
              </a:defRPr>
            </a:pPr>
            <a:r>
              <a:t>barcodeXX/single_read_plots/</a:t>
            </a:r>
          </a:p>
        </p:txBody>
      </p:sp>
      <p:sp>
        <p:nvSpPr>
          <p:cNvPr id="12" name="">
            <a:extLst xmlns:a="http://schemas.openxmlformats.org/drawingml/2006/main">
              <a:ext uri="{FF2B5EF4-FFF2-40B4-BE49-F238E27FC236}">
                <a16:creationId xmlns:a16="http://schemas.microsoft.com/office/drawing/2014/main" id="{A4980270-BF13-406E-9BB8-5B6EA8022956}"/>
              </a:ext>
            </a:extLst>
          </p:cNvPr>
          <p:cNvSpPr>
            <a:spLocks xmlns:a="http://schemas.openxmlformats.org/drawingml/2006/main" noGrp="1"/>
          </p:cNvSpPr>
          <p:nvPr/>
        </p:nvSpPr>
        <p:spPr>
          <a:xfrm xmlns:a="http://schemas.openxmlformats.org/drawingml/2006/main">
            <a:off x="6343650" y="415290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0D182A"/>
                </a:solidFill>
                <a:latin typeface="Segoe UI"/>
                <a:ea typeface="Segoe UI"/>
                <a:cs typeface="Segoe UI"/>
              </a:defRPr>
            </a:pPr>
            <a:r>
              <a:t>Original per-read density plots</a:t>
            </a:r>
          </a:p>
        </p:txBody>
      </p:sp>
      <p:sp>
        <p:nvSpPr>
          <p:cNvPr id="13" name="">
            <a:extLst xmlns:a="http://schemas.openxmlformats.org/drawingml/2006/main">
              <a:ext uri="{FF2B5EF4-FFF2-40B4-BE49-F238E27FC236}">
                <a16:creationId xmlns:a16="http://schemas.microsoft.com/office/drawing/2014/main" id="{612FBA36-C50C-40B1-AED8-998A45C4FDBD}"/>
              </a:ext>
            </a:extLst>
          </p:cNvPr>
          <p:cNvSpPr>
            <a:spLocks xmlns:a="http://schemas.openxmlformats.org/drawingml/2006/main" noGrp="1"/>
          </p:cNvSpPr>
          <p:nvPr/>
        </p:nvSpPr>
        <p:spPr>
          <a:xfrm xmlns:a="http://schemas.openxmlformats.org/drawingml/2006/main">
            <a:off x="533400" y="4705350"/>
            <a:ext cx="5476875" cy="4857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950" b="1">
                <a:solidFill>
                  <a:srgbClr val="0D182A"/>
                </a:solidFill>
                <a:latin typeface="Bahnschrift"/>
                <a:ea typeface="Bahnschrift"/>
                <a:cs typeface="Bahnschrift"/>
              </a:defRPr>
            </a:pPr>
            <a:r>
              <a:t>barcodeXX/single_read_plots_adj/</a:t>
            </a:r>
          </a:p>
        </p:txBody>
      </p:sp>
      <p:sp>
        <p:nvSpPr>
          <p:cNvPr id="14" name="">
            <a:extLst xmlns:a="http://schemas.openxmlformats.org/drawingml/2006/main">
              <a:ext uri="{FF2B5EF4-FFF2-40B4-BE49-F238E27FC236}">
                <a16:creationId xmlns:a16="http://schemas.microsoft.com/office/drawing/2014/main" id="{5BDAE468-B629-4B93-8571-75A8C847951F}"/>
              </a:ext>
            </a:extLst>
          </p:cNvPr>
          <p:cNvSpPr>
            <a:spLocks xmlns:a="http://schemas.openxmlformats.org/drawingml/2006/main" noGrp="1"/>
          </p:cNvSpPr>
          <p:nvPr/>
        </p:nvSpPr>
        <p:spPr>
          <a:xfrm xmlns:a="http://schemas.openxmlformats.org/drawingml/2006/main">
            <a:off x="6343650" y="4705350"/>
            <a:ext cx="5314950" cy="5143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0D182A"/>
                </a:solidFill>
                <a:latin typeface="Segoe UI"/>
                <a:ea typeface="Segoe UI"/>
                <a:cs typeface="Segoe UI"/>
              </a:defRPr>
            </a:pPr>
            <a:r>
              <a:t>Adjusted per-read density plots</a:t>
            </a:r>
          </a:p>
        </p:txBody>
      </p:sp>
      <p:sp>
        <p:nvSpPr>
          <p:cNvPr id="15" name="">
            <a:extLst xmlns:a="http://schemas.openxmlformats.org/drawingml/2006/main">
              <a:ext uri="{FF2B5EF4-FFF2-40B4-BE49-F238E27FC236}">
                <a16:creationId xmlns:a16="http://schemas.microsoft.com/office/drawing/2014/main" id="{DB81F44E-CEB9-4247-98D3-92D0527FCE24}"/>
              </a:ext>
            </a:extLst>
          </p:cNvPr>
          <p:cNvSpPr>
            <a:spLocks xmlns:a="http://schemas.openxmlformats.org/drawingml/2006/main" noGrp="1"/>
          </p:cNvSpPr>
          <p:nvPr/>
        </p:nvSpPr>
        <p:spPr>
          <a:xfrm xmlns:a="http://schemas.openxmlformats.org/drawingml/2006/main">
            <a:off x="533400" y="5495925"/>
            <a:ext cx="542925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325" b="1">
                <a:solidFill>
                  <a:srgbClr val="2860F5"/>
                </a:solidFill>
                <a:latin typeface="Bahnschrift"/>
                <a:ea typeface="Bahnschrift"/>
                <a:cs typeface="Bahnschrift"/>
              </a:defRPr>
            </a:pPr>
            <a:r>
              <a:t>Summary-only mode</a:t>
            </a:r>
          </a:p>
        </p:txBody>
      </p:sp>
      <p:sp>
        <p:nvSpPr>
          <p:cNvPr id="16" name="">
            <a:extLst xmlns:a="http://schemas.openxmlformats.org/drawingml/2006/main">
              <a:ext uri="{FF2B5EF4-FFF2-40B4-BE49-F238E27FC236}">
                <a16:creationId xmlns:a16="http://schemas.microsoft.com/office/drawing/2014/main" id="{14F8E324-4687-469E-A920-3FDEE40B9008}"/>
              </a:ext>
            </a:extLst>
          </p:cNvPr>
          <p:cNvSpPr>
            <a:spLocks xmlns:a="http://schemas.openxmlformats.org/drawingml/2006/main" noGrp="1"/>
          </p:cNvSpPr>
          <p:nvPr/>
        </p:nvSpPr>
        <p:spPr>
          <a:xfrm xmlns:a="http://schemas.openxmlformats.org/drawingml/2006/main">
            <a:off x="533400" y="5915025"/>
            <a:ext cx="111252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0D182A"/>
                </a:solidFill>
                <a:latin typeface="Segoe UI"/>
                <a:ea typeface="Segoe UI"/>
                <a:cs typeface="Segoe UI"/>
              </a:defRPr>
            </a:pPr>
            <a:r>
              <a:t>results/nanotel_summary.xlsx replaces the detailed NanoTel folder.</a:t>
            </a:r>
          </a:p>
        </p:txBody>
      </p:sp>
      <p:sp>
        <p:nvSpPr>
          <p:cNvPr id="17" name="">
            <a:extLst xmlns:a="http://schemas.openxmlformats.org/drawingml/2006/main">
              <a:ext uri="{FF2B5EF4-FFF2-40B4-BE49-F238E27FC236}">
                <a16:creationId xmlns:a16="http://schemas.microsoft.com/office/drawing/2014/main" id="{3F9E4CA1-507A-47CC-8F85-AD77CBBDFE5B}"/>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68717E"/>
                </a:solidFill>
                <a:latin typeface="Segoe UI"/>
                <a:ea typeface="Segoe UI"/>
                <a:cs typeface="Segoe UI"/>
              </a:defRPr>
            </a:pPr>
            <a:r>
              <a:t>19</a:t>
            </a:r>
          </a:p>
        </p:txBody>
      </p:sp>
    </p:spTree>
    <p:extLst>
      <p:ext uri="{BB962C8B-B14F-4D97-AF65-F5344CB8AC3E}">
        <p14:creationId xmlns:p14="http://schemas.microsoft.com/office/powerpoint/2010/main" val="1829537530"/>
      </p:ext>
    </p:extLst>
  </p:cSld>
</p:sld>
</file>

<file path=ppt/slides/slide20.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BDE04E-EAD8-40F3-A072-9CCCBF151FB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650" b="1">
                <a:solidFill>
                  <a:srgbClr val="B5F4DE"/>
                </a:solidFill>
                <a:latin typeface="Bahnschrift"/>
                <a:ea typeface="Bahnschrift"/>
                <a:cs typeface="Bahnschrift"/>
              </a:defRPr>
            </a:pPr>
            <a:r>
              <a:t>PROPOSED NEXT STEPS</a:t>
            </a:r>
          </a:p>
        </p:txBody>
      </p:sp>
      <p:sp>
        <p:nvSpPr>
          <p:cNvPr id="2" name="">
            <a:extLst xmlns:a="http://schemas.openxmlformats.org/drawingml/2006/main">
              <a:ext uri="{FF2B5EF4-FFF2-40B4-BE49-F238E27FC236}">
                <a16:creationId xmlns:a16="http://schemas.microsoft.com/office/drawing/2014/main" id="{559FC9F1-510A-411B-AB36-D29DCB8F8524}"/>
              </a:ext>
            </a:extLst>
          </p:cNvPr>
          <p:cNvSpPr>
            <a:spLocks xmlns:a="http://schemas.openxmlformats.org/drawingml/2006/main" noGrp="1"/>
          </p:cNvSpPr>
          <p:nvPr/>
        </p:nvSpPr>
        <p:spPr>
          <a:xfrm xmlns:a="http://schemas.openxmlformats.org/drawingml/2006/main">
            <a:off x="533400" y="838200"/>
            <a:ext cx="1112520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4650" b="1">
                <a:solidFill>
                  <a:srgbClr val="FFFFFF"/>
                </a:solidFill>
                <a:latin typeface="Bahnschrift"/>
                <a:ea typeface="Bahnschrift"/>
                <a:cs typeface="Bahnschrift"/>
              </a:defRPr>
            </a:pPr>
            <a:r>
              <a:t>Future work</a:t>
            </a:r>
          </a:p>
        </p:txBody>
      </p:sp>
      <p:sp>
        <p:nvSpPr>
          <p:cNvPr id="3" name="">
            <a:extLst xmlns:a="http://schemas.openxmlformats.org/drawingml/2006/main">
              <a:ext uri="{FF2B5EF4-FFF2-40B4-BE49-F238E27FC236}">
                <a16:creationId xmlns:a16="http://schemas.microsoft.com/office/drawing/2014/main" id="{3C1A2B40-5948-403E-9A92-43BEF8227E4A}"/>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A9B9CF"/>
                </a:solidFill>
                <a:latin typeface="Segoe UI"/>
                <a:ea typeface="Segoe UI"/>
                <a:cs typeface="Segoe UI"/>
              </a:defRPr>
            </a:pPr>
            <a:r>
              <a:t>TELOMERE ANALYZER</a:t>
            </a:r>
          </a:p>
        </p:txBody>
      </p:sp>
      <p:sp>
        <p:nvSpPr>
          <p:cNvPr id="4" name="">
            <a:extLst xmlns:a="http://schemas.openxmlformats.org/drawingml/2006/main">
              <a:ext uri="{FF2B5EF4-FFF2-40B4-BE49-F238E27FC236}">
                <a16:creationId xmlns:a16="http://schemas.microsoft.com/office/drawing/2014/main" id="{31859B70-2456-4554-8D6B-47545DFDA3A0}"/>
              </a:ext>
            </a:extLst>
          </p:cNvPr>
          <p:cNvSpPr>
            <a:spLocks xmlns:a="http://schemas.openxmlformats.org/drawingml/2006/main" noGrp="1"/>
          </p:cNvSpPr>
          <p:nvPr/>
        </p:nvSpPr>
        <p:spPr>
          <a:xfrm xmlns:a="http://schemas.openxmlformats.org/drawingml/2006/main">
            <a:off x="533400" y="213360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B5F4DE"/>
                </a:solidFill>
                <a:latin typeface="Bahnschrift"/>
                <a:ea typeface="Bahnschrift"/>
                <a:cs typeface="Bahnschrift"/>
              </a:defRPr>
            </a:pPr>
            <a:r>
              <a:t>Broader testing</a:t>
            </a:r>
          </a:p>
        </p:txBody>
      </p:sp>
      <p:sp>
        <p:nvSpPr>
          <p:cNvPr id="5" name="">
            <a:extLst xmlns:a="http://schemas.openxmlformats.org/drawingml/2006/main">
              <a:ext uri="{FF2B5EF4-FFF2-40B4-BE49-F238E27FC236}">
                <a16:creationId xmlns:a16="http://schemas.microsoft.com/office/drawing/2014/main" id="{9678B651-A01B-4639-A408-E740D0C8E64A}"/>
              </a:ext>
            </a:extLst>
          </p:cNvPr>
          <p:cNvSpPr>
            <a:spLocks xmlns:a="http://schemas.openxmlformats.org/drawingml/2006/main" noGrp="1"/>
          </p:cNvSpPr>
          <p:nvPr/>
        </p:nvSpPr>
        <p:spPr>
          <a:xfrm xmlns:a="http://schemas.openxmlformats.org/drawingml/2006/main">
            <a:off x="533400" y="262890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FFFFFF"/>
                </a:solidFill>
                <a:latin typeface="Segoe UI"/>
                <a:ea typeface="Segoe UI"/>
                <a:cs typeface="Segoe UI"/>
              </a:defRPr>
            </a:pPr>
            <a:r>
              <a:t>More barcodes, larger datasets and all input formats</a:t>
            </a:r>
          </a:p>
        </p:txBody>
      </p:sp>
      <p:sp>
        <p:nvSpPr>
          <p:cNvPr id="6" name="">
            <a:extLst xmlns:a="http://schemas.openxmlformats.org/drawingml/2006/main">
              <a:ext uri="{FF2B5EF4-FFF2-40B4-BE49-F238E27FC236}">
                <a16:creationId xmlns:a16="http://schemas.microsoft.com/office/drawing/2014/main" id="{53C4BB52-8404-4BE6-8D55-FAD4B4102293}"/>
              </a:ext>
            </a:extLst>
          </p:cNvPr>
          <p:cNvSpPr>
            <a:spLocks xmlns:a="http://schemas.openxmlformats.org/drawingml/2006/main" noGrp="1"/>
          </p:cNvSpPr>
          <p:nvPr/>
        </p:nvSpPr>
        <p:spPr>
          <a:xfrm xmlns:a="http://schemas.openxmlformats.org/drawingml/2006/main">
            <a:off x="533400" y="311467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B5F4DE"/>
                </a:solidFill>
                <a:latin typeface="Bahnschrift"/>
                <a:ea typeface="Bahnschrift"/>
                <a:cs typeface="Bahnschrift"/>
              </a:defRPr>
            </a:pPr>
            <a:r>
              <a:t>Validation</a:t>
            </a:r>
          </a:p>
        </p:txBody>
      </p:sp>
      <p:sp>
        <p:nvSpPr>
          <p:cNvPr id="7" name="">
            <a:extLst xmlns:a="http://schemas.openxmlformats.org/drawingml/2006/main">
              <a:ext uri="{FF2B5EF4-FFF2-40B4-BE49-F238E27FC236}">
                <a16:creationId xmlns:a16="http://schemas.microsoft.com/office/drawing/2014/main" id="{F560B5FB-D93B-45DA-9389-AC996D830A84}"/>
              </a:ext>
            </a:extLst>
          </p:cNvPr>
          <p:cNvSpPr>
            <a:spLocks xmlns:a="http://schemas.openxmlformats.org/drawingml/2006/main" noGrp="1"/>
          </p:cNvSpPr>
          <p:nvPr/>
        </p:nvSpPr>
        <p:spPr>
          <a:xfrm xmlns:a="http://schemas.openxmlformats.org/drawingml/2006/main">
            <a:off x="533400" y="360997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FFFFFF"/>
                </a:solidFill>
                <a:latin typeface="Segoe UI"/>
                <a:ea typeface="Segoe UI"/>
                <a:cs typeface="Segoe UI"/>
              </a:defRPr>
            </a:pPr>
            <a:r>
              <a:t>Compare mapping and methylation with reference results</a:t>
            </a:r>
          </a:p>
        </p:txBody>
      </p:sp>
      <p:sp>
        <p:nvSpPr>
          <p:cNvPr id="8" name="">
            <a:extLst xmlns:a="http://schemas.openxmlformats.org/drawingml/2006/main">
              <a:ext uri="{FF2B5EF4-FFF2-40B4-BE49-F238E27FC236}">
                <a16:creationId xmlns:a16="http://schemas.microsoft.com/office/drawing/2014/main" id="{C2D51B75-D865-42D2-B98D-6916D791E4E7}"/>
              </a:ext>
            </a:extLst>
          </p:cNvPr>
          <p:cNvSpPr>
            <a:spLocks xmlns:a="http://schemas.openxmlformats.org/drawingml/2006/main" noGrp="1"/>
          </p:cNvSpPr>
          <p:nvPr/>
        </p:nvSpPr>
        <p:spPr>
          <a:xfrm xmlns:a="http://schemas.openxmlformats.org/drawingml/2006/main">
            <a:off x="533400" y="4095750"/>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B5F4DE"/>
                </a:solidFill>
                <a:latin typeface="Bahnschrift"/>
                <a:ea typeface="Bahnschrift"/>
                <a:cs typeface="Bahnschrift"/>
              </a:defRPr>
            </a:pPr>
            <a:r>
              <a:t>Installation and setup</a:t>
            </a:r>
          </a:p>
        </p:txBody>
      </p:sp>
      <p:sp>
        <p:nvSpPr>
          <p:cNvPr id="9" name="">
            <a:extLst xmlns:a="http://schemas.openxmlformats.org/drawingml/2006/main">
              <a:ext uri="{FF2B5EF4-FFF2-40B4-BE49-F238E27FC236}">
                <a16:creationId xmlns:a16="http://schemas.microsoft.com/office/drawing/2014/main" id="{ECC9B004-0B75-4625-A166-C0E5C023014C}"/>
              </a:ext>
            </a:extLst>
          </p:cNvPr>
          <p:cNvSpPr>
            <a:spLocks xmlns:a="http://schemas.openxmlformats.org/drawingml/2006/main" noGrp="1"/>
          </p:cNvSpPr>
          <p:nvPr/>
        </p:nvSpPr>
        <p:spPr>
          <a:xfrm xmlns:a="http://schemas.openxmlformats.org/drawingml/2006/main">
            <a:off x="533400" y="4591050"/>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FFFFFF"/>
                </a:solidFill>
                <a:latin typeface="Segoe UI"/>
                <a:ea typeface="Segoe UI"/>
                <a:cs typeface="Segoe UI"/>
              </a:defRPr>
            </a:pPr>
            <a:r>
              <a:t>Simplify tool, model and reference configuration</a:t>
            </a:r>
          </a:p>
        </p:txBody>
      </p:sp>
      <p:sp>
        <p:nvSpPr>
          <p:cNvPr id="10" name="">
            <a:extLst xmlns:a="http://schemas.openxmlformats.org/drawingml/2006/main">
              <a:ext uri="{FF2B5EF4-FFF2-40B4-BE49-F238E27FC236}">
                <a16:creationId xmlns:a16="http://schemas.microsoft.com/office/drawing/2014/main" id="{91E69A41-2AC3-4AF6-9059-3C831006D1FE}"/>
              </a:ext>
            </a:extLst>
          </p:cNvPr>
          <p:cNvSpPr>
            <a:spLocks xmlns:a="http://schemas.openxmlformats.org/drawingml/2006/main" noGrp="1"/>
          </p:cNvSpPr>
          <p:nvPr/>
        </p:nvSpPr>
        <p:spPr>
          <a:xfrm xmlns:a="http://schemas.openxmlformats.org/drawingml/2006/main">
            <a:off x="533400" y="5076825"/>
            <a:ext cx="111252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B5F4DE"/>
                </a:solidFill>
                <a:latin typeface="Bahnschrift"/>
                <a:ea typeface="Bahnschrift"/>
                <a:cs typeface="Bahnschrift"/>
              </a:defRPr>
            </a:pPr>
            <a:r>
              <a:t>Lab feedback</a:t>
            </a:r>
          </a:p>
        </p:txBody>
      </p:sp>
      <p:sp>
        <p:nvSpPr>
          <p:cNvPr id="11" name="">
            <a:extLst xmlns:a="http://schemas.openxmlformats.org/drawingml/2006/main">
              <a:ext uri="{FF2B5EF4-FFF2-40B4-BE49-F238E27FC236}">
                <a16:creationId xmlns:a16="http://schemas.microsoft.com/office/drawing/2014/main" id="{1692EBBF-7C78-4D8B-A362-4001FB11E2FC}"/>
              </a:ext>
            </a:extLst>
          </p:cNvPr>
          <p:cNvSpPr>
            <a:spLocks xmlns:a="http://schemas.openxmlformats.org/drawingml/2006/main" noGrp="1"/>
          </p:cNvSpPr>
          <p:nvPr/>
        </p:nvSpPr>
        <p:spPr>
          <a:xfrm xmlns:a="http://schemas.openxmlformats.org/drawingml/2006/main">
            <a:off x="533400" y="5572125"/>
            <a:ext cx="111252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75" b="0">
                <a:solidFill>
                  <a:srgbClr val="FFFFFF"/>
                </a:solidFill>
                <a:latin typeface="Segoe UI"/>
                <a:ea typeface="Segoe UI"/>
                <a:cs typeface="Segoe UI"/>
              </a:defRPr>
            </a:pPr>
            <a:r>
              <a:t>Test with lab members and improve usability</a:t>
            </a:r>
          </a:p>
        </p:txBody>
      </p:sp>
      <p:sp>
        <p:nvSpPr>
          <p:cNvPr id="12" name="">
            <a:extLst xmlns:a="http://schemas.openxmlformats.org/drawingml/2006/main">
              <a:ext uri="{FF2B5EF4-FFF2-40B4-BE49-F238E27FC236}">
                <a16:creationId xmlns:a16="http://schemas.microsoft.com/office/drawing/2014/main" id="{59E93229-F2A1-4C68-9FFA-8177C3782F7D}"/>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350" b="0">
                <a:solidFill>
                  <a:srgbClr val="A9B9CF"/>
                </a:solidFill>
                <a:latin typeface="Segoe UI"/>
                <a:ea typeface="Segoe UI"/>
                <a:cs typeface="Segoe UI"/>
              </a:defRPr>
            </a:pPr>
            <a:r>
              <a:t>20</a:t>
            </a:r>
          </a:p>
        </p:txBody>
      </p:sp>
    </p:spTree>
    <p:extLst>
      <p:ext uri="{BB962C8B-B14F-4D97-AF65-F5344CB8AC3E}">
        <p14:creationId xmlns:p14="http://schemas.microsoft.com/office/powerpoint/2010/main" val="780040193"/>
      </p:ext>
    </p:extLst>
  </p:cSld>
</p:sld>
</file>

<file path=ppt/slides/slide21.xml><?xml version="1.0" encoding="utf-8"?>
<p:sld xmlns:p="http://schemas.openxmlformats.org/presentationml/2006/main">
  <p:cSld>
    <p:bg>
      <p:bgPr>
        <a:solidFill xmlns:a="http://schemas.openxmlformats.org/drawingml/2006/main">
          <a:srgbClr val="0D182A"/>
        </a:solidFill>
      </p:bgPr>
    </p:bg>
    <p:spTree>
      <p:nvGrpSpPr>
        <p:cNvPr id="1" name=""/>
        <p:cNvGrpSpPr/>
        <p:nvPr/>
      </p:nvGrpSpPr>
      <p:grpSpPr>
        <a:xfrm xmlns:a="http://schemas.openxmlformats.org/drawingml/2006/main"/>
      </p:grpSpPr>
      <p:sp>
        <p:nvSpPr>
          <p:cNvPr id="7" name="text-119">
            <a:extLst xmlns:a="http://schemas.openxmlformats.org/drawingml/2006/main">
              <a:ext uri="{FF2B5EF4-FFF2-40B4-BE49-F238E27FC236}">
                <a16:creationId xmlns:a16="http://schemas.microsoft.com/office/drawing/2014/main" id="{7E2FDAF2-3CE2-4C9C-8A03-780C7B752224}"/>
              </a:ext>
            </a:extLst>
          </p:cNvPr>
          <p:cNvSpPr>
            <a:spLocks xmlns:a="http://schemas.openxmlformats.org/drawingml/2006/main" noGrp="1"/>
          </p:cNvSpPr>
          <p:nvPr/>
        </p:nvSpPr>
        <p:spPr>
          <a:xfrm xmlns:a="http://schemas.openxmlformats.org/drawingml/2006/main">
            <a:off x="533400" y="285750"/>
            <a:ext cx="104775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650" b="1">
                <a:solidFill>
                  <a:srgbClr val="B5F4DE"/>
                </a:solidFill>
                <a:latin typeface="Segoe UI"/>
                <a:ea typeface="Segoe UI"/>
                <a:cs typeface="Segoe UI"/>
              </a:defRPr>
            </a:pPr>
            <a:r>
              <a:t>LIVE DEMO</a:t>
            </a:r>
          </a:p>
        </p:txBody>
      </p:sp>
      <p:sp>
        <p:nvSpPr>
          <p:cNvPr id="2" name="text-120">
            <a:extLst xmlns:a="http://schemas.openxmlformats.org/drawingml/2006/main">
              <a:ext uri="{FF2B5EF4-FFF2-40B4-BE49-F238E27FC236}">
                <a16:creationId xmlns:a16="http://schemas.microsoft.com/office/drawing/2014/main" id="{5C26D8A1-1756-49C0-AEC3-980AAB588419}"/>
              </a:ext>
            </a:extLst>
          </p:cNvPr>
          <p:cNvSpPr>
            <a:spLocks xmlns:a="http://schemas.openxmlformats.org/drawingml/2006/main" noGrp="1"/>
          </p:cNvSpPr>
          <p:nvPr/>
        </p:nvSpPr>
        <p:spPr>
          <a:xfrm xmlns:a="http://schemas.openxmlformats.org/drawingml/2006/main">
            <a:off x="533400" y="6438900"/>
            <a:ext cx="95250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t>TELOMERE ANALYZER</a:t>
            </a:r>
          </a:p>
        </p:txBody>
      </p:sp>
      <p:sp>
        <p:nvSpPr>
          <p:cNvPr id="3" name="text-121">
            <a:extLst xmlns:a="http://schemas.openxmlformats.org/drawingml/2006/main">
              <a:ext uri="{FF2B5EF4-FFF2-40B4-BE49-F238E27FC236}">
                <a16:creationId xmlns:a16="http://schemas.microsoft.com/office/drawing/2014/main" id="{E169E8D5-A549-423F-A3C9-D3EA2BACBA33}"/>
              </a:ext>
            </a:extLst>
          </p:cNvPr>
          <p:cNvSpPr>
            <a:spLocks xmlns:a="http://schemas.openxmlformats.org/drawingml/2006/main" noGrp="1"/>
          </p:cNvSpPr>
          <p:nvPr/>
        </p:nvSpPr>
        <p:spPr>
          <a:xfrm xmlns:a="http://schemas.openxmlformats.org/drawingml/2006/main">
            <a:off x="11239500" y="6438900"/>
            <a:ext cx="571500" cy="2476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1350" b="0">
                <a:solidFill>
                  <a:srgbClr val="A9B9CF"/>
                </a:solidFill>
                <a:latin typeface="Segoe UI"/>
                <a:ea typeface="Segoe UI"/>
                <a:cs typeface="Segoe UI"/>
              </a:defRPr>
            </a:pPr>
            <a:r>
              <a:rPr sz="1350" b="0">
                <a:solidFill>
                  <a:srgbClr val="A9B9CF"/>
                </a:solidFill>
                <a:latin typeface="Segoe UI"/>
                <a:ea typeface="Segoe UI"/>
                <a:cs typeface="Segoe UI"/>
              </a:rPr>
              <a:t>21</a:t>
            </a:r>
          </a:p>
        </p:txBody>
      </p:sp>
      <p:sp>
        <p:nvSpPr>
          <p:cNvPr id="4" name="text-122">
            <a:extLst xmlns:a="http://schemas.openxmlformats.org/drawingml/2006/main">
              <a:ext uri="{FF2B5EF4-FFF2-40B4-BE49-F238E27FC236}">
                <a16:creationId xmlns:a16="http://schemas.microsoft.com/office/drawing/2014/main" id="{1DE63249-A9D9-4EE6-861D-BAE604015022}"/>
              </a:ext>
            </a:extLst>
          </p:cNvPr>
          <p:cNvSpPr>
            <a:spLocks xmlns:a="http://schemas.openxmlformats.org/drawingml/2006/main" noGrp="1"/>
          </p:cNvSpPr>
          <p:nvPr/>
        </p:nvSpPr>
        <p:spPr>
          <a:xfrm xmlns:a="http://schemas.openxmlformats.org/drawingml/2006/main">
            <a:off x="533400" y="2124075"/>
            <a:ext cx="11125200" cy="15335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6600" b="1">
                <a:solidFill>
                  <a:srgbClr val="B5F4DE"/>
                </a:solidFill>
                <a:latin typeface="Segoe UI"/>
                <a:ea typeface="Segoe UI"/>
                <a:cs typeface="Segoe UI"/>
              </a:defRPr>
            </a:pPr>
            <a:r>
              <a:rPr sz="6600" b="1">
                <a:solidFill>
                  <a:srgbClr val="B5F4DE"/>
                </a:solidFill>
                <a:latin typeface="Segoe UI"/>
                <a:ea typeface="Segoe UI"/>
                <a:cs typeface="Segoe UI"/>
              </a:rPr>
              <a:t>Live demonstration</a:t>
            </a:r>
          </a:p>
        </p:txBody>
      </p:sp>
      <p:sp>
        <p:nvSpPr>
          <p:cNvPr id="5" name="text-123">
            <a:extLst xmlns:a="http://schemas.openxmlformats.org/drawingml/2006/main">
              <a:ext uri="{FF2B5EF4-FFF2-40B4-BE49-F238E27FC236}">
                <a16:creationId xmlns:a16="http://schemas.microsoft.com/office/drawing/2014/main" id="{DC075878-00E4-43D2-A875-6FD1158C47E0}"/>
              </a:ext>
            </a:extLst>
          </p:cNvPr>
          <p:cNvSpPr>
            <a:spLocks xmlns:a="http://schemas.openxmlformats.org/drawingml/2006/main" noGrp="1"/>
          </p:cNvSpPr>
          <p:nvPr/>
        </p:nvSpPr>
        <p:spPr>
          <a:xfrm xmlns:a="http://schemas.openxmlformats.org/drawingml/2006/main">
            <a:off x="533400" y="4133850"/>
            <a:ext cx="10477500" cy="1285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925" b="0">
                <a:solidFill>
                  <a:srgbClr val="FFFFFF"/>
                </a:solidFill>
                <a:latin typeface="Segoe UI"/>
                <a:ea typeface="Segoe UI"/>
                <a:cs typeface="Segoe UI"/>
              </a:defRPr>
            </a:pPr>
            <a:r>
              <a:rPr sz="2925" b="0">
                <a:solidFill>
                  <a:srgbClr val="FFFFFF"/>
                </a:solidFill>
                <a:latin typeface="Segoe UI"/>
                <a:ea typeface="Segoe UI"/>
                <a:cs typeface="Segoe UI"/>
              </a:rPr>
              <a:t>FASTQ input, NanoTel analysis and output review</a:t>
            </a:r>
          </a:p>
        </p:txBody>
      </p:sp>
      <p:sp>
        <p:nvSpPr>
          <p:cNvPr id="6" name="text-124">
            <a:extLst xmlns:a="http://schemas.openxmlformats.org/drawingml/2006/main">
              <a:ext uri="{FF2B5EF4-FFF2-40B4-BE49-F238E27FC236}">
                <a16:creationId xmlns:a16="http://schemas.microsoft.com/office/drawing/2014/main" id="{90D90E7F-323F-4FA7-A629-76789DCCF8C3}"/>
              </a:ext>
            </a:extLst>
          </p:cNvPr>
          <p:cNvSpPr>
            <a:spLocks xmlns:a="http://schemas.openxmlformats.org/drawingml/2006/main" noGrp="1"/>
          </p:cNvSpPr>
          <p:nvPr/>
        </p:nvSpPr>
        <p:spPr>
          <a:xfrm xmlns:a="http://schemas.openxmlformats.org/drawingml/2006/main">
            <a:off x="533400" y="5695950"/>
            <a:ext cx="1047750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buNone/>
              <a:defRPr sz="2025" b="0">
                <a:solidFill>
                  <a:srgbClr val="A9B9CF"/>
                </a:solidFill>
                <a:latin typeface="Segoe UI"/>
                <a:ea typeface="Segoe UI"/>
                <a:cs typeface="Segoe UI"/>
              </a:defRPr>
            </a:pPr>
            <a:r>
              <a:t>Telomere Analyzer • live demonstration</a:t>
            </a:r>
          </a:p>
        </p:txBody>
      </p:sp>
    </p:spTree>
    <p:extLst>
      <p:ext uri="{BB962C8B-B14F-4D97-AF65-F5344CB8AC3E}">
        <p14:creationId xmlns:p14="http://schemas.microsoft.com/office/powerpoint/2010/main" val="16406155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2026-09-22T12:29:04.2430000Z</dcterms:created>
  <dcterms:modified xsi:type="dcterms:W3CDTF">2026-09-22T12:29:04.2430000Z</dcterms:modified>
</coreProperties>
</file>