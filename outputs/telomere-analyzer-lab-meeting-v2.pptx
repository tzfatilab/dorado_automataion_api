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d15232e3d64528" /><Relationship Type="http://schemas.openxmlformats.org/officeDocument/2006/relationships/extended-properties" Target="/docProps/app.xml" Id="Rcfc6720b812741e3" /><Relationship Type="http://schemas.openxmlformats.org/officeDocument/2006/relationships/officeDocument" Target="/ppt/presentation.xml" Id="R2d143acbb3e5411c" /></Relationships>
</file>

<file path=ppt/presentation.xml><?xml version="1.0" encoding="utf-8"?>
<p:presentation xmlns:p="http://schemas.openxmlformats.org/presentationml/2006/main">
  <p:sldMasterIdLst>
    <p:sldMasterId xmlns:r="http://schemas.openxmlformats.org/officeDocument/2006/relationships" id="2147483648" r:id="R36a1cb0fe0bf4c0c"/>
  </p:sldMasterIdLst>
  <p:notesMasterIdLst>
    <p:notesMasterId xmlns:r="http://schemas.openxmlformats.org/officeDocument/2006/relationships" r:id="Ra7773905b03c42fb"/>
  </p:notesMasterIdLst>
  <p:sldIdLst>
    <p:sldId xmlns:r="http://schemas.openxmlformats.org/officeDocument/2006/relationships" id="256" r:id="R38eb76e0fa114265"/>
    <p:sldId xmlns:r="http://schemas.openxmlformats.org/officeDocument/2006/relationships" id="257" r:id="Re82270cff81d4aaa"/>
    <p:sldId xmlns:r="http://schemas.openxmlformats.org/officeDocument/2006/relationships" id="258" r:id="Rfb27a8bfe19845a5"/>
    <p:sldId xmlns:r="http://schemas.openxmlformats.org/officeDocument/2006/relationships" id="259" r:id="R44acb558fcd649e8"/>
    <p:sldId xmlns:r="http://schemas.openxmlformats.org/officeDocument/2006/relationships" id="260" r:id="R58c3ea9babf84516"/>
    <p:sldId xmlns:r="http://schemas.openxmlformats.org/officeDocument/2006/relationships" id="261" r:id="Rc0416a8a690e44e7"/>
    <p:sldId xmlns:r="http://schemas.openxmlformats.org/officeDocument/2006/relationships" id="262" r:id="R7accf51d1ff74472"/>
    <p:sldId xmlns:r="http://schemas.openxmlformats.org/officeDocument/2006/relationships" id="263" r:id="R70abff143c3b4154"/>
    <p:sldId xmlns:r="http://schemas.openxmlformats.org/officeDocument/2006/relationships" id="264" r:id="Rcc074b445d19449b"/>
    <p:sldId xmlns:r="http://schemas.openxmlformats.org/officeDocument/2006/relationships" id="265" r:id="R5f19592ed24a4958"/>
    <p:sldId xmlns:r="http://schemas.openxmlformats.org/officeDocument/2006/relationships" id="266" r:id="Ra68ce4ec4a1f498b"/>
    <p:sldId xmlns:r="http://schemas.openxmlformats.org/officeDocument/2006/relationships" id="267" r:id="R5184f3730bf143a5"/>
    <p:sldId xmlns:r="http://schemas.openxmlformats.org/officeDocument/2006/relationships" id="268" r:id="Re3262122f9a041f2"/>
    <p:sldId xmlns:r="http://schemas.openxmlformats.org/officeDocument/2006/relationships" id="269" r:id="Rf6167e5e2a1a4a53"/>
    <p:sldId xmlns:r="http://schemas.openxmlformats.org/officeDocument/2006/relationships" id="270" r:id="R55ed348b75284fc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7816f445eb45c4" /><Relationship Type="http://schemas.openxmlformats.org/officeDocument/2006/relationships/slideMaster" Target="/ppt/slideMasters/slideMaster1.xml" Id="R36a1cb0fe0bf4c0c" /><Relationship Type="http://schemas.openxmlformats.org/officeDocument/2006/relationships/notesMaster" Target="/ppt/notesMasters/notesMaster1.xml" Id="Ra7773905b03c42fb" /><Relationship Type="http://schemas.openxmlformats.org/officeDocument/2006/relationships/presProps" Target="/ppt/presProps.xml" Id="R86df646f3f6c4f2f" /><Relationship Type="http://schemas.openxmlformats.org/officeDocument/2006/relationships/tableStyles" Target="/ppt/tableStyles.xml" Id="R506691af904845d2" /><Relationship Type="http://schemas.openxmlformats.org/officeDocument/2006/relationships/slide" Target="/ppt/slides/slide1.xml" Id="R38eb76e0fa114265" /><Relationship Type="http://schemas.openxmlformats.org/officeDocument/2006/relationships/slide" Target="/ppt/slides/slide2.xml" Id="Re82270cff81d4aaa" /><Relationship Type="http://schemas.openxmlformats.org/officeDocument/2006/relationships/slide" Target="/ppt/slides/slide3.xml" Id="Rfb27a8bfe19845a5" /><Relationship Type="http://schemas.openxmlformats.org/officeDocument/2006/relationships/slide" Target="/ppt/slides/slide4.xml" Id="R44acb558fcd649e8" /><Relationship Type="http://schemas.openxmlformats.org/officeDocument/2006/relationships/slide" Target="/ppt/slides/slide5.xml" Id="R58c3ea9babf84516" /><Relationship Type="http://schemas.openxmlformats.org/officeDocument/2006/relationships/slide" Target="/ppt/slides/slide6.xml" Id="Rc0416a8a690e44e7" /><Relationship Type="http://schemas.openxmlformats.org/officeDocument/2006/relationships/slide" Target="/ppt/slides/slide7.xml" Id="R7accf51d1ff74472" /><Relationship Type="http://schemas.openxmlformats.org/officeDocument/2006/relationships/slide" Target="/ppt/slides/slide8.xml" Id="R70abff143c3b4154" /><Relationship Type="http://schemas.openxmlformats.org/officeDocument/2006/relationships/slide" Target="/ppt/slides/slide9.xml" Id="Rcc074b445d19449b" /><Relationship Type="http://schemas.openxmlformats.org/officeDocument/2006/relationships/slide" Target="/ppt/slides/slide10.xml" Id="R5f19592ed24a4958" /><Relationship Type="http://schemas.openxmlformats.org/officeDocument/2006/relationships/slide" Target="/ppt/slides/slide11.xml" Id="Ra68ce4ec4a1f498b" /><Relationship Type="http://schemas.openxmlformats.org/officeDocument/2006/relationships/slide" Target="/ppt/slides/slide12.xml" Id="R5184f3730bf143a5" /><Relationship Type="http://schemas.openxmlformats.org/officeDocument/2006/relationships/slide" Target="/ppt/slides/slide13.xml" Id="Re3262122f9a041f2" /><Relationship Type="http://schemas.openxmlformats.org/officeDocument/2006/relationships/slide" Target="/ppt/slides/slide14.xml" Id="Rf6167e5e2a1a4a53" /><Relationship Type="http://schemas.openxmlformats.org/officeDocument/2006/relationships/slide" Target="/ppt/slides/slide15.xml" Id="R55ed348b75284f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1725fa64604e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db39174bb2438c" /><Relationship Type="http://schemas.openxmlformats.org/officeDocument/2006/relationships/notesMaster" Target="/ppt/notesMasters/notesMaster1.xml" Id="R90bfcd6dff104d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644dbe5a794538" /><Relationship Type="http://schemas.openxmlformats.org/officeDocument/2006/relationships/notesMaster" Target="/ppt/notesMasters/notesMaster1.xml" Id="R580ff4394a4e42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b938d64a234a9b" /><Relationship Type="http://schemas.openxmlformats.org/officeDocument/2006/relationships/notesMaster" Target="/ppt/notesMasters/notesMaster1.xml" Id="R0c59dd132cbb44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bd0341c8a1443b" /><Relationship Type="http://schemas.openxmlformats.org/officeDocument/2006/relationships/notesMaster" Target="/ppt/notesMasters/notesMaster1.xml" Id="R4f61b77e20fb42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5e5bf76a8f45e5" /><Relationship Type="http://schemas.openxmlformats.org/officeDocument/2006/relationships/notesMaster" Target="/ppt/notesMasters/notesMaster1.xml" Id="R4e3c4455fbf241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16dd49fadf4c52" /><Relationship Type="http://schemas.openxmlformats.org/officeDocument/2006/relationships/notesMaster" Target="/ppt/notesMasters/notesMaster1.xml" Id="R757200260d654d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f8249eee12458f" /><Relationship Type="http://schemas.openxmlformats.org/officeDocument/2006/relationships/notesMaster" Target="/ppt/notesMasters/notesMaster1.xml" Id="R8a6091be32fe40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d2c5d0eb7d4701" /><Relationship Type="http://schemas.openxmlformats.org/officeDocument/2006/relationships/notesMaster" Target="/ppt/notesMasters/notesMaster1.xml" Id="Ra9daf8afb07b4e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23029e69374964" /><Relationship Type="http://schemas.openxmlformats.org/officeDocument/2006/relationships/notesMaster" Target="/ppt/notesMasters/notesMaster1.xml" Id="R9f8028e32a7d46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1f61ce9c594881" /><Relationship Type="http://schemas.openxmlformats.org/officeDocument/2006/relationships/notesMaster" Target="/ppt/notesMasters/notesMaster1.xml" Id="Rf5620f740a8e44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744368788c4086" /><Relationship Type="http://schemas.openxmlformats.org/officeDocument/2006/relationships/notesMaster" Target="/ppt/notesMasters/notesMaster1.xml" Id="R6c514a63d65242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03d60f087b465c" /><Relationship Type="http://schemas.openxmlformats.org/officeDocument/2006/relationships/notesMaster" Target="/ppt/notesMasters/notesMaster1.xml" Id="Rad894b59ce7e4a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9100fa86a14f43" /><Relationship Type="http://schemas.openxmlformats.org/officeDocument/2006/relationships/notesMaster" Target="/ppt/notesMasters/notesMaster1.xml" Id="R3c67b2fc572a4e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1d6ded7ebc4bc9" /><Relationship Type="http://schemas.openxmlformats.org/officeDocument/2006/relationships/notesMaster" Target="/ppt/notesMasters/notesMaster1.xml" Id="R950ba14c4fc548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6a053e7da34d8d" /><Relationship Type="http://schemas.openxmlformats.org/officeDocument/2006/relationships/notesMaster" Target="/ppt/notesMasters/notesMaster1.xml" Id="Rd0d5d8a8153b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 the punchline warmly: Do it yourself! Pause for the callback, then explain that the point is to give the lab the ability to run the analysis independently. The next slide makes that motivation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and pipeline_runner.py. Show the three entry points and the folder chooser. POD5 starts from raw signal; BAM skips basecalling and is converted for downstream analysis; FASTQ starts from sequence reads. Barcode organization may still require demultiplexing. Users select the input directory through the folder 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02e900f5cd49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2e7b938ed84ce1" /><Relationship Type="http://schemas.openxmlformats.org/officeDocument/2006/relationships/slideLayout" Target="/ppt/slideLayouts/slideLayout1.xml" Id="R91305ce3e49745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305ce3e49745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a201ec57d74fd1" /><Relationship Type="http://schemas.openxmlformats.org/officeDocument/2006/relationships/notesSlide" Target="/ppt/notesSlides/notesSlide1.xml" Id="Ra1de07ea896f46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8ad965df464522" /><Relationship Type="http://schemas.openxmlformats.org/officeDocument/2006/relationships/notesSlide" Target="/ppt/notesSlides/notesSlide2.xml" Id="Rdb535070c20a49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e7eddc9a0f49ea" /><Relationship Type="http://schemas.openxmlformats.org/officeDocument/2006/relationships/notesSlide" Target="/ppt/notesSlides/notesSlide3.xml" Id="Rb49d20a8668645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70e4d7c61c40b7" /><Relationship Type="http://schemas.openxmlformats.org/officeDocument/2006/relationships/image" Target="/ppt/media/image.png" Id="Ra46b68e2518947f8" /><Relationship Type="http://schemas.openxmlformats.org/officeDocument/2006/relationships/notesSlide" Target="/ppt/notesSlides/notesSlide4.xml" Id="R8e1548acdb824f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d48f9fa5d54d5d" /><Relationship Type="http://schemas.openxmlformats.org/officeDocument/2006/relationships/image" Target="/ppt/media/image2.png" Id="Rf71b323299cf43c2" /><Relationship Type="http://schemas.openxmlformats.org/officeDocument/2006/relationships/notesSlide" Target="/ppt/notesSlides/notesSlide5.xml" Id="R02bc7f6fbf3d47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b20c29b5cc4e59" /><Relationship Type="http://schemas.openxmlformats.org/officeDocument/2006/relationships/image" Target="/ppt/media/image3.png" Id="R4a5d5cf8af2349e9" /><Relationship Type="http://schemas.openxmlformats.org/officeDocument/2006/relationships/image" Target="/ppt/media/image4.png" Id="Rdd70363e5e394231" /><Relationship Type="http://schemas.openxmlformats.org/officeDocument/2006/relationships/notesSlide" Target="/ppt/notesSlides/notesSlide6.xml" Id="R29fe5550f8914f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953e3ced8548d4" /><Relationship Type="http://schemas.openxmlformats.org/officeDocument/2006/relationships/image" Target="/ppt/media/image5.png" Id="Rf7a022bccc664300" /><Relationship Type="http://schemas.openxmlformats.org/officeDocument/2006/relationships/notesSlide" Target="/ppt/notesSlides/notesSlide7.xml" Id="R76026252830e46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0f042a38194dc4" /><Relationship Type="http://schemas.openxmlformats.org/officeDocument/2006/relationships/image" Target="/ppt/media/image6.png" Id="R5d44fce4446949d2" /><Relationship Type="http://schemas.openxmlformats.org/officeDocument/2006/relationships/notesSlide" Target="/ppt/notesSlides/notesSlide8.xml" Id="R67f193b2072642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6a0f1bd57047ef" /><Relationship Type="http://schemas.openxmlformats.org/officeDocument/2006/relationships/image" Target="/ppt/media/image7.png" Id="Rd182478703f54e17" /><Relationship Type="http://schemas.openxmlformats.org/officeDocument/2006/relationships/notesSlide" Target="/ppt/notesSlides/notesSlide9.xml" Id="Rd0e000de20934a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e728c4160d435b" /><Relationship Type="http://schemas.openxmlformats.org/officeDocument/2006/relationships/image" Target="/ppt/media/image8.png" Id="R58fcf686b932437e" /><Relationship Type="http://schemas.openxmlformats.org/officeDocument/2006/relationships/notesSlide" Target="/ppt/notesSlides/notesSlide10.xml" Id="R173936abc8854c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caefeafbd946fc" /><Relationship Type="http://schemas.openxmlformats.org/officeDocument/2006/relationships/notesSlide" Target="/ppt/notesSlides/notesSlide11.xml" Id="R6bc2bf113e5642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c96bda34324760" /><Relationship Type="http://schemas.openxmlformats.org/officeDocument/2006/relationships/image" Target="/ppt/media/image9.png" Id="R7515477b4fd8406e" /><Relationship Type="http://schemas.openxmlformats.org/officeDocument/2006/relationships/notesSlide" Target="/ppt/notesSlides/notesSlide12.xml" Id="R88749e6764684f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6fe55c58a5e4099" /><Relationship Type="http://schemas.openxmlformats.org/officeDocument/2006/relationships/image" Target="/ppt/media/image10.png" Id="Ra12b1c623acc4bf6" /><Relationship Type="http://schemas.openxmlformats.org/officeDocument/2006/relationships/notesSlide" Target="/ppt/notesSlides/notesSlide13.xml" Id="R1964471a864344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923528ac634bed" /><Relationship Type="http://schemas.openxmlformats.org/officeDocument/2006/relationships/notesSlide" Target="/ppt/notesSlides/notesSlide14.xml" Id="R84eb7c43451441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b44bfebd0e4f7f" /><Relationship Type="http://schemas.openxmlformats.org/officeDocument/2006/relationships/notesSlide" Target="/ppt/notesSlides/notesSlide15.xml" Id="Rdfdda03670434d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
            <a:extLst xmlns:a="http://schemas.openxmlformats.org/drawingml/2006/main">
              <a:ext uri="{FF2B5EF4-FFF2-40B4-BE49-F238E27FC236}">
                <a16:creationId xmlns:a16="http://schemas.microsoft.com/office/drawing/2014/main" id="{A2A0C71D-C23C-4CAF-904D-C3F8D4DE28E4}"/>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REMEMBER THIS?</a:t>
            </a:r>
          </a:p>
        </p:txBody>
      </p:sp>
      <p:sp>
        <p:nvSpPr>
          <p:cNvPr id="2" name="text-2">
            <a:extLst xmlns:a="http://schemas.openxmlformats.org/drawingml/2006/main">
              <a:ext uri="{FF2B5EF4-FFF2-40B4-BE49-F238E27FC236}">
                <a16:creationId xmlns:a16="http://schemas.microsoft.com/office/drawing/2014/main" id="{87412681-C8A9-4F5C-8DF3-7246421F2F2B}"/>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3">
            <a:extLst xmlns:a="http://schemas.openxmlformats.org/drawingml/2006/main">
              <a:ext uri="{FF2B5EF4-FFF2-40B4-BE49-F238E27FC236}">
                <a16:creationId xmlns:a16="http://schemas.microsoft.com/office/drawing/2014/main" id="{8429FBDF-503B-45FA-8E6A-CBA7AAABF995}"/>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01</a:t>
            </a:r>
          </a:p>
        </p:txBody>
      </p:sp>
      <p:sp>
        <p:nvSpPr>
          <p:cNvPr id="4" name="text-4">
            <a:extLst xmlns:a="http://schemas.openxmlformats.org/drawingml/2006/main">
              <a:ext uri="{FF2B5EF4-FFF2-40B4-BE49-F238E27FC236}">
                <a16:creationId xmlns:a16="http://schemas.microsoft.com/office/drawing/2014/main" id="{3B63C170-2BE0-400D-9E43-9091343F2F80}"/>
              </a:ext>
            </a:extLst>
          </p:cNvPr>
          <p:cNvSpPr>
            <a:spLocks xmlns:a="http://schemas.openxmlformats.org/drawingml/2006/main" noGrp="1"/>
          </p:cNvSpPr>
          <p:nvPr/>
        </p:nvSpPr>
        <p:spPr>
          <a:xfrm xmlns:a="http://schemas.openxmlformats.org/drawingml/2006/main">
            <a:off x="457200" y="1790700"/>
            <a:ext cx="10477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0">
                <a:solidFill>
                  <a:srgbClr val="5B6472"/>
                </a:solidFill>
                <a:latin typeface="Arial"/>
                <a:ea typeface="Arial"/>
                <a:cs typeface="Arial"/>
              </a:defRPr>
            </a:pPr>
            <a:r>
              <a:t>A biologist in the lab:</a:t>
            </a:r>
          </a:p>
        </p:txBody>
      </p:sp>
      <p:sp>
        <p:nvSpPr>
          <p:cNvPr id="5" name="text-5">
            <a:extLst xmlns:a="http://schemas.openxmlformats.org/drawingml/2006/main">
              <a:ext uri="{FF2B5EF4-FFF2-40B4-BE49-F238E27FC236}">
                <a16:creationId xmlns:a16="http://schemas.microsoft.com/office/drawing/2014/main" id="{AE6314AE-F438-439A-9D63-6DAF8E4867CF}"/>
              </a:ext>
            </a:extLst>
          </p:cNvPr>
          <p:cNvSpPr>
            <a:spLocks xmlns:a="http://schemas.openxmlformats.org/drawingml/2006/main" noGrp="1"/>
          </p:cNvSpPr>
          <p:nvPr/>
        </p:nvSpPr>
        <p:spPr>
          <a:xfrm xmlns:a="http://schemas.openxmlformats.org/drawingml/2006/main">
            <a:off x="457200" y="2667000"/>
            <a:ext cx="11144250" cy="2190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6150" b="1">
                <a:solidFill>
                  <a:srgbClr val="152033"/>
                </a:solidFill>
                <a:latin typeface="Arial"/>
                <a:ea typeface="Arial"/>
                <a:cs typeface="Arial"/>
              </a:defRPr>
            </a:pPr>
            <a:r>
              <a:t>“Can you help me</a:t>
            </a:r>
          </a:p>
          <a:p xmlns:a="http://schemas.openxmlformats.org/drawingml/2006/main">
            <a:pPr>
              <a:defRPr sz="6150" b="1">
                <a:solidFill>
                  <a:srgbClr val="152033"/>
                </a:solidFill>
                <a:latin typeface="Arial"/>
                <a:ea typeface="Arial"/>
                <a:cs typeface="Arial"/>
              </a:defRPr>
            </a:pPr>
            <a:r>
              <a:t>analyze my data?”</a:t>
            </a:r>
          </a:p>
        </p:txBody>
      </p:sp>
    </p:spTree>
    <p:extLst>
      <p:ext uri="{BB962C8B-B14F-4D97-AF65-F5344CB8AC3E}">
        <p14:creationId xmlns:p14="http://schemas.microsoft.com/office/powerpoint/2010/main" val="7311566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6">
            <a:extLst xmlns:a="http://schemas.openxmlformats.org/drawingml/2006/main">
              <a:ext uri="{FF2B5EF4-FFF2-40B4-BE49-F238E27FC236}">
                <a16:creationId xmlns:a16="http://schemas.microsoft.com/office/drawing/2014/main" id="{94768C85-6F3D-484B-8776-4EC5DF805442}"/>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MY ANSWER NOW</a:t>
            </a:r>
          </a:p>
        </p:txBody>
      </p:sp>
      <p:sp>
        <p:nvSpPr>
          <p:cNvPr id="2" name="text-7">
            <a:extLst xmlns:a="http://schemas.openxmlformats.org/drawingml/2006/main">
              <a:ext uri="{FF2B5EF4-FFF2-40B4-BE49-F238E27FC236}">
                <a16:creationId xmlns:a16="http://schemas.microsoft.com/office/drawing/2014/main" id="{D92368AC-6471-49C4-AF37-27D32A0BA306}"/>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8">
            <a:extLst xmlns:a="http://schemas.openxmlformats.org/drawingml/2006/main">
              <a:ext uri="{FF2B5EF4-FFF2-40B4-BE49-F238E27FC236}">
                <a16:creationId xmlns:a16="http://schemas.microsoft.com/office/drawing/2014/main" id="{C3560B41-CC45-4116-8F10-582DDC3C1DD6}"/>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02</a:t>
            </a:r>
          </a:p>
        </p:txBody>
      </p:sp>
      <p:sp>
        <p:nvSpPr>
          <p:cNvPr id="4" name="text-9">
            <a:extLst xmlns:a="http://schemas.openxmlformats.org/drawingml/2006/main">
              <a:ext uri="{FF2B5EF4-FFF2-40B4-BE49-F238E27FC236}">
                <a16:creationId xmlns:a16="http://schemas.microsoft.com/office/drawing/2014/main" id="{2D136804-3C04-424C-B7B8-4AD5E6350A64}"/>
              </a:ext>
            </a:extLst>
          </p:cNvPr>
          <p:cNvSpPr>
            <a:spLocks xmlns:a="http://schemas.openxmlformats.org/drawingml/2006/main" noGrp="1"/>
          </p:cNvSpPr>
          <p:nvPr/>
        </p:nvSpPr>
        <p:spPr>
          <a:xfrm xmlns:a="http://schemas.openxmlformats.org/drawingml/2006/main">
            <a:off x="457200" y="2381250"/>
            <a:ext cx="11277600" cy="1238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7200" b="1">
                <a:solidFill>
                  <a:srgbClr val="2563EB"/>
                </a:solidFill>
                <a:latin typeface="Arial"/>
                <a:ea typeface="Arial"/>
                <a:cs typeface="Arial"/>
              </a:defRPr>
            </a:pPr>
            <a:r>
              <a:t>“Do it yourself!”</a:t>
            </a:r>
          </a:p>
        </p:txBody>
      </p:sp>
      <p:sp>
        <p:nvSpPr>
          <p:cNvPr id="5" name="text-10">
            <a:extLst xmlns:a="http://schemas.openxmlformats.org/drawingml/2006/main">
              <a:ext uri="{FF2B5EF4-FFF2-40B4-BE49-F238E27FC236}">
                <a16:creationId xmlns:a16="http://schemas.microsoft.com/office/drawing/2014/main" id="{C7837720-00FB-401B-9EF8-4448853EBCAA}"/>
              </a:ext>
            </a:extLst>
          </p:cNvPr>
          <p:cNvSpPr>
            <a:spLocks xmlns:a="http://schemas.openxmlformats.org/drawingml/2006/main" noGrp="1"/>
          </p:cNvSpPr>
          <p:nvPr/>
        </p:nvSpPr>
        <p:spPr>
          <a:xfrm xmlns:a="http://schemas.openxmlformats.org/drawingml/2006/main">
            <a:off x="457200" y="4333875"/>
            <a:ext cx="1114425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225" b="0">
                <a:solidFill>
                  <a:srgbClr val="152033"/>
                </a:solidFill>
                <a:latin typeface="Arial"/>
                <a:ea typeface="Arial"/>
                <a:cs typeface="Arial"/>
              </a:defRPr>
            </a:pPr>
            <a:r>
              <a:t>Now you can.</a:t>
            </a:r>
          </a:p>
        </p:txBody>
      </p:sp>
    </p:spTree>
    <p:extLst>
      <p:ext uri="{BB962C8B-B14F-4D97-AF65-F5344CB8AC3E}">
        <p14:creationId xmlns:p14="http://schemas.microsoft.com/office/powerpoint/2010/main" val="19145027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1">
            <a:extLst xmlns:a="http://schemas.openxmlformats.org/drawingml/2006/main">
              <a:ext uri="{FF2B5EF4-FFF2-40B4-BE49-F238E27FC236}">
                <a16:creationId xmlns:a16="http://schemas.microsoft.com/office/drawing/2014/main" id="{A70EF6E1-4337-4C0F-A865-AD4CF64E7096}"/>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THE MOTIVATION</a:t>
            </a:r>
          </a:p>
        </p:txBody>
      </p:sp>
      <p:sp>
        <p:nvSpPr>
          <p:cNvPr id="2" name="text-12">
            <a:extLst xmlns:a="http://schemas.openxmlformats.org/drawingml/2006/main">
              <a:ext uri="{FF2B5EF4-FFF2-40B4-BE49-F238E27FC236}">
                <a16:creationId xmlns:a16="http://schemas.microsoft.com/office/drawing/2014/main" id="{0EFC6B8E-DDFB-4F2A-9A37-66F1872C4589}"/>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13">
            <a:extLst xmlns:a="http://schemas.openxmlformats.org/drawingml/2006/main">
              <a:ext uri="{FF2B5EF4-FFF2-40B4-BE49-F238E27FC236}">
                <a16:creationId xmlns:a16="http://schemas.microsoft.com/office/drawing/2014/main" id="{17BEA751-3D8A-4F94-BD95-D8EEF0312839}"/>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03</a:t>
            </a:r>
          </a:p>
        </p:txBody>
      </p:sp>
      <p:sp>
        <p:nvSpPr>
          <p:cNvPr id="4" name="text-14">
            <a:extLst xmlns:a="http://schemas.openxmlformats.org/drawingml/2006/main">
              <a:ext uri="{FF2B5EF4-FFF2-40B4-BE49-F238E27FC236}">
                <a16:creationId xmlns:a16="http://schemas.microsoft.com/office/drawing/2014/main" id="{BDA82327-EB6C-457A-9F90-5609415B9143}"/>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Give biologists independence in the lab</a:t>
            </a:r>
          </a:p>
        </p:txBody>
      </p:sp>
      <p:sp>
        <p:nvSpPr>
          <p:cNvPr id="5" name="text-15">
            <a:extLst xmlns:a="http://schemas.openxmlformats.org/drawingml/2006/main">
              <a:ext uri="{FF2B5EF4-FFF2-40B4-BE49-F238E27FC236}">
                <a16:creationId xmlns:a16="http://schemas.microsoft.com/office/drawing/2014/main" id="{F5207F0A-D55E-44D1-8BFA-2A32E4A3A46B}"/>
              </a:ext>
            </a:extLst>
          </p:cNvPr>
          <p:cNvSpPr>
            <a:spLocks xmlns:a="http://schemas.openxmlformats.org/drawingml/2006/main" noGrp="1"/>
          </p:cNvSpPr>
          <p:nvPr/>
        </p:nvSpPr>
        <p:spPr>
          <a:xfrm xmlns:a="http://schemas.openxmlformats.org/drawingml/2006/main">
            <a:off x="457200" y="2305050"/>
            <a:ext cx="10668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Choose your data.</a:t>
            </a:r>
          </a:p>
        </p:txBody>
      </p:sp>
      <p:sp>
        <p:nvSpPr>
          <p:cNvPr id="6" name="text-16">
            <a:extLst xmlns:a="http://schemas.openxmlformats.org/drawingml/2006/main">
              <a:ext uri="{FF2B5EF4-FFF2-40B4-BE49-F238E27FC236}">
                <a16:creationId xmlns:a16="http://schemas.microsoft.com/office/drawing/2014/main" id="{7212F038-FD93-4D70-A520-A9BFE385E166}"/>
              </a:ext>
            </a:extLst>
          </p:cNvPr>
          <p:cNvSpPr>
            <a:spLocks xmlns:a="http://schemas.openxmlformats.org/drawingml/2006/main" noGrp="1"/>
          </p:cNvSpPr>
          <p:nvPr/>
        </p:nvSpPr>
        <p:spPr>
          <a:xfrm xmlns:a="http://schemas.openxmlformats.org/drawingml/2006/main">
            <a:off x="457200" y="3352800"/>
            <a:ext cx="10668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Set up your analysis.</a:t>
            </a:r>
          </a:p>
        </p:txBody>
      </p:sp>
      <p:sp>
        <p:nvSpPr>
          <p:cNvPr id="7" name="text-17">
            <a:extLst xmlns:a="http://schemas.openxmlformats.org/drawingml/2006/main">
              <a:ext uri="{FF2B5EF4-FFF2-40B4-BE49-F238E27FC236}">
                <a16:creationId xmlns:a16="http://schemas.microsoft.com/office/drawing/2014/main" id="{B23A7276-BE20-4120-93A3-C15841EC90A6}"/>
              </a:ext>
            </a:extLst>
          </p:cNvPr>
          <p:cNvSpPr>
            <a:spLocks xmlns:a="http://schemas.openxmlformats.org/drawingml/2006/main" noGrp="1"/>
          </p:cNvSpPr>
          <p:nvPr/>
        </p:nvSpPr>
        <p:spPr>
          <a:xfrm xmlns:a="http://schemas.openxmlformats.org/drawingml/2006/main">
            <a:off x="457200" y="4400550"/>
            <a:ext cx="10668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563EB"/>
                </a:solidFill>
                <a:latin typeface="Arial"/>
                <a:ea typeface="Arial"/>
                <a:cs typeface="Arial"/>
              </a:defRPr>
            </a:pPr>
            <a:r>
              <a:t>Run it yourself.</a:t>
            </a:r>
          </a:p>
        </p:txBody>
      </p:sp>
      <p:sp>
        <p:nvSpPr>
          <p:cNvPr id="8" name="text-18">
            <a:extLst xmlns:a="http://schemas.openxmlformats.org/drawingml/2006/main">
              <a:ext uri="{FF2B5EF4-FFF2-40B4-BE49-F238E27FC236}">
                <a16:creationId xmlns:a16="http://schemas.microsoft.com/office/drawing/2014/main" id="{10CF1FEC-1F9A-4F13-BD39-75AEC3A770C9}"/>
              </a:ext>
            </a:extLst>
          </p:cNvPr>
          <p:cNvSpPr>
            <a:spLocks xmlns:a="http://schemas.openxmlformats.org/drawingml/2006/main" noGrp="1"/>
          </p:cNvSpPr>
          <p:nvPr/>
        </p:nvSpPr>
        <p:spPr>
          <a:xfrm xmlns:a="http://schemas.openxmlformats.org/drawingml/2006/main">
            <a:off x="457200" y="5648325"/>
            <a:ext cx="11239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325" b="0">
                <a:solidFill>
                  <a:srgbClr val="5B6472"/>
                </a:solidFill>
                <a:latin typeface="Arial"/>
                <a:ea typeface="Arial"/>
                <a:cs typeface="Arial"/>
              </a:defRPr>
            </a:pPr>
            <a:r>
              <a:t>One graphical interface for the lab’s telomere workflow.</a:t>
            </a:r>
          </a:p>
        </p:txBody>
      </p:sp>
    </p:spTree>
    <p:extLst>
      <p:ext uri="{BB962C8B-B14F-4D97-AF65-F5344CB8AC3E}">
        <p14:creationId xmlns:p14="http://schemas.microsoft.com/office/powerpoint/2010/main" val="9884243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9">
            <a:extLst xmlns:a="http://schemas.openxmlformats.org/drawingml/2006/main">
              <a:ext uri="{FF2B5EF4-FFF2-40B4-BE49-F238E27FC236}">
                <a16:creationId xmlns:a16="http://schemas.microsoft.com/office/drawing/2014/main" id="{7600D459-8BCE-4370-9318-DC99462DC448}"/>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THE GUI</a:t>
            </a:r>
          </a:p>
        </p:txBody>
      </p:sp>
      <p:sp>
        <p:nvSpPr>
          <p:cNvPr id="2" name="text-20">
            <a:extLst xmlns:a="http://schemas.openxmlformats.org/drawingml/2006/main">
              <a:ext uri="{FF2B5EF4-FFF2-40B4-BE49-F238E27FC236}">
                <a16:creationId xmlns:a16="http://schemas.microsoft.com/office/drawing/2014/main" id="{E92E3885-3253-4EFD-A9AC-B5959A1D36D1}"/>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21">
            <a:extLst xmlns:a="http://schemas.openxmlformats.org/drawingml/2006/main">
              <a:ext uri="{FF2B5EF4-FFF2-40B4-BE49-F238E27FC236}">
                <a16:creationId xmlns:a16="http://schemas.microsoft.com/office/drawing/2014/main" id="{E2DAF17A-4FB7-4E98-A920-FC5C43145571}"/>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04</a:t>
            </a:r>
          </a:p>
        </p:txBody>
      </p:sp>
      <p:sp>
        <p:nvSpPr>
          <p:cNvPr id="4" name="text-22">
            <a:extLst xmlns:a="http://schemas.openxmlformats.org/drawingml/2006/main">
              <a:ext uri="{FF2B5EF4-FFF2-40B4-BE49-F238E27FC236}">
                <a16:creationId xmlns:a16="http://schemas.microsoft.com/office/drawing/2014/main" id="{066B7B4C-8634-437A-89E6-2DD8248D43E4}"/>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Meet Telomere Analyzer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46b68e2518947f8"/>
          <a:stretch xmlns:a="http://schemas.openxmlformats.org/drawingml/2006/main"/>
        </p:blipFill>
        <p:spPr>
          <a:xfrm xmlns:a="http://schemas.openxmlformats.org/drawingml/2006/main">
            <a:off x="2243667" y="1924050"/>
            <a:ext cx="7704667" cy="4333875"/>
          </a:xfrm>
          <a:prstGeom xmlns:a="http://schemas.openxmlformats.org/drawingml/2006/main" prst="rect">
            <a:avLst/>
          </a:prstGeom>
        </p:spPr>
      </p:pic>
    </p:spTree>
    <p:extLst>
      <p:ext uri="{BB962C8B-B14F-4D97-AF65-F5344CB8AC3E}">
        <p14:creationId xmlns:p14="http://schemas.microsoft.com/office/powerpoint/2010/main" val="1920071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23">
            <a:extLst xmlns:a="http://schemas.openxmlformats.org/drawingml/2006/main">
              <a:ext uri="{FF2B5EF4-FFF2-40B4-BE49-F238E27FC236}">
                <a16:creationId xmlns:a16="http://schemas.microsoft.com/office/drawing/2014/main" id="{FACFCD14-8808-40E7-A050-5EEB24149D0A}"/>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INPUT DATA</a:t>
            </a:r>
          </a:p>
        </p:txBody>
      </p:sp>
      <p:sp>
        <p:nvSpPr>
          <p:cNvPr id="2" name="text-24">
            <a:extLst xmlns:a="http://schemas.openxmlformats.org/drawingml/2006/main">
              <a:ext uri="{FF2B5EF4-FFF2-40B4-BE49-F238E27FC236}">
                <a16:creationId xmlns:a16="http://schemas.microsoft.com/office/drawing/2014/main" id="{E7E306F0-7678-4ADD-82C0-58E182DB96B0}"/>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25">
            <a:extLst xmlns:a="http://schemas.openxmlformats.org/drawingml/2006/main">
              <a:ext uri="{FF2B5EF4-FFF2-40B4-BE49-F238E27FC236}">
                <a16:creationId xmlns:a16="http://schemas.microsoft.com/office/drawing/2014/main" id="{FC159E9C-9381-4B5F-BBBD-DA094B01C1D1}"/>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05</a:t>
            </a:r>
          </a:p>
        </p:txBody>
      </p:sp>
      <p:sp>
        <p:nvSpPr>
          <p:cNvPr id="4" name="text-26">
            <a:extLst xmlns:a="http://schemas.openxmlformats.org/drawingml/2006/main">
              <a:ext uri="{FF2B5EF4-FFF2-40B4-BE49-F238E27FC236}">
                <a16:creationId xmlns:a16="http://schemas.microsoft.com/office/drawing/2014/main" id="{46504EA1-B404-4CE9-949D-E138A339B8FE}"/>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Start with the files you already have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71b323299cf43c2"/>
          <a:stretch xmlns:a="http://schemas.openxmlformats.org/drawingml/2006/main"/>
        </p:blipFill>
        <p:spPr>
          <a:xfrm xmlns:a="http://schemas.openxmlformats.org/drawingml/2006/main">
            <a:off x="457200" y="2081227"/>
            <a:ext cx="11277600" cy="1704947"/>
          </a:xfrm>
          <a:prstGeom xmlns:a="http://schemas.openxmlformats.org/drawingml/2006/main" prst="rect">
            <a:avLst/>
          </a:prstGeom>
        </p:spPr>
      </p:pic>
      <p:sp>
        <p:nvSpPr>
          <p:cNvPr id="6" name="text-27">
            <a:extLst xmlns:a="http://schemas.openxmlformats.org/drawingml/2006/main">
              <a:ext uri="{FF2B5EF4-FFF2-40B4-BE49-F238E27FC236}">
                <a16:creationId xmlns:a16="http://schemas.microsoft.com/office/drawing/2014/main" id="{FBB108D3-484B-40A5-838A-6BC343236A22}"/>
              </a:ext>
            </a:extLst>
          </p:cNvPr>
          <p:cNvSpPr>
            <a:spLocks xmlns:a="http://schemas.openxmlformats.org/drawingml/2006/main" noGrp="1"/>
          </p:cNvSpPr>
          <p:nvPr/>
        </p:nvSpPr>
        <p:spPr>
          <a:xfrm xmlns:a="http://schemas.openxmlformats.org/drawingml/2006/main">
            <a:off x="457200" y="42862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700" b="1">
                <a:solidFill>
                  <a:srgbClr val="2563EB"/>
                </a:solidFill>
                <a:latin typeface="Arial"/>
                <a:ea typeface="Arial"/>
                <a:cs typeface="Arial"/>
              </a:defRPr>
            </a:pPr>
            <a:r>
              <a:t>POD5</a:t>
            </a:r>
          </a:p>
        </p:txBody>
      </p:sp>
      <p:sp>
        <p:nvSpPr>
          <p:cNvPr id="7" name="text-28">
            <a:extLst xmlns:a="http://schemas.openxmlformats.org/drawingml/2006/main">
              <a:ext uri="{FF2B5EF4-FFF2-40B4-BE49-F238E27FC236}">
                <a16:creationId xmlns:a16="http://schemas.microsoft.com/office/drawing/2014/main" id="{3C5E314E-20F0-4A29-8899-6661D4A96F8C}"/>
              </a:ext>
            </a:extLst>
          </p:cNvPr>
          <p:cNvSpPr>
            <a:spLocks xmlns:a="http://schemas.openxmlformats.org/drawingml/2006/main" noGrp="1"/>
          </p:cNvSpPr>
          <p:nvPr/>
        </p:nvSpPr>
        <p:spPr>
          <a:xfrm xmlns:a="http://schemas.openxmlformats.org/drawingml/2006/main">
            <a:off x="45720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Raw signals</a:t>
            </a:r>
          </a:p>
          <a:p xmlns:a="http://schemas.openxmlformats.org/drawingml/2006/main">
            <a:pPr>
              <a:defRPr sz="2175" b="0">
                <a:solidFill>
                  <a:srgbClr val="152033"/>
                </a:solidFill>
                <a:latin typeface="Arial"/>
                <a:ea typeface="Arial"/>
                <a:cs typeface="Arial"/>
              </a:defRPr>
            </a:pPr>
            <a:r>
              <a:t>Start with basecalling.</a:t>
            </a:r>
          </a:p>
        </p:txBody>
      </p:sp>
      <p:sp>
        <p:nvSpPr>
          <p:cNvPr id="8" name="text-29">
            <a:extLst xmlns:a="http://schemas.openxmlformats.org/drawingml/2006/main">
              <a:ext uri="{FF2B5EF4-FFF2-40B4-BE49-F238E27FC236}">
                <a16:creationId xmlns:a16="http://schemas.microsoft.com/office/drawing/2014/main" id="{126DB059-40A4-4EA3-9A01-97C59E0EAEE8}"/>
              </a:ext>
            </a:extLst>
          </p:cNvPr>
          <p:cNvSpPr>
            <a:spLocks xmlns:a="http://schemas.openxmlformats.org/drawingml/2006/main" noGrp="1"/>
          </p:cNvSpPr>
          <p:nvPr/>
        </p:nvSpPr>
        <p:spPr>
          <a:xfrm xmlns:a="http://schemas.openxmlformats.org/drawingml/2006/main">
            <a:off x="4410075" y="42862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700" b="1">
                <a:solidFill>
                  <a:srgbClr val="2563EB"/>
                </a:solidFill>
                <a:latin typeface="Arial"/>
                <a:ea typeface="Arial"/>
                <a:cs typeface="Arial"/>
              </a:defRPr>
            </a:pPr>
            <a:r>
              <a:t>BAM</a:t>
            </a:r>
          </a:p>
        </p:txBody>
      </p:sp>
      <p:sp>
        <p:nvSpPr>
          <p:cNvPr id="9" name="text-30">
            <a:extLst xmlns:a="http://schemas.openxmlformats.org/drawingml/2006/main">
              <a:ext uri="{FF2B5EF4-FFF2-40B4-BE49-F238E27FC236}">
                <a16:creationId xmlns:a16="http://schemas.microsoft.com/office/drawing/2014/main" id="{F1EFBEC9-4DD2-487E-852A-CFFBE0836D33}"/>
              </a:ext>
            </a:extLst>
          </p:cNvPr>
          <p:cNvSpPr>
            <a:spLocks xmlns:a="http://schemas.openxmlformats.org/drawingml/2006/main" noGrp="1"/>
          </p:cNvSpPr>
          <p:nvPr/>
        </p:nvSpPr>
        <p:spPr>
          <a:xfrm xmlns:a="http://schemas.openxmlformats.org/drawingml/2006/main">
            <a:off x="4410075"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Basecalled reads</a:t>
            </a:r>
          </a:p>
          <a:p xmlns:a="http://schemas.openxmlformats.org/drawingml/2006/main">
            <a:pPr>
              <a:defRPr sz="2175" b="0">
                <a:solidFill>
                  <a:srgbClr val="152033"/>
                </a:solidFill>
                <a:latin typeface="Arial"/>
                <a:ea typeface="Arial"/>
                <a:cs typeface="Arial"/>
              </a:defRPr>
            </a:pPr>
            <a:r>
              <a:t>Skip basecalling.</a:t>
            </a:r>
          </a:p>
        </p:txBody>
      </p:sp>
      <p:sp>
        <p:nvSpPr>
          <p:cNvPr id="10" name="text-31">
            <a:extLst xmlns:a="http://schemas.openxmlformats.org/drawingml/2006/main">
              <a:ext uri="{FF2B5EF4-FFF2-40B4-BE49-F238E27FC236}">
                <a16:creationId xmlns:a16="http://schemas.microsoft.com/office/drawing/2014/main" id="{0DA4FA36-845E-4540-AE84-26B764A2F14A}"/>
              </a:ext>
            </a:extLst>
          </p:cNvPr>
          <p:cNvSpPr>
            <a:spLocks xmlns:a="http://schemas.openxmlformats.org/drawingml/2006/main" noGrp="1"/>
          </p:cNvSpPr>
          <p:nvPr/>
        </p:nvSpPr>
        <p:spPr>
          <a:xfrm xmlns:a="http://schemas.openxmlformats.org/drawingml/2006/main">
            <a:off x="8362950" y="42862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700" b="1">
                <a:solidFill>
                  <a:srgbClr val="2563EB"/>
                </a:solidFill>
                <a:latin typeface="Arial"/>
                <a:ea typeface="Arial"/>
                <a:cs typeface="Arial"/>
              </a:defRPr>
            </a:pPr>
            <a:r>
              <a:t>FASTQ</a:t>
            </a:r>
          </a:p>
        </p:txBody>
      </p:sp>
      <p:sp>
        <p:nvSpPr>
          <p:cNvPr id="11" name="text-32">
            <a:extLst xmlns:a="http://schemas.openxmlformats.org/drawingml/2006/main">
              <a:ext uri="{FF2B5EF4-FFF2-40B4-BE49-F238E27FC236}">
                <a16:creationId xmlns:a16="http://schemas.microsoft.com/office/drawing/2014/main" id="{E4B54E98-4591-4FAD-A394-A8C3C11E9E0C}"/>
              </a:ext>
            </a:extLst>
          </p:cNvPr>
          <p:cNvSpPr>
            <a:spLocks xmlns:a="http://schemas.openxmlformats.org/drawingml/2006/main" noGrp="1"/>
          </p:cNvSpPr>
          <p:nvPr/>
        </p:nvSpPr>
        <p:spPr>
          <a:xfrm xmlns:a="http://schemas.openxmlformats.org/drawingml/2006/main">
            <a:off x="836295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Sequence reads</a:t>
            </a:r>
          </a:p>
          <a:p xmlns:a="http://schemas.openxmlformats.org/drawingml/2006/main">
            <a:pPr>
              <a:defRPr sz="2175" b="0">
                <a:solidFill>
                  <a:srgbClr val="152033"/>
                </a:solidFill>
                <a:latin typeface="Arial"/>
                <a:ea typeface="Arial"/>
                <a:cs typeface="Arial"/>
              </a:defRPr>
            </a:pPr>
            <a:r>
              <a:t>Continue to NanoTel.</a:t>
            </a:r>
          </a:p>
        </p:txBody>
      </p:sp>
    </p:spTree>
    <p:extLst>
      <p:ext uri="{BB962C8B-B14F-4D97-AF65-F5344CB8AC3E}">
        <p14:creationId xmlns:p14="http://schemas.microsoft.com/office/powerpoint/2010/main" val="4924750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33">
            <a:extLst xmlns:a="http://schemas.openxmlformats.org/drawingml/2006/main">
              <a:ext uri="{FF2B5EF4-FFF2-40B4-BE49-F238E27FC236}">
                <a16:creationId xmlns:a16="http://schemas.microsoft.com/office/drawing/2014/main" id="{1470AD6A-76E6-4823-B78B-AE012ACC79B8}"/>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RUN SETUP</a:t>
            </a:r>
          </a:p>
        </p:txBody>
      </p:sp>
      <p:sp>
        <p:nvSpPr>
          <p:cNvPr id="2" name="text-34">
            <a:extLst xmlns:a="http://schemas.openxmlformats.org/drawingml/2006/main">
              <a:ext uri="{FF2B5EF4-FFF2-40B4-BE49-F238E27FC236}">
                <a16:creationId xmlns:a16="http://schemas.microsoft.com/office/drawing/2014/main" id="{45D4992D-D8A9-4A81-B674-42CD64E1C3D5}"/>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35">
            <a:extLst xmlns:a="http://schemas.openxmlformats.org/drawingml/2006/main">
              <a:ext uri="{FF2B5EF4-FFF2-40B4-BE49-F238E27FC236}">
                <a16:creationId xmlns:a16="http://schemas.microsoft.com/office/drawing/2014/main" id="{A8D9D16B-BA09-4806-8FEF-FDE9533F7AF5}"/>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06</a:t>
            </a:r>
          </a:p>
        </p:txBody>
      </p:sp>
      <p:sp>
        <p:nvSpPr>
          <p:cNvPr id="4" name="text-36">
            <a:extLst xmlns:a="http://schemas.openxmlformats.org/drawingml/2006/main">
              <a:ext uri="{FF2B5EF4-FFF2-40B4-BE49-F238E27FC236}">
                <a16:creationId xmlns:a16="http://schemas.microsoft.com/office/drawing/2014/main" id="{FC48BF7E-DCE7-4DFF-94AA-B299906520E8}"/>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Choose where results go and the organism</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5d5cf8af2349e9"/>
          <a:stretch xmlns:a="http://schemas.openxmlformats.org/drawingml/2006/main"/>
        </p:blipFill>
        <p:spPr>
          <a:xfrm xmlns:a="http://schemas.openxmlformats.org/drawingml/2006/main">
            <a:off x="457200" y="2176122"/>
            <a:ext cx="11277600" cy="981755"/>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d70363e5e394231"/>
          <a:stretch xmlns:a="http://schemas.openxmlformats.org/drawingml/2006/main"/>
        </p:blipFill>
        <p:spPr>
          <a:xfrm xmlns:a="http://schemas.openxmlformats.org/drawingml/2006/main">
            <a:off x="457200" y="4069726"/>
            <a:ext cx="5715000" cy="995022"/>
          </a:xfrm>
          <a:prstGeom xmlns:a="http://schemas.openxmlformats.org/drawingml/2006/main" prst="rect">
            <a:avLst/>
          </a:prstGeom>
        </p:spPr>
      </p:pic>
      <p:sp>
        <p:nvSpPr>
          <p:cNvPr id="7" name="text-37">
            <a:extLst xmlns:a="http://schemas.openxmlformats.org/drawingml/2006/main">
              <a:ext uri="{FF2B5EF4-FFF2-40B4-BE49-F238E27FC236}">
                <a16:creationId xmlns:a16="http://schemas.microsoft.com/office/drawing/2014/main" id="{D7B9068A-7A46-4162-8650-53BCE29AB944}"/>
              </a:ext>
            </a:extLst>
          </p:cNvPr>
          <p:cNvSpPr>
            <a:spLocks xmlns:a="http://schemas.openxmlformats.org/drawingml/2006/main" noGrp="1"/>
          </p:cNvSpPr>
          <p:nvPr/>
        </p:nvSpPr>
        <p:spPr>
          <a:xfrm xmlns:a="http://schemas.openxmlformats.org/drawingml/2006/main">
            <a:off x="457200" y="3381375"/>
            <a:ext cx="4762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Output Path</a:t>
            </a:r>
          </a:p>
        </p:txBody>
      </p:sp>
      <p:sp>
        <p:nvSpPr>
          <p:cNvPr id="8" name="text-38">
            <a:extLst xmlns:a="http://schemas.openxmlformats.org/drawingml/2006/main">
              <a:ext uri="{FF2B5EF4-FFF2-40B4-BE49-F238E27FC236}">
                <a16:creationId xmlns:a16="http://schemas.microsoft.com/office/drawing/2014/main" id="{593E95AD-0920-430B-B3A0-81C5C86C56A6}"/>
              </a:ext>
            </a:extLst>
          </p:cNvPr>
          <p:cNvSpPr>
            <a:spLocks xmlns:a="http://schemas.openxmlformats.org/drawingml/2006/main" noGrp="1"/>
          </p:cNvSpPr>
          <p:nvPr/>
        </p:nvSpPr>
        <p:spPr>
          <a:xfrm xmlns:a="http://schemas.openxmlformats.org/drawingml/2006/main">
            <a:off x="6381750" y="3381375"/>
            <a:ext cx="519112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52033"/>
                </a:solidFill>
                <a:latin typeface="Arial"/>
                <a:ea typeface="Arial"/>
                <a:cs typeface="Arial"/>
              </a:defRPr>
            </a:pPr>
            <a:r>
              <a:t>Select the destination for your run.</a:t>
            </a:r>
          </a:p>
        </p:txBody>
      </p:sp>
      <p:sp>
        <p:nvSpPr>
          <p:cNvPr id="9" name="text-39">
            <a:extLst xmlns:a="http://schemas.openxmlformats.org/drawingml/2006/main">
              <a:ext uri="{FF2B5EF4-FFF2-40B4-BE49-F238E27FC236}">
                <a16:creationId xmlns:a16="http://schemas.microsoft.com/office/drawing/2014/main" id="{91233E65-7BD7-410D-A67E-0B9E7FAB0ED9}"/>
              </a:ext>
            </a:extLst>
          </p:cNvPr>
          <p:cNvSpPr>
            <a:spLocks xmlns:a="http://schemas.openxmlformats.org/drawingml/2006/main" noGrp="1"/>
          </p:cNvSpPr>
          <p:nvPr/>
        </p:nvSpPr>
        <p:spPr>
          <a:xfrm xmlns:a="http://schemas.openxmlformats.org/drawingml/2006/main">
            <a:off x="457200" y="5362575"/>
            <a:ext cx="49530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Organism</a:t>
            </a:r>
          </a:p>
        </p:txBody>
      </p:sp>
      <p:sp>
        <p:nvSpPr>
          <p:cNvPr id="10" name="text-40">
            <a:extLst xmlns:a="http://schemas.openxmlformats.org/drawingml/2006/main">
              <a:ext uri="{FF2B5EF4-FFF2-40B4-BE49-F238E27FC236}">
                <a16:creationId xmlns:a16="http://schemas.microsoft.com/office/drawing/2014/main" id="{E790D870-C49F-42D8-92CE-6FE799395AA3}"/>
              </a:ext>
            </a:extLst>
          </p:cNvPr>
          <p:cNvSpPr>
            <a:spLocks xmlns:a="http://schemas.openxmlformats.org/drawingml/2006/main" noGrp="1"/>
          </p:cNvSpPr>
          <p:nvPr/>
        </p:nvSpPr>
        <p:spPr>
          <a:xfrm xmlns:a="http://schemas.openxmlformats.org/drawingml/2006/main">
            <a:off x="6381750" y="4324350"/>
            <a:ext cx="523875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325" b="0">
                <a:solidFill>
                  <a:srgbClr val="152033"/>
                </a:solidFill>
                <a:latin typeface="Arial"/>
                <a:ea typeface="Arial"/>
                <a:cs typeface="Arial"/>
              </a:defRPr>
            </a:pPr>
            <a:r>
              <a:t>Mouse • Human • Zebra Fish</a:t>
            </a:r>
          </a:p>
        </p:txBody>
      </p:sp>
    </p:spTree>
    <p:extLst>
      <p:ext uri="{BB962C8B-B14F-4D97-AF65-F5344CB8AC3E}">
        <p14:creationId xmlns:p14="http://schemas.microsoft.com/office/powerpoint/2010/main" val="686898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41">
            <a:extLst xmlns:a="http://schemas.openxmlformats.org/drawingml/2006/main">
              <a:ext uri="{FF2B5EF4-FFF2-40B4-BE49-F238E27FC236}">
                <a16:creationId xmlns:a16="http://schemas.microsoft.com/office/drawing/2014/main" id="{A1A91230-714F-4894-BFE5-0E8BE69DFB45}"/>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ANALYSIS STEPS</a:t>
            </a:r>
          </a:p>
        </p:txBody>
      </p:sp>
      <p:sp>
        <p:nvSpPr>
          <p:cNvPr id="2" name="text-42">
            <a:extLst xmlns:a="http://schemas.openxmlformats.org/drawingml/2006/main">
              <a:ext uri="{FF2B5EF4-FFF2-40B4-BE49-F238E27FC236}">
                <a16:creationId xmlns:a16="http://schemas.microsoft.com/office/drawing/2014/main" id="{1D7146C9-ED50-4BAB-B83C-440831966096}"/>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43">
            <a:extLst xmlns:a="http://schemas.openxmlformats.org/drawingml/2006/main">
              <a:ext uri="{FF2B5EF4-FFF2-40B4-BE49-F238E27FC236}">
                <a16:creationId xmlns:a16="http://schemas.microsoft.com/office/drawing/2014/main" id="{E77EE328-559F-43E1-B9DA-E98D9A9F6FF7}"/>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07</a:t>
            </a:r>
          </a:p>
        </p:txBody>
      </p:sp>
      <p:sp>
        <p:nvSpPr>
          <p:cNvPr id="4" name="text-44">
            <a:extLst xmlns:a="http://schemas.openxmlformats.org/drawingml/2006/main">
              <a:ext uri="{FF2B5EF4-FFF2-40B4-BE49-F238E27FC236}">
                <a16:creationId xmlns:a16="http://schemas.microsoft.com/office/drawing/2014/main" id="{4155C7D3-1FCE-457D-931A-53A9A28EA483}"/>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Choose the analysis steps you need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7a022bccc664300"/>
          <a:stretch xmlns:a="http://schemas.openxmlformats.org/drawingml/2006/main"/>
        </p:blipFill>
        <p:spPr>
          <a:xfrm xmlns:a="http://schemas.openxmlformats.org/drawingml/2006/main">
            <a:off x="457200" y="2302156"/>
            <a:ext cx="11277600" cy="1205938"/>
          </a:xfrm>
          <a:prstGeom xmlns:a="http://schemas.openxmlformats.org/drawingml/2006/main" prst="rect">
            <a:avLst/>
          </a:prstGeom>
        </p:spPr>
      </p:pic>
      <p:sp>
        <p:nvSpPr>
          <p:cNvPr id="6" name="text-45">
            <a:extLst xmlns:a="http://schemas.openxmlformats.org/drawingml/2006/main">
              <a:ext uri="{FF2B5EF4-FFF2-40B4-BE49-F238E27FC236}">
                <a16:creationId xmlns:a16="http://schemas.microsoft.com/office/drawing/2014/main" id="{BD7DD90A-C991-4A9F-AA57-36F7E6550089}"/>
              </a:ext>
            </a:extLst>
          </p:cNvPr>
          <p:cNvSpPr>
            <a:spLocks xmlns:a="http://schemas.openxmlformats.org/drawingml/2006/main" noGrp="1"/>
          </p:cNvSpPr>
          <p:nvPr/>
        </p:nvSpPr>
        <p:spPr>
          <a:xfrm xmlns:a="http://schemas.openxmlformats.org/drawingml/2006/main">
            <a:off x="457200" y="3952875"/>
            <a:ext cx="5191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Basecalling</a:t>
            </a:r>
          </a:p>
        </p:txBody>
      </p:sp>
      <p:sp>
        <p:nvSpPr>
          <p:cNvPr id="7" name="text-46">
            <a:extLst xmlns:a="http://schemas.openxmlformats.org/drawingml/2006/main">
              <a:ext uri="{FF2B5EF4-FFF2-40B4-BE49-F238E27FC236}">
                <a16:creationId xmlns:a16="http://schemas.microsoft.com/office/drawing/2014/main" id="{810EB671-641E-481E-9136-1378025F4460}"/>
              </a:ext>
            </a:extLst>
          </p:cNvPr>
          <p:cNvSpPr>
            <a:spLocks xmlns:a="http://schemas.openxmlformats.org/drawingml/2006/main" noGrp="1"/>
          </p:cNvSpPr>
          <p:nvPr/>
        </p:nvSpPr>
        <p:spPr>
          <a:xfrm xmlns:a="http://schemas.openxmlformats.org/drawingml/2006/main">
            <a:off x="457200" y="4591050"/>
            <a:ext cx="5191125" cy="1333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Convert POD5 signals into sequence reads.</a:t>
            </a:r>
          </a:p>
        </p:txBody>
      </p:sp>
      <p:sp>
        <p:nvSpPr>
          <p:cNvPr id="8" name="text-47">
            <a:extLst xmlns:a="http://schemas.openxmlformats.org/drawingml/2006/main">
              <a:ext uri="{FF2B5EF4-FFF2-40B4-BE49-F238E27FC236}">
                <a16:creationId xmlns:a16="http://schemas.microsoft.com/office/drawing/2014/main" id="{CCD7D3F7-70EA-47EE-9CF9-A98306C73C74}"/>
              </a:ext>
            </a:extLst>
          </p:cNvPr>
          <p:cNvSpPr>
            <a:spLocks xmlns:a="http://schemas.openxmlformats.org/drawingml/2006/main" noGrp="1"/>
          </p:cNvSpPr>
          <p:nvPr/>
        </p:nvSpPr>
        <p:spPr>
          <a:xfrm xmlns:a="http://schemas.openxmlformats.org/drawingml/2006/main">
            <a:off x="6381750" y="3952875"/>
            <a:ext cx="5334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NanoTel Analysis</a:t>
            </a:r>
          </a:p>
        </p:txBody>
      </p:sp>
      <p:sp>
        <p:nvSpPr>
          <p:cNvPr id="9" name="text-48">
            <a:extLst xmlns:a="http://schemas.openxmlformats.org/drawingml/2006/main">
              <a:ext uri="{FF2B5EF4-FFF2-40B4-BE49-F238E27FC236}">
                <a16:creationId xmlns:a16="http://schemas.microsoft.com/office/drawing/2014/main" id="{04942B0C-5FD2-4B87-9D0F-1C3D96104560}"/>
              </a:ext>
            </a:extLst>
          </p:cNvPr>
          <p:cNvSpPr>
            <a:spLocks xmlns:a="http://schemas.openxmlformats.org/drawingml/2006/main" noGrp="1"/>
          </p:cNvSpPr>
          <p:nvPr/>
        </p:nvSpPr>
        <p:spPr>
          <a:xfrm xmlns:a="http://schemas.openxmlformats.org/drawingml/2006/main">
            <a:off x="6381750" y="4591050"/>
            <a:ext cx="5334000" cy="1333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Analyze telomere content and generate summaries.</a:t>
            </a:r>
          </a:p>
        </p:txBody>
      </p:sp>
    </p:spTree>
    <p:extLst>
      <p:ext uri="{BB962C8B-B14F-4D97-AF65-F5344CB8AC3E}">
        <p14:creationId xmlns:p14="http://schemas.microsoft.com/office/powerpoint/2010/main" val="14637838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49">
            <a:extLst xmlns:a="http://schemas.openxmlformats.org/drawingml/2006/main">
              <a:ext uri="{FF2B5EF4-FFF2-40B4-BE49-F238E27FC236}">
                <a16:creationId xmlns:a16="http://schemas.microsoft.com/office/drawing/2014/main" id="{0C07940F-2360-451F-BAB2-984E09C0A2DB}"/>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BASECALLING OPTIONS</a:t>
            </a:r>
          </a:p>
        </p:txBody>
      </p:sp>
      <p:sp>
        <p:nvSpPr>
          <p:cNvPr id="2" name="text-50">
            <a:extLst xmlns:a="http://schemas.openxmlformats.org/drawingml/2006/main">
              <a:ext uri="{FF2B5EF4-FFF2-40B4-BE49-F238E27FC236}">
                <a16:creationId xmlns:a16="http://schemas.microsoft.com/office/drawing/2014/main" id="{F7756C69-1AC5-4C08-83D9-47A360608C5E}"/>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51">
            <a:extLst xmlns:a="http://schemas.openxmlformats.org/drawingml/2006/main">
              <a:ext uri="{FF2B5EF4-FFF2-40B4-BE49-F238E27FC236}">
                <a16:creationId xmlns:a16="http://schemas.microsoft.com/office/drawing/2014/main" id="{A819AA8B-77B7-4B62-9D0C-60AD8DAD81F7}"/>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08</a:t>
            </a:r>
          </a:p>
        </p:txBody>
      </p:sp>
      <p:sp>
        <p:nvSpPr>
          <p:cNvPr id="4" name="text-52">
            <a:extLst xmlns:a="http://schemas.openxmlformats.org/drawingml/2006/main">
              <a:ext uri="{FF2B5EF4-FFF2-40B4-BE49-F238E27FC236}">
                <a16:creationId xmlns:a16="http://schemas.microsoft.com/office/drawing/2014/main" id="{A8FCC4FB-174E-45A0-A953-7109CF5FC15E}"/>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Basecalling includes mapping and modifications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d44fce4446949d2"/>
          <a:stretch xmlns:a="http://schemas.openxmlformats.org/drawingml/2006/main"/>
        </p:blipFill>
        <p:spPr>
          <a:xfrm xmlns:a="http://schemas.openxmlformats.org/drawingml/2006/main">
            <a:off x="457200" y="2284206"/>
            <a:ext cx="7239000" cy="2461038"/>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2405A6C0-21AD-486D-944A-47A77F533C2D}"/>
              </a:ext>
            </a:extLst>
          </p:cNvPr>
          <p:cNvSpPr>
            <a:spLocks xmlns:a="http://schemas.openxmlformats.org/drawingml/2006/main" noGrp="1"/>
          </p:cNvSpPr>
          <p:nvPr/>
        </p:nvSpPr>
        <p:spPr>
          <a:xfrm xmlns:a="http://schemas.openxmlformats.org/drawingml/2006/main">
            <a:off x="8286750" y="2238375"/>
            <a:ext cx="3429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Methylation Type</a:t>
            </a:r>
          </a:p>
        </p:txBody>
      </p:sp>
      <p:sp>
        <p:nvSpPr>
          <p:cNvPr id="7" name="text-54">
            <a:extLst xmlns:a="http://schemas.openxmlformats.org/drawingml/2006/main">
              <a:ext uri="{FF2B5EF4-FFF2-40B4-BE49-F238E27FC236}">
                <a16:creationId xmlns:a16="http://schemas.microsoft.com/office/drawing/2014/main" id="{593A1565-8199-477B-AF38-BA39DE44D8BD}"/>
              </a:ext>
            </a:extLst>
          </p:cNvPr>
          <p:cNvSpPr>
            <a:spLocks xmlns:a="http://schemas.openxmlformats.org/drawingml/2006/main" noGrp="1"/>
          </p:cNvSpPr>
          <p:nvPr/>
        </p:nvSpPr>
        <p:spPr>
          <a:xfrm xmlns:a="http://schemas.openxmlformats.org/drawingml/2006/main">
            <a:off x="8286750" y="2952750"/>
            <a:ext cx="3429000" cy="1562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52033"/>
                </a:solidFill>
                <a:latin typeface="Arial"/>
                <a:ea typeface="Arial"/>
                <a:cs typeface="Arial"/>
              </a:defRPr>
            </a:pPr>
            <a:r>
              <a:t>None</a:t>
            </a:r>
          </a:p>
          <a:p xmlns:a="http://schemas.openxmlformats.org/drawingml/2006/main">
            <a:pPr>
              <a:defRPr sz="2250" b="0">
                <a:solidFill>
                  <a:srgbClr val="152033"/>
                </a:solidFill>
                <a:latin typeface="Arial"/>
                <a:ea typeface="Arial"/>
                <a:cs typeface="Arial"/>
              </a:defRPr>
            </a:pPr>
            <a:r>
              <a:t>5mCpG</a:t>
            </a:r>
          </a:p>
          <a:p xmlns:a="http://schemas.openxmlformats.org/drawingml/2006/main">
            <a:pPr>
              <a:defRPr sz="2250" b="0">
                <a:solidFill>
                  <a:srgbClr val="152033"/>
                </a:solidFill>
                <a:latin typeface="Arial"/>
                <a:ea typeface="Arial"/>
                <a:cs typeface="Arial"/>
              </a:defRPr>
            </a:pPr>
            <a:r>
              <a:t>5mCpG + 5hmCpG</a:t>
            </a:r>
          </a:p>
        </p:txBody>
      </p:sp>
      <p:sp>
        <p:nvSpPr>
          <p:cNvPr id="8" name="text-55">
            <a:extLst xmlns:a="http://schemas.openxmlformats.org/drawingml/2006/main">
              <a:ext uri="{FF2B5EF4-FFF2-40B4-BE49-F238E27FC236}">
                <a16:creationId xmlns:a16="http://schemas.microsoft.com/office/drawing/2014/main" id="{595BDF70-A000-4301-BC6E-7462BC48AC05}"/>
              </a:ext>
            </a:extLst>
          </p:cNvPr>
          <p:cNvSpPr>
            <a:spLocks xmlns:a="http://schemas.openxmlformats.org/drawingml/2006/main" noGrp="1"/>
          </p:cNvSpPr>
          <p:nvPr/>
        </p:nvSpPr>
        <p:spPr>
          <a:xfrm xmlns:a="http://schemas.openxmlformats.org/drawingml/2006/main">
            <a:off x="457200" y="5191125"/>
            <a:ext cx="1104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Chromosome Mapping</a:t>
            </a:r>
          </a:p>
        </p:txBody>
      </p:sp>
      <p:sp>
        <p:nvSpPr>
          <p:cNvPr id="9" name="text-56">
            <a:extLst xmlns:a="http://schemas.openxmlformats.org/drawingml/2006/main">
              <a:ext uri="{FF2B5EF4-FFF2-40B4-BE49-F238E27FC236}">
                <a16:creationId xmlns:a16="http://schemas.microsoft.com/office/drawing/2014/main" id="{F672FBA0-248C-4024-90AF-0A50D184ED86}"/>
              </a:ext>
            </a:extLst>
          </p:cNvPr>
          <p:cNvSpPr>
            <a:spLocks xmlns:a="http://schemas.openxmlformats.org/drawingml/2006/main" noGrp="1"/>
          </p:cNvSpPr>
          <p:nvPr/>
        </p:nvSpPr>
        <p:spPr>
          <a:xfrm xmlns:a="http://schemas.openxmlformats.org/drawingml/2006/main">
            <a:off x="457200" y="5800725"/>
            <a:ext cx="11239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00" b="0">
                <a:solidFill>
                  <a:srgbClr val="152033"/>
                </a:solidFill>
                <a:latin typeface="Arial"/>
                <a:ea typeface="Arial"/>
                <a:cs typeface="Arial"/>
              </a:defRPr>
            </a:pPr>
            <a:r>
              <a:t>Align reads to the genome; required when modifications are selected.</a:t>
            </a:r>
          </a:p>
        </p:txBody>
      </p:sp>
    </p:spTree>
    <p:extLst>
      <p:ext uri="{BB962C8B-B14F-4D97-AF65-F5344CB8AC3E}">
        <p14:creationId xmlns:p14="http://schemas.microsoft.com/office/powerpoint/2010/main" val="13606489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57">
            <a:extLst xmlns:a="http://schemas.openxmlformats.org/drawingml/2006/main">
              <a:ext uri="{FF2B5EF4-FFF2-40B4-BE49-F238E27FC236}">
                <a16:creationId xmlns:a16="http://schemas.microsoft.com/office/drawing/2014/main" id="{B29BF157-2942-48D0-80D4-F39912FCD005}"/>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NANOTEL • TVR OPTIONS</a:t>
            </a:r>
          </a:p>
        </p:txBody>
      </p:sp>
      <p:sp>
        <p:nvSpPr>
          <p:cNvPr id="2" name="text-58">
            <a:extLst xmlns:a="http://schemas.openxmlformats.org/drawingml/2006/main">
              <a:ext uri="{FF2B5EF4-FFF2-40B4-BE49-F238E27FC236}">
                <a16:creationId xmlns:a16="http://schemas.microsoft.com/office/drawing/2014/main" id="{70EB7BE5-9D75-477E-96E3-16A220BFBDA1}"/>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59">
            <a:extLst xmlns:a="http://schemas.openxmlformats.org/drawingml/2006/main">
              <a:ext uri="{FF2B5EF4-FFF2-40B4-BE49-F238E27FC236}">
                <a16:creationId xmlns:a16="http://schemas.microsoft.com/office/drawing/2014/main" id="{1D7DBC4F-A491-49F3-8465-FDA6DA582179}"/>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09</a:t>
            </a:r>
          </a:p>
        </p:txBody>
      </p:sp>
      <p:sp>
        <p:nvSpPr>
          <p:cNvPr id="4" name="text-60">
            <a:extLst xmlns:a="http://schemas.openxmlformats.org/drawingml/2006/main">
              <a:ext uri="{FF2B5EF4-FFF2-40B4-BE49-F238E27FC236}">
                <a16:creationId xmlns:a16="http://schemas.microsoft.com/office/drawing/2014/main" id="{CAAA48A2-FEAA-4F4B-B956-18F960D35C60}"/>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Choose which variant repeats to look for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82478703f54e17"/>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61">
            <a:extLst xmlns:a="http://schemas.openxmlformats.org/drawingml/2006/main">
              <a:ext uri="{FF2B5EF4-FFF2-40B4-BE49-F238E27FC236}">
                <a16:creationId xmlns:a16="http://schemas.microsoft.com/office/drawing/2014/main" id="{1EA42CB5-2EE4-4C47-8A47-2C4089BA63F7}"/>
              </a:ext>
            </a:extLst>
          </p:cNvPr>
          <p:cNvSpPr>
            <a:spLocks xmlns:a="http://schemas.openxmlformats.org/drawingml/2006/main" noGrp="1"/>
          </p:cNvSpPr>
          <p:nvPr/>
        </p:nvSpPr>
        <p:spPr>
          <a:xfrm xmlns:a="http://schemas.openxmlformats.org/drawingml/2006/main">
            <a:off x="8286750" y="207645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Preset</a:t>
            </a:r>
          </a:p>
        </p:txBody>
      </p:sp>
      <p:sp>
        <p:nvSpPr>
          <p:cNvPr id="7" name="text-62">
            <a:extLst xmlns:a="http://schemas.openxmlformats.org/drawingml/2006/main">
              <a:ext uri="{FF2B5EF4-FFF2-40B4-BE49-F238E27FC236}">
                <a16:creationId xmlns:a16="http://schemas.microsoft.com/office/drawing/2014/main" id="{E358A90B-F70E-4C9A-A7F5-3F86FFFD93B6}"/>
              </a:ext>
            </a:extLst>
          </p:cNvPr>
          <p:cNvSpPr>
            <a:spLocks xmlns:a="http://schemas.openxmlformats.org/drawingml/2006/main" noGrp="1"/>
          </p:cNvSpPr>
          <p:nvPr/>
        </p:nvSpPr>
        <p:spPr>
          <a:xfrm xmlns:a="http://schemas.openxmlformats.org/drawingml/2006/main">
            <a:off x="8286750" y="253365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0">
                <a:solidFill>
                  <a:srgbClr val="152033"/>
                </a:solidFill>
                <a:latin typeface="Arial"/>
                <a:ea typeface="Arial"/>
                <a:cs typeface="Arial"/>
              </a:defRPr>
            </a:pPr>
            <a:r>
              <a:t>Organism-specific patterns</a:t>
            </a:r>
          </a:p>
        </p:txBody>
      </p:sp>
      <p:sp>
        <p:nvSpPr>
          <p:cNvPr id="8" name="text-63">
            <a:extLst xmlns:a="http://schemas.openxmlformats.org/drawingml/2006/main">
              <a:ext uri="{FF2B5EF4-FFF2-40B4-BE49-F238E27FC236}">
                <a16:creationId xmlns:a16="http://schemas.microsoft.com/office/drawing/2014/main" id="{F13EA020-7D54-4374-BF2E-94D1D7BCBABE}"/>
              </a:ext>
            </a:extLst>
          </p:cNvPr>
          <p:cNvSpPr>
            <a:spLocks xmlns:a="http://schemas.openxmlformats.org/drawingml/2006/main" noGrp="1"/>
          </p:cNvSpPr>
          <p:nvPr/>
        </p:nvSpPr>
        <p:spPr>
          <a:xfrm xmlns:a="http://schemas.openxmlformats.org/drawingml/2006/main">
            <a:off x="8286750" y="3324225"/>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TSQ1</a:t>
            </a:r>
          </a:p>
        </p:txBody>
      </p:sp>
      <p:sp>
        <p:nvSpPr>
          <p:cNvPr id="9" name="text-64">
            <a:extLst xmlns:a="http://schemas.openxmlformats.org/drawingml/2006/main">
              <a:ext uri="{FF2B5EF4-FFF2-40B4-BE49-F238E27FC236}">
                <a16:creationId xmlns:a16="http://schemas.microsoft.com/office/drawing/2014/main" id="{470B4A04-385C-496B-9BA6-3030EA041EE1}"/>
              </a:ext>
            </a:extLst>
          </p:cNvPr>
          <p:cNvSpPr>
            <a:spLocks xmlns:a="http://schemas.openxmlformats.org/drawingml/2006/main" noGrp="1"/>
          </p:cNvSpPr>
          <p:nvPr/>
        </p:nvSpPr>
        <p:spPr>
          <a:xfrm xmlns:a="http://schemas.openxmlformats.org/drawingml/2006/main">
            <a:off x="8286750" y="3781425"/>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0">
                <a:solidFill>
                  <a:srgbClr val="152033"/>
                </a:solidFill>
                <a:latin typeface="Arial"/>
                <a:ea typeface="Arial"/>
                <a:cs typeface="Arial"/>
              </a:defRPr>
            </a:pPr>
            <a:r>
              <a:t>The TSQ1 repeat pattern</a:t>
            </a:r>
          </a:p>
        </p:txBody>
      </p:sp>
      <p:sp>
        <p:nvSpPr>
          <p:cNvPr id="10" name="text-65">
            <a:extLst xmlns:a="http://schemas.openxmlformats.org/drawingml/2006/main">
              <a:ext uri="{FF2B5EF4-FFF2-40B4-BE49-F238E27FC236}">
                <a16:creationId xmlns:a16="http://schemas.microsoft.com/office/drawing/2014/main" id="{892E5AC4-A288-4C63-8DEE-C93FE66A43D3}"/>
              </a:ext>
            </a:extLst>
          </p:cNvPr>
          <p:cNvSpPr>
            <a:spLocks xmlns:a="http://schemas.openxmlformats.org/drawingml/2006/main" noGrp="1"/>
          </p:cNvSpPr>
          <p:nvPr/>
        </p:nvSpPr>
        <p:spPr>
          <a:xfrm xmlns:a="http://schemas.openxmlformats.org/drawingml/2006/main">
            <a:off x="8286750" y="457200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Manual</a:t>
            </a:r>
          </a:p>
        </p:txBody>
      </p:sp>
      <p:sp>
        <p:nvSpPr>
          <p:cNvPr id="11" name="text-66">
            <a:extLst xmlns:a="http://schemas.openxmlformats.org/drawingml/2006/main">
              <a:ext uri="{FF2B5EF4-FFF2-40B4-BE49-F238E27FC236}">
                <a16:creationId xmlns:a16="http://schemas.microsoft.com/office/drawing/2014/main" id="{35CFC218-A44A-4659-A934-6A87A549DD36}"/>
              </a:ext>
            </a:extLst>
          </p:cNvPr>
          <p:cNvSpPr>
            <a:spLocks xmlns:a="http://schemas.openxmlformats.org/drawingml/2006/main" noGrp="1"/>
          </p:cNvSpPr>
          <p:nvPr/>
        </p:nvSpPr>
        <p:spPr>
          <a:xfrm xmlns:a="http://schemas.openxmlformats.org/drawingml/2006/main">
            <a:off x="8286750" y="502920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0">
                <a:solidFill>
                  <a:srgbClr val="152033"/>
                </a:solidFill>
                <a:latin typeface="Arial"/>
                <a:ea typeface="Arial"/>
                <a:cs typeface="Arial"/>
              </a:defRPr>
            </a:pPr>
            <a:r>
              <a:t>Your own DNA patterns</a:t>
            </a:r>
          </a:p>
        </p:txBody>
      </p:sp>
      <p:sp>
        <p:nvSpPr>
          <p:cNvPr id="12" name="text-67">
            <a:extLst xmlns:a="http://schemas.openxmlformats.org/drawingml/2006/main">
              <a:ext uri="{FF2B5EF4-FFF2-40B4-BE49-F238E27FC236}">
                <a16:creationId xmlns:a16="http://schemas.microsoft.com/office/drawing/2014/main" id="{315E14B6-056A-42F1-81E2-71AA65ED5FE9}"/>
              </a:ext>
            </a:extLst>
          </p:cNvPr>
          <p:cNvSpPr>
            <a:spLocks xmlns:a="http://schemas.openxmlformats.org/drawingml/2006/main" noGrp="1"/>
          </p:cNvSpPr>
          <p:nvPr/>
        </p:nvSpPr>
        <p:spPr>
          <a:xfrm xmlns:a="http://schemas.openxmlformats.org/drawingml/2006/main">
            <a:off x="457200" y="5648325"/>
            <a:ext cx="7239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Combine modes, or leave all unselected to skip TVR patterns.</a:t>
            </a:r>
          </a:p>
        </p:txBody>
      </p:sp>
    </p:spTree>
    <p:extLst>
      <p:ext uri="{BB962C8B-B14F-4D97-AF65-F5344CB8AC3E}">
        <p14:creationId xmlns:p14="http://schemas.microsoft.com/office/powerpoint/2010/main" val="11040096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68">
            <a:extLst xmlns:a="http://schemas.openxmlformats.org/drawingml/2006/main">
              <a:ext uri="{FF2B5EF4-FFF2-40B4-BE49-F238E27FC236}">
                <a16:creationId xmlns:a16="http://schemas.microsoft.com/office/drawing/2014/main" id="{7A451CE1-AC27-4740-997E-A3DE3082EF05}"/>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NANOTEL • PATTERN MATCHING</a:t>
            </a:r>
          </a:p>
        </p:txBody>
      </p:sp>
      <p:sp>
        <p:nvSpPr>
          <p:cNvPr id="2" name="text-69">
            <a:extLst xmlns:a="http://schemas.openxmlformats.org/drawingml/2006/main">
              <a:ext uri="{FF2B5EF4-FFF2-40B4-BE49-F238E27FC236}">
                <a16:creationId xmlns:a16="http://schemas.microsoft.com/office/drawing/2014/main" id="{7A512A98-E9EA-4FB2-91F3-3EA58EBE6631}"/>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70">
            <a:extLst xmlns:a="http://schemas.openxmlformats.org/drawingml/2006/main">
              <a:ext uri="{FF2B5EF4-FFF2-40B4-BE49-F238E27FC236}">
                <a16:creationId xmlns:a16="http://schemas.microsoft.com/office/drawing/2014/main" id="{8AF1B14A-DC75-4E00-8850-7F0A44522791}"/>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10</a:t>
            </a:r>
          </a:p>
        </p:txBody>
      </p:sp>
      <p:sp>
        <p:nvSpPr>
          <p:cNvPr id="4" name="text-71">
            <a:extLst xmlns:a="http://schemas.openxmlformats.org/drawingml/2006/main">
              <a:ext uri="{FF2B5EF4-FFF2-40B4-BE49-F238E27FC236}">
                <a16:creationId xmlns:a16="http://schemas.microsoft.com/office/drawing/2014/main" id="{33A8A0CD-89E4-4ED5-81EE-5CE8BEB5D3A1}"/>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Custom patterns and matching are configurable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8fcf686b932437e"/>
          <a:stretch xmlns:a="http://schemas.openxmlformats.org/drawingml/2006/main"/>
        </p:blipFill>
        <p:spPr>
          <a:xfrm xmlns:a="http://schemas.openxmlformats.org/drawingml/2006/main">
            <a:off x="457200" y="2399225"/>
            <a:ext cx="5143500" cy="2107176"/>
          </a:xfrm>
          <a:prstGeom xmlns:a="http://schemas.openxmlformats.org/drawingml/2006/main" prst="rect">
            <a:avLst/>
          </a:prstGeom>
        </p:spPr>
      </p:pic>
      <p:sp>
        <p:nvSpPr>
          <p:cNvPr id="6" name="text-72">
            <a:extLst xmlns:a="http://schemas.openxmlformats.org/drawingml/2006/main">
              <a:ext uri="{FF2B5EF4-FFF2-40B4-BE49-F238E27FC236}">
                <a16:creationId xmlns:a16="http://schemas.microsoft.com/office/drawing/2014/main" id="{7F806321-704A-49F4-9725-D75840278ED2}"/>
              </a:ext>
            </a:extLst>
          </p:cNvPr>
          <p:cNvSpPr>
            <a:spLocks xmlns:a="http://schemas.openxmlformats.org/drawingml/2006/main" noGrp="1"/>
          </p:cNvSpPr>
          <p:nvPr/>
        </p:nvSpPr>
        <p:spPr>
          <a:xfrm xmlns:a="http://schemas.openxmlformats.org/drawingml/2006/main">
            <a:off x="457200" y="5076825"/>
            <a:ext cx="5191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Manual patterns</a:t>
            </a:r>
          </a:p>
        </p:txBody>
      </p:sp>
      <p:sp>
        <p:nvSpPr>
          <p:cNvPr id="7" name="text-73">
            <a:extLst xmlns:a="http://schemas.openxmlformats.org/drawingml/2006/main">
              <a:ext uri="{FF2B5EF4-FFF2-40B4-BE49-F238E27FC236}">
                <a16:creationId xmlns:a16="http://schemas.microsoft.com/office/drawing/2014/main" id="{64913607-7C6E-4AAC-894E-A54ADF9F8A88}"/>
              </a:ext>
            </a:extLst>
          </p:cNvPr>
          <p:cNvSpPr>
            <a:spLocks xmlns:a="http://schemas.openxmlformats.org/drawingml/2006/main" noGrp="1"/>
          </p:cNvSpPr>
          <p:nvPr/>
        </p:nvSpPr>
        <p:spPr>
          <a:xfrm xmlns:a="http://schemas.openxmlformats.org/drawingml/2006/main">
            <a:off x="457200" y="5686425"/>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Enter DNA patterns separated by spaces.</a:t>
            </a:r>
          </a:p>
        </p:txBody>
      </p:sp>
      <p:sp>
        <p:nvSpPr>
          <p:cNvPr id="8" name="text-74">
            <a:extLst xmlns:a="http://schemas.openxmlformats.org/drawingml/2006/main">
              <a:ext uri="{FF2B5EF4-FFF2-40B4-BE49-F238E27FC236}">
                <a16:creationId xmlns:a16="http://schemas.microsoft.com/office/drawing/2014/main" id="{741EEF5D-51CD-42DA-82C6-4C86EE45F9FF}"/>
              </a:ext>
            </a:extLst>
          </p:cNvPr>
          <p:cNvSpPr>
            <a:spLocks xmlns:a="http://schemas.openxmlformats.org/drawingml/2006/main" noGrp="1"/>
          </p:cNvSpPr>
          <p:nvPr/>
        </p:nvSpPr>
        <p:spPr>
          <a:xfrm xmlns:a="http://schemas.openxmlformats.org/drawingml/2006/main">
            <a:off x="6381750" y="227647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Allow 1 mismatch</a:t>
            </a:r>
          </a:p>
        </p:txBody>
      </p:sp>
      <p:sp>
        <p:nvSpPr>
          <p:cNvPr id="9" name="text-75">
            <a:extLst xmlns:a="http://schemas.openxmlformats.org/drawingml/2006/main">
              <a:ext uri="{FF2B5EF4-FFF2-40B4-BE49-F238E27FC236}">
                <a16:creationId xmlns:a16="http://schemas.microsoft.com/office/drawing/2014/main" id="{2A906778-4FD5-462D-9DE4-0A252D5F6993}"/>
              </a:ext>
            </a:extLst>
          </p:cNvPr>
          <p:cNvSpPr>
            <a:spLocks xmlns:a="http://schemas.openxmlformats.org/drawingml/2006/main" noGrp="1"/>
          </p:cNvSpPr>
          <p:nvPr/>
        </p:nvSpPr>
        <p:spPr>
          <a:xfrm xmlns:a="http://schemas.openxmlformats.org/drawingml/2006/main">
            <a:off x="6381750" y="2971800"/>
            <a:ext cx="533400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325" b="0">
                <a:solidFill>
                  <a:srgbClr val="152033"/>
                </a:solidFill>
                <a:latin typeface="Arial"/>
                <a:ea typeface="Arial"/>
                <a:cs typeface="Arial"/>
              </a:defRPr>
            </a:pPr>
            <a:r>
              <a:t>Permit one difference in telomere and TVR patterns.</a:t>
            </a:r>
          </a:p>
        </p:txBody>
      </p:sp>
      <p:sp>
        <p:nvSpPr>
          <p:cNvPr id="10" name="text-76">
            <a:extLst xmlns:a="http://schemas.openxmlformats.org/drawingml/2006/main">
              <a:ext uri="{FF2B5EF4-FFF2-40B4-BE49-F238E27FC236}">
                <a16:creationId xmlns:a16="http://schemas.microsoft.com/office/drawing/2014/main" id="{73A9EA40-5481-4503-AA85-5F9F90695B51}"/>
              </a:ext>
            </a:extLst>
          </p:cNvPr>
          <p:cNvSpPr>
            <a:spLocks xmlns:a="http://schemas.openxmlformats.org/drawingml/2006/main" noGrp="1"/>
          </p:cNvSpPr>
          <p:nvPr/>
        </p:nvSpPr>
        <p:spPr>
          <a:xfrm xmlns:a="http://schemas.openxmlformats.org/drawingml/2006/main">
            <a:off x="6381750" y="4552950"/>
            <a:ext cx="5334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563EB"/>
                </a:solidFill>
                <a:latin typeface="Arial"/>
                <a:ea typeface="Arial"/>
                <a:cs typeface="Arial"/>
              </a:defRPr>
            </a:pPr>
            <a:r>
              <a:t>Preset uses exact matching.</a:t>
            </a:r>
          </a:p>
        </p:txBody>
      </p:sp>
      <p:sp>
        <p:nvSpPr>
          <p:cNvPr id="11" name="text-77">
            <a:extLst xmlns:a="http://schemas.openxmlformats.org/drawingml/2006/main">
              <a:ext uri="{FF2B5EF4-FFF2-40B4-BE49-F238E27FC236}">
                <a16:creationId xmlns:a16="http://schemas.microsoft.com/office/drawing/2014/main" id="{DBD5FD1C-1194-456C-90D5-D489DC901769}"/>
              </a:ext>
            </a:extLst>
          </p:cNvPr>
          <p:cNvSpPr>
            <a:spLocks xmlns:a="http://schemas.openxmlformats.org/drawingml/2006/main" noGrp="1"/>
          </p:cNvSpPr>
          <p:nvPr/>
        </p:nvSpPr>
        <p:spPr>
          <a:xfrm xmlns:a="http://schemas.openxmlformats.org/drawingml/2006/main">
            <a:off x="6381750" y="5314950"/>
            <a:ext cx="53340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Selecting Preset disables the mismatch option.</a:t>
            </a:r>
          </a:p>
        </p:txBody>
      </p:sp>
    </p:spTree>
    <p:extLst>
      <p:ext uri="{BB962C8B-B14F-4D97-AF65-F5344CB8AC3E}">
        <p14:creationId xmlns:p14="http://schemas.microsoft.com/office/powerpoint/2010/main" val="6560730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78">
            <a:extLst xmlns:a="http://schemas.openxmlformats.org/drawingml/2006/main">
              <a:ext uri="{FF2B5EF4-FFF2-40B4-BE49-F238E27FC236}">
                <a16:creationId xmlns:a16="http://schemas.microsoft.com/office/drawing/2014/main" id="{10FEC68C-6DD7-425E-8BF9-ED9A3C10E106}"/>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NANOTEL • NUMERIC OPTIONS</a:t>
            </a:r>
          </a:p>
        </p:txBody>
      </p:sp>
      <p:sp>
        <p:nvSpPr>
          <p:cNvPr id="2" name="text-79">
            <a:extLst xmlns:a="http://schemas.openxmlformats.org/drawingml/2006/main">
              <a:ext uri="{FF2B5EF4-FFF2-40B4-BE49-F238E27FC236}">
                <a16:creationId xmlns:a16="http://schemas.microsoft.com/office/drawing/2014/main" id="{35C42D44-8886-4F7D-9691-75394D651D78}"/>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80">
            <a:extLst xmlns:a="http://schemas.openxmlformats.org/drawingml/2006/main">
              <a:ext uri="{FF2B5EF4-FFF2-40B4-BE49-F238E27FC236}">
                <a16:creationId xmlns:a16="http://schemas.microsoft.com/office/drawing/2014/main" id="{2DB7CDFB-7300-4838-AA82-AF0751716F04}"/>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11</a:t>
            </a:r>
          </a:p>
        </p:txBody>
      </p:sp>
      <p:sp>
        <p:nvSpPr>
          <p:cNvPr id="4" name="text-81">
            <a:extLst xmlns:a="http://schemas.openxmlformats.org/drawingml/2006/main">
              <a:ext uri="{FF2B5EF4-FFF2-40B4-BE49-F238E27FC236}">
                <a16:creationId xmlns:a16="http://schemas.microsoft.com/office/drawing/2014/main" id="{F81D1C75-A9B2-4D9E-B209-8AB9BEA11B56}"/>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Set the filtering and reporting thresholds</a:t>
            </a:r>
          </a:p>
        </p:txBody>
      </p:sp>
      <p:sp>
        <p:nvSpPr>
          <p:cNvPr id="5" name="text-82">
            <a:extLst xmlns:a="http://schemas.openxmlformats.org/drawingml/2006/main">
              <a:ext uri="{FF2B5EF4-FFF2-40B4-BE49-F238E27FC236}">
                <a16:creationId xmlns:a16="http://schemas.microsoft.com/office/drawing/2014/main" id="{1C535630-D523-4540-B77F-08EC5F1BA43E}"/>
              </a:ext>
            </a:extLst>
          </p:cNvPr>
          <p:cNvSpPr>
            <a:spLocks xmlns:a="http://schemas.openxmlformats.org/drawingml/2006/main" noGrp="1"/>
          </p:cNvSpPr>
          <p:nvPr/>
        </p:nvSpPr>
        <p:spPr>
          <a:xfrm xmlns:a="http://schemas.openxmlformats.org/drawingml/2006/main">
            <a:off x="457200" y="21431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Min Read Length (bp)</a:t>
            </a:r>
          </a:p>
        </p:txBody>
      </p:sp>
      <p:sp>
        <p:nvSpPr>
          <p:cNvPr id="6" name="text-83">
            <a:extLst xmlns:a="http://schemas.openxmlformats.org/drawingml/2006/main">
              <a:ext uri="{FF2B5EF4-FFF2-40B4-BE49-F238E27FC236}">
                <a16:creationId xmlns:a16="http://schemas.microsoft.com/office/drawing/2014/main" id="{DA59870A-A5B2-4C1B-8C03-572ED051A401}"/>
              </a:ext>
            </a:extLst>
          </p:cNvPr>
          <p:cNvSpPr>
            <a:spLocks xmlns:a="http://schemas.openxmlformats.org/drawingml/2006/main" noGrp="1"/>
          </p:cNvSpPr>
          <p:nvPr/>
        </p:nvSpPr>
        <p:spPr>
          <a:xfrm xmlns:a="http://schemas.openxmlformats.org/drawingml/2006/main">
            <a:off x="5810250" y="21431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Minimum accepted read length</a:t>
            </a:r>
          </a:p>
        </p:txBody>
      </p:sp>
      <p:sp>
        <p:nvSpPr>
          <p:cNvPr id="7" name="text-84">
            <a:extLst xmlns:a="http://schemas.openxmlformats.org/drawingml/2006/main">
              <a:ext uri="{FF2B5EF4-FFF2-40B4-BE49-F238E27FC236}">
                <a16:creationId xmlns:a16="http://schemas.microsoft.com/office/drawing/2014/main" id="{4FD33363-0FAB-487D-8059-701B40F76206}"/>
              </a:ext>
            </a:extLst>
          </p:cNvPr>
          <p:cNvSpPr>
            <a:spLocks xmlns:a="http://schemas.openxmlformats.org/drawingml/2006/main" noGrp="1"/>
          </p:cNvSpPr>
          <p:nvPr/>
        </p:nvSpPr>
        <p:spPr>
          <a:xfrm xmlns:a="http://schemas.openxmlformats.org/drawingml/2006/main">
            <a:off x="457200" y="29432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Max Edge Distance</a:t>
            </a:r>
          </a:p>
        </p:txBody>
      </p:sp>
      <p:sp>
        <p:nvSpPr>
          <p:cNvPr id="8" name="text-85">
            <a:extLst xmlns:a="http://schemas.openxmlformats.org/drawingml/2006/main">
              <a:ext uri="{FF2B5EF4-FFF2-40B4-BE49-F238E27FC236}">
                <a16:creationId xmlns:a16="http://schemas.microsoft.com/office/drawing/2014/main" id="{8D242702-1B21-4DB5-AAED-184B245AB261}"/>
              </a:ext>
            </a:extLst>
          </p:cNvPr>
          <p:cNvSpPr>
            <a:spLocks xmlns:a="http://schemas.openxmlformats.org/drawingml/2006/main" noGrp="1"/>
          </p:cNvSpPr>
          <p:nvPr/>
        </p:nvSpPr>
        <p:spPr>
          <a:xfrm xmlns:a="http://schemas.openxmlformats.org/drawingml/2006/main">
            <a:off x="5810250" y="29432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Allowed distance from a read end</a:t>
            </a:r>
          </a:p>
        </p:txBody>
      </p:sp>
      <p:sp>
        <p:nvSpPr>
          <p:cNvPr id="9" name="text-86">
            <a:extLst xmlns:a="http://schemas.openxmlformats.org/drawingml/2006/main">
              <a:ext uri="{FF2B5EF4-FFF2-40B4-BE49-F238E27FC236}">
                <a16:creationId xmlns:a16="http://schemas.microsoft.com/office/drawing/2014/main" id="{43A73DB9-1E6A-4FC5-BAE3-E98DAE20B87F}"/>
              </a:ext>
            </a:extLst>
          </p:cNvPr>
          <p:cNvSpPr>
            <a:spLocks xmlns:a="http://schemas.openxmlformats.org/drawingml/2006/main" noGrp="1"/>
          </p:cNvSpPr>
          <p:nvPr/>
        </p:nvSpPr>
        <p:spPr>
          <a:xfrm xmlns:a="http://schemas.openxmlformats.org/drawingml/2006/main">
            <a:off x="457200" y="37433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Max Telomere Start</a:t>
            </a:r>
          </a:p>
        </p:txBody>
      </p:sp>
      <p:sp>
        <p:nvSpPr>
          <p:cNvPr id="10" name="text-87">
            <a:extLst xmlns:a="http://schemas.openxmlformats.org/drawingml/2006/main">
              <a:ext uri="{FF2B5EF4-FFF2-40B4-BE49-F238E27FC236}">
                <a16:creationId xmlns:a16="http://schemas.microsoft.com/office/drawing/2014/main" id="{876E5015-A3C6-45BD-ACFB-349B0F005236}"/>
              </a:ext>
            </a:extLst>
          </p:cNvPr>
          <p:cNvSpPr>
            <a:spLocks xmlns:a="http://schemas.openxmlformats.org/drawingml/2006/main" noGrp="1"/>
          </p:cNvSpPr>
          <p:nvPr/>
        </p:nvSpPr>
        <p:spPr>
          <a:xfrm xmlns:a="http://schemas.openxmlformats.org/drawingml/2006/main">
            <a:off x="5810250" y="37433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Limit on the telomere start position</a:t>
            </a:r>
          </a:p>
        </p:txBody>
      </p:sp>
      <p:sp>
        <p:nvSpPr>
          <p:cNvPr id="11" name="text-88">
            <a:extLst xmlns:a="http://schemas.openxmlformats.org/drawingml/2006/main">
              <a:ext uri="{FF2B5EF4-FFF2-40B4-BE49-F238E27FC236}">
                <a16:creationId xmlns:a16="http://schemas.microsoft.com/office/drawing/2014/main" id="{90DCC6FE-B7AB-4CB0-BA13-9438CDFA681C}"/>
              </a:ext>
            </a:extLst>
          </p:cNvPr>
          <p:cNvSpPr>
            <a:spLocks xmlns:a="http://schemas.openxmlformats.org/drawingml/2006/main" noGrp="1"/>
          </p:cNvSpPr>
          <p:nvPr/>
        </p:nvSpPr>
        <p:spPr>
          <a:xfrm xmlns:a="http://schemas.openxmlformats.org/drawingml/2006/main">
            <a:off x="457200" y="45434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152033"/>
                </a:solidFill>
                <a:latin typeface="Arial"/>
                <a:ea typeface="Arial"/>
                <a:cs typeface="Arial"/>
              </a:defRPr>
            </a:pPr>
            <a:r>
              <a:t>Min Density</a:t>
            </a:r>
          </a:p>
        </p:txBody>
      </p:sp>
      <p:sp>
        <p:nvSpPr>
          <p:cNvPr id="12" name="text-89">
            <a:extLst xmlns:a="http://schemas.openxmlformats.org/drawingml/2006/main">
              <a:ext uri="{FF2B5EF4-FFF2-40B4-BE49-F238E27FC236}">
                <a16:creationId xmlns:a16="http://schemas.microsoft.com/office/drawing/2014/main" id="{804E35AA-5C3E-4DB2-91EB-B834FC722828}"/>
              </a:ext>
            </a:extLst>
          </p:cNvPr>
          <p:cNvSpPr>
            <a:spLocks xmlns:a="http://schemas.openxmlformats.org/drawingml/2006/main" noGrp="1"/>
          </p:cNvSpPr>
          <p:nvPr/>
        </p:nvSpPr>
        <p:spPr>
          <a:xfrm xmlns:a="http://schemas.openxmlformats.org/drawingml/2006/main">
            <a:off x="5810250" y="45434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Minimum telomeric-repeat density</a:t>
            </a:r>
          </a:p>
        </p:txBody>
      </p:sp>
      <p:sp>
        <p:nvSpPr>
          <p:cNvPr id="13" name="text-90">
            <a:extLst xmlns:a="http://schemas.openxmlformats.org/drawingml/2006/main">
              <a:ext uri="{FF2B5EF4-FFF2-40B4-BE49-F238E27FC236}">
                <a16:creationId xmlns:a16="http://schemas.microsoft.com/office/drawing/2014/main" id="{F9DDD254-8BD2-46C6-B33C-20D92F9CE2BC}"/>
              </a:ext>
            </a:extLst>
          </p:cNvPr>
          <p:cNvSpPr>
            <a:spLocks xmlns:a="http://schemas.openxmlformats.org/drawingml/2006/main" noGrp="1"/>
          </p:cNvSpPr>
          <p:nvPr/>
        </p:nvSpPr>
        <p:spPr>
          <a:xfrm xmlns:a="http://schemas.openxmlformats.org/drawingml/2006/main">
            <a:off x="457200" y="53435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1">
                <a:solidFill>
                  <a:srgbClr val="2563EB"/>
                </a:solidFill>
                <a:latin typeface="Arial"/>
                <a:ea typeface="Arial"/>
                <a:cs typeface="Arial"/>
              </a:defRPr>
            </a:pPr>
            <a:r>
              <a:t>Short Telomere Cutoff</a:t>
            </a:r>
          </a:p>
        </p:txBody>
      </p:sp>
      <p:sp>
        <p:nvSpPr>
          <p:cNvPr id="14" name="text-91">
            <a:extLst xmlns:a="http://schemas.openxmlformats.org/drawingml/2006/main">
              <a:ext uri="{FF2B5EF4-FFF2-40B4-BE49-F238E27FC236}">
                <a16:creationId xmlns:a16="http://schemas.microsoft.com/office/drawing/2014/main" id="{ADCEBAC6-4837-4943-8C12-DA4876E469D9}"/>
              </a:ext>
            </a:extLst>
          </p:cNvPr>
          <p:cNvSpPr>
            <a:spLocks xmlns:a="http://schemas.openxmlformats.org/drawingml/2006/main" noGrp="1"/>
          </p:cNvSpPr>
          <p:nvPr/>
        </p:nvSpPr>
        <p:spPr>
          <a:xfrm xmlns:a="http://schemas.openxmlformats.org/drawingml/2006/main">
            <a:off x="5810250" y="53435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Report the percentage below this length</a:t>
            </a:r>
          </a:p>
        </p:txBody>
      </p:sp>
    </p:spTree>
    <p:extLst>
      <p:ext uri="{BB962C8B-B14F-4D97-AF65-F5344CB8AC3E}">
        <p14:creationId xmlns:p14="http://schemas.microsoft.com/office/powerpoint/2010/main" val="925002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92">
            <a:extLst xmlns:a="http://schemas.openxmlformats.org/drawingml/2006/main">
              <a:ext uri="{FF2B5EF4-FFF2-40B4-BE49-F238E27FC236}">
                <a16:creationId xmlns:a16="http://schemas.microsoft.com/office/drawing/2014/main" id="{42B91FFF-E6A0-45C3-ACDF-880930A188E6}"/>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NANOTEL • OUTPUT OPTIONS</a:t>
            </a:r>
          </a:p>
        </p:txBody>
      </p:sp>
      <p:sp>
        <p:nvSpPr>
          <p:cNvPr id="2" name="text-93">
            <a:extLst xmlns:a="http://schemas.openxmlformats.org/drawingml/2006/main">
              <a:ext uri="{FF2B5EF4-FFF2-40B4-BE49-F238E27FC236}">
                <a16:creationId xmlns:a16="http://schemas.microsoft.com/office/drawing/2014/main" id="{EA9DA0AE-CE58-4DA0-8314-5F76C5501A6D}"/>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94">
            <a:extLst xmlns:a="http://schemas.openxmlformats.org/drawingml/2006/main">
              <a:ext uri="{FF2B5EF4-FFF2-40B4-BE49-F238E27FC236}">
                <a16:creationId xmlns:a16="http://schemas.microsoft.com/office/drawing/2014/main" id="{4D5F4A65-F6D6-4CC6-B122-37061B171B52}"/>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12</a:t>
            </a:r>
          </a:p>
        </p:txBody>
      </p:sp>
      <p:sp>
        <p:nvSpPr>
          <p:cNvPr id="4" name="text-95">
            <a:extLst xmlns:a="http://schemas.openxmlformats.org/drawingml/2006/main">
              <a:ext uri="{FF2B5EF4-FFF2-40B4-BE49-F238E27FC236}">
                <a16:creationId xmlns:a16="http://schemas.microsoft.com/office/drawing/2014/main" id="{49D933FA-4F06-43CF-96A7-FCA3D7FB631A}"/>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Choose the output detail and optional mapping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515477b4fd8406e"/>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96">
            <a:extLst xmlns:a="http://schemas.openxmlformats.org/drawingml/2006/main">
              <a:ext uri="{FF2B5EF4-FFF2-40B4-BE49-F238E27FC236}">
                <a16:creationId xmlns:a16="http://schemas.microsoft.com/office/drawing/2014/main" id="{A8C42833-F201-443A-B542-FB52D3230E1C}"/>
              </a:ext>
            </a:extLst>
          </p:cNvPr>
          <p:cNvSpPr>
            <a:spLocks xmlns:a="http://schemas.openxmlformats.org/drawingml/2006/main" noGrp="1"/>
          </p:cNvSpPr>
          <p:nvPr/>
        </p:nvSpPr>
        <p:spPr>
          <a:xfrm xmlns:a="http://schemas.openxmlformats.org/drawingml/2006/main">
            <a:off x="8286750" y="21907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Summary only</a:t>
            </a:r>
          </a:p>
        </p:txBody>
      </p:sp>
      <p:sp>
        <p:nvSpPr>
          <p:cNvPr id="7" name="text-97">
            <a:extLst xmlns:a="http://schemas.openxmlformats.org/drawingml/2006/main">
              <a:ext uri="{FF2B5EF4-FFF2-40B4-BE49-F238E27FC236}">
                <a16:creationId xmlns:a16="http://schemas.microsoft.com/office/drawing/2014/main" id="{45188749-4649-4C68-8596-DCF85F481F71}"/>
              </a:ext>
            </a:extLst>
          </p:cNvPr>
          <p:cNvSpPr>
            <a:spLocks xmlns:a="http://schemas.openxmlformats.org/drawingml/2006/main" noGrp="1"/>
          </p:cNvSpPr>
          <p:nvPr/>
        </p:nvSpPr>
        <p:spPr>
          <a:xfrm xmlns:a="http://schemas.openxmlformats.org/drawingml/2006/main">
            <a:off x="8286750" y="2857500"/>
            <a:ext cx="333375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52033"/>
                </a:solidFill>
                <a:latin typeface="Arial"/>
                <a:ea typeface="Arial"/>
                <a:cs typeface="Arial"/>
              </a:defRPr>
            </a:pPr>
            <a:r>
              <a:t>Compact summaries in one Excel workbook.</a:t>
            </a:r>
          </a:p>
        </p:txBody>
      </p:sp>
      <p:sp>
        <p:nvSpPr>
          <p:cNvPr id="8" name="text-98">
            <a:extLst xmlns:a="http://schemas.openxmlformats.org/drawingml/2006/main">
              <a:ext uri="{FF2B5EF4-FFF2-40B4-BE49-F238E27FC236}">
                <a16:creationId xmlns:a16="http://schemas.microsoft.com/office/drawing/2014/main" id="{D2176879-2AD8-43D5-93B3-62F322FD9659}"/>
              </a:ext>
            </a:extLst>
          </p:cNvPr>
          <p:cNvSpPr>
            <a:spLocks xmlns:a="http://schemas.openxmlformats.org/drawingml/2006/main" noGrp="1"/>
          </p:cNvSpPr>
          <p:nvPr/>
        </p:nvSpPr>
        <p:spPr>
          <a:xfrm xmlns:a="http://schemas.openxmlformats.org/drawingml/2006/main">
            <a:off x="8286750" y="4381500"/>
            <a:ext cx="3333750" cy="1476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Off: include individual read plots and FASTA files.</a:t>
            </a:r>
          </a:p>
        </p:txBody>
      </p:sp>
      <p:sp>
        <p:nvSpPr>
          <p:cNvPr id="9" name="text-99">
            <a:extLst xmlns:a="http://schemas.openxmlformats.org/drawingml/2006/main">
              <a:ext uri="{FF2B5EF4-FFF2-40B4-BE49-F238E27FC236}">
                <a16:creationId xmlns:a16="http://schemas.microsoft.com/office/drawing/2014/main" id="{4BFB72F0-B871-416E-BCAA-7E7E3E8431B1}"/>
              </a:ext>
            </a:extLst>
          </p:cNvPr>
          <p:cNvSpPr>
            <a:spLocks xmlns:a="http://schemas.openxmlformats.org/drawingml/2006/main" noGrp="1"/>
          </p:cNvSpPr>
          <p:nvPr/>
        </p:nvSpPr>
        <p:spPr>
          <a:xfrm xmlns:a="http://schemas.openxmlformats.org/drawingml/2006/main">
            <a:off x="457200" y="5143500"/>
            <a:ext cx="723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Run mapping</a:t>
            </a:r>
          </a:p>
        </p:txBody>
      </p:sp>
      <p:sp>
        <p:nvSpPr>
          <p:cNvPr id="10" name="text-100">
            <a:extLst xmlns:a="http://schemas.openxmlformats.org/drawingml/2006/main">
              <a:ext uri="{FF2B5EF4-FFF2-40B4-BE49-F238E27FC236}">
                <a16:creationId xmlns:a16="http://schemas.microsoft.com/office/drawing/2014/main" id="{3895C555-FD8F-431E-8516-90D535F2DF79}"/>
              </a:ext>
            </a:extLst>
          </p:cNvPr>
          <p:cNvSpPr>
            <a:spLocks xmlns:a="http://schemas.openxmlformats.org/drawingml/2006/main" noGrp="1"/>
          </p:cNvSpPr>
          <p:nvPr/>
        </p:nvSpPr>
        <p:spPr>
          <a:xfrm xmlns:a="http://schemas.openxmlformats.org/drawingml/2006/main">
            <a:off x="457200" y="5772150"/>
            <a:ext cx="7239000" cy="438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52033"/>
                </a:solidFill>
                <a:latin typeface="Arial"/>
                <a:ea typeface="Arial"/>
                <a:cs typeface="Arial"/>
              </a:defRPr>
            </a:pPr>
            <a:r>
              <a:t>Map NanoTel reads to the genome.</a:t>
            </a:r>
          </a:p>
        </p:txBody>
      </p:sp>
    </p:spTree>
    <p:extLst>
      <p:ext uri="{BB962C8B-B14F-4D97-AF65-F5344CB8AC3E}">
        <p14:creationId xmlns:p14="http://schemas.microsoft.com/office/powerpoint/2010/main" val="14179828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01">
            <a:extLst xmlns:a="http://schemas.openxmlformats.org/drawingml/2006/main">
              <a:ext uri="{FF2B5EF4-FFF2-40B4-BE49-F238E27FC236}">
                <a16:creationId xmlns:a16="http://schemas.microsoft.com/office/drawing/2014/main" id="{133A806F-D9E6-4C9B-8F54-63BD63F9CF4D}"/>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HELP AND INPUT QUESTIONS</a:t>
            </a:r>
          </a:p>
        </p:txBody>
      </p:sp>
      <p:sp>
        <p:nvSpPr>
          <p:cNvPr id="2" name="text-102">
            <a:extLst xmlns:a="http://schemas.openxmlformats.org/drawingml/2006/main">
              <a:ext uri="{FF2B5EF4-FFF2-40B4-BE49-F238E27FC236}">
                <a16:creationId xmlns:a16="http://schemas.microsoft.com/office/drawing/2014/main" id="{D5A21DF3-7F90-4C64-8B1A-51F554E018C9}"/>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103">
            <a:extLst xmlns:a="http://schemas.openxmlformats.org/drawingml/2006/main">
              <a:ext uri="{FF2B5EF4-FFF2-40B4-BE49-F238E27FC236}">
                <a16:creationId xmlns:a16="http://schemas.microsoft.com/office/drawing/2014/main" id="{E4CCD158-41B3-4E02-98D0-8C721D890B21}"/>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13</a:t>
            </a:r>
          </a:p>
        </p:txBody>
      </p:sp>
      <p:sp>
        <p:nvSpPr>
          <p:cNvPr id="4" name="text-104">
            <a:extLst xmlns:a="http://schemas.openxmlformats.org/drawingml/2006/main">
              <a:ext uri="{FF2B5EF4-FFF2-40B4-BE49-F238E27FC236}">
                <a16:creationId xmlns:a16="http://schemas.microsoft.com/office/drawing/2014/main" id="{A1D3D275-F736-4178-8F27-3D3264FA2950}"/>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The interface guides you through the setup</a:t>
            </a:r>
          </a:p>
        </p:txBody>
      </p:sp>
      <p:sp>
        <p:nvSpPr>
          <p:cNvPr id="5" name="text-105">
            <a:extLst xmlns:a="http://schemas.openxmlformats.org/drawingml/2006/main">
              <a:ext uri="{FF2B5EF4-FFF2-40B4-BE49-F238E27FC236}">
                <a16:creationId xmlns:a16="http://schemas.microsoft.com/office/drawing/2014/main" id="{CD673756-1141-4E4F-9E70-D02B65A4D8F4}"/>
              </a:ext>
            </a:extLst>
          </p:cNvPr>
          <p:cNvSpPr>
            <a:spLocks xmlns:a="http://schemas.openxmlformats.org/drawingml/2006/main" noGrp="1"/>
          </p:cNvSpPr>
          <p:nvPr/>
        </p:nvSpPr>
        <p:spPr>
          <a:xfrm xmlns:a="http://schemas.openxmlformats.org/drawingml/2006/main">
            <a:off x="457200" y="2238375"/>
            <a:ext cx="519112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Help where you need it</a:t>
            </a:r>
          </a:p>
        </p:txBody>
      </p:sp>
      <p:sp>
        <p:nvSpPr>
          <p:cNvPr id="6" name="text-106">
            <a:extLst xmlns:a="http://schemas.openxmlformats.org/drawingml/2006/main">
              <a:ext uri="{FF2B5EF4-FFF2-40B4-BE49-F238E27FC236}">
                <a16:creationId xmlns:a16="http://schemas.microsoft.com/office/drawing/2014/main" id="{A95C4A8D-F996-4FE2-8400-3C44EEA8174D}"/>
              </a:ext>
            </a:extLst>
          </p:cNvPr>
          <p:cNvSpPr>
            <a:spLocks xmlns:a="http://schemas.openxmlformats.org/drawingml/2006/main" noGrp="1"/>
          </p:cNvSpPr>
          <p:nvPr/>
        </p:nvSpPr>
        <p:spPr>
          <a:xfrm xmlns:a="http://schemas.openxmlformats.org/drawingml/2006/main">
            <a:off x="457200" y="3048000"/>
            <a:ext cx="5191125" cy="2333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325" b="0">
                <a:solidFill>
                  <a:srgbClr val="152033"/>
                </a:solidFill>
                <a:latin typeface="Arial"/>
                <a:ea typeface="Arial"/>
                <a:cs typeface="Arial"/>
              </a:defRPr>
            </a:pPr>
            <a:r>
              <a:t>Use the ? buttons for input and workflow explanations.</a:t>
            </a:r>
          </a:p>
          <a:p xmlns:a="http://schemas.openxmlformats.org/drawingml/2006/main">
            <a:pPr>
              <a:defRPr sz="2325" b="0">
                <a:solidFill>
                  <a:srgbClr val="152033"/>
                </a:solidFill>
                <a:latin typeface="Arial"/>
                <a:ea typeface="Arial"/>
                <a:cs typeface="Arial"/>
              </a:defRPr>
            </a:pPr>
            <a:r>
              <a:t/>
            </a:r>
          </a:p>
          <a:p xmlns:a="http://schemas.openxmlformats.org/drawingml/2006/main">
            <a:pPr>
              <a:defRPr sz="2325" b="0">
                <a:solidFill>
                  <a:srgbClr val="152033"/>
                </a:solidFill>
                <a:latin typeface="Arial"/>
                <a:ea typeface="Arial"/>
                <a:cs typeface="Arial"/>
              </a:defRPr>
            </a:pPr>
            <a:r>
              <a:t>Hover over supported controls for short hints.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12b1c623acc4bf6"/>
          <a:stretch xmlns:a="http://schemas.openxmlformats.org/drawingml/2006/main"/>
        </p:blipFill>
        <p:spPr>
          <a:xfrm xmlns:a="http://schemas.openxmlformats.org/drawingml/2006/main">
            <a:off x="6381750" y="2570485"/>
            <a:ext cx="5334000" cy="1612254"/>
          </a:xfrm>
          <a:prstGeom xmlns:a="http://schemas.openxmlformats.org/drawingml/2006/main" prst="rect">
            <a:avLst/>
          </a:prstGeom>
        </p:spPr>
      </p:pic>
      <p:sp>
        <p:nvSpPr>
          <p:cNvPr id="8" name="text-107">
            <a:extLst xmlns:a="http://schemas.openxmlformats.org/drawingml/2006/main">
              <a:ext uri="{FF2B5EF4-FFF2-40B4-BE49-F238E27FC236}">
                <a16:creationId xmlns:a16="http://schemas.microsoft.com/office/drawing/2014/main" id="{89B94BC5-64FE-493B-8FC1-41228AF06C84}"/>
              </a:ext>
            </a:extLst>
          </p:cNvPr>
          <p:cNvSpPr>
            <a:spLocks xmlns:a="http://schemas.openxmlformats.org/drawingml/2006/main" noGrp="1"/>
          </p:cNvSpPr>
          <p:nvPr/>
        </p:nvSpPr>
        <p:spPr>
          <a:xfrm xmlns:a="http://schemas.openxmlformats.org/drawingml/2006/main">
            <a:off x="6381750" y="4905375"/>
            <a:ext cx="5334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52033"/>
                </a:solidFill>
                <a:latin typeface="Arial"/>
                <a:ea typeface="Arial"/>
                <a:cs typeface="Arial"/>
              </a:defRPr>
            </a:pPr>
            <a:r>
              <a:t>FASTQ and BAM inputs</a:t>
            </a:r>
          </a:p>
        </p:txBody>
      </p:sp>
      <p:sp>
        <p:nvSpPr>
          <p:cNvPr id="9" name="text-108">
            <a:extLst xmlns:a="http://schemas.openxmlformats.org/drawingml/2006/main">
              <a:ext uri="{FF2B5EF4-FFF2-40B4-BE49-F238E27FC236}">
                <a16:creationId xmlns:a16="http://schemas.microsoft.com/office/drawing/2014/main" id="{FEF1DEDB-8BC6-429C-B9C2-76D934356ED9}"/>
              </a:ext>
            </a:extLst>
          </p:cNvPr>
          <p:cNvSpPr>
            <a:spLocks xmlns:a="http://schemas.openxmlformats.org/drawingml/2006/main" noGrp="1"/>
          </p:cNvSpPr>
          <p:nvPr/>
        </p:nvSpPr>
        <p:spPr>
          <a:xfrm xmlns:a="http://schemas.openxmlformats.org/drawingml/2006/main">
            <a:off x="6381750" y="5572125"/>
            <a:ext cx="5334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152033"/>
                </a:solidFill>
                <a:latin typeface="Arial"/>
                <a:ea typeface="Arial"/>
                <a:cs typeface="Arial"/>
              </a:defRPr>
            </a:pPr>
            <a:r>
              <a:t>Confirm whether barcode removal trimmed the reads.</a:t>
            </a:r>
          </a:p>
        </p:txBody>
      </p:sp>
    </p:spTree>
    <p:extLst>
      <p:ext uri="{BB962C8B-B14F-4D97-AF65-F5344CB8AC3E}">
        <p14:creationId xmlns:p14="http://schemas.microsoft.com/office/powerpoint/2010/main" val="2599943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09">
            <a:extLst xmlns:a="http://schemas.openxmlformats.org/drawingml/2006/main">
              <a:ext uri="{FF2B5EF4-FFF2-40B4-BE49-F238E27FC236}">
                <a16:creationId xmlns:a16="http://schemas.microsoft.com/office/drawing/2014/main" id="{936D5DB6-2DD0-4BB7-84B4-2C16E5AB12DF}"/>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RUN CONTROLS</a:t>
            </a:r>
          </a:p>
        </p:txBody>
      </p:sp>
      <p:sp>
        <p:nvSpPr>
          <p:cNvPr id="2" name="text-110">
            <a:extLst xmlns:a="http://schemas.openxmlformats.org/drawingml/2006/main">
              <a:ext uri="{FF2B5EF4-FFF2-40B4-BE49-F238E27FC236}">
                <a16:creationId xmlns:a16="http://schemas.microsoft.com/office/drawing/2014/main" id="{BB48286D-77DD-425D-AC8E-2279810DBDAA}"/>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111">
            <a:extLst xmlns:a="http://schemas.openxmlformats.org/drawingml/2006/main">
              <a:ext uri="{FF2B5EF4-FFF2-40B4-BE49-F238E27FC236}">
                <a16:creationId xmlns:a16="http://schemas.microsoft.com/office/drawing/2014/main" id="{EDD1E89D-4A4A-4F68-8975-A7CA72536E7B}"/>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14</a:t>
            </a:r>
          </a:p>
        </p:txBody>
      </p:sp>
      <p:sp>
        <p:nvSpPr>
          <p:cNvPr id="4" name="text-112">
            <a:extLst xmlns:a="http://schemas.openxmlformats.org/drawingml/2006/main">
              <a:ext uri="{FF2B5EF4-FFF2-40B4-BE49-F238E27FC236}">
                <a16:creationId xmlns:a16="http://schemas.microsoft.com/office/drawing/2014/main" id="{B5AAB9D5-D037-40A5-8EAD-3D00E62CEC39}"/>
              </a:ext>
            </a:extLst>
          </p:cNvPr>
          <p:cNvSpPr>
            <a:spLocks xmlns:a="http://schemas.openxmlformats.org/drawingml/2006/main" noGrp="1"/>
          </p:cNvSpPr>
          <p:nvPr/>
        </p:nvSpPr>
        <p:spPr>
          <a:xfrm xmlns:a="http://schemas.openxmlformats.org/drawingml/2006/main">
            <a:off x="457200" y="857250"/>
            <a:ext cx="1127760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52033"/>
                </a:solidFill>
                <a:latin typeface="Arial"/>
                <a:ea typeface="Arial"/>
                <a:cs typeface="Arial"/>
              </a:defRPr>
            </a:pPr>
            <a:r>
              <a:t>Run the workflow and follow its progress</a:t>
            </a:r>
          </a:p>
        </p:txBody>
      </p:sp>
      <p:sp>
        <p:nvSpPr>
          <p:cNvPr id="5" name="text-113">
            <a:extLst xmlns:a="http://schemas.openxmlformats.org/drawingml/2006/main">
              <a:ext uri="{FF2B5EF4-FFF2-40B4-BE49-F238E27FC236}">
                <a16:creationId xmlns:a16="http://schemas.microsoft.com/office/drawing/2014/main" id="{F8B8D57A-4F51-4BA8-9918-9E7F37F13529}"/>
              </a:ext>
            </a:extLst>
          </p:cNvPr>
          <p:cNvSpPr>
            <a:spLocks xmlns:a="http://schemas.openxmlformats.org/drawingml/2006/main" noGrp="1"/>
          </p:cNvSpPr>
          <p:nvPr/>
        </p:nvSpPr>
        <p:spPr>
          <a:xfrm xmlns:a="http://schemas.openxmlformats.org/drawingml/2006/main">
            <a:off x="457200" y="2247900"/>
            <a:ext cx="10668000"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2563EB"/>
                </a:solidFill>
                <a:latin typeface="Arial"/>
                <a:ea typeface="Arial"/>
                <a:cs typeface="Arial"/>
              </a:defRPr>
            </a:pPr>
            <a:r>
              <a:t>Run Workflow</a:t>
            </a:r>
          </a:p>
        </p:txBody>
      </p:sp>
      <p:sp>
        <p:nvSpPr>
          <p:cNvPr id="6" name="text-114">
            <a:extLst xmlns:a="http://schemas.openxmlformats.org/drawingml/2006/main">
              <a:ext uri="{FF2B5EF4-FFF2-40B4-BE49-F238E27FC236}">
                <a16:creationId xmlns:a16="http://schemas.microsoft.com/office/drawing/2014/main" id="{05B6AA6A-1DC7-4375-9709-C1D3762FE5B5}"/>
              </a:ext>
            </a:extLst>
          </p:cNvPr>
          <p:cNvSpPr>
            <a:spLocks xmlns:a="http://schemas.openxmlformats.org/drawingml/2006/main" noGrp="1"/>
          </p:cNvSpPr>
          <p:nvPr/>
        </p:nvSpPr>
        <p:spPr>
          <a:xfrm xmlns:a="http://schemas.openxmlformats.org/drawingml/2006/main">
            <a:off x="457200" y="2943225"/>
            <a:ext cx="11049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325" b="0">
                <a:solidFill>
                  <a:srgbClr val="152033"/>
                </a:solidFill>
                <a:latin typeface="Arial"/>
                <a:ea typeface="Arial"/>
                <a:cs typeface="Arial"/>
              </a:defRPr>
            </a:pPr>
            <a:r>
              <a:t>Start the selected analysis with your settings.</a:t>
            </a:r>
          </a:p>
        </p:txBody>
      </p:sp>
      <p:sp>
        <p:nvSpPr>
          <p:cNvPr id="7" name="text-115">
            <a:extLst xmlns:a="http://schemas.openxmlformats.org/drawingml/2006/main">
              <a:ext uri="{FF2B5EF4-FFF2-40B4-BE49-F238E27FC236}">
                <a16:creationId xmlns:a16="http://schemas.microsoft.com/office/drawing/2014/main" id="{6E6F13C6-8489-4F01-8529-258C7BABF897}"/>
              </a:ext>
            </a:extLst>
          </p:cNvPr>
          <p:cNvSpPr>
            <a:spLocks xmlns:a="http://schemas.openxmlformats.org/drawingml/2006/main" noGrp="1"/>
          </p:cNvSpPr>
          <p:nvPr/>
        </p:nvSpPr>
        <p:spPr>
          <a:xfrm xmlns:a="http://schemas.openxmlformats.org/drawingml/2006/main">
            <a:off x="457200" y="3905250"/>
            <a:ext cx="1066800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000" b="1">
                <a:solidFill>
                  <a:srgbClr val="152033"/>
                </a:solidFill>
                <a:latin typeface="Arial"/>
                <a:ea typeface="Arial"/>
                <a:cs typeface="Arial"/>
              </a:defRPr>
            </a:pPr>
            <a:r>
              <a:t>Execution Log</a:t>
            </a:r>
          </a:p>
        </p:txBody>
      </p:sp>
      <p:sp>
        <p:nvSpPr>
          <p:cNvPr id="8" name="text-116">
            <a:extLst xmlns:a="http://schemas.openxmlformats.org/drawingml/2006/main">
              <a:ext uri="{FF2B5EF4-FFF2-40B4-BE49-F238E27FC236}">
                <a16:creationId xmlns:a16="http://schemas.microsoft.com/office/drawing/2014/main" id="{BF8CF565-0594-49F4-9AEE-1B2D2DB6ECEC}"/>
              </a:ext>
            </a:extLst>
          </p:cNvPr>
          <p:cNvSpPr>
            <a:spLocks xmlns:a="http://schemas.openxmlformats.org/drawingml/2006/main" noGrp="1"/>
          </p:cNvSpPr>
          <p:nvPr/>
        </p:nvSpPr>
        <p:spPr>
          <a:xfrm xmlns:a="http://schemas.openxmlformats.org/drawingml/2006/main">
            <a:off x="457200" y="4543425"/>
            <a:ext cx="1104900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325" b="0">
                <a:solidFill>
                  <a:srgbClr val="152033"/>
                </a:solidFill>
                <a:latin typeface="Arial"/>
                <a:ea typeface="Arial"/>
                <a:cs typeface="Arial"/>
              </a:defRPr>
            </a:pPr>
            <a:r>
              <a:t>Follow processing messages and progress.</a:t>
            </a:r>
          </a:p>
        </p:txBody>
      </p:sp>
      <p:sp>
        <p:nvSpPr>
          <p:cNvPr id="9" name="text-117">
            <a:extLst xmlns:a="http://schemas.openxmlformats.org/drawingml/2006/main">
              <a:ext uri="{FF2B5EF4-FFF2-40B4-BE49-F238E27FC236}">
                <a16:creationId xmlns:a16="http://schemas.microsoft.com/office/drawing/2014/main" id="{0E136FCF-DF17-42A2-B58B-C9ED6D236DBB}"/>
              </a:ext>
            </a:extLst>
          </p:cNvPr>
          <p:cNvSpPr>
            <a:spLocks xmlns:a="http://schemas.openxmlformats.org/drawingml/2006/main" noGrp="1"/>
          </p:cNvSpPr>
          <p:nvPr/>
        </p:nvSpPr>
        <p:spPr>
          <a:xfrm xmlns:a="http://schemas.openxmlformats.org/drawingml/2006/main">
            <a:off x="457200" y="5381625"/>
            <a:ext cx="333375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000" b="1">
                <a:solidFill>
                  <a:srgbClr val="152033"/>
                </a:solidFill>
                <a:latin typeface="Arial"/>
                <a:ea typeface="Arial"/>
                <a:cs typeface="Arial"/>
              </a:defRPr>
            </a:pPr>
            <a:r>
              <a:t>Cancel</a:t>
            </a:r>
          </a:p>
        </p:txBody>
      </p:sp>
      <p:sp>
        <p:nvSpPr>
          <p:cNvPr id="10" name="text-118">
            <a:extLst xmlns:a="http://schemas.openxmlformats.org/drawingml/2006/main">
              <a:ext uri="{FF2B5EF4-FFF2-40B4-BE49-F238E27FC236}">
                <a16:creationId xmlns:a16="http://schemas.microsoft.com/office/drawing/2014/main" id="{1E1A42AC-99FD-4AF7-A227-17FE34C37BD8}"/>
              </a:ext>
            </a:extLst>
          </p:cNvPr>
          <p:cNvSpPr>
            <a:spLocks xmlns:a="http://schemas.openxmlformats.org/drawingml/2006/main" noGrp="1"/>
          </p:cNvSpPr>
          <p:nvPr/>
        </p:nvSpPr>
        <p:spPr>
          <a:xfrm xmlns:a="http://schemas.openxmlformats.org/drawingml/2006/main">
            <a:off x="4381500" y="5457825"/>
            <a:ext cx="714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52033"/>
                </a:solidFill>
                <a:latin typeface="Arial"/>
                <a:ea typeface="Arial"/>
                <a:cs typeface="Arial"/>
              </a:defRPr>
            </a:pPr>
            <a:r>
              <a:t>Request that the running workflow stops.</a:t>
            </a:r>
          </a:p>
        </p:txBody>
      </p:sp>
    </p:spTree>
    <p:extLst>
      <p:ext uri="{BB962C8B-B14F-4D97-AF65-F5344CB8AC3E}">
        <p14:creationId xmlns:p14="http://schemas.microsoft.com/office/powerpoint/2010/main" val="12363640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19">
            <a:extLst xmlns:a="http://schemas.openxmlformats.org/drawingml/2006/main">
              <a:ext uri="{FF2B5EF4-FFF2-40B4-BE49-F238E27FC236}">
                <a16:creationId xmlns:a16="http://schemas.microsoft.com/office/drawing/2014/main" id="{7E2FDAF2-3CE2-4C9C-8A03-780C7B752224}"/>
              </a:ext>
            </a:extLst>
          </p:cNvPr>
          <p:cNvSpPr>
            <a:spLocks xmlns:a="http://schemas.openxmlformats.org/drawingml/2006/main" noGrp="1"/>
          </p:cNvSpPr>
          <p:nvPr/>
        </p:nvSpPr>
        <p:spPr>
          <a:xfrm xmlns:a="http://schemas.openxmlformats.org/drawingml/2006/main">
            <a:off x="457200" y="26670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LIVE DEMO</a:t>
            </a:r>
          </a:p>
        </p:txBody>
      </p:sp>
      <p:sp>
        <p:nvSpPr>
          <p:cNvPr id="2" name="text-120">
            <a:extLst xmlns:a="http://schemas.openxmlformats.org/drawingml/2006/main">
              <a:ext uri="{FF2B5EF4-FFF2-40B4-BE49-F238E27FC236}">
                <a16:creationId xmlns:a16="http://schemas.microsoft.com/office/drawing/2014/main" id="{5C26D8A1-1756-49C0-AEC3-980AAB588419}"/>
              </a:ext>
            </a:extLst>
          </p:cNvPr>
          <p:cNvSpPr>
            <a:spLocks xmlns:a="http://schemas.openxmlformats.org/drawingml/2006/main" noGrp="1"/>
          </p:cNvSpPr>
          <p:nvPr/>
        </p:nvSpPr>
        <p:spPr>
          <a:xfrm xmlns:a="http://schemas.openxmlformats.org/drawingml/2006/main">
            <a:off x="457200" y="6429375"/>
            <a:ext cx="95250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TELOMERE ANALYZER</a:t>
            </a:r>
          </a:p>
        </p:txBody>
      </p:sp>
      <p:sp>
        <p:nvSpPr>
          <p:cNvPr id="3" name="text-121">
            <a:extLst xmlns:a="http://schemas.openxmlformats.org/drawingml/2006/main">
              <a:ext uri="{FF2B5EF4-FFF2-40B4-BE49-F238E27FC236}">
                <a16:creationId xmlns:a16="http://schemas.microsoft.com/office/drawing/2014/main" id="{E169E8D5-A549-423F-A3C9-D3EA2BACBA33}"/>
              </a:ext>
            </a:extLst>
          </p:cNvPr>
          <p:cNvSpPr>
            <a:spLocks xmlns:a="http://schemas.openxmlformats.org/drawingml/2006/main" noGrp="1"/>
          </p:cNvSpPr>
          <p:nvPr/>
        </p:nvSpPr>
        <p:spPr>
          <a:xfrm xmlns:a="http://schemas.openxmlformats.org/drawingml/2006/main">
            <a:off x="11239500" y="6429375"/>
            <a:ext cx="571500" cy="276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0">
                <a:solidFill>
                  <a:srgbClr val="5B6472"/>
                </a:solidFill>
                <a:latin typeface="Arial"/>
                <a:ea typeface="Arial"/>
                <a:cs typeface="Arial"/>
              </a:defRPr>
            </a:pPr>
            <a:r>
              <a:t>15</a:t>
            </a:r>
          </a:p>
        </p:txBody>
      </p:sp>
      <p:sp>
        <p:nvSpPr>
          <p:cNvPr id="4" name="text-122">
            <a:extLst xmlns:a="http://schemas.openxmlformats.org/drawingml/2006/main">
              <a:ext uri="{FF2B5EF4-FFF2-40B4-BE49-F238E27FC236}">
                <a16:creationId xmlns:a16="http://schemas.microsoft.com/office/drawing/2014/main" id="{1DE63249-A9D9-4EE6-861D-BAE604015022}"/>
              </a:ext>
            </a:extLst>
          </p:cNvPr>
          <p:cNvSpPr>
            <a:spLocks xmlns:a="http://schemas.openxmlformats.org/drawingml/2006/main" noGrp="1"/>
          </p:cNvSpPr>
          <p:nvPr/>
        </p:nvSpPr>
        <p:spPr>
          <a:xfrm xmlns:a="http://schemas.openxmlformats.org/drawingml/2006/main">
            <a:off x="457200" y="2181225"/>
            <a:ext cx="11277600" cy="1333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7800" b="1">
                <a:solidFill>
                  <a:srgbClr val="2563EB"/>
                </a:solidFill>
                <a:latin typeface="Arial"/>
                <a:ea typeface="Arial"/>
                <a:cs typeface="Arial"/>
              </a:defRPr>
            </a:pPr>
            <a:r>
              <a:t>Let’s do it.</a:t>
            </a:r>
          </a:p>
        </p:txBody>
      </p:sp>
      <p:sp>
        <p:nvSpPr>
          <p:cNvPr id="5" name="text-123">
            <a:extLst xmlns:a="http://schemas.openxmlformats.org/drawingml/2006/main">
              <a:ext uri="{FF2B5EF4-FFF2-40B4-BE49-F238E27FC236}">
                <a16:creationId xmlns:a16="http://schemas.microsoft.com/office/drawing/2014/main" id="{DC075878-00E4-43D2-A875-6FD1158C47E0}"/>
              </a:ext>
            </a:extLst>
          </p:cNvPr>
          <p:cNvSpPr>
            <a:spLocks xmlns:a="http://schemas.openxmlformats.org/drawingml/2006/main" noGrp="1"/>
          </p:cNvSpPr>
          <p:nvPr/>
        </p:nvSpPr>
        <p:spPr>
          <a:xfrm xmlns:a="http://schemas.openxmlformats.org/drawingml/2006/main">
            <a:off x="457200" y="4133850"/>
            <a:ext cx="11049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075" b="0">
                <a:solidFill>
                  <a:srgbClr val="152033"/>
                </a:solidFill>
                <a:latin typeface="Arial"/>
                <a:ea typeface="Arial"/>
                <a:cs typeface="Arial"/>
              </a:defRPr>
            </a:pPr>
            <a:r>
              <a:t>Choose data. Configure. Run. Open the results.</a:t>
            </a:r>
          </a:p>
        </p:txBody>
      </p:sp>
      <p:sp>
        <p:nvSpPr>
          <p:cNvPr id="6" name="text-124">
            <a:extLst xmlns:a="http://schemas.openxmlformats.org/drawingml/2006/main">
              <a:ext uri="{FF2B5EF4-FFF2-40B4-BE49-F238E27FC236}">
                <a16:creationId xmlns:a16="http://schemas.microsoft.com/office/drawing/2014/main" id="{90D90E7F-323F-4FA7-A629-76789DCCF8C3}"/>
              </a:ext>
            </a:extLst>
          </p:cNvPr>
          <p:cNvSpPr>
            <a:spLocks xmlns:a="http://schemas.openxmlformats.org/drawingml/2006/main" noGrp="1"/>
          </p:cNvSpPr>
          <p:nvPr/>
        </p:nvSpPr>
        <p:spPr>
          <a:xfrm xmlns:a="http://schemas.openxmlformats.org/drawingml/2006/main">
            <a:off x="457200" y="5638800"/>
            <a:ext cx="110490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00" b="0">
                <a:solidFill>
                  <a:srgbClr val="5B6472"/>
                </a:solidFill>
                <a:latin typeface="Arial"/>
                <a:ea typeface="Arial"/>
                <a:cs typeface="Arial"/>
              </a:defRPr>
            </a:pPr>
            <a:r>
              <a:t>Telomere Analyzer • live demonstration</a:t>
            </a:r>
          </a:p>
        </p:txBody>
      </p:sp>
    </p:spTree>
    <p:extLst>
      <p:ext uri="{BB962C8B-B14F-4D97-AF65-F5344CB8AC3E}">
        <p14:creationId xmlns:p14="http://schemas.microsoft.com/office/powerpoint/2010/main" val="164061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2026-09-22T09:05:09.5330000Z</dcterms:created>
  <dcterms:modified xsi:type="dcterms:W3CDTF">2026-09-22T09:05:09.5330000Z</dcterms:modified>
</coreProperties>
</file>