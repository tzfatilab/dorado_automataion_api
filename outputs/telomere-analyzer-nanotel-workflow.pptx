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7e62b40a434b7c" /><Relationship Type="http://schemas.openxmlformats.org/officeDocument/2006/relationships/extended-properties" Target="/docProps/app.xml" Id="R6d668df170b44f12" /><Relationship Type="http://schemas.openxmlformats.org/officeDocument/2006/relationships/officeDocument" Target="/ppt/presentation.xml" Id="R0b88e5bae2c74eeb" /></Relationships>
</file>

<file path=ppt/presentation.xml><?xml version="1.0" encoding="utf-8"?>
<p:presentation xmlns:p="http://schemas.openxmlformats.org/presentationml/2006/main">
  <p:sldMasterIdLst>
    <p:sldMasterId xmlns:r="http://schemas.openxmlformats.org/officeDocument/2006/relationships" id="2147483648" r:id="R51f93d8bd5994c07"/>
  </p:sldMasterIdLst>
  <p:notesMasterIdLst>
    <p:notesMasterId xmlns:r="http://schemas.openxmlformats.org/officeDocument/2006/relationships" r:id="R39e253f3caec40ec"/>
  </p:notesMasterIdLst>
  <p:sldIdLst>
    <p:sldId xmlns:r="http://schemas.openxmlformats.org/officeDocument/2006/relationships" id="256" r:id="R6e7f15d9e5384070"/>
    <p:sldId xmlns:r="http://schemas.openxmlformats.org/officeDocument/2006/relationships" id="257" r:id="R3b0a5b45a5794870"/>
    <p:sldId xmlns:r="http://schemas.openxmlformats.org/officeDocument/2006/relationships" id="258" r:id="R2d24554980054a85"/>
    <p:sldId xmlns:r="http://schemas.openxmlformats.org/officeDocument/2006/relationships" id="259" r:id="Ra5f0ebc500974d2f"/>
    <p:sldId xmlns:r="http://schemas.openxmlformats.org/officeDocument/2006/relationships" id="260" r:id="R061f3350fedb4288"/>
    <p:sldId xmlns:r="http://schemas.openxmlformats.org/officeDocument/2006/relationships" id="261" r:id="R190284307523466c"/>
    <p:sldId xmlns:r="http://schemas.openxmlformats.org/officeDocument/2006/relationships" id="262" r:id="R25d663984aad49dc"/>
    <p:sldId xmlns:r="http://schemas.openxmlformats.org/officeDocument/2006/relationships" id="263" r:id="Rca4e261d31634a86"/>
    <p:sldId xmlns:r="http://schemas.openxmlformats.org/officeDocument/2006/relationships" id="264" r:id="R4a1d6aeadd7f4cf7"/>
    <p:sldId xmlns:r="http://schemas.openxmlformats.org/officeDocument/2006/relationships" id="265" r:id="R6ecca8d57b0648ea"/>
    <p:sldId xmlns:r="http://schemas.openxmlformats.org/officeDocument/2006/relationships" id="266" r:id="Rf6ed870b81f448be"/>
    <p:sldId xmlns:r="http://schemas.openxmlformats.org/officeDocument/2006/relationships" id="267" r:id="R1d6d7d43ccbb41d8"/>
    <p:sldId xmlns:r="http://schemas.openxmlformats.org/officeDocument/2006/relationships" id="268" r:id="R8dac39ea6e374160"/>
    <p:sldId xmlns:r="http://schemas.openxmlformats.org/officeDocument/2006/relationships" id="269" r:id="Rb5af8662c7474517"/>
    <p:sldId xmlns:r="http://schemas.openxmlformats.org/officeDocument/2006/relationships" id="270" r:id="Racbda72e40a44da8"/>
    <p:sldId xmlns:r="http://schemas.openxmlformats.org/officeDocument/2006/relationships" id="271" r:id="R7e28d4beea1f4d27"/>
    <p:sldId xmlns:r="http://schemas.openxmlformats.org/officeDocument/2006/relationships" id="272" r:id="Racfb223a4c85485f"/>
    <p:sldId xmlns:r="http://schemas.openxmlformats.org/officeDocument/2006/relationships" id="273" r:id="R553d754c4f5040de"/>
    <p:sldId xmlns:r="http://schemas.openxmlformats.org/officeDocument/2006/relationships" id="274" r:id="Re0bcd8b3098e44cd"/>
    <p:sldId xmlns:r="http://schemas.openxmlformats.org/officeDocument/2006/relationships" id="275" r:id="R2091d416f9ca446a"/>
    <p:sldId xmlns:r="http://schemas.openxmlformats.org/officeDocument/2006/relationships" id="276" r:id="Rc2a1904b86a64d3a"/>
    <p:sldId xmlns:r="http://schemas.openxmlformats.org/officeDocument/2006/relationships" id="277" r:id="Re40f9267d50e478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929376c7634315" /><Relationship Type="http://schemas.openxmlformats.org/officeDocument/2006/relationships/slideMaster" Target="/ppt/slideMasters/slideMaster1.xml" Id="R51f93d8bd5994c07" /><Relationship Type="http://schemas.openxmlformats.org/officeDocument/2006/relationships/notesMaster" Target="/ppt/notesMasters/notesMaster1.xml" Id="R39e253f3caec40ec" /><Relationship Type="http://schemas.openxmlformats.org/officeDocument/2006/relationships/presProps" Target="/ppt/presProps.xml" Id="Rf34badda0bad41d2" /><Relationship Type="http://schemas.openxmlformats.org/officeDocument/2006/relationships/tableStyles" Target="/ppt/tableStyles.xml" Id="Re093a13dc95c4583" /><Relationship Type="http://schemas.openxmlformats.org/officeDocument/2006/relationships/slide" Target="/ppt/slides/slide1.xml" Id="R6e7f15d9e5384070" /><Relationship Type="http://schemas.openxmlformats.org/officeDocument/2006/relationships/slide" Target="/ppt/slides/slide2.xml" Id="R3b0a5b45a5794870" /><Relationship Type="http://schemas.openxmlformats.org/officeDocument/2006/relationships/slide" Target="/ppt/slides/slide3.xml" Id="R2d24554980054a85" /><Relationship Type="http://schemas.openxmlformats.org/officeDocument/2006/relationships/slide" Target="/ppt/slides/slide4.xml" Id="Ra5f0ebc500974d2f" /><Relationship Type="http://schemas.openxmlformats.org/officeDocument/2006/relationships/slide" Target="/ppt/slides/slide5.xml" Id="R061f3350fedb4288" /><Relationship Type="http://schemas.openxmlformats.org/officeDocument/2006/relationships/slide" Target="/ppt/slides/slide6.xml" Id="R190284307523466c" /><Relationship Type="http://schemas.openxmlformats.org/officeDocument/2006/relationships/slide" Target="/ppt/slides/slide7.xml" Id="R25d663984aad49dc" /><Relationship Type="http://schemas.openxmlformats.org/officeDocument/2006/relationships/slide" Target="/ppt/slides/slide8.xml" Id="Rca4e261d31634a86" /><Relationship Type="http://schemas.openxmlformats.org/officeDocument/2006/relationships/slide" Target="/ppt/slides/slide9.xml" Id="R4a1d6aeadd7f4cf7" /><Relationship Type="http://schemas.openxmlformats.org/officeDocument/2006/relationships/slide" Target="/ppt/slides/slide10.xml" Id="R6ecca8d57b0648ea" /><Relationship Type="http://schemas.openxmlformats.org/officeDocument/2006/relationships/slide" Target="/ppt/slides/slide11.xml" Id="Rf6ed870b81f448be" /><Relationship Type="http://schemas.openxmlformats.org/officeDocument/2006/relationships/slide" Target="/ppt/slides/slide12.xml" Id="R1d6d7d43ccbb41d8" /><Relationship Type="http://schemas.openxmlformats.org/officeDocument/2006/relationships/slide" Target="/ppt/slides/slide13.xml" Id="R8dac39ea6e374160" /><Relationship Type="http://schemas.openxmlformats.org/officeDocument/2006/relationships/slide" Target="/ppt/slides/slide14.xml" Id="Rb5af8662c7474517" /><Relationship Type="http://schemas.openxmlformats.org/officeDocument/2006/relationships/slide" Target="/ppt/slides/slide15.xml" Id="Racbda72e40a44da8" /><Relationship Type="http://schemas.openxmlformats.org/officeDocument/2006/relationships/slide" Target="/ppt/slides/slide16.xml" Id="R7e28d4beea1f4d27" /><Relationship Type="http://schemas.openxmlformats.org/officeDocument/2006/relationships/slide" Target="/ppt/slides/slide17.xml" Id="Racfb223a4c85485f" /><Relationship Type="http://schemas.openxmlformats.org/officeDocument/2006/relationships/slide" Target="/ppt/slides/slide18.xml" Id="R553d754c4f5040de" /><Relationship Type="http://schemas.openxmlformats.org/officeDocument/2006/relationships/slide" Target="/ppt/slides/slide19.xml" Id="Re0bcd8b3098e44cd" /><Relationship Type="http://schemas.openxmlformats.org/officeDocument/2006/relationships/slide" Target="/ppt/slides/slide20.xml" Id="R2091d416f9ca446a" /><Relationship Type="http://schemas.openxmlformats.org/officeDocument/2006/relationships/slide" Target="/ppt/slides/slide21.xml" Id="Rc2a1904b86a64d3a" /><Relationship Type="http://schemas.openxmlformats.org/officeDocument/2006/relationships/slide" Target="/ppt/slides/slide22.xml" Id="Re40f9267d50e47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1cfe8886e943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dfdb5c70ec44f2" /><Relationship Type="http://schemas.openxmlformats.org/officeDocument/2006/relationships/notesMaster" Target="/ppt/notesMasters/notesMaster1.xml" Id="Rb4216c2071804d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8f4082c3b44a7e" /><Relationship Type="http://schemas.openxmlformats.org/officeDocument/2006/relationships/notesMaster" Target="/ppt/notesMasters/notesMaster1.xml" Id="R3220277f970b4e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66333beabe4268" /><Relationship Type="http://schemas.openxmlformats.org/officeDocument/2006/relationships/notesMaster" Target="/ppt/notesMasters/notesMaster1.xml" Id="R5d3c20e9304343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dc0971d4b54544" /><Relationship Type="http://schemas.openxmlformats.org/officeDocument/2006/relationships/notesMaster" Target="/ppt/notesMasters/notesMaster1.xml" Id="R26612dcb54044c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2da92d009a490b" /><Relationship Type="http://schemas.openxmlformats.org/officeDocument/2006/relationships/notesMaster" Target="/ppt/notesMasters/notesMaster1.xml" Id="R795439932feb44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cc7d481b1e47ab" /><Relationship Type="http://schemas.openxmlformats.org/officeDocument/2006/relationships/notesMaster" Target="/ppt/notesMasters/notesMaster1.xml" Id="R5dd16d16ad1b45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001e58d92d426d" /><Relationship Type="http://schemas.openxmlformats.org/officeDocument/2006/relationships/notesMaster" Target="/ppt/notesMasters/notesMaster1.xml" Id="R64f0bdfffcca44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37875365ad4177" /><Relationship Type="http://schemas.openxmlformats.org/officeDocument/2006/relationships/notesMaster" Target="/ppt/notesMasters/notesMaster1.xml" Id="Rf59dc729ec2c48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ad396bd9254bdf" /><Relationship Type="http://schemas.openxmlformats.org/officeDocument/2006/relationships/notesMaster" Target="/ppt/notesMasters/notesMaster1.xml" Id="Rd610e7a262ec44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c19984047f4e1a" /><Relationship Type="http://schemas.openxmlformats.org/officeDocument/2006/relationships/notesMaster" Target="/ppt/notesMasters/notesMaster1.xml" Id="Re7f478f3a38f44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1a8817013e422d" /><Relationship Type="http://schemas.openxmlformats.org/officeDocument/2006/relationships/notesMaster" Target="/ppt/notesMasters/notesMaster1.xml" Id="R071594dd9c214d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948b2744a74886" /><Relationship Type="http://schemas.openxmlformats.org/officeDocument/2006/relationships/notesMaster" Target="/ppt/notesMasters/notesMaster1.xml" Id="Rae7b04cc17c44c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cf3a54dd04455c" /><Relationship Type="http://schemas.openxmlformats.org/officeDocument/2006/relationships/notesMaster" Target="/ppt/notesMasters/notesMaster1.xml" Id="R6ab77165559b42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48be98f45c4e01" /><Relationship Type="http://schemas.openxmlformats.org/officeDocument/2006/relationships/notesMaster" Target="/ppt/notesMasters/notesMaster1.xml" Id="R18dd8e8b15d94c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a4fb0f2cb74536" /><Relationship Type="http://schemas.openxmlformats.org/officeDocument/2006/relationships/notesMaster" Target="/ppt/notesMasters/notesMaster1.xml" Id="R687a4d15c55947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6518a3009c4320" /><Relationship Type="http://schemas.openxmlformats.org/officeDocument/2006/relationships/notesMaster" Target="/ppt/notesMasters/notesMaster1.xml" Id="R6323a01da36c45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c24bd8b65146fc" /><Relationship Type="http://schemas.openxmlformats.org/officeDocument/2006/relationships/notesMaster" Target="/ppt/notesMasters/notesMaster1.xml" Id="R401869c5ee9940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9bdbcd2f45469f" /><Relationship Type="http://schemas.openxmlformats.org/officeDocument/2006/relationships/notesMaster" Target="/ppt/notesMasters/notesMaster1.xml" Id="R05144ba9a94e48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48cb5c70c44b64" /><Relationship Type="http://schemas.openxmlformats.org/officeDocument/2006/relationships/notesMaster" Target="/ppt/notesMasters/notesMaster1.xml" Id="Re62227b758694df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0ce23cde9746c1" /><Relationship Type="http://schemas.openxmlformats.org/officeDocument/2006/relationships/notesMaster" Target="/ppt/notesMasters/notesMaster1.xml" Id="R87d4b7ab8998453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a485f254f384a29" /><Relationship Type="http://schemas.openxmlformats.org/officeDocument/2006/relationships/notesMaster" Target="/ppt/notesMasters/notesMaster1.xml" Id="R6eb23334a312463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27b0615f064187" /><Relationship Type="http://schemas.openxmlformats.org/officeDocument/2006/relationships/notesMaster" Target="/ppt/notesMasters/notesMaster1.xml" Id="Ra2011f082a6046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requested for this lab meeting: the reply to a biologist asking for help is Do it yourself! Explain that the GUI is intended to let lab members run the workflow independently. Keep this brief, then move to the interface and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updated diagram follows the user’s requested conceptual organization: one NanoTel workflow rather than a separately named R Analysis stage. The implementation language is not shown to the lab audience. Statistics shown are descriptive summaries that the existing project outputs: telomeric read counts, median telomere length and percentage below a configurable cutoff. The optional alignment/mapping/methylation stage depends on selected options and suitable inputs. This diagram does not claim that hypothesis testing, Kaplan–Meier metrics or calibration are enabled. Source: GUI workflow options, summary output CSV and NanoTel.R. Diagram edited from the user’s supplied reference using the built-in image-generation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and pipeline_runner.py. Show the three entry points and the folder chooser. POD5 starts from raw signal; BAM skips basecalling and is converted for downstream analysis; FASTQ starts from sequence reads. Barcode organization may still require demultiplexing. Users select the input directory through the folder 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additional pretend barcodes for demonstration. barcode03, barcode04, barcode05, barcode06, barcode07 and barcode08 are entirely simulated illustrative data and were not produced by an analysis. They must not be interpreted as experimental results. barcode02 and barcode19 retain the saved results from test/Telomere Analyzer_20260914_132210/results/nanotel/nanotel_summary_statistics.csv. The slide labels the simulated rows explicitly. The purpose is to show how a multi-barcode output table looks. Other slides retain real project outputs; no real output files were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test/Telomere Analyzer_20260914_132210/results/nanotel/barcode02/single_read_plots_adj/read908.jpeg. Cross-check: filtered_summaryBARCODE02.csv, Serial 908. Read length 35551 bp; telomere start 96, end 6421, length 6326 bp; density 0.933291179260196 (rounded to 0.933). The same read is present in the filtered output. The plot is unchanged from the saved run. Red denotes the telomere interval, blue the subtelomere annotation, and the filled trace is repeat density along the read. Show how a summary can be traced back to an individual read, plot and sequence. Example files: read908.jpeg and reads/read908.fasta.gz.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full run test/Telomere Analyzer_20260914_132210/results; workbook inspected at test/Telomere Analyzer_20260914_113518/results/nanotel_summary.xlsx; r_analyzer.py workbook creation. The workbook is a separate run with different settings and values, so its contents are described structurally, not equated numerically with the preceding CSV example. Actual workbook tabs: nanotel_summary, barcode02, barcode19, filtered_barcode02, filtered_barcode19. Summary-only skips per-read plots and FASTA files; full mode retains CSV and detailed read outputs. Reports include complete_pipeline_report.txt and r_pipeline_config.json. When basecalling is selected, upstream BAM/FASTQ outputs also exist. These three slides show NanoTel outputs only; mapping and methylation were not run in the numerical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current PathManager path getters and directory_structure in default_config.json. Paths are relative to the run folder. processing holds intermediate data, while results holds analysis outputs, reports and logs. Folders are created as needed, so a run may not include every folder. Mapping and methylation are optional. BAM conversion may produce FASTQ from pre-existing BAM rather than new basecalling. Logs are under results/logs, not the run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full run test/Telomere Analyzer_20260914_132210/results/nanotel and NanoTel.R. Per-barcode directories contain raw and filtered summary CSVs, read IDs, and detailed plot/sequence folders. The plot subfolders hold original and adjusted plot versions, respectively. Full output is not identical to summary-only output. In summary-only mode, r_analyzer.py writes results/nanotel_summary.xlsx then removes the temporary NanoTel tree after a successful save. The current code names the summary worksheet NanoTel Statistics; the older saved workbook used nanotel_summary. Do not confuse worksheet name with output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priorities for discussion with the lab, not completed or committed milestones. Grounded in packaging/README.md, BIOCONDA_BUILD_REHEARSAL.md and current validation gaps. 1. Broader representative inputs and barcodes, performance and output checks. 2. Validate mapping and methylation against agreed reference results, including modified-base-tagged BAM fixtures. 3. Simplify external resource selection and setup, and complete packaging tests. 4. Observe lab members using the GUI and improve help and workflows from their feedback. The main presentation still ends with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f2e8c08bd842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a7ff255cfc4c7c" /><Relationship Type="http://schemas.openxmlformats.org/officeDocument/2006/relationships/slideLayout" Target="/ppt/slideLayouts/slideLayout1.xml" Id="R87a03a33d2a143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a03a33d2a143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6da59f367941cc" /><Relationship Type="http://schemas.openxmlformats.org/officeDocument/2006/relationships/notesSlide" Target="/ppt/notesSlides/notesSlide1.xml" Id="R38463670bbe640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758bc47df94767" /><Relationship Type="http://schemas.openxmlformats.org/officeDocument/2006/relationships/notesSlide" Target="/ppt/notesSlides/notesSlide2.xml" Id="R21f5ad37caaf41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921cdde36d4aba" /><Relationship Type="http://schemas.openxmlformats.org/officeDocument/2006/relationships/notesSlide" Target="/ppt/notesSlides/notesSlide3.xml" Id="Raa4f6c75e4d141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bd60a5bf3d403e" /><Relationship Type="http://schemas.openxmlformats.org/officeDocument/2006/relationships/image" Target="/ppt/media/image.png" Id="R46ea933bd14d4765" /><Relationship Type="http://schemas.openxmlformats.org/officeDocument/2006/relationships/notesSlide" Target="/ppt/notesSlides/notesSlide4.xml" Id="R55a0acba2e5b4f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597bfc81734b41" /><Relationship Type="http://schemas.openxmlformats.org/officeDocument/2006/relationships/image" Target="/ppt/media/image2.png" Id="R4c65b5fbf5294867" /><Relationship Type="http://schemas.openxmlformats.org/officeDocument/2006/relationships/notesSlide" Target="/ppt/notesSlides/notesSlide5.xml" Id="R085da05a626b4c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81565c53294b2b" /><Relationship Type="http://schemas.openxmlformats.org/officeDocument/2006/relationships/image" Target="/ppt/media/image3.png" Id="R5e456829a2dd4a9b" /><Relationship Type="http://schemas.openxmlformats.org/officeDocument/2006/relationships/notesSlide" Target="/ppt/notesSlides/notesSlide6.xml" Id="R17e59f677efb45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4bafdeb6d94324" /><Relationship Type="http://schemas.openxmlformats.org/officeDocument/2006/relationships/image" Target="/ppt/media/image4.png" Id="Rb7ac96ce76ba410f" /><Relationship Type="http://schemas.openxmlformats.org/officeDocument/2006/relationships/image" Target="/ppt/media/image5.png" Id="R0941d15e94d5438f" /><Relationship Type="http://schemas.openxmlformats.org/officeDocument/2006/relationships/notesSlide" Target="/ppt/notesSlides/notesSlide7.xml" Id="R46dcd13be73e4c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f613010f5c4a7b" /><Relationship Type="http://schemas.openxmlformats.org/officeDocument/2006/relationships/image" Target="/ppt/media/image6.png" Id="Rabf78d8a79714bc3" /><Relationship Type="http://schemas.openxmlformats.org/officeDocument/2006/relationships/notesSlide" Target="/ppt/notesSlides/notesSlide8.xml" Id="Rdfd19c1a2a534f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e835c322a84c62" /><Relationship Type="http://schemas.openxmlformats.org/officeDocument/2006/relationships/image" Target="/ppt/media/image7.png" Id="Rcc5bc0ec6e574e28" /><Relationship Type="http://schemas.openxmlformats.org/officeDocument/2006/relationships/notesSlide" Target="/ppt/notesSlides/notesSlide9.xml" Id="R336e1f8d69c441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c3a20e24334314" /><Relationship Type="http://schemas.openxmlformats.org/officeDocument/2006/relationships/image" Target="/ppt/media/image8.png" Id="R1f634e5350d44805" /><Relationship Type="http://schemas.openxmlformats.org/officeDocument/2006/relationships/notesSlide" Target="/ppt/notesSlides/notesSlide10.xml" Id="Rf3a8fc2c38e346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dbef456b4f434f" /><Relationship Type="http://schemas.openxmlformats.org/officeDocument/2006/relationships/image" Target="/ppt/media/image9.png" Id="R6299a6ae4af944b2" /><Relationship Type="http://schemas.openxmlformats.org/officeDocument/2006/relationships/notesSlide" Target="/ppt/notesSlides/notesSlide11.xml" Id="R76092f5c3c2b42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b7572d1c0b4cda" /><Relationship Type="http://schemas.openxmlformats.org/officeDocument/2006/relationships/notesSlide" Target="/ppt/notesSlides/notesSlide12.xml" Id="R08bd11ef6b614a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46cead8d0d4c3a" /><Relationship Type="http://schemas.openxmlformats.org/officeDocument/2006/relationships/image" Target="/ppt/media/image10.png" Id="Rc4d6ecf59e184a59" /><Relationship Type="http://schemas.openxmlformats.org/officeDocument/2006/relationships/notesSlide" Target="/ppt/notesSlides/notesSlide13.xml" Id="R7c46dcc0d79a44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85c6dee2484457" /><Relationship Type="http://schemas.openxmlformats.org/officeDocument/2006/relationships/image" Target="/ppt/media/image11.png" Id="Rebc6123d2ec74a04" /><Relationship Type="http://schemas.openxmlformats.org/officeDocument/2006/relationships/notesSlide" Target="/ppt/notesSlides/notesSlide14.xml" Id="R6c0a7a8002ef4a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14fa9d1b264e1c" /><Relationship Type="http://schemas.openxmlformats.org/officeDocument/2006/relationships/notesSlide" Target="/ppt/notesSlides/notesSlide15.xml" Id="Rb38e57cf26ae4a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ed72e2201c843f5" /><Relationship Type="http://schemas.openxmlformats.org/officeDocument/2006/relationships/notesSlide" Target="/ppt/notesSlides/notesSlide16.xml" Id="R292b1d3456fd46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88d34c5e584b98" /><Relationship Type="http://schemas.openxmlformats.org/officeDocument/2006/relationships/image" Target="/ppt/media/image.jpeg" Id="R54f3e26b92024ac2" /><Relationship Type="http://schemas.openxmlformats.org/officeDocument/2006/relationships/notesSlide" Target="/ppt/notesSlides/notesSlide17.xml" Id="Rb269f1deaf8341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ecb05ca79540d6" /><Relationship Type="http://schemas.openxmlformats.org/officeDocument/2006/relationships/notesSlide" Target="/ppt/notesSlides/notesSlide18.xml" Id="Ra426207f1efa4f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2f6eb0933e34d9c" /><Relationship Type="http://schemas.openxmlformats.org/officeDocument/2006/relationships/notesSlide" Target="/ppt/notesSlides/notesSlide19.xml" Id="Rdf3d4486c9c04f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3258eaada0548ee" /><Relationship Type="http://schemas.openxmlformats.org/officeDocument/2006/relationships/notesSlide" Target="/ppt/notesSlides/notesSlide20.xml" Id="Rd94856e8145047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33cad4856ea42b5" /><Relationship Type="http://schemas.openxmlformats.org/officeDocument/2006/relationships/notesSlide" Target="/ppt/notesSlides/notesSlide21.xml" Id="Rae7e588ef82b40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c1c9dbcf7c74b1b" /><Relationship Type="http://schemas.openxmlformats.org/officeDocument/2006/relationships/notesSlide" Target="/ppt/notesSlides/notesSlide22.xml" Id="Re957050dd6934fc9" /></Relationships>
</file>

<file path=ppt/slides/slide1.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A2A0C71D-C23C-4CAF-904D-C3F8D4DE28E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PREVIOUS LAB MEETING</a:t>
            </a:r>
          </a:p>
        </p:txBody>
      </p:sp>
      <p:sp>
        <p:nvSpPr>
          <p:cNvPr id="2" name="text-2">
            <a:extLst xmlns:a="http://schemas.openxmlformats.org/drawingml/2006/main">
              <a:ext uri="{FF2B5EF4-FFF2-40B4-BE49-F238E27FC236}">
                <a16:creationId xmlns:a16="http://schemas.microsoft.com/office/drawing/2014/main" id="{87412681-C8A9-4F5C-8DF3-7246421F2F2B}"/>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3">
            <a:extLst xmlns:a="http://schemas.openxmlformats.org/drawingml/2006/main">
              <a:ext uri="{FF2B5EF4-FFF2-40B4-BE49-F238E27FC236}">
                <a16:creationId xmlns:a16="http://schemas.microsoft.com/office/drawing/2014/main" id="{8429FBDF-503B-45FA-8E6A-CBA7AAABF9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01</a:t>
            </a:r>
          </a:p>
        </p:txBody>
      </p:sp>
      <p:sp>
        <p:nvSpPr>
          <p:cNvPr id="4" name="text-4">
            <a:extLst xmlns:a="http://schemas.openxmlformats.org/drawingml/2006/main">
              <a:ext uri="{FF2B5EF4-FFF2-40B4-BE49-F238E27FC236}">
                <a16:creationId xmlns:a16="http://schemas.microsoft.com/office/drawing/2014/main" id="{3B63C170-2BE0-400D-9E43-9091343F2F80}"/>
              </a:ext>
            </a:extLst>
          </p:cNvPr>
          <p:cNvSpPr>
            <a:spLocks xmlns:a="http://schemas.openxmlformats.org/drawingml/2006/main" noGrp="1"/>
          </p:cNvSpPr>
          <p:nvPr/>
        </p:nvSpPr>
        <p:spPr>
          <a:xfrm xmlns:a="http://schemas.openxmlformats.org/drawingml/2006/main">
            <a:off x="533400" y="1838325"/>
            <a:ext cx="10477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t>A biologist in the lab:</a:t>
            </a:r>
          </a:p>
        </p:txBody>
      </p:sp>
      <p:sp>
        <p:nvSpPr>
          <p:cNvPr id="5" name="text-5">
            <a:extLst xmlns:a="http://schemas.openxmlformats.org/drawingml/2006/main">
              <a:ext uri="{FF2B5EF4-FFF2-40B4-BE49-F238E27FC236}">
                <a16:creationId xmlns:a16="http://schemas.microsoft.com/office/drawing/2014/main" id="{AE6314AE-F438-439A-9D63-6DAF8E4867CF}"/>
              </a:ext>
            </a:extLst>
          </p:cNvPr>
          <p:cNvSpPr>
            <a:spLocks xmlns:a="http://schemas.openxmlformats.org/drawingml/2006/main" noGrp="1"/>
          </p:cNvSpPr>
          <p:nvPr/>
        </p:nvSpPr>
        <p:spPr>
          <a:xfrm xmlns:a="http://schemas.openxmlformats.org/drawingml/2006/main">
            <a:off x="533400" y="2695575"/>
            <a:ext cx="11125200" cy="2324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FFFFFF"/>
                </a:solidFill>
                <a:latin typeface="Segoe UI"/>
                <a:ea typeface="Segoe UI"/>
                <a:cs typeface="Segoe UI"/>
              </a:defRPr>
            </a:pPr>
            <a:r>
              <a:t>“Can you help me</a:t>
            </a:r>
          </a:p>
          <a:p xmlns:a="http://schemas.openxmlformats.org/drawingml/2006/main">
            <a:pPr>
              <a:buNone/>
              <a:defRPr sz="6600" b="1">
                <a:solidFill>
                  <a:srgbClr val="FFFFFF"/>
                </a:solidFill>
                <a:latin typeface="Segoe UI"/>
                <a:ea typeface="Segoe UI"/>
                <a:cs typeface="Segoe UI"/>
              </a:defRPr>
            </a:pPr>
            <a:r>
              <a:t>analyze my data?”</a:t>
            </a:r>
          </a:p>
        </p:txBody>
      </p:sp>
      <p:sp>
        <p:nvSpPr>
          <p:cNvPr id="6" name="Rectangle 5">
            <a:extLst xmlns:a="http://schemas.openxmlformats.org/drawingml/2006/main">
              <a:ext uri="{FF2B5EF4-FFF2-40B4-BE49-F238E27FC236}">
                <a16:creationId xmlns:a16="http://schemas.microsoft.com/office/drawing/2014/main" id="{EEE29FB3-C4A5-47E7-87C5-2715DB5F6316}"/>
              </a:ext>
            </a:extLst>
          </p:cNvPr>
          <p:cNvSpPr>
            <a:spLocks xmlns:a="http://schemas.openxmlformats.org/drawingml/2006/main" noGrp="1"/>
          </p:cNvSpPr>
          <p:nvPr/>
        </p:nvSpPr>
        <p:spPr>
          <a:xfrm xmlns:a="http://schemas.openxmlformats.org/drawingml/2006/main">
            <a:off x="533400" y="5543550"/>
            <a:ext cx="10477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B5F4DE"/>
                </a:solidFill>
                <a:latin typeface="Segoe UI"/>
                <a:ea typeface="Segoe UI"/>
                <a:cs typeface="Segoe UI"/>
              </a:defRPr>
            </a:pPr>
          </a:p>
        </p:txBody>
      </p:sp>
    </p:spTree>
    <p:extLst>
      <p:ext uri="{BB962C8B-B14F-4D97-AF65-F5344CB8AC3E}">
        <p14:creationId xmlns:p14="http://schemas.microsoft.com/office/powerpoint/2010/main" val="731156692"/>
      </p:ext>
    </p:extLst>
  </p:cSld>
</p:sld>
</file>

<file path=ppt/slides/slide2.xml><?xml version="1.0" encoding="utf-8"?>
<p:sld xmlns:p="http://schemas.openxmlformats.org/presentationml/2006/main">
  <p:cSld>
    <p:bg>
      <p:bgPr>
        <a:solidFill xmlns:a="http://schemas.openxmlformats.org/drawingml/2006/main">
          <a:srgbClr val="2860F5"/>
        </a:solidFill>
      </p:bgPr>
    </p:bg>
    <p:spTree>
      <p:nvGrpSpPr>
        <p:cNvPr id="1" name=""/>
        <p:cNvGrpSpPr/>
        <p:nvPr/>
      </p:nvGrpSpPr>
      <p:grpSpPr>
        <a:xfrm xmlns:a="http://schemas.openxmlformats.org/drawingml/2006/main"/>
      </p:grpSpPr>
      <p:sp>
        <p:nvSpPr>
          <p:cNvPr id="6" name="text-6">
            <a:extLst xmlns:a="http://schemas.openxmlformats.org/drawingml/2006/main">
              <a:ext uri="{FF2B5EF4-FFF2-40B4-BE49-F238E27FC236}">
                <a16:creationId xmlns:a16="http://schemas.microsoft.com/office/drawing/2014/main" id="{94768C85-6F3D-484B-8776-4EC5DF805442}"/>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GUI DEMONSTRATION</a:t>
            </a:r>
          </a:p>
        </p:txBody>
      </p:sp>
      <p:sp>
        <p:nvSpPr>
          <p:cNvPr id="2" name="text-7">
            <a:extLst xmlns:a="http://schemas.openxmlformats.org/drawingml/2006/main">
              <a:ext uri="{FF2B5EF4-FFF2-40B4-BE49-F238E27FC236}">
                <a16:creationId xmlns:a16="http://schemas.microsoft.com/office/drawing/2014/main" id="{D92368AC-6471-49C4-AF37-27D32A0BA30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t>TELOMERE ANALYZER</a:t>
            </a:r>
          </a:p>
        </p:txBody>
      </p:sp>
      <p:sp>
        <p:nvSpPr>
          <p:cNvPr id="3" name="text-8">
            <a:extLst xmlns:a="http://schemas.openxmlformats.org/drawingml/2006/main">
              <a:ext uri="{FF2B5EF4-FFF2-40B4-BE49-F238E27FC236}">
                <a16:creationId xmlns:a16="http://schemas.microsoft.com/office/drawing/2014/main" id="{C3560B41-CC45-4116-8F10-582DDC3C1DD6}"/>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rPr sz="1350" b="0">
                <a:solidFill>
                  <a:srgbClr val="D9E4FF"/>
                </a:solidFill>
                <a:latin typeface="Segoe UI"/>
                <a:ea typeface="Segoe UI"/>
                <a:cs typeface="Segoe UI"/>
              </a:rPr>
              <a:t>02</a:t>
            </a:r>
          </a:p>
        </p:txBody>
      </p:sp>
      <p:sp>
        <p:nvSpPr>
          <p:cNvPr id="4" name="text-9">
            <a:extLst xmlns:a="http://schemas.openxmlformats.org/drawingml/2006/main">
              <a:ext uri="{FF2B5EF4-FFF2-40B4-BE49-F238E27FC236}">
                <a16:creationId xmlns:a16="http://schemas.microsoft.com/office/drawing/2014/main" id="{2D136804-3C04-424C-B7B8-4AD5E6350A64}"/>
              </a:ext>
            </a:extLst>
          </p:cNvPr>
          <p:cNvSpPr>
            <a:spLocks xmlns:a="http://schemas.openxmlformats.org/drawingml/2006/main" noGrp="1"/>
          </p:cNvSpPr>
          <p:nvPr/>
        </p:nvSpPr>
        <p:spPr>
          <a:xfrm xmlns:a="http://schemas.openxmlformats.org/drawingml/2006/main">
            <a:off x="533400" y="1933575"/>
            <a:ext cx="11125200" cy="2495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Do it</a:t>
            </a:r>
          </a:p>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yourself!</a:t>
            </a:r>
          </a:p>
        </p:txBody>
      </p:sp>
      <p:sp>
        <p:nvSpPr>
          <p:cNvPr id="5" name="text-10">
            <a:extLst xmlns:a="http://schemas.openxmlformats.org/drawingml/2006/main">
              <a:ext uri="{FF2B5EF4-FFF2-40B4-BE49-F238E27FC236}">
                <a16:creationId xmlns:a16="http://schemas.microsoft.com/office/drawing/2014/main" id="{C7837720-00FB-401B-9EF8-4448853EBCAA}"/>
              </a:ext>
            </a:extLst>
          </p:cNvPr>
          <p:cNvSpPr>
            <a:spLocks xmlns:a="http://schemas.openxmlformats.org/drawingml/2006/main" noGrp="1"/>
          </p:cNvSpPr>
          <p:nvPr/>
        </p:nvSpPr>
        <p:spPr>
          <a:xfrm xmlns:a="http://schemas.openxmlformats.org/drawingml/2006/main">
            <a:off x="533400" y="5067300"/>
            <a:ext cx="10477500" cy="685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450" b="1">
                <a:solidFill>
                  <a:srgbClr val="B5F4DE"/>
                </a:solidFill>
                <a:latin typeface="Segoe UI"/>
                <a:ea typeface="Segoe UI"/>
                <a:cs typeface="Segoe UI"/>
              </a:defRPr>
            </a:pPr>
            <a:r>
              <a:t>Using the GUI</a:t>
            </a:r>
          </a:p>
        </p:txBody>
      </p:sp>
    </p:spTree>
    <p:extLst>
      <p:ext uri="{BB962C8B-B14F-4D97-AF65-F5344CB8AC3E}">
        <p14:creationId xmlns:p14="http://schemas.microsoft.com/office/powerpoint/2010/main" val="1914502747"/>
      </p:ext>
    </p:extLst>
  </p:cSld>
</p:sld>
</file>

<file path=ppt/slides/slide3.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2" name="text-11">
            <a:extLst xmlns:a="http://schemas.openxmlformats.org/drawingml/2006/main">
              <a:ext uri="{FF2B5EF4-FFF2-40B4-BE49-F238E27FC236}">
                <a16:creationId xmlns:a16="http://schemas.microsoft.com/office/drawing/2014/main" id="{A70EF6E1-4337-4C0F-A865-AD4CF64E709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PROJECT OBJECTIVE</a:t>
            </a:r>
          </a:p>
        </p:txBody>
      </p:sp>
      <p:sp>
        <p:nvSpPr>
          <p:cNvPr id="2" name="text-12">
            <a:extLst xmlns:a="http://schemas.openxmlformats.org/drawingml/2006/main">
              <a:ext uri="{FF2B5EF4-FFF2-40B4-BE49-F238E27FC236}">
                <a16:creationId xmlns:a16="http://schemas.microsoft.com/office/drawing/2014/main" id="{0EFC6B8E-DDFB-4F2A-9A37-66F1872C458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3">
            <a:extLst xmlns:a="http://schemas.openxmlformats.org/drawingml/2006/main">
              <a:ext uri="{FF2B5EF4-FFF2-40B4-BE49-F238E27FC236}">
                <a16:creationId xmlns:a16="http://schemas.microsoft.com/office/drawing/2014/main" id="{17BEA751-3D8A-4F94-BD95-D8EEF031283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03</a:t>
            </a:r>
          </a:p>
        </p:txBody>
      </p:sp>
      <p:sp>
        <p:nvSpPr>
          <p:cNvPr id="4" name="text-14">
            <a:extLst xmlns:a="http://schemas.openxmlformats.org/drawingml/2006/main">
              <a:ext uri="{FF2B5EF4-FFF2-40B4-BE49-F238E27FC236}">
                <a16:creationId xmlns:a16="http://schemas.microsoft.com/office/drawing/2014/main" id="{BDA82327-EB6C-457A-9F90-5609415B914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Motivation</a:t>
            </a:r>
          </a:p>
        </p:txBody>
      </p:sp>
      <p:sp>
        <p:nvSpPr>
          <p:cNvPr id="5" name="text-15">
            <a:extLst xmlns:a="http://schemas.openxmlformats.org/drawingml/2006/main">
              <a:ext uri="{FF2B5EF4-FFF2-40B4-BE49-F238E27FC236}">
                <a16:creationId xmlns:a16="http://schemas.microsoft.com/office/drawing/2014/main" id="{F5207F0A-D55E-44D1-8BFA-2A32E4A3A46B}"/>
              </a:ext>
            </a:extLst>
          </p:cNvPr>
          <p:cNvSpPr>
            <a:spLocks xmlns:a="http://schemas.openxmlformats.org/drawingml/2006/main" noGrp="1"/>
          </p:cNvSpPr>
          <p:nvPr/>
        </p:nvSpPr>
        <p:spPr>
          <a:xfrm xmlns:a="http://schemas.openxmlformats.org/drawingml/2006/main">
            <a:off x="1476375" y="23050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Select input data</a:t>
            </a:r>
          </a:p>
        </p:txBody>
      </p:sp>
      <p:sp>
        <p:nvSpPr>
          <p:cNvPr id="6" name="text-16">
            <a:extLst xmlns:a="http://schemas.openxmlformats.org/drawingml/2006/main">
              <a:ext uri="{FF2B5EF4-FFF2-40B4-BE49-F238E27FC236}">
                <a16:creationId xmlns:a16="http://schemas.microsoft.com/office/drawing/2014/main" id="{7212F038-FD93-4D70-A520-A9BFE385E166}"/>
              </a:ext>
            </a:extLst>
          </p:cNvPr>
          <p:cNvSpPr>
            <a:spLocks xmlns:a="http://schemas.openxmlformats.org/drawingml/2006/main" noGrp="1"/>
          </p:cNvSpPr>
          <p:nvPr/>
        </p:nvSpPr>
        <p:spPr>
          <a:xfrm xmlns:a="http://schemas.openxmlformats.org/drawingml/2006/main">
            <a:off x="1476375" y="34099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Configure analysis parameters</a:t>
            </a:r>
          </a:p>
        </p:txBody>
      </p:sp>
      <p:sp>
        <p:nvSpPr>
          <p:cNvPr id="7" name="text-17">
            <a:extLst xmlns:a="http://schemas.openxmlformats.org/drawingml/2006/main">
              <a:ext uri="{FF2B5EF4-FFF2-40B4-BE49-F238E27FC236}">
                <a16:creationId xmlns:a16="http://schemas.microsoft.com/office/drawing/2014/main" id="{B23A7276-BE20-4120-93A3-C15841EC90A6}"/>
              </a:ext>
            </a:extLst>
          </p:cNvPr>
          <p:cNvSpPr>
            <a:spLocks xmlns:a="http://schemas.openxmlformats.org/drawingml/2006/main" noGrp="1"/>
          </p:cNvSpPr>
          <p:nvPr/>
        </p:nvSpPr>
        <p:spPr>
          <a:xfrm xmlns:a="http://schemas.openxmlformats.org/drawingml/2006/main">
            <a:off x="1476375" y="45148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375" b="1">
                <a:solidFill>
                  <a:srgbClr val="B5F4DE"/>
                </a:solidFill>
                <a:latin typeface="Segoe UI"/>
                <a:ea typeface="Segoe UI"/>
                <a:cs typeface="Segoe UI"/>
              </a:defRPr>
            </a:pPr>
            <a:r>
              <a:rPr sz="3375" b="1">
                <a:solidFill>
                  <a:srgbClr val="B5F4DE"/>
                </a:solidFill>
                <a:latin typeface="Segoe UI"/>
                <a:ea typeface="Segoe UI"/>
                <a:cs typeface="Segoe UI"/>
              </a:rPr>
              <a:t>Run the workflow and review outputs</a:t>
            </a:r>
          </a:p>
        </p:txBody>
      </p:sp>
      <p:sp>
        <p:nvSpPr>
          <p:cNvPr id="8" name="text-18">
            <a:extLst xmlns:a="http://schemas.openxmlformats.org/drawingml/2006/main">
              <a:ext uri="{FF2B5EF4-FFF2-40B4-BE49-F238E27FC236}">
                <a16:creationId xmlns:a16="http://schemas.microsoft.com/office/drawing/2014/main" id="{10CF1FEC-1F9A-4F13-BD39-75AEC3A770C9}"/>
              </a:ext>
            </a:extLst>
          </p:cNvPr>
          <p:cNvSpPr>
            <a:spLocks xmlns:a="http://schemas.openxmlformats.org/drawingml/2006/main" noGrp="1"/>
          </p:cNvSpPr>
          <p:nvPr/>
        </p:nvSpPr>
        <p:spPr>
          <a:xfrm xmlns:a="http://schemas.openxmlformats.org/drawingml/2006/main">
            <a:off x="533400" y="5715000"/>
            <a:ext cx="110490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rPr sz="2100" b="0">
                <a:solidFill>
                  <a:srgbClr val="A9B9CF"/>
                </a:solidFill>
                <a:latin typeface="Segoe UI"/>
                <a:ea typeface="Segoe UI"/>
                <a:cs typeface="Segoe UI"/>
              </a:rPr>
              <a:t>Goal: allow biologists in the lab to run the analysis independently.</a:t>
            </a:r>
          </a:p>
        </p:txBody>
      </p:sp>
      <p:sp>
        <p:nvSpPr>
          <p:cNvPr id="9" name="Rectangle 8">
            <a:extLst xmlns:a="http://schemas.openxmlformats.org/drawingml/2006/main">
              <a:ext uri="{FF2B5EF4-FFF2-40B4-BE49-F238E27FC236}">
                <a16:creationId xmlns:a16="http://schemas.microsoft.com/office/drawing/2014/main" id="{8865DABC-367D-40C3-860B-173E83D5BA89}"/>
              </a:ext>
            </a:extLst>
          </p:cNvPr>
          <p:cNvSpPr>
            <a:spLocks xmlns:a="http://schemas.openxmlformats.org/drawingml/2006/main" noGrp="1"/>
          </p:cNvSpPr>
          <p:nvPr/>
        </p:nvSpPr>
        <p:spPr>
          <a:xfrm xmlns:a="http://schemas.openxmlformats.org/drawingml/2006/main">
            <a:off x="533400" y="23717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01</a:t>
            </a:r>
          </a:p>
        </p:txBody>
      </p:sp>
      <p:sp>
        <p:nvSpPr>
          <p:cNvPr id="10" name="Rectangle 9">
            <a:extLst xmlns:a="http://schemas.openxmlformats.org/drawingml/2006/main">
              <a:ext uri="{FF2B5EF4-FFF2-40B4-BE49-F238E27FC236}">
                <a16:creationId xmlns:a16="http://schemas.microsoft.com/office/drawing/2014/main" id="{FA0652E9-767E-4A7A-9212-B63F86FC302C}"/>
              </a:ext>
            </a:extLst>
          </p:cNvPr>
          <p:cNvSpPr>
            <a:spLocks xmlns:a="http://schemas.openxmlformats.org/drawingml/2006/main" noGrp="1"/>
          </p:cNvSpPr>
          <p:nvPr/>
        </p:nvSpPr>
        <p:spPr>
          <a:xfrm xmlns:a="http://schemas.openxmlformats.org/drawingml/2006/main">
            <a:off x="533400" y="34766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02</a:t>
            </a:r>
          </a:p>
        </p:txBody>
      </p:sp>
      <p:sp>
        <p:nvSpPr>
          <p:cNvPr id="11" name="Rectangle 10">
            <a:extLst xmlns:a="http://schemas.openxmlformats.org/drawingml/2006/main">
              <a:ext uri="{FF2B5EF4-FFF2-40B4-BE49-F238E27FC236}">
                <a16:creationId xmlns:a16="http://schemas.microsoft.com/office/drawing/2014/main" id="{5EC75A2E-84EC-4A3D-9B85-A907B848E12A}"/>
              </a:ext>
            </a:extLst>
          </p:cNvPr>
          <p:cNvSpPr>
            <a:spLocks xmlns:a="http://schemas.openxmlformats.org/drawingml/2006/main" noGrp="1"/>
          </p:cNvSpPr>
          <p:nvPr/>
        </p:nvSpPr>
        <p:spPr>
          <a:xfrm xmlns:a="http://schemas.openxmlformats.org/drawingml/2006/main">
            <a:off x="533400" y="45815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03</a:t>
            </a:r>
          </a:p>
        </p:txBody>
      </p:sp>
    </p:spTree>
    <p:extLst>
      <p:ext uri="{BB962C8B-B14F-4D97-AF65-F5344CB8AC3E}">
        <p14:creationId xmlns:p14="http://schemas.microsoft.com/office/powerpoint/2010/main" val="988424390"/>
      </p:ext>
    </p:extLst>
  </p:cSld>
</p:sld>
</file>

<file path=ppt/slides/slide4.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19">
            <a:extLst xmlns:a="http://schemas.openxmlformats.org/drawingml/2006/main">
              <a:ext uri="{FF2B5EF4-FFF2-40B4-BE49-F238E27FC236}">
                <a16:creationId xmlns:a16="http://schemas.microsoft.com/office/drawing/2014/main" id="{7600D459-8BCE-4370-9318-DC99462DC44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THE GUI</a:t>
            </a:r>
          </a:p>
        </p:txBody>
      </p:sp>
      <p:sp>
        <p:nvSpPr>
          <p:cNvPr id="2" name="text-20">
            <a:extLst xmlns:a="http://schemas.openxmlformats.org/drawingml/2006/main">
              <a:ext uri="{FF2B5EF4-FFF2-40B4-BE49-F238E27FC236}">
                <a16:creationId xmlns:a16="http://schemas.microsoft.com/office/drawing/2014/main" id="{E92E3885-3253-4EFD-A9AC-B5959A1D36D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21">
            <a:extLst xmlns:a="http://schemas.openxmlformats.org/drawingml/2006/main">
              <a:ext uri="{FF2B5EF4-FFF2-40B4-BE49-F238E27FC236}">
                <a16:creationId xmlns:a16="http://schemas.microsoft.com/office/drawing/2014/main" id="{E2DAF17A-4FB7-4E98-A920-FC5C4314557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04</a:t>
            </a:r>
          </a:p>
        </p:txBody>
      </p:sp>
      <p:sp>
        <p:nvSpPr>
          <p:cNvPr id="4" name="text-22">
            <a:extLst xmlns:a="http://schemas.openxmlformats.org/drawingml/2006/main">
              <a:ext uri="{FF2B5EF4-FFF2-40B4-BE49-F238E27FC236}">
                <a16:creationId xmlns:a16="http://schemas.microsoft.com/office/drawing/2014/main" id="{066B7B4C-8634-437A-89E6-2DD8248D43E4}"/>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Telomere Analyzer GUI</a:t>
            </a:r>
          </a:p>
        </p:txBody>
      </p:sp>
      <p:pic>
        <p:nvPicPr>
          <p:cNvPr id="11" name="Picture 9"/>
          <p:cNvPicPr>
            <a:picLocks xmlns:a="http://schemas.openxmlformats.org/drawingml/2006/main" noChangeAspect="1"/>
          </p:cNvPicPr>
          <p:nvPr/>
        </p:nvPicPr>
        <p:blipFill>
          <a:blip xmlns:r="http://schemas.openxmlformats.org/officeDocument/2006/relationships" xmlns:a="http://schemas.openxmlformats.org/drawingml/2006/main" r:embed="R46ea933bd14d4765"/>
          <a:stretch xmlns:a="http://schemas.openxmlformats.org/drawingml/2006/main"/>
        </p:blipFill>
        <p:spPr>
          <a:xfrm xmlns:a="http://schemas.openxmlformats.org/drawingml/2006/main">
            <a:off x="533400" y="1771650"/>
            <a:ext cx="11125200" cy="4495800"/>
          </a:xfrm>
          <a:prstGeom xmlns:a="http://schemas.openxmlformats.org/drawingml/2006/main" prst="rect">
            <a:avLst/>
          </a:prstGeom>
        </p:spPr>
      </p:pic>
    </p:spTree>
    <p:extLst>
      <p:ext uri="{BB962C8B-B14F-4D97-AF65-F5344CB8AC3E}">
        <p14:creationId xmlns:p14="http://schemas.microsoft.com/office/powerpoint/2010/main" val="1920071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7F72AD-8D08-4AC7-BC66-E2160ACF13C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2860F5"/>
                </a:solidFill>
                <a:latin typeface="Bahnschrift"/>
                <a:ea typeface="Bahnschrift"/>
                <a:cs typeface="Bahnschrift"/>
              </a:defRPr>
            </a:pPr>
            <a:r>
              <a:t>WORKFLOW OVERVIEW</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65b5fbf5294867"/>
          <a:stretch xmlns:a="http://schemas.openxmlformats.org/drawingml/2006/main"/>
        </p:blipFill>
        <p:spPr>
          <a:xfrm xmlns:a="http://schemas.openxmlformats.org/drawingml/2006/main">
            <a:off x="381000" y="1429458"/>
            <a:ext cx="11430000" cy="369428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86380D-727A-4854-9500-8A0B74DA573C}"/>
              </a:ext>
            </a:extLst>
          </p:cNvPr>
          <p:cNvSpPr>
            <a:spLocks xmlns:a="http://schemas.openxmlformats.org/drawingml/2006/main" noGrp="1"/>
          </p:cNvSpPr>
          <p:nvPr/>
        </p:nvSpPr>
        <p:spPr>
          <a:xfrm xmlns:a="http://schemas.openxmlformats.org/drawingml/2006/main">
            <a:off x="533400" y="5638800"/>
            <a:ext cx="111252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D182A"/>
                </a:solidFill>
                <a:latin typeface="Segoe UI"/>
                <a:ea typeface="Segoe UI"/>
                <a:cs typeface="Segoe UI"/>
              </a:defRPr>
            </a:pPr>
            <a:r>
              <a:t>Detection, filtering and statistical summaries are part of the NanoTel workflow.</a:t>
            </a:r>
          </a:p>
        </p:txBody>
      </p:sp>
      <p:sp>
        <p:nvSpPr>
          <p:cNvPr id="4" name="">
            <a:extLst xmlns:a="http://schemas.openxmlformats.org/drawingml/2006/main">
              <a:ext uri="{FF2B5EF4-FFF2-40B4-BE49-F238E27FC236}">
                <a16:creationId xmlns:a16="http://schemas.microsoft.com/office/drawing/2014/main" id="{ECC77CE8-3086-44B0-BEAB-24DED7C645B2}"/>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8717E"/>
                </a:solidFill>
                <a:latin typeface="Segoe UI"/>
                <a:ea typeface="Segoe UI"/>
                <a:cs typeface="Segoe UI"/>
              </a:defRPr>
            </a:pPr>
            <a:r>
              <a:t>TELOMERE ANALYZER</a:t>
            </a:r>
          </a:p>
        </p:txBody>
      </p:sp>
      <p:sp>
        <p:nvSpPr>
          <p:cNvPr id="5" name="">
            <a:extLst xmlns:a="http://schemas.openxmlformats.org/drawingml/2006/main">
              <a:ext uri="{FF2B5EF4-FFF2-40B4-BE49-F238E27FC236}">
                <a16:creationId xmlns:a16="http://schemas.microsoft.com/office/drawing/2014/main" id="{69D0CA00-D810-471E-9C36-27D98762288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8717E"/>
                </a:solidFill>
                <a:latin typeface="Segoe UI"/>
                <a:ea typeface="Segoe UI"/>
                <a:cs typeface="Segoe UI"/>
              </a:defRPr>
            </a:pPr>
            <a:r>
              <a:t>05</a:t>
            </a:r>
          </a:p>
        </p:txBody>
      </p:sp>
    </p:spTree>
    <p:extLst>
      <p:ext uri="{BB962C8B-B14F-4D97-AF65-F5344CB8AC3E}">
        <p14:creationId xmlns:p14="http://schemas.microsoft.com/office/powerpoint/2010/main" val="563411772"/>
      </p:ext>
    </p:extLst>
  </p:cSld>
</p:sld>
</file>

<file path=ppt/slides/slide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23">
            <a:extLst xmlns:a="http://schemas.openxmlformats.org/drawingml/2006/main">
              <a:ext uri="{FF2B5EF4-FFF2-40B4-BE49-F238E27FC236}">
                <a16:creationId xmlns:a16="http://schemas.microsoft.com/office/drawing/2014/main" id="{FACFCD14-8808-40E7-A050-5EEB24149D0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INPUT DATA</a:t>
            </a:r>
          </a:p>
        </p:txBody>
      </p:sp>
      <p:sp>
        <p:nvSpPr>
          <p:cNvPr id="2" name="text-24">
            <a:extLst xmlns:a="http://schemas.openxmlformats.org/drawingml/2006/main">
              <a:ext uri="{FF2B5EF4-FFF2-40B4-BE49-F238E27FC236}">
                <a16:creationId xmlns:a16="http://schemas.microsoft.com/office/drawing/2014/main" id="{E7E306F0-7678-4ADD-82C0-58E182DB96B0}"/>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25">
            <a:extLst xmlns:a="http://schemas.openxmlformats.org/drawingml/2006/main">
              <a:ext uri="{FF2B5EF4-FFF2-40B4-BE49-F238E27FC236}">
                <a16:creationId xmlns:a16="http://schemas.microsoft.com/office/drawing/2014/main" id="{FC159E9C-9381-4B5F-BBBD-DA094B01C1D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06</a:t>
            </a:r>
          </a:p>
        </p:txBody>
      </p:sp>
      <p:sp>
        <p:nvSpPr>
          <p:cNvPr id="4" name="text-26">
            <a:extLst xmlns:a="http://schemas.openxmlformats.org/drawingml/2006/main">
              <a:ext uri="{FF2B5EF4-FFF2-40B4-BE49-F238E27FC236}">
                <a16:creationId xmlns:a16="http://schemas.microsoft.com/office/drawing/2014/main" id="{46504EA1-B404-4CE9-949D-E138A339B8F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Input data</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5e456829a2dd4a9b"/>
          <a:stretch xmlns:a="http://schemas.openxmlformats.org/drawingml/2006/main"/>
        </p:blipFill>
        <p:spPr>
          <a:xfrm xmlns:a="http://schemas.openxmlformats.org/drawingml/2006/main">
            <a:off x="457200" y="2081227"/>
            <a:ext cx="11277600" cy="1704947"/>
          </a:xfrm>
          <a:prstGeom xmlns:a="http://schemas.openxmlformats.org/drawingml/2006/main" prst="rect">
            <a:avLst/>
          </a:prstGeom>
        </p:spPr>
      </p:pic>
      <p:sp>
        <p:nvSpPr>
          <p:cNvPr id="6" name="text-27">
            <a:extLst xmlns:a="http://schemas.openxmlformats.org/drawingml/2006/main">
              <a:ext uri="{FF2B5EF4-FFF2-40B4-BE49-F238E27FC236}">
                <a16:creationId xmlns:a16="http://schemas.microsoft.com/office/drawing/2014/main" id="{FBB108D3-484B-40A5-838A-6BC343236A22}"/>
              </a:ext>
            </a:extLst>
          </p:cNvPr>
          <p:cNvSpPr>
            <a:spLocks xmlns:a="http://schemas.openxmlformats.org/drawingml/2006/main" noGrp="1"/>
          </p:cNvSpPr>
          <p:nvPr/>
        </p:nvSpPr>
        <p:spPr>
          <a:xfrm xmlns:a="http://schemas.openxmlformats.org/drawingml/2006/main">
            <a:off x="53340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POD5</a:t>
            </a:r>
          </a:p>
        </p:txBody>
      </p:sp>
      <p:sp>
        <p:nvSpPr>
          <p:cNvPr id="7" name="text-28">
            <a:extLst xmlns:a="http://schemas.openxmlformats.org/drawingml/2006/main">
              <a:ext uri="{FF2B5EF4-FFF2-40B4-BE49-F238E27FC236}">
                <a16:creationId xmlns:a16="http://schemas.microsoft.com/office/drawing/2014/main" id="{3C5E314E-20F0-4A29-8899-6661D4A96F8C}"/>
              </a:ext>
            </a:extLst>
          </p:cNvPr>
          <p:cNvSpPr>
            <a:spLocks xmlns:a="http://schemas.openxmlformats.org/drawingml/2006/main" noGrp="1"/>
          </p:cNvSpPr>
          <p:nvPr/>
        </p:nvSpPr>
        <p:spPr>
          <a:xfrm xmlns:a="http://schemas.openxmlformats.org/drawingml/2006/main">
            <a:off x="45720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Raw signals</a:t>
            </a:r>
          </a:p>
          <a:p xmlns:a="http://schemas.openxmlformats.org/drawingml/2006/main">
            <a:pPr>
              <a:buNone/>
              <a:defRPr sz="2175" b="0">
                <a:solidFill>
                  <a:srgbClr val="0D182A"/>
                </a:solidFill>
                <a:latin typeface="Segoe UI"/>
                <a:ea typeface="Segoe UI"/>
                <a:cs typeface="Segoe UI"/>
              </a:defRPr>
            </a:pPr>
            <a:r>
              <a:t>Start with basecalling.</a:t>
            </a:r>
          </a:p>
        </p:txBody>
      </p:sp>
      <p:sp>
        <p:nvSpPr>
          <p:cNvPr id="8" name="text-29">
            <a:extLst xmlns:a="http://schemas.openxmlformats.org/drawingml/2006/main">
              <a:ext uri="{FF2B5EF4-FFF2-40B4-BE49-F238E27FC236}">
                <a16:creationId xmlns:a16="http://schemas.microsoft.com/office/drawing/2014/main" id="{126DB059-40A4-4EA3-9A01-97C59E0EAEE8}"/>
              </a:ext>
            </a:extLst>
          </p:cNvPr>
          <p:cNvSpPr>
            <a:spLocks xmlns:a="http://schemas.openxmlformats.org/drawingml/2006/main" noGrp="1"/>
          </p:cNvSpPr>
          <p:nvPr/>
        </p:nvSpPr>
        <p:spPr>
          <a:xfrm xmlns:a="http://schemas.openxmlformats.org/drawingml/2006/main">
            <a:off x="4371975"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BAM</a:t>
            </a:r>
          </a:p>
        </p:txBody>
      </p:sp>
      <p:sp>
        <p:nvSpPr>
          <p:cNvPr id="9" name="text-30">
            <a:extLst xmlns:a="http://schemas.openxmlformats.org/drawingml/2006/main">
              <a:ext uri="{FF2B5EF4-FFF2-40B4-BE49-F238E27FC236}">
                <a16:creationId xmlns:a16="http://schemas.microsoft.com/office/drawing/2014/main" id="{F1EFBEC9-4DD2-487E-852A-CFFBE0836D33}"/>
              </a:ext>
            </a:extLst>
          </p:cNvPr>
          <p:cNvSpPr>
            <a:spLocks xmlns:a="http://schemas.openxmlformats.org/drawingml/2006/main" noGrp="1"/>
          </p:cNvSpPr>
          <p:nvPr/>
        </p:nvSpPr>
        <p:spPr>
          <a:xfrm xmlns:a="http://schemas.openxmlformats.org/drawingml/2006/main">
            <a:off x="4410075"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Basecalled reads</a:t>
            </a:r>
          </a:p>
          <a:p xmlns:a="http://schemas.openxmlformats.org/drawingml/2006/main">
            <a:pPr>
              <a:buNone/>
              <a:defRPr sz="2175" b="0">
                <a:solidFill>
                  <a:srgbClr val="0D182A"/>
                </a:solidFill>
                <a:latin typeface="Segoe UI"/>
                <a:ea typeface="Segoe UI"/>
                <a:cs typeface="Segoe UI"/>
              </a:defRPr>
            </a:pPr>
            <a:r>
              <a:t>Skip basecalling.</a:t>
            </a:r>
          </a:p>
        </p:txBody>
      </p:sp>
      <p:sp>
        <p:nvSpPr>
          <p:cNvPr id="10" name="text-31">
            <a:extLst xmlns:a="http://schemas.openxmlformats.org/drawingml/2006/main">
              <a:ext uri="{FF2B5EF4-FFF2-40B4-BE49-F238E27FC236}">
                <a16:creationId xmlns:a16="http://schemas.microsoft.com/office/drawing/2014/main" id="{0DA4FA36-845E-4540-AE84-26B764A2F14A}"/>
              </a:ext>
            </a:extLst>
          </p:cNvPr>
          <p:cNvSpPr>
            <a:spLocks xmlns:a="http://schemas.openxmlformats.org/drawingml/2006/main" noGrp="1"/>
          </p:cNvSpPr>
          <p:nvPr/>
        </p:nvSpPr>
        <p:spPr>
          <a:xfrm xmlns:a="http://schemas.openxmlformats.org/drawingml/2006/main">
            <a:off x="821055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FASTQ</a:t>
            </a:r>
          </a:p>
        </p:txBody>
      </p:sp>
      <p:sp>
        <p:nvSpPr>
          <p:cNvPr id="11" name="text-32">
            <a:extLst xmlns:a="http://schemas.openxmlformats.org/drawingml/2006/main">
              <a:ext uri="{FF2B5EF4-FFF2-40B4-BE49-F238E27FC236}">
                <a16:creationId xmlns:a16="http://schemas.microsoft.com/office/drawing/2014/main" id="{E4B54E98-4591-4FAD-A394-A8C3C11E9E0C}"/>
              </a:ext>
            </a:extLst>
          </p:cNvPr>
          <p:cNvSpPr>
            <a:spLocks xmlns:a="http://schemas.openxmlformats.org/drawingml/2006/main" noGrp="1"/>
          </p:cNvSpPr>
          <p:nvPr/>
        </p:nvSpPr>
        <p:spPr>
          <a:xfrm xmlns:a="http://schemas.openxmlformats.org/drawingml/2006/main">
            <a:off x="836295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Sequence reads</a:t>
            </a:r>
          </a:p>
          <a:p xmlns:a="http://schemas.openxmlformats.org/drawingml/2006/main">
            <a:pPr>
              <a:buNone/>
              <a:defRPr sz="2175" b="0">
                <a:solidFill>
                  <a:srgbClr val="0D182A"/>
                </a:solidFill>
                <a:latin typeface="Segoe UI"/>
                <a:ea typeface="Segoe UI"/>
                <a:cs typeface="Segoe UI"/>
              </a:defRPr>
            </a:pPr>
            <a:r>
              <a:t>Continue to NanoTel.</a:t>
            </a:r>
          </a:p>
        </p:txBody>
      </p:sp>
    </p:spTree>
    <p:extLst>
      <p:ext uri="{BB962C8B-B14F-4D97-AF65-F5344CB8AC3E}">
        <p14:creationId xmlns:p14="http://schemas.microsoft.com/office/powerpoint/2010/main" val="492475051"/>
      </p:ext>
    </p:extLst>
  </p:cSld>
</p:sld>
</file>

<file path=ppt/slides/slide7.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33">
            <a:extLst xmlns:a="http://schemas.openxmlformats.org/drawingml/2006/main">
              <a:ext uri="{FF2B5EF4-FFF2-40B4-BE49-F238E27FC236}">
                <a16:creationId xmlns:a16="http://schemas.microsoft.com/office/drawing/2014/main" id="{1470AD6A-76E6-4823-B78B-AE012ACC79B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SETUP</a:t>
            </a:r>
          </a:p>
        </p:txBody>
      </p:sp>
      <p:sp>
        <p:nvSpPr>
          <p:cNvPr id="2" name="text-34">
            <a:extLst xmlns:a="http://schemas.openxmlformats.org/drawingml/2006/main">
              <a:ext uri="{FF2B5EF4-FFF2-40B4-BE49-F238E27FC236}">
                <a16:creationId xmlns:a16="http://schemas.microsoft.com/office/drawing/2014/main" id="{45D4992D-D8A9-4A81-B674-42CD64E1C3D5}"/>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35">
            <a:extLst xmlns:a="http://schemas.openxmlformats.org/drawingml/2006/main">
              <a:ext uri="{FF2B5EF4-FFF2-40B4-BE49-F238E27FC236}">
                <a16:creationId xmlns:a16="http://schemas.microsoft.com/office/drawing/2014/main" id="{A8D9D16B-BA09-4806-8FEF-FDE9533F7AF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07</a:t>
            </a:r>
          </a:p>
        </p:txBody>
      </p:sp>
      <p:sp>
        <p:nvSpPr>
          <p:cNvPr id="4" name="text-36">
            <a:extLst xmlns:a="http://schemas.openxmlformats.org/drawingml/2006/main">
              <a:ext uri="{FF2B5EF4-FFF2-40B4-BE49-F238E27FC236}">
                <a16:creationId xmlns:a16="http://schemas.microsoft.com/office/drawing/2014/main" id="{FC48BF7E-DCE7-4DFF-94AA-B299906520E8}"/>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Output directory and organism</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b7ac96ce76ba410f"/>
          <a:stretch xmlns:a="http://schemas.openxmlformats.org/drawingml/2006/main"/>
        </p:blipFill>
        <p:spPr>
          <a:xfrm xmlns:a="http://schemas.openxmlformats.org/drawingml/2006/main">
            <a:off x="533400" y="2390775"/>
            <a:ext cx="11125200" cy="1047750"/>
          </a:xfrm>
          <a:prstGeom xmlns:a="http://schemas.openxmlformats.org/drawingml/2006/main" prst="rect">
            <a:avLst/>
          </a:prstGeom>
        </p:spPr>
      </p:pic>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0941d15e94d5438f"/>
          <a:stretch xmlns:a="http://schemas.openxmlformats.org/drawingml/2006/main"/>
        </p:blipFill>
        <p:spPr>
          <a:xfrm xmlns:a="http://schemas.openxmlformats.org/drawingml/2006/main">
            <a:off x="533400" y="4676775"/>
            <a:ext cx="5524500" cy="1047750"/>
          </a:xfrm>
          <a:prstGeom xmlns:a="http://schemas.openxmlformats.org/drawingml/2006/main" prst="rect">
            <a:avLst/>
          </a:prstGeom>
        </p:spPr>
      </p:pic>
      <p:sp>
        <p:nvSpPr>
          <p:cNvPr id="7" name="text-37">
            <a:extLst xmlns:a="http://schemas.openxmlformats.org/drawingml/2006/main">
              <a:ext uri="{FF2B5EF4-FFF2-40B4-BE49-F238E27FC236}">
                <a16:creationId xmlns:a16="http://schemas.microsoft.com/office/drawing/2014/main" id="{D7B9068A-7A46-4162-8650-53BCE29AB944}"/>
              </a:ext>
            </a:extLst>
          </p:cNvPr>
          <p:cNvSpPr>
            <a:spLocks xmlns:a="http://schemas.openxmlformats.org/drawingml/2006/main" noGrp="1"/>
          </p:cNvSpPr>
          <p:nvPr/>
        </p:nvSpPr>
        <p:spPr>
          <a:xfrm xmlns:a="http://schemas.openxmlformats.org/drawingml/2006/main">
            <a:off x="533400" y="19145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Output Path</a:t>
            </a:r>
          </a:p>
        </p:txBody>
      </p:sp>
      <p:sp>
        <p:nvSpPr>
          <p:cNvPr id="8" name="text-38">
            <a:extLst xmlns:a="http://schemas.openxmlformats.org/drawingml/2006/main">
              <a:ext uri="{FF2B5EF4-FFF2-40B4-BE49-F238E27FC236}">
                <a16:creationId xmlns:a16="http://schemas.microsoft.com/office/drawing/2014/main" id="{593E95AD-0920-430B-B3A0-81C5C86C56A6}"/>
              </a:ext>
            </a:extLst>
          </p:cNvPr>
          <p:cNvSpPr>
            <a:spLocks xmlns:a="http://schemas.openxmlformats.org/drawingml/2006/main" noGrp="1"/>
          </p:cNvSpPr>
          <p:nvPr/>
        </p:nvSpPr>
        <p:spPr>
          <a:xfrm xmlns:a="http://schemas.openxmlformats.org/drawingml/2006/main">
            <a:off x="533400" y="3571875"/>
            <a:ext cx="10668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 the destination for your run.</a:t>
            </a:r>
          </a:p>
        </p:txBody>
      </p:sp>
      <p:sp>
        <p:nvSpPr>
          <p:cNvPr id="9" name="text-39">
            <a:extLst xmlns:a="http://schemas.openxmlformats.org/drawingml/2006/main">
              <a:ext uri="{FF2B5EF4-FFF2-40B4-BE49-F238E27FC236}">
                <a16:creationId xmlns:a16="http://schemas.microsoft.com/office/drawing/2014/main" id="{91233E65-7BD7-410D-A67E-0B9E7FAB0ED9}"/>
              </a:ext>
            </a:extLst>
          </p:cNvPr>
          <p:cNvSpPr>
            <a:spLocks xmlns:a="http://schemas.openxmlformats.org/drawingml/2006/main" noGrp="1"/>
          </p:cNvSpPr>
          <p:nvPr/>
        </p:nvSpPr>
        <p:spPr>
          <a:xfrm xmlns:a="http://schemas.openxmlformats.org/drawingml/2006/main">
            <a:off x="533400" y="41624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Organism</a:t>
            </a:r>
          </a:p>
        </p:txBody>
      </p:sp>
      <p:sp>
        <p:nvSpPr>
          <p:cNvPr id="10" name="text-40">
            <a:extLst xmlns:a="http://schemas.openxmlformats.org/drawingml/2006/main">
              <a:ext uri="{FF2B5EF4-FFF2-40B4-BE49-F238E27FC236}">
                <a16:creationId xmlns:a16="http://schemas.microsoft.com/office/drawing/2014/main" id="{E790D870-C49F-42D8-92CE-6FE799395AA3}"/>
              </a:ext>
            </a:extLst>
          </p:cNvPr>
          <p:cNvSpPr>
            <a:spLocks xmlns:a="http://schemas.openxmlformats.org/drawingml/2006/main" noGrp="1"/>
          </p:cNvSpPr>
          <p:nvPr/>
        </p:nvSpPr>
        <p:spPr>
          <a:xfrm xmlns:a="http://schemas.openxmlformats.org/drawingml/2006/main">
            <a:off x="6543675" y="4924425"/>
            <a:ext cx="4953000" cy="819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Mouse • Human • Zebra Fish</a:t>
            </a:r>
          </a:p>
        </p:txBody>
      </p:sp>
    </p:spTree>
    <p:extLst>
      <p:ext uri="{BB962C8B-B14F-4D97-AF65-F5344CB8AC3E}">
        <p14:creationId xmlns:p14="http://schemas.microsoft.com/office/powerpoint/2010/main" val="68689878"/>
      </p:ext>
    </p:extLst>
  </p:cSld>
</p:sld>
</file>

<file path=ppt/slides/slide8.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41">
            <a:extLst xmlns:a="http://schemas.openxmlformats.org/drawingml/2006/main">
              <a:ext uri="{FF2B5EF4-FFF2-40B4-BE49-F238E27FC236}">
                <a16:creationId xmlns:a16="http://schemas.microsoft.com/office/drawing/2014/main" id="{A1A91230-714F-4894-BFE5-0E8BE69DFB4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ANALYSIS STEPS</a:t>
            </a:r>
          </a:p>
        </p:txBody>
      </p:sp>
      <p:sp>
        <p:nvSpPr>
          <p:cNvPr id="2" name="text-42">
            <a:extLst xmlns:a="http://schemas.openxmlformats.org/drawingml/2006/main">
              <a:ext uri="{FF2B5EF4-FFF2-40B4-BE49-F238E27FC236}">
                <a16:creationId xmlns:a16="http://schemas.microsoft.com/office/drawing/2014/main" id="{1D7146C9-ED50-4BAB-B83C-44083196609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43">
            <a:extLst xmlns:a="http://schemas.openxmlformats.org/drawingml/2006/main">
              <a:ext uri="{FF2B5EF4-FFF2-40B4-BE49-F238E27FC236}">
                <a16:creationId xmlns:a16="http://schemas.microsoft.com/office/drawing/2014/main" id="{E77EE328-559F-43E1-B9DA-E98D9A9F6F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08</a:t>
            </a:r>
          </a:p>
        </p:txBody>
      </p:sp>
      <p:sp>
        <p:nvSpPr>
          <p:cNvPr id="4" name="text-44">
            <a:extLst xmlns:a="http://schemas.openxmlformats.org/drawingml/2006/main">
              <a:ext uri="{FF2B5EF4-FFF2-40B4-BE49-F238E27FC236}">
                <a16:creationId xmlns:a16="http://schemas.microsoft.com/office/drawing/2014/main" id="{4155C7D3-1FCE-457D-931A-53A9A28EA48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Analysis steps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abf78d8a79714bc3"/>
          <a:stretch xmlns:a="http://schemas.openxmlformats.org/drawingml/2006/main"/>
        </p:blipFill>
        <p:spPr>
          <a:xfrm xmlns:a="http://schemas.openxmlformats.org/drawingml/2006/main">
            <a:off x="457200" y="2302156"/>
            <a:ext cx="11277600" cy="1205938"/>
          </a:xfrm>
          <a:prstGeom xmlns:a="http://schemas.openxmlformats.org/drawingml/2006/main" prst="rect">
            <a:avLst/>
          </a:prstGeom>
        </p:spPr>
      </p:pic>
      <p:sp>
        <p:nvSpPr>
          <p:cNvPr id="6" name="text-45">
            <a:extLst xmlns:a="http://schemas.openxmlformats.org/drawingml/2006/main">
              <a:ext uri="{FF2B5EF4-FFF2-40B4-BE49-F238E27FC236}">
                <a16:creationId xmlns:a16="http://schemas.microsoft.com/office/drawing/2014/main" id="{BD7DD90A-C991-4A9F-AA57-36F7E6550089}"/>
              </a:ext>
            </a:extLst>
          </p:cNvPr>
          <p:cNvSpPr>
            <a:spLocks xmlns:a="http://schemas.openxmlformats.org/drawingml/2006/main" noGrp="1"/>
          </p:cNvSpPr>
          <p:nvPr/>
        </p:nvSpPr>
        <p:spPr>
          <a:xfrm xmlns:a="http://schemas.openxmlformats.org/drawingml/2006/main">
            <a:off x="533400" y="4133850"/>
            <a:ext cx="5191125"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Basecalling</a:t>
            </a:r>
          </a:p>
        </p:txBody>
      </p:sp>
      <p:sp>
        <p:nvSpPr>
          <p:cNvPr id="7" name="text-46">
            <a:extLst xmlns:a="http://schemas.openxmlformats.org/drawingml/2006/main">
              <a:ext uri="{FF2B5EF4-FFF2-40B4-BE49-F238E27FC236}">
                <a16:creationId xmlns:a16="http://schemas.microsoft.com/office/drawing/2014/main" id="{810EB671-641E-481E-9136-1378025F4460}"/>
              </a:ext>
            </a:extLst>
          </p:cNvPr>
          <p:cNvSpPr>
            <a:spLocks xmlns:a="http://schemas.openxmlformats.org/drawingml/2006/main" noGrp="1"/>
          </p:cNvSpPr>
          <p:nvPr/>
        </p:nvSpPr>
        <p:spPr>
          <a:xfrm xmlns:a="http://schemas.openxmlformats.org/drawingml/2006/main">
            <a:off x="533400" y="4895850"/>
            <a:ext cx="5191125"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Convert POD5 signals into sequence reads.</a:t>
            </a:r>
          </a:p>
        </p:txBody>
      </p:sp>
      <p:sp>
        <p:nvSpPr>
          <p:cNvPr id="8" name="text-47">
            <a:extLst xmlns:a="http://schemas.openxmlformats.org/drawingml/2006/main">
              <a:ext uri="{FF2B5EF4-FFF2-40B4-BE49-F238E27FC236}">
                <a16:creationId xmlns:a16="http://schemas.microsoft.com/office/drawing/2014/main" id="{CCD7D3F7-70EA-47EE-9CF9-A98306C73C74}"/>
              </a:ext>
            </a:extLst>
          </p:cNvPr>
          <p:cNvSpPr>
            <a:spLocks xmlns:a="http://schemas.openxmlformats.org/drawingml/2006/main" noGrp="1"/>
          </p:cNvSpPr>
          <p:nvPr/>
        </p:nvSpPr>
        <p:spPr>
          <a:xfrm xmlns:a="http://schemas.openxmlformats.org/drawingml/2006/main">
            <a:off x="6381750" y="4133850"/>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NanoTel Analysis</a:t>
            </a:r>
          </a:p>
        </p:txBody>
      </p:sp>
      <p:sp>
        <p:nvSpPr>
          <p:cNvPr id="9" name="text-48">
            <a:extLst xmlns:a="http://schemas.openxmlformats.org/drawingml/2006/main">
              <a:ext uri="{FF2B5EF4-FFF2-40B4-BE49-F238E27FC236}">
                <a16:creationId xmlns:a16="http://schemas.microsoft.com/office/drawing/2014/main" id="{04942B0C-5FD2-4B87-9D0F-1C3D96104560}"/>
              </a:ext>
            </a:extLst>
          </p:cNvPr>
          <p:cNvSpPr>
            <a:spLocks xmlns:a="http://schemas.openxmlformats.org/drawingml/2006/main" noGrp="1"/>
          </p:cNvSpPr>
          <p:nvPr/>
        </p:nvSpPr>
        <p:spPr>
          <a:xfrm xmlns:a="http://schemas.openxmlformats.org/drawingml/2006/main">
            <a:off x="6381750" y="4895850"/>
            <a:ext cx="5334000"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Analyze telomere content and generate summaries.</a:t>
            </a:r>
          </a:p>
        </p:txBody>
      </p:sp>
    </p:spTree>
    <p:extLst>
      <p:ext uri="{BB962C8B-B14F-4D97-AF65-F5344CB8AC3E}">
        <p14:creationId xmlns:p14="http://schemas.microsoft.com/office/powerpoint/2010/main" val="1463783836"/>
      </p:ext>
    </p:extLst>
  </p:cSld>
</p:sld>
</file>

<file path=ppt/slides/slide9.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49">
            <a:extLst xmlns:a="http://schemas.openxmlformats.org/drawingml/2006/main">
              <a:ext uri="{FF2B5EF4-FFF2-40B4-BE49-F238E27FC236}">
                <a16:creationId xmlns:a16="http://schemas.microsoft.com/office/drawing/2014/main" id="{0C07940F-2360-451F-BAB2-984E09C0A2DB}"/>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BASECALLING OPTIONS</a:t>
            </a:r>
          </a:p>
        </p:txBody>
      </p:sp>
      <p:sp>
        <p:nvSpPr>
          <p:cNvPr id="2" name="text-50">
            <a:extLst xmlns:a="http://schemas.openxmlformats.org/drawingml/2006/main">
              <a:ext uri="{FF2B5EF4-FFF2-40B4-BE49-F238E27FC236}">
                <a16:creationId xmlns:a16="http://schemas.microsoft.com/office/drawing/2014/main" id="{F7756C69-1AC5-4C08-83D9-47A360608C5E}"/>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51">
            <a:extLst xmlns:a="http://schemas.openxmlformats.org/drawingml/2006/main">
              <a:ext uri="{FF2B5EF4-FFF2-40B4-BE49-F238E27FC236}">
                <a16:creationId xmlns:a16="http://schemas.microsoft.com/office/drawing/2014/main" id="{A819AA8B-77B7-4B62-9D0C-60AD8DAD81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09</a:t>
            </a:r>
          </a:p>
        </p:txBody>
      </p:sp>
      <p:sp>
        <p:nvSpPr>
          <p:cNvPr id="4" name="text-52">
            <a:extLst xmlns:a="http://schemas.openxmlformats.org/drawingml/2006/main">
              <a:ext uri="{FF2B5EF4-FFF2-40B4-BE49-F238E27FC236}">
                <a16:creationId xmlns:a16="http://schemas.microsoft.com/office/drawing/2014/main" id="{A8FCC4FB-174E-45A0-A953-7109CF5FC15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Basecalling options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cc5bc0ec6e574e28"/>
          <a:stretch xmlns:a="http://schemas.openxmlformats.org/drawingml/2006/main"/>
        </p:blipFill>
        <p:spPr>
          <a:xfrm xmlns:a="http://schemas.openxmlformats.org/drawingml/2006/main">
            <a:off x="457200" y="2284206"/>
            <a:ext cx="7239000" cy="2461038"/>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2405A6C0-21AD-486D-944A-47A77F533C2D}"/>
              </a:ext>
            </a:extLst>
          </p:cNvPr>
          <p:cNvSpPr>
            <a:spLocks xmlns:a="http://schemas.openxmlformats.org/drawingml/2006/main" noGrp="1"/>
          </p:cNvSpPr>
          <p:nvPr/>
        </p:nvSpPr>
        <p:spPr>
          <a:xfrm xmlns:a="http://schemas.openxmlformats.org/drawingml/2006/main">
            <a:off x="8286750" y="2238375"/>
            <a:ext cx="33337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B5F4DE"/>
                </a:solidFill>
                <a:latin typeface="Segoe UI"/>
                <a:ea typeface="Segoe UI"/>
                <a:cs typeface="Segoe UI"/>
              </a:defRPr>
            </a:pPr>
            <a:r>
              <a:t>Methylation Type</a:t>
            </a:r>
          </a:p>
        </p:txBody>
      </p:sp>
      <p:sp>
        <p:nvSpPr>
          <p:cNvPr id="7" name="text-54">
            <a:extLst xmlns:a="http://schemas.openxmlformats.org/drawingml/2006/main">
              <a:ext uri="{FF2B5EF4-FFF2-40B4-BE49-F238E27FC236}">
                <a16:creationId xmlns:a16="http://schemas.microsoft.com/office/drawing/2014/main" id="{593A1565-8199-477B-AF38-BA39DE44D8BD}"/>
              </a:ext>
            </a:extLst>
          </p:cNvPr>
          <p:cNvSpPr>
            <a:spLocks xmlns:a="http://schemas.openxmlformats.org/drawingml/2006/main" noGrp="1"/>
          </p:cNvSpPr>
          <p:nvPr/>
        </p:nvSpPr>
        <p:spPr>
          <a:xfrm xmlns:a="http://schemas.openxmlformats.org/drawingml/2006/main">
            <a:off x="8286750" y="2952750"/>
            <a:ext cx="3429000" cy="1562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None</a:t>
            </a:r>
          </a:p>
          <a:p xmlns:a="http://schemas.openxmlformats.org/drawingml/2006/main">
            <a:pPr>
              <a:buNone/>
              <a:defRPr sz="2250" b="0">
                <a:solidFill>
                  <a:srgbClr val="FFFFFF"/>
                </a:solidFill>
                <a:latin typeface="Segoe UI"/>
                <a:ea typeface="Segoe UI"/>
                <a:cs typeface="Segoe UI"/>
              </a:defRPr>
            </a:pPr>
            <a:r>
              <a:t>5mCpG</a:t>
            </a:r>
          </a:p>
          <a:p xmlns:a="http://schemas.openxmlformats.org/drawingml/2006/main">
            <a:pPr>
              <a:buNone/>
              <a:defRPr sz="2250" b="0">
                <a:solidFill>
                  <a:srgbClr val="FFFFFF"/>
                </a:solidFill>
                <a:latin typeface="Segoe UI"/>
                <a:ea typeface="Segoe UI"/>
                <a:cs typeface="Segoe UI"/>
              </a:defRPr>
            </a:pPr>
            <a:r>
              <a:t>5mCpG + 5hmCpG</a:t>
            </a:r>
          </a:p>
        </p:txBody>
      </p:sp>
      <p:sp>
        <p:nvSpPr>
          <p:cNvPr id="8" name="text-55">
            <a:extLst xmlns:a="http://schemas.openxmlformats.org/drawingml/2006/main">
              <a:ext uri="{FF2B5EF4-FFF2-40B4-BE49-F238E27FC236}">
                <a16:creationId xmlns:a16="http://schemas.microsoft.com/office/drawing/2014/main" id="{595BDF70-A000-4301-BC6E-7462BC48AC05}"/>
              </a:ext>
            </a:extLst>
          </p:cNvPr>
          <p:cNvSpPr>
            <a:spLocks xmlns:a="http://schemas.openxmlformats.org/drawingml/2006/main" noGrp="1"/>
          </p:cNvSpPr>
          <p:nvPr/>
        </p:nvSpPr>
        <p:spPr>
          <a:xfrm xmlns:a="http://schemas.openxmlformats.org/drawingml/2006/main">
            <a:off x="533400" y="5248275"/>
            <a:ext cx="11049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Chromosome Mapping</a:t>
            </a:r>
          </a:p>
        </p:txBody>
      </p:sp>
      <p:sp>
        <p:nvSpPr>
          <p:cNvPr id="9" name="text-56">
            <a:extLst xmlns:a="http://schemas.openxmlformats.org/drawingml/2006/main">
              <a:ext uri="{FF2B5EF4-FFF2-40B4-BE49-F238E27FC236}">
                <a16:creationId xmlns:a16="http://schemas.microsoft.com/office/drawing/2014/main" id="{F672FBA0-248C-4024-90AF-0A50D184ED86}"/>
              </a:ext>
            </a:extLst>
          </p:cNvPr>
          <p:cNvSpPr>
            <a:spLocks xmlns:a="http://schemas.openxmlformats.org/drawingml/2006/main" noGrp="1"/>
          </p:cNvSpPr>
          <p:nvPr/>
        </p:nvSpPr>
        <p:spPr>
          <a:xfrm xmlns:a="http://schemas.openxmlformats.org/drawingml/2006/main">
            <a:off x="457200" y="5800725"/>
            <a:ext cx="11239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Align reads to the genome; required when modifications are selected.</a:t>
            </a:r>
          </a:p>
        </p:txBody>
      </p:sp>
    </p:spTree>
    <p:extLst>
      <p:ext uri="{BB962C8B-B14F-4D97-AF65-F5344CB8AC3E}">
        <p14:creationId xmlns:p14="http://schemas.microsoft.com/office/powerpoint/2010/main" val="1360648963"/>
      </p:ext>
    </p:extLst>
  </p:cSld>
</p:sld>
</file>

<file path=ppt/slides/slide10.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57">
            <a:extLst xmlns:a="http://schemas.openxmlformats.org/drawingml/2006/main">
              <a:ext uri="{FF2B5EF4-FFF2-40B4-BE49-F238E27FC236}">
                <a16:creationId xmlns:a16="http://schemas.microsoft.com/office/drawing/2014/main" id="{B29BF157-2942-48D0-80D4-F39912FCD0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TVR OPTIONS</a:t>
            </a:r>
          </a:p>
        </p:txBody>
      </p:sp>
      <p:sp>
        <p:nvSpPr>
          <p:cNvPr id="2" name="text-58">
            <a:extLst xmlns:a="http://schemas.openxmlformats.org/drawingml/2006/main">
              <a:ext uri="{FF2B5EF4-FFF2-40B4-BE49-F238E27FC236}">
                <a16:creationId xmlns:a16="http://schemas.microsoft.com/office/drawing/2014/main" id="{70EB7BE5-9D75-477E-96E3-16A220BFBDA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59">
            <a:extLst xmlns:a="http://schemas.openxmlformats.org/drawingml/2006/main">
              <a:ext uri="{FF2B5EF4-FFF2-40B4-BE49-F238E27FC236}">
                <a16:creationId xmlns:a16="http://schemas.microsoft.com/office/drawing/2014/main" id="{1D7DBC4F-A491-49F3-8465-FDA6DA58217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10</a:t>
            </a:r>
          </a:p>
        </p:txBody>
      </p:sp>
      <p:sp>
        <p:nvSpPr>
          <p:cNvPr id="4" name="text-60">
            <a:extLst xmlns:a="http://schemas.openxmlformats.org/drawingml/2006/main">
              <a:ext uri="{FF2B5EF4-FFF2-40B4-BE49-F238E27FC236}">
                <a16:creationId xmlns:a16="http://schemas.microsoft.com/office/drawing/2014/main" id="{CAAA48A2-FEAA-4F4B-B956-18F960D35C6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TVR options</a:t>
            </a:r>
          </a:p>
        </p:txBody>
      </p:sp>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1f634e5350d44805"/>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61">
            <a:extLst xmlns:a="http://schemas.openxmlformats.org/drawingml/2006/main">
              <a:ext uri="{FF2B5EF4-FFF2-40B4-BE49-F238E27FC236}">
                <a16:creationId xmlns:a16="http://schemas.microsoft.com/office/drawing/2014/main" id="{1EA42CB5-2EE4-4C47-8A47-2C4089BA63F7}"/>
              </a:ext>
            </a:extLst>
          </p:cNvPr>
          <p:cNvSpPr>
            <a:spLocks xmlns:a="http://schemas.openxmlformats.org/drawingml/2006/main" noGrp="1"/>
          </p:cNvSpPr>
          <p:nvPr/>
        </p:nvSpPr>
        <p:spPr>
          <a:xfrm xmlns:a="http://schemas.openxmlformats.org/drawingml/2006/main">
            <a:off x="8286750" y="207645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Preset</a:t>
            </a:r>
          </a:p>
        </p:txBody>
      </p:sp>
      <p:sp>
        <p:nvSpPr>
          <p:cNvPr id="7" name="text-62">
            <a:extLst xmlns:a="http://schemas.openxmlformats.org/drawingml/2006/main">
              <a:ext uri="{FF2B5EF4-FFF2-40B4-BE49-F238E27FC236}">
                <a16:creationId xmlns:a16="http://schemas.microsoft.com/office/drawing/2014/main" id="{E358A90B-F70E-4C9A-A7F5-3F86FFFD93B6}"/>
              </a:ext>
            </a:extLst>
          </p:cNvPr>
          <p:cNvSpPr>
            <a:spLocks xmlns:a="http://schemas.openxmlformats.org/drawingml/2006/main" noGrp="1"/>
          </p:cNvSpPr>
          <p:nvPr/>
        </p:nvSpPr>
        <p:spPr>
          <a:xfrm xmlns:a="http://schemas.openxmlformats.org/drawingml/2006/main">
            <a:off x="8286750" y="253365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Organism-specific patterns</a:t>
            </a:r>
          </a:p>
        </p:txBody>
      </p:sp>
      <p:sp>
        <p:nvSpPr>
          <p:cNvPr id="8" name="text-63">
            <a:extLst xmlns:a="http://schemas.openxmlformats.org/drawingml/2006/main">
              <a:ext uri="{FF2B5EF4-FFF2-40B4-BE49-F238E27FC236}">
                <a16:creationId xmlns:a16="http://schemas.microsoft.com/office/drawing/2014/main" id="{F13EA020-7D54-4374-BF2E-94D1D7BCBABE}"/>
              </a:ext>
            </a:extLst>
          </p:cNvPr>
          <p:cNvSpPr>
            <a:spLocks xmlns:a="http://schemas.openxmlformats.org/drawingml/2006/main" noGrp="1"/>
          </p:cNvSpPr>
          <p:nvPr/>
        </p:nvSpPr>
        <p:spPr>
          <a:xfrm xmlns:a="http://schemas.openxmlformats.org/drawingml/2006/main">
            <a:off x="8286750" y="3324225"/>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TSQ1</a:t>
            </a:r>
          </a:p>
        </p:txBody>
      </p:sp>
      <p:sp>
        <p:nvSpPr>
          <p:cNvPr id="9" name="text-64">
            <a:extLst xmlns:a="http://schemas.openxmlformats.org/drawingml/2006/main">
              <a:ext uri="{FF2B5EF4-FFF2-40B4-BE49-F238E27FC236}">
                <a16:creationId xmlns:a16="http://schemas.microsoft.com/office/drawing/2014/main" id="{470B4A04-385C-496B-9BA6-3030EA041EE1}"/>
              </a:ext>
            </a:extLst>
          </p:cNvPr>
          <p:cNvSpPr>
            <a:spLocks xmlns:a="http://schemas.openxmlformats.org/drawingml/2006/main" noGrp="1"/>
          </p:cNvSpPr>
          <p:nvPr/>
        </p:nvSpPr>
        <p:spPr>
          <a:xfrm xmlns:a="http://schemas.openxmlformats.org/drawingml/2006/main">
            <a:off x="8286750" y="3781425"/>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The TSQ1 repeat pattern</a:t>
            </a:r>
          </a:p>
        </p:txBody>
      </p:sp>
      <p:sp>
        <p:nvSpPr>
          <p:cNvPr id="10" name="text-65">
            <a:extLst xmlns:a="http://schemas.openxmlformats.org/drawingml/2006/main">
              <a:ext uri="{FF2B5EF4-FFF2-40B4-BE49-F238E27FC236}">
                <a16:creationId xmlns:a16="http://schemas.microsoft.com/office/drawing/2014/main" id="{892E5AC4-A288-4C63-8DEE-C93FE66A43D3}"/>
              </a:ext>
            </a:extLst>
          </p:cNvPr>
          <p:cNvSpPr>
            <a:spLocks xmlns:a="http://schemas.openxmlformats.org/drawingml/2006/main" noGrp="1"/>
          </p:cNvSpPr>
          <p:nvPr/>
        </p:nvSpPr>
        <p:spPr>
          <a:xfrm xmlns:a="http://schemas.openxmlformats.org/drawingml/2006/main">
            <a:off x="8286750" y="457200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Manual</a:t>
            </a:r>
          </a:p>
        </p:txBody>
      </p:sp>
      <p:sp>
        <p:nvSpPr>
          <p:cNvPr id="11" name="text-66">
            <a:extLst xmlns:a="http://schemas.openxmlformats.org/drawingml/2006/main">
              <a:ext uri="{FF2B5EF4-FFF2-40B4-BE49-F238E27FC236}">
                <a16:creationId xmlns:a16="http://schemas.microsoft.com/office/drawing/2014/main" id="{35CFC218-A44A-4659-A934-6A87A549DD36}"/>
              </a:ext>
            </a:extLst>
          </p:cNvPr>
          <p:cNvSpPr>
            <a:spLocks xmlns:a="http://schemas.openxmlformats.org/drawingml/2006/main" noGrp="1"/>
          </p:cNvSpPr>
          <p:nvPr/>
        </p:nvSpPr>
        <p:spPr>
          <a:xfrm xmlns:a="http://schemas.openxmlformats.org/drawingml/2006/main">
            <a:off x="8286750" y="502920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Your own DNA patterns</a:t>
            </a:r>
          </a:p>
        </p:txBody>
      </p:sp>
      <p:sp>
        <p:nvSpPr>
          <p:cNvPr id="12" name="text-67">
            <a:extLst xmlns:a="http://schemas.openxmlformats.org/drawingml/2006/main">
              <a:ext uri="{FF2B5EF4-FFF2-40B4-BE49-F238E27FC236}">
                <a16:creationId xmlns:a16="http://schemas.microsoft.com/office/drawing/2014/main" id="{315E14B6-056A-42F1-81E2-71AA65ED5FE9}"/>
              </a:ext>
            </a:extLst>
          </p:cNvPr>
          <p:cNvSpPr>
            <a:spLocks xmlns:a="http://schemas.openxmlformats.org/drawingml/2006/main" noGrp="1"/>
          </p:cNvSpPr>
          <p:nvPr/>
        </p:nvSpPr>
        <p:spPr>
          <a:xfrm xmlns:a="http://schemas.openxmlformats.org/drawingml/2006/main">
            <a:off x="457200" y="5648325"/>
            <a:ext cx="763524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Combine modes, or leave all unselected to skip TVR patterns.</a:t>
            </a:r>
          </a:p>
        </p:txBody>
      </p:sp>
    </p:spTree>
    <p:extLst>
      <p:ext uri="{BB962C8B-B14F-4D97-AF65-F5344CB8AC3E}">
        <p14:creationId xmlns:p14="http://schemas.microsoft.com/office/powerpoint/2010/main" val="1104009615"/>
      </p:ext>
    </p:extLst>
  </p:cSld>
</p:sld>
</file>

<file path=ppt/slides/slide11.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68">
            <a:extLst xmlns:a="http://schemas.openxmlformats.org/drawingml/2006/main">
              <a:ext uri="{FF2B5EF4-FFF2-40B4-BE49-F238E27FC236}">
                <a16:creationId xmlns:a16="http://schemas.microsoft.com/office/drawing/2014/main" id="{7A451CE1-AC27-4740-997E-A3DE3082EF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PATTERN MATCHING</a:t>
            </a:r>
          </a:p>
        </p:txBody>
      </p:sp>
      <p:sp>
        <p:nvSpPr>
          <p:cNvPr id="2" name="text-69">
            <a:extLst xmlns:a="http://schemas.openxmlformats.org/drawingml/2006/main">
              <a:ext uri="{FF2B5EF4-FFF2-40B4-BE49-F238E27FC236}">
                <a16:creationId xmlns:a16="http://schemas.microsoft.com/office/drawing/2014/main" id="{7A512A98-E9EA-4FB2-91F3-3EA58EBE663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70">
            <a:extLst xmlns:a="http://schemas.openxmlformats.org/drawingml/2006/main">
              <a:ext uri="{FF2B5EF4-FFF2-40B4-BE49-F238E27FC236}">
                <a16:creationId xmlns:a16="http://schemas.microsoft.com/office/drawing/2014/main" id="{8AF1B14A-DC75-4E00-8850-7F0A4452279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11</a:t>
            </a:r>
          </a:p>
        </p:txBody>
      </p:sp>
      <p:sp>
        <p:nvSpPr>
          <p:cNvPr id="4" name="text-71">
            <a:extLst xmlns:a="http://schemas.openxmlformats.org/drawingml/2006/main">
              <a:ext uri="{FF2B5EF4-FFF2-40B4-BE49-F238E27FC236}">
                <a16:creationId xmlns:a16="http://schemas.microsoft.com/office/drawing/2014/main" id="{33A8A0CD-89E4-4ED5-81EE-5CE8BEB5D3A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Pattern matching options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6299a6ae4af944b2"/>
          <a:stretch xmlns:a="http://schemas.openxmlformats.org/drawingml/2006/main"/>
        </p:blipFill>
        <p:spPr>
          <a:xfrm xmlns:a="http://schemas.openxmlformats.org/drawingml/2006/main">
            <a:off x="457200" y="2399225"/>
            <a:ext cx="5143500" cy="2107176"/>
          </a:xfrm>
          <a:prstGeom xmlns:a="http://schemas.openxmlformats.org/drawingml/2006/main" prst="rect">
            <a:avLst/>
          </a:prstGeom>
        </p:spPr>
      </p:pic>
      <p:sp>
        <p:nvSpPr>
          <p:cNvPr id="6" name="text-72">
            <a:extLst xmlns:a="http://schemas.openxmlformats.org/drawingml/2006/main">
              <a:ext uri="{FF2B5EF4-FFF2-40B4-BE49-F238E27FC236}">
                <a16:creationId xmlns:a16="http://schemas.microsoft.com/office/drawing/2014/main" id="{7F806321-704A-49F4-9725-D75840278ED2}"/>
              </a:ext>
            </a:extLst>
          </p:cNvPr>
          <p:cNvSpPr>
            <a:spLocks xmlns:a="http://schemas.openxmlformats.org/drawingml/2006/main" noGrp="1"/>
          </p:cNvSpPr>
          <p:nvPr/>
        </p:nvSpPr>
        <p:spPr>
          <a:xfrm xmlns:a="http://schemas.openxmlformats.org/drawingml/2006/main">
            <a:off x="533400" y="5076825"/>
            <a:ext cx="5191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Manual patterns</a:t>
            </a:r>
          </a:p>
        </p:txBody>
      </p:sp>
      <p:sp>
        <p:nvSpPr>
          <p:cNvPr id="7" name="text-73">
            <a:extLst xmlns:a="http://schemas.openxmlformats.org/drawingml/2006/main">
              <a:ext uri="{FF2B5EF4-FFF2-40B4-BE49-F238E27FC236}">
                <a16:creationId xmlns:a16="http://schemas.microsoft.com/office/drawing/2014/main" id="{64913607-7C6E-4AAC-894E-A54ADF9F8A88}"/>
              </a:ext>
            </a:extLst>
          </p:cNvPr>
          <p:cNvSpPr>
            <a:spLocks xmlns:a="http://schemas.openxmlformats.org/drawingml/2006/main" noGrp="1"/>
          </p:cNvSpPr>
          <p:nvPr/>
        </p:nvSpPr>
        <p:spPr>
          <a:xfrm xmlns:a="http://schemas.openxmlformats.org/drawingml/2006/main">
            <a:off x="457200" y="5686425"/>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Enter DNA patterns separated by spaces.</a:t>
            </a:r>
          </a:p>
        </p:txBody>
      </p:sp>
      <p:sp>
        <p:nvSpPr>
          <p:cNvPr id="8" name="text-74">
            <a:extLst xmlns:a="http://schemas.openxmlformats.org/drawingml/2006/main">
              <a:ext uri="{FF2B5EF4-FFF2-40B4-BE49-F238E27FC236}">
                <a16:creationId xmlns:a16="http://schemas.microsoft.com/office/drawing/2014/main" id="{741EEF5D-51CD-42DA-82C6-4C86EE45F9FF}"/>
              </a:ext>
            </a:extLst>
          </p:cNvPr>
          <p:cNvSpPr>
            <a:spLocks xmlns:a="http://schemas.openxmlformats.org/drawingml/2006/main" noGrp="1"/>
          </p:cNvSpPr>
          <p:nvPr/>
        </p:nvSpPr>
        <p:spPr>
          <a:xfrm xmlns:a="http://schemas.openxmlformats.org/drawingml/2006/main">
            <a:off x="6381750" y="227647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Allow 1 mismatch</a:t>
            </a:r>
          </a:p>
        </p:txBody>
      </p:sp>
      <p:sp>
        <p:nvSpPr>
          <p:cNvPr id="9" name="text-75">
            <a:extLst xmlns:a="http://schemas.openxmlformats.org/drawingml/2006/main">
              <a:ext uri="{FF2B5EF4-FFF2-40B4-BE49-F238E27FC236}">
                <a16:creationId xmlns:a16="http://schemas.microsoft.com/office/drawing/2014/main" id="{2A906778-4FD5-462D-9DE4-0A252D5F6993}"/>
              </a:ext>
            </a:extLst>
          </p:cNvPr>
          <p:cNvSpPr>
            <a:spLocks xmlns:a="http://schemas.openxmlformats.org/drawingml/2006/main" noGrp="1"/>
          </p:cNvSpPr>
          <p:nvPr/>
        </p:nvSpPr>
        <p:spPr>
          <a:xfrm xmlns:a="http://schemas.openxmlformats.org/drawingml/2006/main">
            <a:off x="6381750" y="2971800"/>
            <a:ext cx="533400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Permit one difference in telomere and TVR patterns.</a:t>
            </a:r>
          </a:p>
        </p:txBody>
      </p:sp>
      <p:sp>
        <p:nvSpPr>
          <p:cNvPr id="10" name="text-76">
            <a:extLst xmlns:a="http://schemas.openxmlformats.org/drawingml/2006/main">
              <a:ext uri="{FF2B5EF4-FFF2-40B4-BE49-F238E27FC236}">
                <a16:creationId xmlns:a16="http://schemas.microsoft.com/office/drawing/2014/main" id="{73A9EA40-5481-4503-AA85-5F9F90695B51}"/>
              </a:ext>
            </a:extLst>
          </p:cNvPr>
          <p:cNvSpPr>
            <a:spLocks xmlns:a="http://schemas.openxmlformats.org/drawingml/2006/main" noGrp="1"/>
          </p:cNvSpPr>
          <p:nvPr/>
        </p:nvSpPr>
        <p:spPr>
          <a:xfrm xmlns:a="http://schemas.openxmlformats.org/drawingml/2006/main">
            <a:off x="6381750" y="4552950"/>
            <a:ext cx="5334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0D182A"/>
                </a:solidFill>
                <a:latin typeface="Segoe UI"/>
                <a:ea typeface="Segoe UI"/>
                <a:cs typeface="Segoe UI"/>
              </a:defRPr>
            </a:pPr>
            <a:r>
              <a:t>Preset uses exact matching.</a:t>
            </a:r>
          </a:p>
        </p:txBody>
      </p:sp>
      <p:sp>
        <p:nvSpPr>
          <p:cNvPr id="11" name="text-77">
            <a:extLst xmlns:a="http://schemas.openxmlformats.org/drawingml/2006/main">
              <a:ext uri="{FF2B5EF4-FFF2-40B4-BE49-F238E27FC236}">
                <a16:creationId xmlns:a16="http://schemas.microsoft.com/office/drawing/2014/main" id="{DBD5FD1C-1194-456C-90D5-D489DC901769}"/>
              </a:ext>
            </a:extLst>
          </p:cNvPr>
          <p:cNvSpPr>
            <a:spLocks xmlns:a="http://schemas.openxmlformats.org/drawingml/2006/main" noGrp="1"/>
          </p:cNvSpPr>
          <p:nvPr/>
        </p:nvSpPr>
        <p:spPr>
          <a:xfrm xmlns:a="http://schemas.openxmlformats.org/drawingml/2006/main">
            <a:off x="6381750" y="5314950"/>
            <a:ext cx="53340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Selecting Preset disables the mismatch option.</a:t>
            </a:r>
          </a:p>
        </p:txBody>
      </p:sp>
    </p:spTree>
    <p:extLst>
      <p:ext uri="{BB962C8B-B14F-4D97-AF65-F5344CB8AC3E}">
        <p14:creationId xmlns:p14="http://schemas.microsoft.com/office/powerpoint/2010/main" val="656073071"/>
      </p:ext>
    </p:extLst>
  </p:cSld>
</p:sld>
</file>

<file path=ppt/slides/slide12.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5" name="text-78">
            <a:extLst xmlns:a="http://schemas.openxmlformats.org/drawingml/2006/main">
              <a:ext uri="{FF2B5EF4-FFF2-40B4-BE49-F238E27FC236}">
                <a16:creationId xmlns:a16="http://schemas.microsoft.com/office/drawing/2014/main" id="{10FEC68C-6DD7-425E-8BF9-ED9A3C10E10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NUMERIC OPTIONS</a:t>
            </a:r>
          </a:p>
        </p:txBody>
      </p:sp>
      <p:sp>
        <p:nvSpPr>
          <p:cNvPr id="2" name="text-79">
            <a:extLst xmlns:a="http://schemas.openxmlformats.org/drawingml/2006/main">
              <a:ext uri="{FF2B5EF4-FFF2-40B4-BE49-F238E27FC236}">
                <a16:creationId xmlns:a16="http://schemas.microsoft.com/office/drawing/2014/main" id="{35C42D44-8886-4F7D-9691-75394D651D7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80">
            <a:extLst xmlns:a="http://schemas.openxmlformats.org/drawingml/2006/main">
              <a:ext uri="{FF2B5EF4-FFF2-40B4-BE49-F238E27FC236}">
                <a16:creationId xmlns:a16="http://schemas.microsoft.com/office/drawing/2014/main" id="{2DB7CDFB-7300-4838-AA82-AF0751716F04}"/>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12</a:t>
            </a:r>
          </a:p>
        </p:txBody>
      </p:sp>
      <p:sp>
        <p:nvSpPr>
          <p:cNvPr id="4" name="text-81">
            <a:extLst xmlns:a="http://schemas.openxmlformats.org/drawingml/2006/main">
              <a:ext uri="{FF2B5EF4-FFF2-40B4-BE49-F238E27FC236}">
                <a16:creationId xmlns:a16="http://schemas.microsoft.com/office/drawing/2014/main" id="{F81D1C75-A9B2-4D9E-B209-8AB9BEA11B56}"/>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275" b="1">
                <a:solidFill>
                  <a:srgbClr val="0D182A"/>
                </a:solidFill>
                <a:latin typeface="Segoe UI"/>
                <a:ea typeface="Segoe UI"/>
                <a:cs typeface="Segoe UI"/>
              </a:defRPr>
            </a:pPr>
            <a:r>
              <a:rPr sz="4275" b="1">
                <a:solidFill>
                  <a:srgbClr val="0D182A"/>
                </a:solidFill>
                <a:latin typeface="Arial"/>
                <a:ea typeface="Arial"/>
                <a:cs typeface="Arial"/>
              </a:rPr>
              <a:t>Filtering and reporting parameters</a:t>
            </a:r>
          </a:p>
        </p:txBody>
      </p:sp>
      <p:sp>
        <p:nvSpPr>
          <p:cNvPr id="5" name="text-82">
            <a:extLst xmlns:a="http://schemas.openxmlformats.org/drawingml/2006/main">
              <a:ext uri="{FF2B5EF4-FFF2-40B4-BE49-F238E27FC236}">
                <a16:creationId xmlns:a16="http://schemas.microsoft.com/office/drawing/2014/main" id="{1C535630-D523-4540-B77F-08EC5F1BA43E}"/>
              </a:ext>
            </a:extLst>
          </p:cNvPr>
          <p:cNvSpPr>
            <a:spLocks xmlns:a="http://schemas.openxmlformats.org/drawingml/2006/main" noGrp="1"/>
          </p:cNvSpPr>
          <p:nvPr/>
        </p:nvSpPr>
        <p:spPr>
          <a:xfrm xmlns:a="http://schemas.openxmlformats.org/drawingml/2006/main">
            <a:off x="457200" y="21431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Read Length (bp)</a:t>
            </a:r>
          </a:p>
        </p:txBody>
      </p:sp>
      <p:sp>
        <p:nvSpPr>
          <p:cNvPr id="6" name="text-83">
            <a:extLst xmlns:a="http://schemas.openxmlformats.org/drawingml/2006/main">
              <a:ext uri="{FF2B5EF4-FFF2-40B4-BE49-F238E27FC236}">
                <a16:creationId xmlns:a16="http://schemas.microsoft.com/office/drawing/2014/main" id="{DA59870A-A5B2-4C1B-8C03-572ED051A401}"/>
              </a:ext>
            </a:extLst>
          </p:cNvPr>
          <p:cNvSpPr>
            <a:spLocks xmlns:a="http://schemas.openxmlformats.org/drawingml/2006/main" noGrp="1"/>
          </p:cNvSpPr>
          <p:nvPr/>
        </p:nvSpPr>
        <p:spPr>
          <a:xfrm xmlns:a="http://schemas.openxmlformats.org/drawingml/2006/main">
            <a:off x="5810250" y="21431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accepted read length</a:t>
            </a:r>
          </a:p>
        </p:txBody>
      </p:sp>
      <p:sp>
        <p:nvSpPr>
          <p:cNvPr id="7" name="text-84">
            <a:extLst xmlns:a="http://schemas.openxmlformats.org/drawingml/2006/main">
              <a:ext uri="{FF2B5EF4-FFF2-40B4-BE49-F238E27FC236}">
                <a16:creationId xmlns:a16="http://schemas.microsoft.com/office/drawing/2014/main" id="{4FD33363-0FAB-487D-8059-701B40F76206}"/>
              </a:ext>
            </a:extLst>
          </p:cNvPr>
          <p:cNvSpPr>
            <a:spLocks xmlns:a="http://schemas.openxmlformats.org/drawingml/2006/main" noGrp="1"/>
          </p:cNvSpPr>
          <p:nvPr/>
        </p:nvSpPr>
        <p:spPr>
          <a:xfrm xmlns:a="http://schemas.openxmlformats.org/drawingml/2006/main">
            <a:off x="457200" y="29432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Edge Distance</a:t>
            </a:r>
          </a:p>
        </p:txBody>
      </p:sp>
      <p:sp>
        <p:nvSpPr>
          <p:cNvPr id="8" name="text-85">
            <a:extLst xmlns:a="http://schemas.openxmlformats.org/drawingml/2006/main">
              <a:ext uri="{FF2B5EF4-FFF2-40B4-BE49-F238E27FC236}">
                <a16:creationId xmlns:a16="http://schemas.microsoft.com/office/drawing/2014/main" id="{8D242702-1B21-4DB5-AAED-184B245AB261}"/>
              </a:ext>
            </a:extLst>
          </p:cNvPr>
          <p:cNvSpPr>
            <a:spLocks xmlns:a="http://schemas.openxmlformats.org/drawingml/2006/main" noGrp="1"/>
          </p:cNvSpPr>
          <p:nvPr/>
        </p:nvSpPr>
        <p:spPr>
          <a:xfrm xmlns:a="http://schemas.openxmlformats.org/drawingml/2006/main">
            <a:off x="5810250" y="29432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Allowed distance from a read end</a:t>
            </a:r>
          </a:p>
        </p:txBody>
      </p:sp>
      <p:sp>
        <p:nvSpPr>
          <p:cNvPr id="9" name="text-86">
            <a:extLst xmlns:a="http://schemas.openxmlformats.org/drawingml/2006/main">
              <a:ext uri="{FF2B5EF4-FFF2-40B4-BE49-F238E27FC236}">
                <a16:creationId xmlns:a16="http://schemas.microsoft.com/office/drawing/2014/main" id="{43A73DB9-1E6A-4FC5-BAE3-E98DAE20B87F}"/>
              </a:ext>
            </a:extLst>
          </p:cNvPr>
          <p:cNvSpPr>
            <a:spLocks xmlns:a="http://schemas.openxmlformats.org/drawingml/2006/main" noGrp="1"/>
          </p:cNvSpPr>
          <p:nvPr/>
        </p:nvSpPr>
        <p:spPr>
          <a:xfrm xmlns:a="http://schemas.openxmlformats.org/drawingml/2006/main">
            <a:off x="457200" y="37433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Telomere Start</a:t>
            </a:r>
          </a:p>
        </p:txBody>
      </p:sp>
      <p:sp>
        <p:nvSpPr>
          <p:cNvPr id="10" name="text-87">
            <a:extLst xmlns:a="http://schemas.openxmlformats.org/drawingml/2006/main">
              <a:ext uri="{FF2B5EF4-FFF2-40B4-BE49-F238E27FC236}">
                <a16:creationId xmlns:a16="http://schemas.microsoft.com/office/drawing/2014/main" id="{876E5015-A3C6-45BD-ACFB-349B0F005236}"/>
              </a:ext>
            </a:extLst>
          </p:cNvPr>
          <p:cNvSpPr>
            <a:spLocks xmlns:a="http://schemas.openxmlformats.org/drawingml/2006/main" noGrp="1"/>
          </p:cNvSpPr>
          <p:nvPr/>
        </p:nvSpPr>
        <p:spPr>
          <a:xfrm xmlns:a="http://schemas.openxmlformats.org/drawingml/2006/main">
            <a:off x="5810250" y="37433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Limit on the telomere start position</a:t>
            </a:r>
          </a:p>
        </p:txBody>
      </p:sp>
      <p:sp>
        <p:nvSpPr>
          <p:cNvPr id="11" name="text-88">
            <a:extLst xmlns:a="http://schemas.openxmlformats.org/drawingml/2006/main">
              <a:ext uri="{FF2B5EF4-FFF2-40B4-BE49-F238E27FC236}">
                <a16:creationId xmlns:a16="http://schemas.microsoft.com/office/drawing/2014/main" id="{90DCC6FE-B7AB-4CB0-BA13-9438CDFA681C}"/>
              </a:ext>
            </a:extLst>
          </p:cNvPr>
          <p:cNvSpPr>
            <a:spLocks xmlns:a="http://schemas.openxmlformats.org/drawingml/2006/main" noGrp="1"/>
          </p:cNvSpPr>
          <p:nvPr/>
        </p:nvSpPr>
        <p:spPr>
          <a:xfrm xmlns:a="http://schemas.openxmlformats.org/drawingml/2006/main">
            <a:off x="457200" y="45434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Density</a:t>
            </a:r>
          </a:p>
        </p:txBody>
      </p:sp>
      <p:sp>
        <p:nvSpPr>
          <p:cNvPr id="12" name="text-89">
            <a:extLst xmlns:a="http://schemas.openxmlformats.org/drawingml/2006/main">
              <a:ext uri="{FF2B5EF4-FFF2-40B4-BE49-F238E27FC236}">
                <a16:creationId xmlns:a16="http://schemas.microsoft.com/office/drawing/2014/main" id="{804E35AA-5C3E-4DB2-91EB-B834FC722828}"/>
              </a:ext>
            </a:extLst>
          </p:cNvPr>
          <p:cNvSpPr>
            <a:spLocks xmlns:a="http://schemas.openxmlformats.org/drawingml/2006/main" noGrp="1"/>
          </p:cNvSpPr>
          <p:nvPr/>
        </p:nvSpPr>
        <p:spPr>
          <a:xfrm xmlns:a="http://schemas.openxmlformats.org/drawingml/2006/main">
            <a:off x="5810250" y="45434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telomeric-repeat density</a:t>
            </a:r>
          </a:p>
        </p:txBody>
      </p:sp>
      <p:sp>
        <p:nvSpPr>
          <p:cNvPr id="13" name="text-90">
            <a:extLst xmlns:a="http://schemas.openxmlformats.org/drawingml/2006/main">
              <a:ext uri="{FF2B5EF4-FFF2-40B4-BE49-F238E27FC236}">
                <a16:creationId xmlns:a16="http://schemas.microsoft.com/office/drawing/2014/main" id="{F9DDD254-8BD2-46C6-B33C-20D92F9CE2BC}"/>
              </a:ext>
            </a:extLst>
          </p:cNvPr>
          <p:cNvSpPr>
            <a:spLocks xmlns:a="http://schemas.openxmlformats.org/drawingml/2006/main" noGrp="1"/>
          </p:cNvSpPr>
          <p:nvPr/>
        </p:nvSpPr>
        <p:spPr>
          <a:xfrm xmlns:a="http://schemas.openxmlformats.org/drawingml/2006/main">
            <a:off x="457200" y="53435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Short Telomere Cutoff</a:t>
            </a:r>
          </a:p>
        </p:txBody>
      </p:sp>
      <p:sp>
        <p:nvSpPr>
          <p:cNvPr id="14" name="text-91">
            <a:extLst xmlns:a="http://schemas.openxmlformats.org/drawingml/2006/main">
              <a:ext uri="{FF2B5EF4-FFF2-40B4-BE49-F238E27FC236}">
                <a16:creationId xmlns:a16="http://schemas.microsoft.com/office/drawing/2014/main" id="{ADCEBAC6-4837-4943-8C12-DA4876E469D9}"/>
              </a:ext>
            </a:extLst>
          </p:cNvPr>
          <p:cNvSpPr>
            <a:spLocks xmlns:a="http://schemas.openxmlformats.org/drawingml/2006/main" noGrp="1"/>
          </p:cNvSpPr>
          <p:nvPr/>
        </p:nvSpPr>
        <p:spPr>
          <a:xfrm xmlns:a="http://schemas.openxmlformats.org/drawingml/2006/main">
            <a:off x="5810250" y="53435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Report the percentage below this length</a:t>
            </a:r>
          </a:p>
        </p:txBody>
      </p:sp>
    </p:spTree>
    <p:extLst>
      <p:ext uri="{BB962C8B-B14F-4D97-AF65-F5344CB8AC3E}">
        <p14:creationId xmlns:p14="http://schemas.microsoft.com/office/powerpoint/2010/main" val="925002915"/>
      </p:ext>
    </p:extLst>
  </p:cSld>
</p:sld>
</file>

<file path=ppt/slides/slide13.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92">
            <a:extLst xmlns:a="http://schemas.openxmlformats.org/drawingml/2006/main">
              <a:ext uri="{FF2B5EF4-FFF2-40B4-BE49-F238E27FC236}">
                <a16:creationId xmlns:a16="http://schemas.microsoft.com/office/drawing/2014/main" id="{42B91FFF-E6A0-45C3-ACDF-880930A188E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NANOTEL • OUTPUT OPTIONS</a:t>
            </a:r>
          </a:p>
        </p:txBody>
      </p:sp>
      <p:sp>
        <p:nvSpPr>
          <p:cNvPr id="2" name="text-93">
            <a:extLst xmlns:a="http://schemas.openxmlformats.org/drawingml/2006/main">
              <a:ext uri="{FF2B5EF4-FFF2-40B4-BE49-F238E27FC236}">
                <a16:creationId xmlns:a16="http://schemas.microsoft.com/office/drawing/2014/main" id="{EA9DA0AE-CE58-4DA0-8314-5F76C5501A6D}"/>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94">
            <a:extLst xmlns:a="http://schemas.openxmlformats.org/drawingml/2006/main">
              <a:ext uri="{FF2B5EF4-FFF2-40B4-BE49-F238E27FC236}">
                <a16:creationId xmlns:a16="http://schemas.microsoft.com/office/drawing/2014/main" id="{4D5F4A65-F6D6-4CC6-B122-37061B171B52}"/>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13</a:t>
            </a:r>
          </a:p>
        </p:txBody>
      </p:sp>
      <p:sp>
        <p:nvSpPr>
          <p:cNvPr id="4" name="text-95">
            <a:extLst xmlns:a="http://schemas.openxmlformats.org/drawingml/2006/main">
              <a:ext uri="{FF2B5EF4-FFF2-40B4-BE49-F238E27FC236}">
                <a16:creationId xmlns:a16="http://schemas.microsoft.com/office/drawing/2014/main" id="{49D933FA-4F06-43CF-96A7-FCA3D7FB631A}"/>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NanoTel output options</a:t>
            </a:r>
          </a:p>
        </p:txBody>
      </p:sp>
      <p:pic>
        <p:nvPicPr>
          <p:cNvPr id="16" name="Picture 15"/>
          <p:cNvPicPr>
            <a:picLocks xmlns:a="http://schemas.openxmlformats.org/drawingml/2006/main" noChangeAspect="1"/>
          </p:cNvPicPr>
          <p:nvPr/>
        </p:nvPicPr>
        <p:blipFill>
          <a:blip xmlns:r="http://schemas.openxmlformats.org/officeDocument/2006/relationships" xmlns:a="http://schemas.openxmlformats.org/drawingml/2006/main" r:embed="Rc4d6ecf59e184a59"/>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96">
            <a:extLst xmlns:a="http://schemas.openxmlformats.org/drawingml/2006/main">
              <a:ext uri="{FF2B5EF4-FFF2-40B4-BE49-F238E27FC236}">
                <a16:creationId xmlns:a16="http://schemas.microsoft.com/office/drawing/2014/main" id="{A8C42833-F201-443A-B542-FB52D3230E1C}"/>
              </a:ext>
            </a:extLst>
          </p:cNvPr>
          <p:cNvSpPr>
            <a:spLocks xmlns:a="http://schemas.openxmlformats.org/drawingml/2006/main" noGrp="1"/>
          </p:cNvSpPr>
          <p:nvPr/>
        </p:nvSpPr>
        <p:spPr>
          <a:xfrm xmlns:a="http://schemas.openxmlformats.org/drawingml/2006/main">
            <a:off x="8286750" y="21907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Summary only</a:t>
            </a:r>
          </a:p>
        </p:txBody>
      </p:sp>
      <p:sp>
        <p:nvSpPr>
          <p:cNvPr id="7" name="text-97">
            <a:extLst xmlns:a="http://schemas.openxmlformats.org/drawingml/2006/main">
              <a:ext uri="{FF2B5EF4-FFF2-40B4-BE49-F238E27FC236}">
                <a16:creationId xmlns:a16="http://schemas.microsoft.com/office/drawing/2014/main" id="{45188749-4649-4C68-8596-DCF85F481F71}"/>
              </a:ext>
            </a:extLst>
          </p:cNvPr>
          <p:cNvSpPr>
            <a:spLocks xmlns:a="http://schemas.openxmlformats.org/drawingml/2006/main" noGrp="1"/>
          </p:cNvSpPr>
          <p:nvPr/>
        </p:nvSpPr>
        <p:spPr>
          <a:xfrm xmlns:a="http://schemas.openxmlformats.org/drawingml/2006/main">
            <a:off x="8286750" y="2857500"/>
            <a:ext cx="333375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Compact summaries in one Excel workbook.</a:t>
            </a:r>
          </a:p>
        </p:txBody>
      </p:sp>
      <p:sp>
        <p:nvSpPr>
          <p:cNvPr id="8" name="text-98">
            <a:extLst xmlns:a="http://schemas.openxmlformats.org/drawingml/2006/main">
              <a:ext uri="{FF2B5EF4-FFF2-40B4-BE49-F238E27FC236}">
                <a16:creationId xmlns:a16="http://schemas.microsoft.com/office/drawing/2014/main" id="{D2176879-2AD8-43D5-93B3-62F322FD9659}"/>
              </a:ext>
            </a:extLst>
          </p:cNvPr>
          <p:cNvSpPr>
            <a:spLocks xmlns:a="http://schemas.openxmlformats.org/drawingml/2006/main" noGrp="1"/>
          </p:cNvSpPr>
          <p:nvPr/>
        </p:nvSpPr>
        <p:spPr>
          <a:xfrm xmlns:a="http://schemas.openxmlformats.org/drawingml/2006/main">
            <a:off x="8286750" y="4381500"/>
            <a:ext cx="3333750" cy="1476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Off: include individual read plots and FASTA files.</a:t>
            </a:r>
          </a:p>
        </p:txBody>
      </p:sp>
      <p:sp>
        <p:nvSpPr>
          <p:cNvPr id="9" name="text-99">
            <a:extLst xmlns:a="http://schemas.openxmlformats.org/drawingml/2006/main">
              <a:ext uri="{FF2B5EF4-FFF2-40B4-BE49-F238E27FC236}">
                <a16:creationId xmlns:a16="http://schemas.microsoft.com/office/drawing/2014/main" id="{4BFB72F0-B871-416E-BCAA-7E7E3E8431B1}"/>
              </a:ext>
            </a:extLst>
          </p:cNvPr>
          <p:cNvSpPr>
            <a:spLocks xmlns:a="http://schemas.openxmlformats.org/drawingml/2006/main" noGrp="1"/>
          </p:cNvSpPr>
          <p:nvPr/>
        </p:nvSpPr>
        <p:spPr>
          <a:xfrm xmlns:a="http://schemas.openxmlformats.org/drawingml/2006/main">
            <a:off x="533400" y="5143500"/>
            <a:ext cx="723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Run mapping</a:t>
            </a:r>
          </a:p>
        </p:txBody>
      </p:sp>
      <p:sp>
        <p:nvSpPr>
          <p:cNvPr id="10" name="text-100">
            <a:extLst xmlns:a="http://schemas.openxmlformats.org/drawingml/2006/main">
              <a:ext uri="{FF2B5EF4-FFF2-40B4-BE49-F238E27FC236}">
                <a16:creationId xmlns:a16="http://schemas.microsoft.com/office/drawing/2014/main" id="{3895C555-FD8F-431E-8516-90D535F2DF79}"/>
              </a:ext>
            </a:extLst>
          </p:cNvPr>
          <p:cNvSpPr>
            <a:spLocks xmlns:a="http://schemas.openxmlformats.org/drawingml/2006/main" noGrp="1"/>
          </p:cNvSpPr>
          <p:nvPr/>
        </p:nvSpPr>
        <p:spPr>
          <a:xfrm xmlns:a="http://schemas.openxmlformats.org/drawingml/2006/main">
            <a:off x="457200" y="5772150"/>
            <a:ext cx="7239000" cy="438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Map NanoTel reads to the genome.</a:t>
            </a:r>
          </a:p>
        </p:txBody>
      </p:sp>
    </p:spTree>
    <p:extLst>
      <p:ext uri="{BB962C8B-B14F-4D97-AF65-F5344CB8AC3E}">
        <p14:creationId xmlns:p14="http://schemas.microsoft.com/office/powerpoint/2010/main" val="1417982856"/>
      </p:ext>
    </p:extLst>
  </p:cSld>
</p:sld>
</file>

<file path=ppt/slides/slide14.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7" name="text-101">
            <a:extLst xmlns:a="http://schemas.openxmlformats.org/drawingml/2006/main">
              <a:ext uri="{FF2B5EF4-FFF2-40B4-BE49-F238E27FC236}">
                <a16:creationId xmlns:a16="http://schemas.microsoft.com/office/drawing/2014/main" id="{133A806F-D9E6-4C9B-8F54-63BD63F9CF4D}"/>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HELP AND INPUT QUESTIONS</a:t>
            </a:r>
          </a:p>
        </p:txBody>
      </p:sp>
      <p:sp>
        <p:nvSpPr>
          <p:cNvPr id="2" name="text-102">
            <a:extLst xmlns:a="http://schemas.openxmlformats.org/drawingml/2006/main">
              <a:ext uri="{FF2B5EF4-FFF2-40B4-BE49-F238E27FC236}">
                <a16:creationId xmlns:a16="http://schemas.microsoft.com/office/drawing/2014/main" id="{D5A21DF3-7F90-4C64-8B1A-51F554E018C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03">
            <a:extLst xmlns:a="http://schemas.openxmlformats.org/drawingml/2006/main">
              <a:ext uri="{FF2B5EF4-FFF2-40B4-BE49-F238E27FC236}">
                <a16:creationId xmlns:a16="http://schemas.microsoft.com/office/drawing/2014/main" id="{E4CCD158-41B3-4E02-98D0-8C721D890B2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14</a:t>
            </a:r>
          </a:p>
        </p:txBody>
      </p:sp>
      <p:sp>
        <p:nvSpPr>
          <p:cNvPr id="4" name="text-104">
            <a:extLst xmlns:a="http://schemas.openxmlformats.org/drawingml/2006/main">
              <a:ext uri="{FF2B5EF4-FFF2-40B4-BE49-F238E27FC236}">
                <a16:creationId xmlns:a16="http://schemas.microsoft.com/office/drawing/2014/main" id="{A1D3D275-F736-4178-8F27-3D3264FA295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Help and input settings</a:t>
            </a:r>
          </a:p>
        </p:txBody>
      </p:sp>
      <p:sp>
        <p:nvSpPr>
          <p:cNvPr id="5" name="text-105">
            <a:extLst xmlns:a="http://schemas.openxmlformats.org/drawingml/2006/main">
              <a:ext uri="{FF2B5EF4-FFF2-40B4-BE49-F238E27FC236}">
                <a16:creationId xmlns:a16="http://schemas.microsoft.com/office/drawing/2014/main" id="{CD673756-1141-4E4F-9E70-D02B65A4D8F4}"/>
              </a:ext>
            </a:extLst>
          </p:cNvPr>
          <p:cNvSpPr>
            <a:spLocks xmlns:a="http://schemas.openxmlformats.org/drawingml/2006/main" noGrp="1"/>
          </p:cNvSpPr>
          <p:nvPr/>
        </p:nvSpPr>
        <p:spPr>
          <a:xfrm xmlns:a="http://schemas.openxmlformats.org/drawingml/2006/main">
            <a:off x="533400" y="2238375"/>
            <a:ext cx="519112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Built-in help</a:t>
            </a:r>
          </a:p>
        </p:txBody>
      </p:sp>
      <p:sp>
        <p:nvSpPr>
          <p:cNvPr id="6" name="text-106">
            <a:extLst xmlns:a="http://schemas.openxmlformats.org/drawingml/2006/main">
              <a:ext uri="{FF2B5EF4-FFF2-40B4-BE49-F238E27FC236}">
                <a16:creationId xmlns:a16="http://schemas.microsoft.com/office/drawing/2014/main" id="{A95C4A8D-F996-4FE2-8400-3C44EEA8174D}"/>
              </a:ext>
            </a:extLst>
          </p:cNvPr>
          <p:cNvSpPr>
            <a:spLocks xmlns:a="http://schemas.openxmlformats.org/drawingml/2006/main" noGrp="1"/>
          </p:cNvSpPr>
          <p:nvPr/>
        </p:nvSpPr>
        <p:spPr>
          <a:xfrm xmlns:a="http://schemas.openxmlformats.org/drawingml/2006/main">
            <a:off x="457200" y="3048000"/>
            <a:ext cx="5191125" cy="2333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Use the ? buttons for input and workflow explanations.</a:t>
            </a:r>
          </a:p>
          <a:p xmlns:a="http://schemas.openxmlformats.org/drawingml/2006/main">
            <a:pPr>
              <a:buNone/>
              <a:defRPr sz="2325" b="0">
                <a:solidFill>
                  <a:srgbClr val="152033"/>
                </a:solidFill>
                <a:latin typeface="Arial"/>
                <a:ea typeface="Arial"/>
                <a:cs typeface="Arial"/>
              </a:defRPr>
            </a:pPr>
          </a:p>
          <a:p xmlns:a="http://schemas.openxmlformats.org/drawingml/2006/main">
            <a:pPr>
              <a:buNone/>
              <a:defRPr sz="2325" b="0">
                <a:solidFill>
                  <a:srgbClr val="0D182A"/>
                </a:solidFill>
                <a:latin typeface="Segoe UI"/>
                <a:ea typeface="Segoe UI"/>
                <a:cs typeface="Segoe UI"/>
              </a:defRPr>
            </a:pPr>
            <a:r>
              <a:t>Hover over supported controls for short hints.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ebc6123d2ec74a04"/>
          <a:stretch xmlns:a="http://schemas.openxmlformats.org/drawingml/2006/main"/>
        </p:blipFill>
        <p:spPr>
          <a:xfrm xmlns:a="http://schemas.openxmlformats.org/drawingml/2006/main">
            <a:off x="6381750" y="2570485"/>
            <a:ext cx="5334000" cy="1612254"/>
          </a:xfrm>
          <a:prstGeom xmlns:a="http://schemas.openxmlformats.org/drawingml/2006/main" prst="rect">
            <a:avLst/>
          </a:prstGeom>
        </p:spPr>
      </p:pic>
      <p:sp>
        <p:nvSpPr>
          <p:cNvPr id="8" name="text-107">
            <a:extLst xmlns:a="http://schemas.openxmlformats.org/drawingml/2006/main">
              <a:ext uri="{FF2B5EF4-FFF2-40B4-BE49-F238E27FC236}">
                <a16:creationId xmlns:a16="http://schemas.microsoft.com/office/drawing/2014/main" id="{89B94BC5-64FE-493B-8FC1-41228AF06C84}"/>
              </a:ext>
            </a:extLst>
          </p:cNvPr>
          <p:cNvSpPr>
            <a:spLocks xmlns:a="http://schemas.openxmlformats.org/drawingml/2006/main" noGrp="1"/>
          </p:cNvSpPr>
          <p:nvPr/>
        </p:nvSpPr>
        <p:spPr>
          <a:xfrm xmlns:a="http://schemas.openxmlformats.org/drawingml/2006/main">
            <a:off x="6381750" y="4905375"/>
            <a:ext cx="5334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FASTQ and BAM inputs</a:t>
            </a:r>
          </a:p>
        </p:txBody>
      </p:sp>
      <p:sp>
        <p:nvSpPr>
          <p:cNvPr id="9" name="text-108">
            <a:extLst xmlns:a="http://schemas.openxmlformats.org/drawingml/2006/main">
              <a:ext uri="{FF2B5EF4-FFF2-40B4-BE49-F238E27FC236}">
                <a16:creationId xmlns:a16="http://schemas.microsoft.com/office/drawing/2014/main" id="{FEF1DEDB-8BC6-429C-B9C2-76D934356ED9}"/>
              </a:ext>
            </a:extLst>
          </p:cNvPr>
          <p:cNvSpPr>
            <a:spLocks xmlns:a="http://schemas.openxmlformats.org/drawingml/2006/main" noGrp="1"/>
          </p:cNvSpPr>
          <p:nvPr/>
        </p:nvSpPr>
        <p:spPr>
          <a:xfrm xmlns:a="http://schemas.openxmlformats.org/drawingml/2006/main">
            <a:off x="6381750" y="5572125"/>
            <a:ext cx="5334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Confirm whether barcode removal trimmed the reads.</a:t>
            </a:r>
          </a:p>
        </p:txBody>
      </p:sp>
    </p:spTree>
    <p:extLst>
      <p:ext uri="{BB962C8B-B14F-4D97-AF65-F5344CB8AC3E}">
        <p14:creationId xmlns:p14="http://schemas.microsoft.com/office/powerpoint/2010/main" val="259994329"/>
      </p:ext>
    </p:extLst>
  </p:cSld>
</p:sld>
</file>

<file path=ppt/slides/slide1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4" name="text-109">
            <a:extLst xmlns:a="http://schemas.openxmlformats.org/drawingml/2006/main">
              <a:ext uri="{FF2B5EF4-FFF2-40B4-BE49-F238E27FC236}">
                <a16:creationId xmlns:a16="http://schemas.microsoft.com/office/drawing/2014/main" id="{936D5DB6-2DD0-4BB7-84B4-2C16E5AB12DF}"/>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CONTROLS</a:t>
            </a:r>
          </a:p>
        </p:txBody>
      </p:sp>
      <p:sp>
        <p:nvSpPr>
          <p:cNvPr id="2" name="text-110">
            <a:extLst xmlns:a="http://schemas.openxmlformats.org/drawingml/2006/main">
              <a:ext uri="{FF2B5EF4-FFF2-40B4-BE49-F238E27FC236}">
                <a16:creationId xmlns:a16="http://schemas.microsoft.com/office/drawing/2014/main" id="{BB48286D-77DD-425D-AC8E-2279810DBDAA}"/>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11">
            <a:extLst xmlns:a="http://schemas.openxmlformats.org/drawingml/2006/main">
              <a:ext uri="{FF2B5EF4-FFF2-40B4-BE49-F238E27FC236}">
                <a16:creationId xmlns:a16="http://schemas.microsoft.com/office/drawing/2014/main" id="{EDD1E89D-4A4A-4F68-8975-A7CA72536E7B}"/>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15</a:t>
            </a:r>
          </a:p>
        </p:txBody>
      </p:sp>
      <p:sp>
        <p:nvSpPr>
          <p:cNvPr id="4" name="text-112">
            <a:extLst xmlns:a="http://schemas.openxmlformats.org/drawingml/2006/main">
              <a:ext uri="{FF2B5EF4-FFF2-40B4-BE49-F238E27FC236}">
                <a16:creationId xmlns:a16="http://schemas.microsoft.com/office/drawing/2014/main" id="{B5AAB9D5-D037-40A5-8EAD-3D00E62CEC39}"/>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Workflow execution</a:t>
            </a:r>
          </a:p>
        </p:txBody>
      </p:sp>
      <p:sp>
        <p:nvSpPr>
          <p:cNvPr id="5" name="text-113">
            <a:extLst xmlns:a="http://schemas.openxmlformats.org/drawingml/2006/main">
              <a:ext uri="{FF2B5EF4-FFF2-40B4-BE49-F238E27FC236}">
                <a16:creationId xmlns:a16="http://schemas.microsoft.com/office/drawing/2014/main" id="{F8B8D57A-4F51-4BA8-9918-9E7F37F13529}"/>
              </a:ext>
            </a:extLst>
          </p:cNvPr>
          <p:cNvSpPr>
            <a:spLocks xmlns:a="http://schemas.openxmlformats.org/drawingml/2006/main" noGrp="1"/>
          </p:cNvSpPr>
          <p:nvPr/>
        </p:nvSpPr>
        <p:spPr>
          <a:xfrm xmlns:a="http://schemas.openxmlformats.org/drawingml/2006/main">
            <a:off x="1371600" y="2266950"/>
            <a:ext cx="10191750" cy="657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00" b="1">
                <a:solidFill>
                  <a:srgbClr val="2860F5"/>
                </a:solidFill>
                <a:latin typeface="Segoe UI"/>
                <a:ea typeface="Segoe UI"/>
                <a:cs typeface="Segoe UI"/>
              </a:defRPr>
            </a:pPr>
            <a:r>
              <a:t>Run Workflow</a:t>
            </a:r>
          </a:p>
        </p:txBody>
      </p:sp>
      <p:sp>
        <p:nvSpPr>
          <p:cNvPr id="6" name="text-114">
            <a:extLst xmlns:a="http://schemas.openxmlformats.org/drawingml/2006/main">
              <a:ext uri="{FF2B5EF4-FFF2-40B4-BE49-F238E27FC236}">
                <a16:creationId xmlns:a16="http://schemas.microsoft.com/office/drawing/2014/main" id="{05B6AA6A-1DC7-4375-9709-C1D3762FE5B5}"/>
              </a:ext>
            </a:extLst>
          </p:cNvPr>
          <p:cNvSpPr>
            <a:spLocks xmlns:a="http://schemas.openxmlformats.org/drawingml/2006/main" noGrp="1"/>
          </p:cNvSpPr>
          <p:nvPr/>
        </p:nvSpPr>
        <p:spPr>
          <a:xfrm xmlns:a="http://schemas.openxmlformats.org/drawingml/2006/main">
            <a:off x="1371600" y="2971800"/>
            <a:ext cx="1009650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Start the selected analysis with your settings.</a:t>
            </a:r>
          </a:p>
        </p:txBody>
      </p:sp>
      <p:sp>
        <p:nvSpPr>
          <p:cNvPr id="7" name="text-115">
            <a:extLst xmlns:a="http://schemas.openxmlformats.org/drawingml/2006/main">
              <a:ext uri="{FF2B5EF4-FFF2-40B4-BE49-F238E27FC236}">
                <a16:creationId xmlns:a16="http://schemas.microsoft.com/office/drawing/2014/main" id="{6E6F13C6-8489-4F01-8529-258C7BABF897}"/>
              </a:ext>
            </a:extLst>
          </p:cNvPr>
          <p:cNvSpPr>
            <a:spLocks xmlns:a="http://schemas.openxmlformats.org/drawingml/2006/main" noGrp="1"/>
          </p:cNvSpPr>
          <p:nvPr/>
        </p:nvSpPr>
        <p:spPr>
          <a:xfrm xmlns:a="http://schemas.openxmlformats.org/drawingml/2006/main">
            <a:off x="1371600" y="3914775"/>
            <a:ext cx="1019175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Execution Log</a:t>
            </a:r>
          </a:p>
        </p:txBody>
      </p:sp>
      <p:sp>
        <p:nvSpPr>
          <p:cNvPr id="8" name="text-116">
            <a:extLst xmlns:a="http://schemas.openxmlformats.org/drawingml/2006/main">
              <a:ext uri="{FF2B5EF4-FFF2-40B4-BE49-F238E27FC236}">
                <a16:creationId xmlns:a16="http://schemas.microsoft.com/office/drawing/2014/main" id="{BF8CF565-0594-49F4-9AEE-1B2D2DB6ECEC}"/>
              </a:ext>
            </a:extLst>
          </p:cNvPr>
          <p:cNvSpPr>
            <a:spLocks xmlns:a="http://schemas.openxmlformats.org/drawingml/2006/main" noGrp="1"/>
          </p:cNvSpPr>
          <p:nvPr/>
        </p:nvSpPr>
        <p:spPr>
          <a:xfrm xmlns:a="http://schemas.openxmlformats.org/drawingml/2006/main">
            <a:off x="1371600" y="4543425"/>
            <a:ext cx="100965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Follow processing messages and progress.</a:t>
            </a:r>
          </a:p>
        </p:txBody>
      </p:sp>
      <p:sp>
        <p:nvSpPr>
          <p:cNvPr id="9" name="text-117">
            <a:extLst xmlns:a="http://schemas.openxmlformats.org/drawingml/2006/main">
              <a:ext uri="{FF2B5EF4-FFF2-40B4-BE49-F238E27FC236}">
                <a16:creationId xmlns:a16="http://schemas.microsoft.com/office/drawing/2014/main" id="{0E136FCF-DF17-42A2-B58B-C9ED6D236DBB}"/>
              </a:ext>
            </a:extLst>
          </p:cNvPr>
          <p:cNvSpPr>
            <a:spLocks xmlns:a="http://schemas.openxmlformats.org/drawingml/2006/main" noGrp="1"/>
          </p:cNvSpPr>
          <p:nvPr/>
        </p:nvSpPr>
        <p:spPr>
          <a:xfrm xmlns:a="http://schemas.openxmlformats.org/drawingml/2006/main">
            <a:off x="1371600" y="5381625"/>
            <a:ext cx="3095625"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Cancel</a:t>
            </a:r>
          </a:p>
        </p:txBody>
      </p:sp>
      <p:sp>
        <p:nvSpPr>
          <p:cNvPr id="10" name="text-118">
            <a:extLst xmlns:a="http://schemas.openxmlformats.org/drawingml/2006/main">
              <a:ext uri="{FF2B5EF4-FFF2-40B4-BE49-F238E27FC236}">
                <a16:creationId xmlns:a16="http://schemas.microsoft.com/office/drawing/2014/main" id="{1E1A42AC-99FD-4AF7-A227-17FE34C37BD8}"/>
              </a:ext>
            </a:extLst>
          </p:cNvPr>
          <p:cNvSpPr>
            <a:spLocks xmlns:a="http://schemas.openxmlformats.org/drawingml/2006/main" noGrp="1"/>
          </p:cNvSpPr>
          <p:nvPr/>
        </p:nvSpPr>
        <p:spPr>
          <a:xfrm xmlns:a="http://schemas.openxmlformats.org/drawingml/2006/main">
            <a:off x="4667250" y="5476875"/>
            <a:ext cx="68294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0D182A"/>
                </a:solidFill>
                <a:latin typeface="Segoe UI"/>
                <a:ea typeface="Segoe UI"/>
                <a:cs typeface="Segoe UI"/>
              </a:defRPr>
            </a:pPr>
            <a:r>
              <a:t>Request that the running workflow stops.</a:t>
            </a:r>
          </a:p>
        </p:txBody>
      </p:sp>
      <p:sp>
        <p:nvSpPr>
          <p:cNvPr id="11" name="Rectangle 10">
            <a:extLst xmlns:a="http://schemas.openxmlformats.org/drawingml/2006/main">
              <a:ext uri="{FF2B5EF4-FFF2-40B4-BE49-F238E27FC236}">
                <a16:creationId xmlns:a16="http://schemas.microsoft.com/office/drawing/2014/main" id="{8E380C90-43B6-4206-AA09-612214D96C51}"/>
              </a:ext>
            </a:extLst>
          </p:cNvPr>
          <p:cNvSpPr>
            <a:spLocks xmlns:a="http://schemas.openxmlformats.org/drawingml/2006/main" noGrp="1"/>
          </p:cNvSpPr>
          <p:nvPr/>
        </p:nvSpPr>
        <p:spPr>
          <a:xfrm xmlns:a="http://schemas.openxmlformats.org/drawingml/2006/main">
            <a:off x="533400" y="2362200"/>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01</a:t>
            </a:r>
          </a:p>
        </p:txBody>
      </p:sp>
      <p:sp>
        <p:nvSpPr>
          <p:cNvPr id="12" name="Rectangle 11">
            <a:extLst xmlns:a="http://schemas.openxmlformats.org/drawingml/2006/main">
              <a:ext uri="{FF2B5EF4-FFF2-40B4-BE49-F238E27FC236}">
                <a16:creationId xmlns:a16="http://schemas.microsoft.com/office/drawing/2014/main" id="{414AF8C1-4FE9-4BFF-B79E-EF5BF2592DA0}"/>
              </a:ext>
            </a:extLst>
          </p:cNvPr>
          <p:cNvSpPr>
            <a:spLocks xmlns:a="http://schemas.openxmlformats.org/drawingml/2006/main" noGrp="1"/>
          </p:cNvSpPr>
          <p:nvPr/>
        </p:nvSpPr>
        <p:spPr>
          <a:xfrm xmlns:a="http://schemas.openxmlformats.org/drawingml/2006/main">
            <a:off x="533400" y="39719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02</a:t>
            </a:r>
          </a:p>
        </p:txBody>
      </p:sp>
      <p:sp>
        <p:nvSpPr>
          <p:cNvPr id="13" name="Rectangle 12">
            <a:extLst xmlns:a="http://schemas.openxmlformats.org/drawingml/2006/main">
              <a:ext uri="{FF2B5EF4-FFF2-40B4-BE49-F238E27FC236}">
                <a16:creationId xmlns:a16="http://schemas.microsoft.com/office/drawing/2014/main" id="{FBF2FC55-5BA4-44EF-AA66-7C379522C7EB}"/>
              </a:ext>
            </a:extLst>
          </p:cNvPr>
          <p:cNvSpPr>
            <a:spLocks xmlns:a="http://schemas.openxmlformats.org/drawingml/2006/main" noGrp="1"/>
          </p:cNvSpPr>
          <p:nvPr/>
        </p:nvSpPr>
        <p:spPr>
          <a:xfrm xmlns:a="http://schemas.openxmlformats.org/drawingml/2006/main">
            <a:off x="533400" y="54578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03</a:t>
            </a:r>
          </a:p>
        </p:txBody>
      </p:sp>
    </p:spTree>
    <p:extLst>
      <p:ext uri="{BB962C8B-B14F-4D97-AF65-F5344CB8AC3E}">
        <p14:creationId xmlns:p14="http://schemas.microsoft.com/office/powerpoint/2010/main" val="1236364068"/>
      </p:ext>
    </p:extLst>
  </p:cSld>
</p:sld>
</file>

<file path=ppt/slides/slide1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90AD19C9-7727-494C-BF86-F92B5A99DC79}"/>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EXAMPLE RESULTS • ILLUSTRATIVE TABLE</a:t>
            </a:r>
          </a:p>
        </p:txBody>
      </p:sp>
      <p:sp>
        <p:nvSpPr>
          <p:cNvPr id="2" name="Rectangle 1">
            <a:extLst xmlns:a="http://schemas.openxmlformats.org/drawingml/2006/main">
              <a:ext uri="{FF2B5EF4-FFF2-40B4-BE49-F238E27FC236}">
                <a16:creationId xmlns:a16="http://schemas.microsoft.com/office/drawing/2014/main" id="{6021120A-D8FD-417F-A205-DBC6AF2F6CC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summary results</a:t>
            </a:r>
          </a:p>
        </p:txBody>
      </p:sp>
      <p:sp>
        <p:nvSpPr>
          <p:cNvPr id="3" name="Rectangle 2">
            <a:extLst xmlns:a="http://schemas.openxmlformats.org/drawingml/2006/main">
              <a:ext uri="{FF2B5EF4-FFF2-40B4-BE49-F238E27FC236}">
                <a16:creationId xmlns:a16="http://schemas.microsoft.com/office/drawing/2014/main" id="{09690918-F3CD-4096-86D9-A3251DED690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8" name="Rectangle 7">
            <a:extLst xmlns:a="http://schemas.openxmlformats.org/drawingml/2006/main">
              <a:ext uri="{FF2B5EF4-FFF2-40B4-BE49-F238E27FC236}">
                <a16:creationId xmlns:a16="http://schemas.microsoft.com/office/drawing/2014/main" id="{B5273849-29B3-42BB-9B33-CD9540BE975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16</a:t>
            </a:r>
          </a:p>
        </p:txBody>
      </p:sp>
      <p:sp>
        <p:nvSpPr>
          <p:cNvPr id="9" name="Rectangle 8">
            <a:extLst xmlns:a="http://schemas.openxmlformats.org/drawingml/2006/main">
              <a:ext uri="{FF2B5EF4-FFF2-40B4-BE49-F238E27FC236}">
                <a16:creationId xmlns:a16="http://schemas.microsoft.com/office/drawing/2014/main" id="{51F4E1CA-EC8C-4878-8F16-ECCC00D64B59}"/>
              </a:ext>
            </a:extLst>
          </p:cNvPr>
          <p:cNvSpPr>
            <a:spLocks xmlns:a="http://schemas.openxmlformats.org/drawingml/2006/main" noGrp="1"/>
          </p:cNvSpPr>
          <p:nvPr/>
        </p:nvSpPr>
        <p:spPr>
          <a:xfrm xmlns:a="http://schemas.openxmlformats.org/drawingml/2006/main">
            <a:off x="533400" y="1752600"/>
            <a:ext cx="111252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1875" b="1">
                <a:solidFill>
                  <a:srgbClr val="2860F5"/>
                </a:solidFill>
                <a:latin typeface="Bahnschrift"/>
                <a:ea typeface="Bahnschrift"/>
                <a:cs typeface="Bahnschrift"/>
              </a:defRPr>
            </a:pPr>
            <a:r>
              <a:t>Illustrative example: barcode03–08 contain simulated values.</a:t>
            </a:r>
          </a:p>
        </p:txBody>
      </p:sp>
      <p:graphicFrame>
        <p:nvGraphicFramePr>
          <p:cNvPr id="18" name="Table 16"/>
          <p:cNvGraphicFramePr/>
          <p:nvPr/>
        </p:nvGraphicFramePr>
        <p:xfrm>
          <a:off xmlns:a="http://schemas.openxmlformats.org/drawingml/2006/main" x="533400" y="2266950"/>
          <a:ext xmlns:a="http://schemas.openxmlformats.org/drawingml/2006/main" cx="11125200" cy="3863340"/>
        </p:xfrm>
        <a:graphic xmlns:a="http://schemas.openxmlformats.org/drawingml/2006/main">
          <a:graphicData uri="http://schemas.openxmlformats.org/drawingml/2006/table">
            <a:tbl>
              <a:tblPr/>
              <a:tblGrid>
                <a:gridCol w="1504950"/>
                <a:gridCol w="1276350"/>
                <a:gridCol w="1895475"/>
                <a:gridCol w="1238250"/>
                <a:gridCol w="2009775"/>
                <a:gridCol w="1381125"/>
                <a:gridCol w="1819275"/>
              </a:tblGrid>
              <a:tr h="800100">
                <a:tc>
                  <a:txBody>
                    <a:bodyPr/>
                    <a:lstStyle/>
                    <a:p>
                      <a:r>
                        <a:rPr sz="1650" b="1">
                          <a:solidFill>
                            <a:srgbClr val="FFFFFF"/>
                          </a:solidFill>
                          <a:latin typeface="Bahnschrift"/>
                          <a:ea typeface="Bahnschrift"/>
                          <a:cs typeface="Bahnschrift"/>
                        </a:rPr>
                        <a:t>Barcode</a:t>
                      </a:r>
                    </a:p>
                  </a:txBody>
                  <a:tcPr marL="91440" marR="91440" marT="45720" marB="45720">
                    <a:solidFill>
                      <a:srgbClr val="0D182A"/>
                    </a:solidFill>
                  </a:tcPr>
                </a:tc>
                <a:tc>
                  <a:txBody>
                    <a:bodyPr/>
                    <a:lstStyle/>
                    <a:p>
                      <a:r>
                        <a:rPr sz="1650" b="1">
                          <a:solidFill>
                            <a:srgbClr val="FFFFFF"/>
                          </a:solidFill>
                          <a:latin typeface="Bahnschrift"/>
                          <a:ea typeface="Bahnschrift"/>
                          <a:cs typeface="Bahnschrift"/>
                        </a:rPr>
                        <a:t>Telomeres</a:t>
                      </a:r>
                    </a:p>
                  </a:txBody>
                  <a:tcPr marL="91440" marR="91440" marT="45720" marB="45720">
                    <a:solidFill>
                      <a:srgbClr val="0D182A"/>
                    </a:solidFill>
                  </a:tcPr>
                </a:tc>
                <a:tc>
                  <a:txBody>
                    <a:bodyPr/>
                    <a:lstStyle/>
                    <a:p>
                      <a:r>
                        <a:rPr sz="1650" b="1">
                          <a:solidFill>
                            <a:srgbClr val="FFFFFF"/>
                          </a:solidFill>
                          <a:latin typeface="Bahnschrift"/>
                          <a:ea typeface="Bahnschrift"/>
                          <a:cs typeface="Bahnschrift"/>
                        </a:rPr>
                        <a:t>Median</a:t>
                      </a:r>
                    </a:p>
                    <a:p>
                      <a:r>
                        <a:rPr sz="1650" b="1">
                          <a:solidFill>
                            <a:srgbClr val="FFFFFF"/>
                          </a:solidFill>
                          <a:latin typeface="Bahnschrift"/>
                          <a:ea typeface="Bahnschrift"/>
                          <a:cs typeface="Bahnschrift"/>
                        </a:rPr>
                        <a:t>telomere</a:t>
                      </a:r>
                    </a:p>
                    <a:p>
                      <a:r>
                        <a:rPr sz="1650" b="1">
                          <a:solidFill>
                            <a:srgbClr val="FFFFFF"/>
                          </a:solidFill>
                          <a:latin typeface="Bahnschrift"/>
                          <a:ea typeface="Bahnschrift"/>
                          <a:cs typeface="Bahnschrift"/>
                        </a:rPr>
                        <a:t>length (bp)</a:t>
                      </a:r>
                    </a:p>
                  </a:txBody>
                  <a:tcPr marL="91440" marR="91440" marT="45720" marB="45720">
                    <a:solidFill>
                      <a:srgbClr val="0D182A"/>
                    </a:solidFill>
                  </a:tcPr>
                </a:tc>
                <a:tc>
                  <a:txBody>
                    <a:bodyPr/>
                    <a:lstStyle/>
                    <a:p>
                      <a:r>
                        <a:rPr sz="1650" b="1">
                          <a:solidFill>
                            <a:srgbClr val="FFFFFF"/>
                          </a:solidFill>
                          <a:latin typeface="Bahnschrift"/>
                          <a:ea typeface="Bahnschrift"/>
                          <a:cs typeface="Bahnschrift"/>
                        </a:rPr>
                        <a:t>Below</a:t>
                      </a:r>
                    </a:p>
                    <a:p>
                      <a:r>
                        <a:rPr sz="1650" b="1">
                          <a:solidFill>
                            <a:srgbClr val="FFFFFF"/>
                          </a:solidFill>
                          <a:latin typeface="Bahnschrift"/>
                          <a:ea typeface="Bahnschrift"/>
                          <a:cs typeface="Bahnschrift"/>
                        </a:rPr>
                        <a:t>2 kb</a:t>
                      </a:r>
                    </a:p>
                  </a:txBody>
                  <a:tcPr marL="91440" marR="91440" marT="45720" marB="45720">
                    <a:solidFill>
                      <a:srgbClr val="0D182A"/>
                    </a:solidFill>
                  </a:tcPr>
                </a:tc>
                <a:tc>
                  <a:txBody>
                    <a:bodyPr/>
                    <a:lstStyle/>
                    <a:p>
                      <a:r>
                        <a:rPr sz="1650" b="1">
                          <a:solidFill>
                            <a:srgbClr val="FFFFFF"/>
                          </a:solidFill>
                          <a:latin typeface="Bahnschrift"/>
                          <a:ea typeface="Bahnschrift"/>
                          <a:cs typeface="Bahnschrift"/>
                        </a:rPr>
                        <a:t>Median read</a:t>
                      </a:r>
                    </a:p>
                    <a:p>
                      <a:r>
                        <a:rPr sz="1650" b="1">
                          <a:solidFill>
                            <a:srgbClr val="FFFFFF"/>
                          </a:solidFill>
                          <a:latin typeface="Bahnschrift"/>
                          <a:ea typeface="Bahnschrift"/>
                          <a:cs typeface="Bahnschrift"/>
                        </a:rPr>
                        <a:t>length (bp)</a:t>
                      </a:r>
                    </a:p>
                  </a:txBody>
                  <a:tcPr marL="91440" marR="91440" marT="45720" marB="45720">
                    <a:solidFill>
                      <a:srgbClr val="0D182A"/>
                    </a:solidFill>
                  </a:tcPr>
                </a:tc>
                <a:tc>
                  <a:txBody>
                    <a:bodyPr/>
                    <a:lstStyle/>
                    <a:p>
                      <a:r>
                        <a:rPr sz="1650" b="1">
                          <a:solidFill>
                            <a:srgbClr val="FFFFFF"/>
                          </a:solidFill>
                          <a:latin typeface="Bahnschrift"/>
                          <a:ea typeface="Bahnschrift"/>
                          <a:cs typeface="Bahnschrift"/>
                        </a:rPr>
                        <a:t>Mean</a:t>
                      </a:r>
                    </a:p>
                    <a:p>
                      <a:r>
                        <a:rPr sz="1650" b="1">
                          <a:solidFill>
                            <a:srgbClr val="FFFFFF"/>
                          </a:solidFill>
                          <a:latin typeface="Bahnschrift"/>
                          <a:ea typeface="Bahnschrift"/>
                          <a:cs typeface="Bahnschrift"/>
                        </a:rPr>
                        <a:t>density</a:t>
                      </a:r>
                    </a:p>
                  </a:txBody>
                  <a:tcPr marL="91440" marR="91440" marT="45720" marB="45720">
                    <a:solidFill>
                      <a:srgbClr val="0D182A"/>
                    </a:solidFill>
                  </a:tcPr>
                </a:tc>
                <a:tc>
                  <a:txBody>
                    <a:bodyPr/>
                    <a:lstStyle/>
                    <a:p>
                      <a:r>
                        <a:rPr sz="1650" b="1">
                          <a:solidFill>
                            <a:srgbClr val="FFFFFF"/>
                          </a:solidFill>
                          <a:latin typeface="Bahnschrift"/>
                          <a:ea typeface="Bahnschrift"/>
                          <a:cs typeface="Bahnschrift"/>
                        </a:rPr>
                        <a:t>Mean</a:t>
                      </a:r>
                    </a:p>
                    <a:p>
                      <a:r>
                        <a:rPr sz="1650" b="1">
                          <a:solidFill>
                            <a:srgbClr val="FFFFFF"/>
                          </a:solidFill>
                          <a:latin typeface="Bahnschrift"/>
                          <a:ea typeface="Bahnschrift"/>
                          <a:cs typeface="Bahnschrift"/>
                        </a:rPr>
                        <a:t>telomere</a:t>
                      </a:r>
                    </a:p>
                    <a:p>
                      <a:r>
                        <a:rPr sz="1650" b="1">
                          <a:solidFill>
                            <a:srgbClr val="FFFFFF"/>
                          </a:solidFill>
                          <a:latin typeface="Bahnschrift"/>
                          <a:ea typeface="Bahnschrift"/>
                          <a:cs typeface="Bahnschrift"/>
                        </a:rPr>
                        <a:t>start (bp)</a:t>
                      </a:r>
                    </a:p>
                  </a:txBody>
                  <a:tcPr marL="91440" marR="91440" marT="45720" marB="45720">
                    <a:solidFill>
                      <a:srgbClr val="0D182A"/>
                    </a:solidFill>
                  </a:tcPr>
                </a:tc>
              </a:tr>
              <a:tr h="369094">
                <a:tc>
                  <a:txBody>
                    <a:bodyPr/>
                    <a:lstStyle/>
                    <a:p>
                      <a:r>
                        <a:rPr sz="1875" b="1">
                          <a:solidFill>
                            <a:srgbClr val="0D182A"/>
                          </a:solidFill>
                          <a:latin typeface="Segoe UI"/>
                          <a:ea typeface="Segoe UI"/>
                          <a:cs typeface="Segoe UI"/>
                        </a:rPr>
                        <a:t>barcode02</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12</a:t>
                      </a:r>
                    </a:p>
                  </a:txBody>
                  <a:tcPr marL="91440" marR="91440" marT="45720" marB="45720">
                    <a:solidFill>
                      <a:srgbClr val="FFFFFF"/>
                    </a:solidFill>
                  </a:tcPr>
                </a:tc>
                <a:tc>
                  <a:txBody>
                    <a:bodyPr/>
                    <a:lstStyle/>
                    <a:p>
                      <a:r>
                        <a:rPr sz="1875" b="0">
                          <a:solidFill>
                            <a:srgbClr val="0D182A"/>
                          </a:solidFill>
                          <a:latin typeface="Segoe UI"/>
                          <a:ea typeface="Segoe UI"/>
                          <a:cs typeface="Segoe UI"/>
                        </a:rPr>
                        <a:t>4,896.5</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16.7%</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16,096</a:t>
                      </a:r>
                    </a:p>
                  </a:txBody>
                  <a:tcPr marL="91440" marR="91440" marT="45720" marB="45720">
                    <a:solidFill>
                      <a:srgbClr val="FFFFFF"/>
                    </a:solidFill>
                  </a:tcPr>
                </a:tc>
                <a:tc>
                  <a:txBody>
                    <a:bodyPr/>
                    <a:lstStyle/>
                    <a:p>
                      <a:r>
                        <a:rPr sz="1875" b="0">
                          <a:solidFill>
                            <a:srgbClr val="0D182A"/>
                          </a:solidFill>
                          <a:latin typeface="Segoe UI"/>
                          <a:ea typeface="Segoe UI"/>
                          <a:cs typeface="Segoe UI"/>
                        </a:rPr>
                        <a:t>0.957</a:t>
                      </a:r>
                    </a:p>
                  </a:txBody>
                  <a:tcPr marL="91440" marR="91440" marT="45720" marB="45720">
                    <a:solidFill>
                      <a:srgbClr val="FFFFFF"/>
                    </a:solidFill>
                  </a:tcPr>
                </a:tc>
                <a:tc>
                  <a:txBody>
                    <a:bodyPr/>
                    <a:lstStyle/>
                    <a:p>
                      <a:r>
                        <a:rPr sz="1875" b="0">
                          <a:solidFill>
                            <a:srgbClr val="0D182A"/>
                          </a:solidFill>
                          <a:latin typeface="Segoe UI"/>
                          <a:ea typeface="Segoe UI"/>
                          <a:cs typeface="Segoe UI"/>
                        </a:rPr>
                        <a:t>85.9</a:t>
                      </a:r>
                    </a:p>
                  </a:txBody>
                  <a:tcPr marL="91440" marR="91440" marT="45720" marB="45720">
                    <a:solidFill>
                      <a:srgbClr val="FFFFFF"/>
                    </a:solidFill>
                  </a:tcPr>
                </a:tc>
              </a:tr>
              <a:tr h="369094">
                <a:tc>
                  <a:txBody>
                    <a:bodyPr/>
                    <a:lstStyle/>
                    <a:p>
                      <a:r>
                        <a:rPr sz="1875" b="1">
                          <a:solidFill>
                            <a:srgbClr val="0D182A"/>
                          </a:solidFill>
                          <a:latin typeface="Segoe UI"/>
                          <a:ea typeface="Segoe UI"/>
                          <a:cs typeface="Segoe UI"/>
                        </a:rPr>
                        <a:t>barcode03</a:t>
                      </a:r>
                    </a:p>
                  </a:txBody>
                  <a:tcPr marL="91440" marR="91440" marT="45720" marB="45720">
                    <a:solidFill>
                      <a:srgbClr val="E8EDF4"/>
                    </a:solidFill>
                  </a:tcPr>
                </a:tc>
                <a:tc>
                  <a:txBody>
                    <a:bodyPr/>
                    <a:lstStyle/>
                    <a:p>
                      <a:r>
                        <a:rPr sz="1875" b="0">
                          <a:solidFill>
                            <a:srgbClr val="0D182A"/>
                          </a:solidFill>
                          <a:latin typeface="Segoe UI"/>
                          <a:ea typeface="Segoe UI"/>
                          <a:cs typeface="Segoe UI"/>
                        </a:rPr>
                        <a:t>32</a:t>
                      </a:r>
                    </a:p>
                  </a:txBody>
                  <a:tcPr marL="91440" marR="91440" marT="45720" marB="45720">
                    <a:solidFill>
                      <a:srgbClr val="E8EDF4"/>
                    </a:solidFill>
                  </a:tcPr>
                </a:tc>
                <a:tc>
                  <a:txBody>
                    <a:bodyPr/>
                    <a:lstStyle/>
                    <a:p>
                      <a:r>
                        <a:rPr sz="1875" b="0">
                          <a:solidFill>
                            <a:srgbClr val="0D182A"/>
                          </a:solidFill>
                          <a:latin typeface="Segoe UI"/>
                          <a:ea typeface="Segoe UI"/>
                          <a:cs typeface="Segoe UI"/>
                        </a:rPr>
                        <a:t>5,240</a:t>
                      </a:r>
                    </a:p>
                  </a:txBody>
                  <a:tcPr marL="91440" marR="91440" marT="45720" marB="45720">
                    <a:solidFill>
                      <a:srgbClr val="E8EDF4"/>
                    </a:solidFill>
                  </a:tcPr>
                </a:tc>
                <a:tc>
                  <a:txBody>
                    <a:bodyPr/>
                    <a:lstStyle/>
                    <a:p>
                      <a:r>
                        <a:rPr sz="1875" b="0">
                          <a:solidFill>
                            <a:srgbClr val="0D182A"/>
                          </a:solidFill>
                          <a:latin typeface="Segoe UI"/>
                          <a:ea typeface="Segoe UI"/>
                          <a:cs typeface="Segoe UI"/>
                        </a:rPr>
                        <a:t>6.3%</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18,430</a:t>
                      </a:r>
                    </a:p>
                  </a:txBody>
                  <a:tcPr marL="91440" marR="91440" marT="45720" marB="45720">
                    <a:solidFill>
                      <a:srgbClr val="E8EDF4"/>
                    </a:solidFill>
                  </a:tcPr>
                </a:tc>
                <a:tc>
                  <a:txBody>
                    <a:bodyPr/>
                    <a:lstStyle/>
                    <a:p>
                      <a:r>
                        <a:rPr sz="1875" b="0">
                          <a:solidFill>
                            <a:srgbClr val="0D182A"/>
                          </a:solidFill>
                          <a:latin typeface="Segoe UI"/>
                          <a:ea typeface="Segoe UI"/>
                          <a:cs typeface="Segoe UI"/>
                        </a:rPr>
                        <a:t>0.964</a:t>
                      </a:r>
                    </a:p>
                  </a:txBody>
                  <a:tcPr marL="91440" marR="91440" marT="45720" marB="45720">
                    <a:solidFill>
                      <a:srgbClr val="E8EDF4"/>
                    </a:solidFill>
                  </a:tcPr>
                </a:tc>
                <a:tc>
                  <a:txBody>
                    <a:bodyPr/>
                    <a:lstStyle/>
                    <a:p>
                      <a:r>
                        <a:rPr sz="1875" b="0">
                          <a:solidFill>
                            <a:srgbClr val="0D182A"/>
                          </a:solidFill>
                          <a:latin typeface="Segoe UI"/>
                          <a:ea typeface="Segoe UI"/>
                          <a:cs typeface="Segoe UI"/>
                        </a:rPr>
                        <a:t>81.2</a:t>
                      </a:r>
                    </a:p>
                  </a:txBody>
                  <a:tcPr marL="91440" marR="91440" marT="45720" marB="45720">
                    <a:solidFill>
                      <a:srgbClr val="E8EDF4"/>
                    </a:solidFill>
                  </a:tcPr>
                </a:tc>
              </a:tr>
              <a:tr h="369094">
                <a:tc>
                  <a:txBody>
                    <a:bodyPr/>
                    <a:lstStyle/>
                    <a:p>
                      <a:r>
                        <a:rPr sz="1875" b="1">
                          <a:solidFill>
                            <a:srgbClr val="0D182A"/>
                          </a:solidFill>
                          <a:latin typeface="Segoe UI"/>
                          <a:ea typeface="Segoe UI"/>
                          <a:cs typeface="Segoe UI"/>
                        </a:rPr>
                        <a:t>barcode04</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18</a:t>
                      </a:r>
                    </a:p>
                  </a:txBody>
                  <a:tcPr marL="91440" marR="91440" marT="45720" marB="45720">
                    <a:solidFill>
                      <a:srgbClr val="FFFFFF"/>
                    </a:solidFill>
                  </a:tcPr>
                </a:tc>
                <a:tc>
                  <a:txBody>
                    <a:bodyPr/>
                    <a:lstStyle/>
                    <a:p>
                      <a:r>
                        <a:rPr sz="1875" b="0">
                          <a:solidFill>
                            <a:srgbClr val="0D182A"/>
                          </a:solidFill>
                          <a:latin typeface="Segoe UI"/>
                          <a:ea typeface="Segoe UI"/>
                          <a:cs typeface="Segoe UI"/>
                        </a:rPr>
                        <a:t>4,380</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11.1%</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15,870</a:t>
                      </a:r>
                    </a:p>
                  </a:txBody>
                  <a:tcPr marL="91440" marR="91440" marT="45720" marB="45720">
                    <a:solidFill>
                      <a:srgbClr val="FFFFFF"/>
                    </a:solidFill>
                  </a:tcPr>
                </a:tc>
                <a:tc>
                  <a:txBody>
                    <a:bodyPr/>
                    <a:lstStyle/>
                    <a:p>
                      <a:r>
                        <a:rPr sz="1875" b="0">
                          <a:solidFill>
                            <a:srgbClr val="0D182A"/>
                          </a:solidFill>
                          <a:latin typeface="Segoe UI"/>
                          <a:ea typeface="Segoe UI"/>
                          <a:cs typeface="Segoe UI"/>
                        </a:rPr>
                        <a:t>0.948</a:t>
                      </a:r>
                    </a:p>
                  </a:txBody>
                  <a:tcPr marL="91440" marR="91440" marT="45720" marB="45720">
                    <a:solidFill>
                      <a:srgbClr val="FFFFFF"/>
                    </a:solidFill>
                  </a:tcPr>
                </a:tc>
                <a:tc>
                  <a:txBody>
                    <a:bodyPr/>
                    <a:lstStyle/>
                    <a:p>
                      <a:r>
                        <a:rPr sz="1875" b="0">
                          <a:solidFill>
                            <a:srgbClr val="0D182A"/>
                          </a:solidFill>
                          <a:latin typeface="Segoe UI"/>
                          <a:ea typeface="Segoe UI"/>
                          <a:cs typeface="Segoe UI"/>
                        </a:rPr>
                        <a:t>89.5</a:t>
                      </a:r>
                    </a:p>
                  </a:txBody>
                  <a:tcPr marL="91440" marR="91440" marT="45720" marB="45720">
                    <a:solidFill>
                      <a:srgbClr val="FFFFFF"/>
                    </a:solidFill>
                  </a:tcPr>
                </a:tc>
              </a:tr>
              <a:tr h="369094">
                <a:tc>
                  <a:txBody>
                    <a:bodyPr/>
                    <a:lstStyle/>
                    <a:p>
                      <a:r>
                        <a:rPr sz="1875" b="1">
                          <a:solidFill>
                            <a:srgbClr val="0D182A"/>
                          </a:solidFill>
                          <a:latin typeface="Segoe UI"/>
                          <a:ea typeface="Segoe UI"/>
                          <a:cs typeface="Segoe UI"/>
                        </a:rPr>
                        <a:t>barcode05</a:t>
                      </a:r>
                    </a:p>
                  </a:txBody>
                  <a:tcPr marL="91440" marR="91440" marT="45720" marB="45720">
                    <a:solidFill>
                      <a:srgbClr val="E8EDF4"/>
                    </a:solidFill>
                  </a:tcPr>
                </a:tc>
                <a:tc>
                  <a:txBody>
                    <a:bodyPr/>
                    <a:lstStyle/>
                    <a:p>
                      <a:r>
                        <a:rPr sz="1875" b="0">
                          <a:solidFill>
                            <a:srgbClr val="0D182A"/>
                          </a:solidFill>
                          <a:latin typeface="Segoe UI"/>
                          <a:ea typeface="Segoe UI"/>
                          <a:cs typeface="Segoe UI"/>
                        </a:rPr>
                        <a:t>45</a:t>
                      </a:r>
                    </a:p>
                  </a:txBody>
                  <a:tcPr marL="91440" marR="91440" marT="45720" marB="45720">
                    <a:solidFill>
                      <a:srgbClr val="E8EDF4"/>
                    </a:solidFill>
                  </a:tcPr>
                </a:tc>
                <a:tc>
                  <a:txBody>
                    <a:bodyPr/>
                    <a:lstStyle/>
                    <a:p>
                      <a:r>
                        <a:rPr sz="1875" b="0">
                          <a:solidFill>
                            <a:srgbClr val="0D182A"/>
                          </a:solidFill>
                          <a:latin typeface="Segoe UI"/>
                          <a:ea typeface="Segoe UI"/>
                          <a:cs typeface="Segoe UI"/>
                        </a:rPr>
                        <a:t>6,110</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13.3%</a:t>
                      </a:r>
                    </a:p>
                  </a:txBody>
                  <a:tcPr marL="91440" marR="91440" marT="45720" marB="45720">
                    <a:solidFill>
                      <a:srgbClr val="E8EDF4"/>
                    </a:solidFill>
                  </a:tcPr>
                </a:tc>
                <a:tc>
                  <a:txBody>
                    <a:bodyPr/>
                    <a:lstStyle/>
                    <a:p>
                      <a:r>
                        <a:rPr sz="1875" b="0">
                          <a:solidFill>
                            <a:srgbClr val="0D182A"/>
                          </a:solidFill>
                          <a:latin typeface="Segoe UI"/>
                          <a:ea typeface="Segoe UI"/>
                          <a:cs typeface="Segoe UI"/>
                        </a:rPr>
                        <a:t>21,260</a:t>
                      </a:r>
                    </a:p>
                  </a:txBody>
                  <a:tcPr marL="91440" marR="91440" marT="45720" marB="45720">
                    <a:solidFill>
                      <a:srgbClr val="E8EDF4"/>
                    </a:solidFill>
                  </a:tcPr>
                </a:tc>
                <a:tc>
                  <a:txBody>
                    <a:bodyPr/>
                    <a:lstStyle/>
                    <a:p>
                      <a:r>
                        <a:rPr sz="1875" b="0">
                          <a:solidFill>
                            <a:srgbClr val="0D182A"/>
                          </a:solidFill>
                          <a:latin typeface="Segoe UI"/>
                          <a:ea typeface="Segoe UI"/>
                          <a:cs typeface="Segoe UI"/>
                        </a:rPr>
                        <a:t>0.976</a:t>
                      </a:r>
                    </a:p>
                  </a:txBody>
                  <a:tcPr marL="91440" marR="91440" marT="45720" marB="45720">
                    <a:solidFill>
                      <a:srgbClr val="E8EDF4"/>
                    </a:solidFill>
                  </a:tcPr>
                </a:tc>
                <a:tc>
                  <a:txBody>
                    <a:bodyPr/>
                    <a:lstStyle/>
                    <a:p>
                      <a:r>
                        <a:rPr sz="1875" b="0">
                          <a:solidFill>
                            <a:srgbClr val="0D182A"/>
                          </a:solidFill>
                          <a:latin typeface="Segoe UI"/>
                          <a:ea typeface="Segoe UI"/>
                          <a:cs typeface="Segoe UI"/>
                        </a:rPr>
                        <a:t>76.4</a:t>
                      </a:r>
                    </a:p>
                  </a:txBody>
                  <a:tcPr marL="91440" marR="91440" marT="45720" marB="45720">
                    <a:solidFill>
                      <a:srgbClr val="E8EDF4"/>
                    </a:solidFill>
                  </a:tcPr>
                </a:tc>
              </a:tr>
              <a:tr h="369094">
                <a:tc>
                  <a:txBody>
                    <a:bodyPr/>
                    <a:lstStyle/>
                    <a:p>
                      <a:r>
                        <a:rPr sz="1875" b="1">
                          <a:solidFill>
                            <a:srgbClr val="0D182A"/>
                          </a:solidFill>
                          <a:latin typeface="Segoe UI"/>
                          <a:ea typeface="Segoe UI"/>
                          <a:cs typeface="Segoe UI"/>
                        </a:rPr>
                        <a:t>barcode06</a:t>
                      </a:r>
                    </a:p>
                  </a:txBody>
                  <a:tcPr marL="91440" marR="91440" marT="45720" marB="45720">
                    <a:solidFill>
                      <a:srgbClr val="FFFFFF"/>
                    </a:solidFill>
                  </a:tcPr>
                </a:tc>
                <a:tc>
                  <a:txBody>
                    <a:bodyPr/>
                    <a:lstStyle/>
                    <a:p>
                      <a:r>
                        <a:rPr sz="1875" b="0">
                          <a:solidFill>
                            <a:srgbClr val="0D182A"/>
                          </a:solidFill>
                          <a:latin typeface="Segoe UI"/>
                          <a:ea typeface="Segoe UI"/>
                          <a:cs typeface="Segoe UI"/>
                        </a:rPr>
                        <a:t>27</a:t>
                      </a:r>
                    </a:p>
                  </a:txBody>
                  <a:tcPr marL="91440" marR="91440" marT="45720" marB="45720">
                    <a:solidFill>
                      <a:srgbClr val="FFFFFF"/>
                    </a:solidFill>
                  </a:tcPr>
                </a:tc>
                <a:tc>
                  <a:txBody>
                    <a:bodyPr/>
                    <a:lstStyle/>
                    <a:p>
                      <a:r>
                        <a:rPr sz="1875" b="0">
                          <a:solidFill>
                            <a:srgbClr val="0D182A"/>
                          </a:solidFill>
                          <a:latin typeface="Segoe UI"/>
                          <a:ea typeface="Segoe UI"/>
                          <a:cs typeface="Segoe UI"/>
                        </a:rPr>
                        <a:t>5,670</a:t>
                      </a:r>
                    </a:p>
                  </a:txBody>
                  <a:tcPr marL="91440" marR="91440" marT="45720" marB="45720">
                    <a:solidFill>
                      <a:srgbClr val="FFFFFF"/>
                    </a:solidFill>
                  </a:tcPr>
                </a:tc>
                <a:tc>
                  <a:txBody>
                    <a:bodyPr/>
                    <a:lstStyle/>
                    <a:p>
                      <a:r>
                        <a:rPr sz="1875" b="0">
                          <a:solidFill>
                            <a:srgbClr val="0D182A"/>
                          </a:solidFill>
                          <a:latin typeface="Segoe UI"/>
                          <a:ea typeface="Segoe UI"/>
                          <a:cs typeface="Segoe UI"/>
                        </a:rPr>
                        <a:t>7.4%</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19,540</a:t>
                      </a:r>
                    </a:p>
                  </a:txBody>
                  <a:tcPr marL="91440" marR="91440" marT="45720" marB="45720">
                    <a:solidFill>
                      <a:srgbClr val="FFFFFF"/>
                    </a:solidFill>
                  </a:tcPr>
                </a:tc>
                <a:tc>
                  <a:txBody>
                    <a:bodyPr/>
                    <a:lstStyle/>
                    <a:p>
                      <a:r>
                        <a:rPr sz="1875" b="0">
                          <a:solidFill>
                            <a:srgbClr val="0D182A"/>
                          </a:solidFill>
                          <a:latin typeface="Segoe UI"/>
                          <a:ea typeface="Segoe UI"/>
                          <a:cs typeface="Segoe UI"/>
                        </a:rPr>
                        <a:t>0.961</a:t>
                      </a:r>
                    </a:p>
                  </a:txBody>
                  <a:tcPr marL="91440" marR="91440" marT="45720" marB="45720">
                    <a:solidFill>
                      <a:srgbClr val="FFFFFF"/>
                    </a:solidFill>
                  </a:tcPr>
                </a:tc>
                <a:tc>
                  <a:txBody>
                    <a:bodyPr/>
                    <a:lstStyle/>
                    <a:p>
                      <a:r>
                        <a:rPr sz="1875" b="0">
                          <a:solidFill>
                            <a:srgbClr val="0D182A"/>
                          </a:solidFill>
                          <a:latin typeface="Segoe UI"/>
                          <a:ea typeface="Segoe UI"/>
                          <a:cs typeface="Segoe UI"/>
                        </a:rPr>
                        <a:t>83.7</a:t>
                      </a:r>
                    </a:p>
                  </a:txBody>
                  <a:tcPr marL="91440" marR="91440" marT="45720" marB="45720">
                    <a:solidFill>
                      <a:srgbClr val="FFFFFF"/>
                    </a:solidFill>
                  </a:tcPr>
                </a:tc>
              </a:tr>
              <a:tr h="369094">
                <a:tc>
                  <a:txBody>
                    <a:bodyPr/>
                    <a:lstStyle/>
                    <a:p>
                      <a:r>
                        <a:rPr sz="1875" b="1">
                          <a:solidFill>
                            <a:srgbClr val="0D182A"/>
                          </a:solidFill>
                          <a:latin typeface="Segoe UI"/>
                          <a:ea typeface="Segoe UI"/>
                          <a:cs typeface="Segoe UI"/>
                        </a:rPr>
                        <a:t>barcode07</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16</a:t>
                      </a:r>
                    </a:p>
                  </a:txBody>
                  <a:tcPr marL="91440" marR="91440" marT="45720" marB="45720">
                    <a:solidFill>
                      <a:srgbClr val="E8EDF4"/>
                    </a:solidFill>
                  </a:tcPr>
                </a:tc>
                <a:tc>
                  <a:txBody>
                    <a:bodyPr/>
                    <a:lstStyle/>
                    <a:p>
                      <a:r>
                        <a:rPr sz="1875" b="0">
                          <a:solidFill>
                            <a:srgbClr val="0D182A"/>
                          </a:solidFill>
                          <a:latin typeface="Segoe UI"/>
                          <a:ea typeface="Segoe UI"/>
                          <a:cs typeface="Segoe UI"/>
                        </a:rPr>
                        <a:t>3,920</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18.8%</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14,980</a:t>
                      </a:r>
                    </a:p>
                  </a:txBody>
                  <a:tcPr marL="91440" marR="91440" marT="45720" marB="45720">
                    <a:solidFill>
                      <a:srgbClr val="E8EDF4"/>
                    </a:solidFill>
                  </a:tcPr>
                </a:tc>
                <a:tc>
                  <a:txBody>
                    <a:bodyPr/>
                    <a:lstStyle/>
                    <a:p>
                      <a:r>
                        <a:rPr sz="1875" b="0">
                          <a:solidFill>
                            <a:srgbClr val="0D182A"/>
                          </a:solidFill>
                          <a:latin typeface="Segoe UI"/>
                          <a:ea typeface="Segoe UI"/>
                          <a:cs typeface="Segoe UI"/>
                        </a:rPr>
                        <a:t>0.942</a:t>
                      </a:r>
                    </a:p>
                  </a:txBody>
                  <a:tcPr marL="91440" marR="91440" marT="45720" marB="45720">
                    <a:solidFill>
                      <a:srgbClr val="E8EDF4"/>
                    </a:solidFill>
                  </a:tcPr>
                </a:tc>
                <a:tc>
                  <a:txBody>
                    <a:bodyPr/>
                    <a:lstStyle/>
                    <a:p>
                      <a:r>
                        <a:rPr sz="1875" b="0">
                          <a:solidFill>
                            <a:srgbClr val="0D182A"/>
                          </a:solidFill>
                          <a:latin typeface="Segoe UI"/>
                          <a:ea typeface="Segoe UI"/>
                          <a:cs typeface="Segoe UI"/>
                        </a:rPr>
                        <a:t>91.1</a:t>
                      </a:r>
                    </a:p>
                  </a:txBody>
                  <a:tcPr marL="91440" marR="91440" marT="45720" marB="45720">
                    <a:solidFill>
                      <a:srgbClr val="E8EDF4"/>
                    </a:solidFill>
                  </a:tcPr>
                </a:tc>
              </a:tr>
              <a:tr h="369094">
                <a:tc>
                  <a:txBody>
                    <a:bodyPr/>
                    <a:lstStyle/>
                    <a:p>
                      <a:r>
                        <a:rPr sz="1875" b="1">
                          <a:solidFill>
                            <a:srgbClr val="0D182A"/>
                          </a:solidFill>
                          <a:latin typeface="Segoe UI"/>
                          <a:ea typeface="Segoe UI"/>
                          <a:cs typeface="Segoe UI"/>
                        </a:rPr>
                        <a:t>barcode08</a:t>
                      </a:r>
                    </a:p>
                  </a:txBody>
                  <a:tcPr marL="91440" marR="91440" marT="45720" marB="45720">
                    <a:solidFill>
                      <a:srgbClr val="FFFFFF"/>
                    </a:solidFill>
                  </a:tcPr>
                </a:tc>
                <a:tc>
                  <a:txBody>
                    <a:bodyPr/>
                    <a:lstStyle/>
                    <a:p>
                      <a:r>
                        <a:rPr sz="1875" b="0">
                          <a:solidFill>
                            <a:srgbClr val="0D182A"/>
                          </a:solidFill>
                          <a:latin typeface="Segoe UI"/>
                          <a:ea typeface="Segoe UI"/>
                          <a:cs typeface="Segoe UI"/>
                        </a:rPr>
                        <a:t>38</a:t>
                      </a:r>
                    </a:p>
                  </a:txBody>
                  <a:tcPr marL="91440" marR="91440" marT="45720" marB="45720">
                    <a:solidFill>
                      <a:srgbClr val="FFFFFF"/>
                    </a:solidFill>
                  </a:tcPr>
                </a:tc>
                <a:tc>
                  <a:txBody>
                    <a:bodyPr/>
                    <a:lstStyle/>
                    <a:p>
                      <a:r>
                        <a:rPr sz="1875" b="0">
                          <a:solidFill>
                            <a:srgbClr val="0D182A"/>
                          </a:solidFill>
                          <a:latin typeface="Segoe UI"/>
                          <a:ea typeface="Segoe UI"/>
                          <a:cs typeface="Segoe UI"/>
                        </a:rPr>
                        <a:t>6,480</a:t>
                      </a:r>
                    </a:p>
                  </a:txBody>
                  <a:tcPr marL="91440" marR="91440" marT="45720" marB="45720">
                    <a:solidFill>
                      <a:srgbClr val="FFFFFF"/>
                    </a:solidFill>
                  </a:tcPr>
                </a:tc>
                <a:tc>
                  <a:txBody>
                    <a:bodyPr/>
                    <a:lstStyle/>
                    <a:p>
                      <a:r>
                        <a:rPr sz="1875" b="0">
                          <a:solidFill>
                            <a:srgbClr val="0D182A"/>
                          </a:solidFill>
                          <a:latin typeface="Segoe UI"/>
                          <a:ea typeface="Segoe UI"/>
                          <a:cs typeface="Segoe UI"/>
                        </a:rPr>
                        <a:t>10.5%</a:t>
                      </a:r>
                    </a:p>
                  </a:txBody>
                  <a:tcPr marL="91440" marR="91440" marT="45720" marB="45720">
                    <a:solidFill>
                      <a:srgbClr val="FFFFFF"/>
                    </a:solidFill>
                  </a:tcPr>
                </a:tc>
                <a:tc>
                  <a:txBody>
                    <a:bodyPr/>
                    <a:lstStyle/>
                    <a:p>
                      <a:r>
                        <a:rPr sz="1875" b="0">
                          <a:solidFill>
                            <a:srgbClr val="0D182A"/>
                          </a:solidFill>
                          <a:latin typeface="Segoe UI"/>
                          <a:ea typeface="Segoe UI"/>
                          <a:cs typeface="Segoe UI"/>
                        </a:rPr>
                        <a:t>22,150</a:t>
                      </a:r>
                    </a:p>
                  </a:txBody>
                  <a:tcPr marL="91440" marR="91440" marT="45720" marB="45720">
                    <a:solidFill>
                      <a:srgbClr val="FFFFFF"/>
                    </a:solidFill>
                  </a:tcPr>
                </a:tc>
                <a:tc>
                  <a:txBody>
                    <a:bodyPr/>
                    <a:lstStyle/>
                    <a:p>
                      <a:r>
                        <a:rPr sz="1875" b="0">
                          <a:solidFill>
                            <a:srgbClr val="0D182A"/>
                          </a:solidFill>
                          <a:latin typeface="Segoe UI"/>
                          <a:ea typeface="Segoe UI"/>
                          <a:cs typeface="Segoe UI"/>
                        </a:rPr>
                        <a:t>0.982</a:t>
                      </a:r>
                    </a:p>
                  </a:txBody>
                  <a:tcPr marL="91440" marR="91440" marT="45720" marB="45720">
                    <a:solidFill>
                      <a:srgbClr val="FFFFFF"/>
                    </a:solidFill>
                  </a:tcPr>
                </a:tc>
                <a:tc>
                  <a:txBody>
                    <a:bodyPr/>
                    <a:lstStyle/>
                    <a:p>
                      <a:r>
                        <a:rPr sz="1875" b="0">
                          <a:solidFill>
                            <a:srgbClr val="0D182A"/>
                          </a:solidFill>
                          <a:latin typeface="Segoe UI"/>
                          <a:ea typeface="Segoe UI"/>
                          <a:cs typeface="Segoe UI"/>
                        </a:rPr>
                        <a:t>74.8</a:t>
                      </a:r>
                    </a:p>
                  </a:txBody>
                  <a:tcPr marL="91440" marR="91440" marT="45720" marB="45720">
                    <a:solidFill>
                      <a:srgbClr val="FFFFFF"/>
                    </a:solidFill>
                  </a:tcPr>
                </a:tc>
              </a:tr>
              <a:tr h="369094">
                <a:tc>
                  <a:txBody>
                    <a:bodyPr/>
                    <a:lstStyle/>
                    <a:p>
                      <a:r>
                        <a:rPr sz="1875" b="1">
                          <a:solidFill>
                            <a:srgbClr val="0D182A"/>
                          </a:solidFill>
                          <a:latin typeface="Segoe UI"/>
                          <a:ea typeface="Segoe UI"/>
                          <a:cs typeface="Segoe UI"/>
                        </a:rPr>
                        <a:t>barcode19</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12,573</a:t>
                      </a:r>
                    </a:p>
                  </a:txBody>
                  <a:tcPr marL="91440" marR="91440" marT="45720" marB="45720">
                    <a:solidFill>
                      <a:srgbClr val="E8EDF4"/>
                    </a:solidFill>
                  </a:tcPr>
                </a:tc>
                <a:tc>
                  <a:txBody>
                    <a:bodyPr/>
                    <a:lstStyle/>
                    <a:p>
                      <a:r>
                        <a:rPr sz="1875" b="0">
                          <a:solidFill>
                            <a:srgbClr val="0D182A"/>
                          </a:solidFill>
                          <a:latin typeface="Segoe UI"/>
                          <a:ea typeface="Segoe UI"/>
                          <a:cs typeface="Segoe UI"/>
                        </a:rPr>
                        <a:t>0%</a:t>
                      </a:r>
                    </a:p>
                  </a:txBody>
                  <a:tcPr marL="91440" marR="91440" marT="45720" marB="45720">
                    <a:solidFill>
                      <a:srgbClr val="E8EDF4"/>
                    </a:solidFill>
                  </a:tcPr>
                </a:tc>
                <a:tc>
                  <a:txBody>
                    <a:bodyPr/>
                    <a:lstStyle/>
                    <a:p>
                      <a:r>
                        <a:rPr sz="1875" b="0">
                          <a:solidFill>
                            <a:srgbClr val="0D182A"/>
                          </a:solidFill>
                          <a:latin typeface="Segoe UI"/>
                          <a:ea typeface="Segoe UI"/>
                          <a:cs typeface="Segoe UI"/>
                        </a:rPr>
                        <a:t>17,449</a:t>
                      </a:r>
                    </a:p>
                  </a:txBody>
                  <a:tcPr marL="91440" marR="91440" marT="45720" marB="45720">
                    <a:solidFill>
                      <a:srgbClr val="E8EDF4"/>
                    </a:solidFill>
                  </a:tcPr>
                </a:tc>
                <a:tc>
                  <a:txBody>
                    <a:bodyPr/>
                    <a:lstStyle/>
                    <a:p>
                      <a:r>
                        <a:rPr sz="1875" b="0">
                          <a:solidFill>
                            <a:srgbClr val="0D182A"/>
                          </a:solidFill>
                          <a:latin typeface="Segoe UI"/>
                          <a:ea typeface="Segoe UI"/>
                          <a:cs typeface="Segoe UI"/>
                        </a:rPr>
                        <a:t>0.935</a:t>
                      </a:r>
                    </a:p>
                  </a:txBody>
                  <a:tcPr marL="91440" marR="91440" marT="45720" marB="45720">
                    <a:solidFill>
                      <a:srgbClr val="E8EDF4"/>
                    </a:solidFill>
                  </a:tcPr>
                </a:tc>
                <a:tc>
                  <a:txBody>
                    <a:bodyPr/>
                    <a:lstStyle/>
                    <a:p>
                      <a:r>
                        <a:rPr sz="1875" b="0">
                          <a:solidFill>
                            <a:srgbClr val="0D182A"/>
                          </a:solidFill>
                          <a:latin typeface="Segoe UI"/>
                          <a:ea typeface="Segoe UI"/>
                          <a:cs typeface="Segoe UI"/>
                        </a:rPr>
                        <a:t>90</a:t>
                      </a:r>
                    </a:p>
                  </a:txBody>
                  <a:tcPr marL="91440" marR="91440" marT="45720" marB="45720">
                    <a:solidFill>
                      <a:srgbClr val="E8EDF4"/>
                    </a:solidFill>
                  </a:tcPr>
                </a:tc>
              </a:tr>
            </a:tbl>
          </a:graphicData>
        </a:graphic>
      </p:graphicFrame>
      <p:sp>
        <p:nvSpPr>
          <p:cNvPr id="11" name="Rectangle 10">
            <a:extLst xmlns:a="http://schemas.openxmlformats.org/drawingml/2006/main">
              <a:ext uri="{FF2B5EF4-FFF2-40B4-BE49-F238E27FC236}">
                <a16:creationId xmlns:a16="http://schemas.microsoft.com/office/drawing/2014/main" id="{26B9FA34-4734-4606-A03C-1F1F6F0E1A91}"/>
              </a:ext>
            </a:extLst>
          </p:cNvPr>
          <p:cNvSpPr>
            <a:spLocks xmlns:a="http://schemas.openxmlformats.org/drawingml/2006/main" noGrp="1"/>
          </p:cNvSpPr>
          <p:nvPr/>
        </p:nvSpPr>
        <p:spPr>
          <a:xfrm xmlns:a="http://schemas.openxmlformats.org/drawingml/2006/main">
            <a:off x="533400" y="6105525"/>
            <a:ext cx="11125200"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1650" b="0">
                <a:solidFill>
                  <a:srgbClr val="68717E"/>
                </a:solidFill>
                <a:latin typeface="Segoe UI"/>
                <a:ea typeface="Segoe UI"/>
                <a:cs typeface="Segoe UI"/>
              </a:defRPr>
            </a:pPr>
            <a:r>
              <a:t>barcode02 and barcode19: saved results. Other rows: simulated for presentation only.</a:t>
            </a:r>
          </a:p>
        </p:txBody>
      </p:sp>
    </p:spTree>
    <p:extLst>
      <p:ext uri="{BB962C8B-B14F-4D97-AF65-F5344CB8AC3E}">
        <p14:creationId xmlns:p14="http://schemas.microsoft.com/office/powerpoint/2010/main" val="1275735081"/>
      </p:ext>
    </p:extLst>
  </p:cSld>
</p:sld>
</file>

<file path=ppt/slides/slide17.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CE9C5C57-C81E-4121-94A3-68C5D204E5E1}"/>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DETAILED RESULTS • BARCODE02 / READ908</a:t>
            </a:r>
          </a:p>
        </p:txBody>
      </p:sp>
      <p:sp>
        <p:nvSpPr>
          <p:cNvPr id="2" name="Rectangle 1">
            <a:extLst xmlns:a="http://schemas.openxmlformats.org/drawingml/2006/main">
              <a:ext uri="{FF2B5EF4-FFF2-40B4-BE49-F238E27FC236}">
                <a16:creationId xmlns:a16="http://schemas.microsoft.com/office/drawing/2014/main" id="{0ECD4207-D90C-4612-A6C2-E4BB63F72E6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per-read result</a:t>
            </a:r>
          </a:p>
        </p:txBody>
      </p:sp>
      <p:sp>
        <p:nvSpPr>
          <p:cNvPr id="3" name="Rectangle 2">
            <a:extLst xmlns:a="http://schemas.openxmlformats.org/drawingml/2006/main">
              <a:ext uri="{FF2B5EF4-FFF2-40B4-BE49-F238E27FC236}">
                <a16:creationId xmlns:a16="http://schemas.microsoft.com/office/drawing/2014/main" id="{A68DF8BE-BD75-4B6B-AB27-C70A3377090C}"/>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54f3e26b92024ac2"/>
          <a:stretch xmlns:a="http://schemas.openxmlformats.org/drawingml/2006/main"/>
        </p:blipFill>
        <p:spPr>
          <a:xfrm xmlns:a="http://schemas.openxmlformats.org/drawingml/2006/main">
            <a:off x="533400" y="2295525"/>
            <a:ext cx="7810500" cy="31242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ACFA86D1-CA76-4370-B329-877B6F1A5BDA}"/>
              </a:ext>
            </a:extLst>
          </p:cNvPr>
          <p:cNvSpPr>
            <a:spLocks xmlns:a="http://schemas.openxmlformats.org/drawingml/2006/main" noGrp="1"/>
          </p:cNvSpPr>
          <p:nvPr/>
        </p:nvSpPr>
        <p:spPr>
          <a:xfrm xmlns:a="http://schemas.openxmlformats.org/drawingml/2006/main">
            <a:off x="8896350" y="2152650"/>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35,551 bp</a:t>
            </a:r>
          </a:p>
        </p:txBody>
      </p:sp>
      <p:sp>
        <p:nvSpPr>
          <p:cNvPr id="6" name="Rectangle 5">
            <a:extLst xmlns:a="http://schemas.openxmlformats.org/drawingml/2006/main">
              <a:ext uri="{FF2B5EF4-FFF2-40B4-BE49-F238E27FC236}">
                <a16:creationId xmlns:a16="http://schemas.microsoft.com/office/drawing/2014/main" id="{1FC18669-6CEF-458D-8B76-457A162A16A6}"/>
              </a:ext>
            </a:extLst>
          </p:cNvPr>
          <p:cNvSpPr>
            <a:spLocks xmlns:a="http://schemas.openxmlformats.org/drawingml/2006/main" noGrp="1"/>
          </p:cNvSpPr>
          <p:nvPr/>
        </p:nvSpPr>
        <p:spPr>
          <a:xfrm xmlns:a="http://schemas.openxmlformats.org/drawingml/2006/main">
            <a:off x="8896350" y="2771775"/>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Read length</a:t>
            </a:r>
          </a:p>
        </p:txBody>
      </p:sp>
      <p:sp>
        <p:nvSpPr>
          <p:cNvPr id="7" name="Rectangle 6">
            <a:extLst xmlns:a="http://schemas.openxmlformats.org/drawingml/2006/main">
              <a:ext uri="{FF2B5EF4-FFF2-40B4-BE49-F238E27FC236}">
                <a16:creationId xmlns:a16="http://schemas.microsoft.com/office/drawing/2014/main" id="{081B33DD-A359-4E3D-8E1C-1816873DC871}"/>
              </a:ext>
            </a:extLst>
          </p:cNvPr>
          <p:cNvSpPr>
            <a:spLocks xmlns:a="http://schemas.openxmlformats.org/drawingml/2006/main" noGrp="1"/>
          </p:cNvSpPr>
          <p:nvPr/>
        </p:nvSpPr>
        <p:spPr>
          <a:xfrm xmlns:a="http://schemas.openxmlformats.org/drawingml/2006/main">
            <a:off x="8896350" y="3533775"/>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6,326 bp</a:t>
            </a:r>
          </a:p>
        </p:txBody>
      </p:sp>
      <p:sp>
        <p:nvSpPr>
          <p:cNvPr id="8" name="Rectangle 7">
            <a:extLst xmlns:a="http://schemas.openxmlformats.org/drawingml/2006/main">
              <a:ext uri="{FF2B5EF4-FFF2-40B4-BE49-F238E27FC236}">
                <a16:creationId xmlns:a16="http://schemas.microsoft.com/office/drawing/2014/main" id="{D9C94D47-1A5A-4566-A7C9-37D59C422F19}"/>
              </a:ext>
            </a:extLst>
          </p:cNvPr>
          <p:cNvSpPr>
            <a:spLocks xmlns:a="http://schemas.openxmlformats.org/drawingml/2006/main" noGrp="1"/>
          </p:cNvSpPr>
          <p:nvPr/>
        </p:nvSpPr>
        <p:spPr>
          <a:xfrm xmlns:a="http://schemas.openxmlformats.org/drawingml/2006/main">
            <a:off x="8896350" y="4152900"/>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Telomere length</a:t>
            </a:r>
          </a:p>
        </p:txBody>
      </p:sp>
      <p:sp>
        <p:nvSpPr>
          <p:cNvPr id="9" name="Rectangle 8">
            <a:extLst xmlns:a="http://schemas.openxmlformats.org/drawingml/2006/main">
              <a:ext uri="{FF2B5EF4-FFF2-40B4-BE49-F238E27FC236}">
                <a16:creationId xmlns:a16="http://schemas.microsoft.com/office/drawing/2014/main" id="{8AD00D34-86A7-42CD-9403-1BFAA3FE47AD}"/>
              </a:ext>
            </a:extLst>
          </p:cNvPr>
          <p:cNvSpPr>
            <a:spLocks xmlns:a="http://schemas.openxmlformats.org/drawingml/2006/main" noGrp="1"/>
          </p:cNvSpPr>
          <p:nvPr/>
        </p:nvSpPr>
        <p:spPr>
          <a:xfrm xmlns:a="http://schemas.openxmlformats.org/drawingml/2006/main">
            <a:off x="8896350" y="4914900"/>
            <a:ext cx="280987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0.933</a:t>
            </a:r>
          </a:p>
        </p:txBody>
      </p:sp>
      <p:sp>
        <p:nvSpPr>
          <p:cNvPr id="10" name="Rectangle 9">
            <a:extLst xmlns:a="http://schemas.openxmlformats.org/drawingml/2006/main">
              <a:ext uri="{FF2B5EF4-FFF2-40B4-BE49-F238E27FC236}">
                <a16:creationId xmlns:a16="http://schemas.microsoft.com/office/drawing/2014/main" id="{5A5FED05-D860-4EE7-9203-A99FAE71CA25}"/>
              </a:ext>
            </a:extLst>
          </p:cNvPr>
          <p:cNvSpPr>
            <a:spLocks xmlns:a="http://schemas.openxmlformats.org/drawingml/2006/main" noGrp="1"/>
          </p:cNvSpPr>
          <p:nvPr/>
        </p:nvSpPr>
        <p:spPr>
          <a:xfrm xmlns:a="http://schemas.openxmlformats.org/drawingml/2006/main">
            <a:off x="8896350" y="5514975"/>
            <a:ext cx="280987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00" b="0">
                <a:solidFill>
                  <a:srgbClr val="0D182A"/>
                </a:solidFill>
                <a:latin typeface="Segoe UI"/>
                <a:ea typeface="Segoe UI"/>
                <a:cs typeface="Segoe UI"/>
              </a:defRPr>
            </a:pPr>
            <a:r>
              <a:t>Telomeric-repeat density</a:t>
            </a:r>
          </a:p>
        </p:txBody>
      </p:sp>
      <p:sp>
        <p:nvSpPr>
          <p:cNvPr id="11" name="Rectangle 10">
            <a:extLst xmlns:a="http://schemas.openxmlformats.org/drawingml/2006/main">
              <a:ext uri="{FF2B5EF4-FFF2-40B4-BE49-F238E27FC236}">
                <a16:creationId xmlns:a16="http://schemas.microsoft.com/office/drawing/2014/main" id="{799C847A-D38E-4ED4-AECE-A9A4FA36942B}"/>
              </a:ext>
            </a:extLst>
          </p:cNvPr>
          <p:cNvSpPr>
            <a:spLocks xmlns:a="http://schemas.openxmlformats.org/drawingml/2006/main" noGrp="1"/>
          </p:cNvSpPr>
          <p:nvPr/>
        </p:nvSpPr>
        <p:spPr>
          <a:xfrm xmlns:a="http://schemas.openxmlformats.org/drawingml/2006/main">
            <a:off x="533400" y="5734050"/>
            <a:ext cx="781050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0D182A"/>
                </a:solidFill>
                <a:latin typeface="Bahnschrift"/>
                <a:ea typeface="Bahnschrift"/>
                <a:cs typeface="Bahnschrift"/>
              </a:defRPr>
            </a:pPr>
            <a:r>
              <a:t>JPEG plot + FASTA.GZ sequence + a row in the CSV</a:t>
            </a:r>
          </a:p>
        </p:txBody>
      </p:sp>
      <p:sp>
        <p:nvSpPr>
          <p:cNvPr id="12" name="Rectangle 11">
            <a:extLst xmlns:a="http://schemas.openxmlformats.org/drawingml/2006/main">
              <a:ext uri="{FF2B5EF4-FFF2-40B4-BE49-F238E27FC236}">
                <a16:creationId xmlns:a16="http://schemas.microsoft.com/office/drawing/2014/main" id="{5BCA310A-EE47-445C-B9E8-71DCBEAD3EB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17</a:t>
            </a:r>
          </a:p>
        </p:txBody>
      </p:sp>
    </p:spTree>
    <p:extLst>
      <p:ext uri="{BB962C8B-B14F-4D97-AF65-F5344CB8AC3E}">
        <p14:creationId xmlns:p14="http://schemas.microsoft.com/office/powerpoint/2010/main" val="16902269"/>
      </p:ext>
    </p:extLst>
  </p:cSld>
</p:sld>
</file>

<file path=ppt/slides/slide18.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A7189D15-88D3-4CFC-B58C-98B945711D5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Bahnschrift"/>
                <a:ea typeface="Bahnschrift"/>
                <a:cs typeface="Bahnschrift"/>
              </a:defRPr>
            </a:pPr>
            <a:r>
              <a:t>OUTPUT FORMATS</a:t>
            </a:r>
          </a:p>
        </p:txBody>
      </p:sp>
      <p:sp>
        <p:nvSpPr>
          <p:cNvPr id="2" name="Rectangle 1">
            <a:extLst xmlns:a="http://schemas.openxmlformats.org/drawingml/2006/main">
              <a:ext uri="{FF2B5EF4-FFF2-40B4-BE49-F238E27FC236}">
                <a16:creationId xmlns:a16="http://schemas.microsoft.com/office/drawing/2014/main" id="{F50DDB1F-4A86-4C0E-843F-5FB08D7B718C}"/>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Bahnschrift"/>
                <a:ea typeface="Bahnschrift"/>
                <a:cs typeface="Bahnschrift"/>
              </a:defRPr>
            </a:pPr>
            <a:r>
              <a:t>Output files and formats</a:t>
            </a:r>
          </a:p>
        </p:txBody>
      </p:sp>
      <p:sp>
        <p:nvSpPr>
          <p:cNvPr id="3" name="Rectangle 2">
            <a:extLst xmlns:a="http://schemas.openxmlformats.org/drawingml/2006/main">
              <a:ext uri="{FF2B5EF4-FFF2-40B4-BE49-F238E27FC236}">
                <a16:creationId xmlns:a16="http://schemas.microsoft.com/office/drawing/2014/main" id="{CD15755B-76E9-4BDD-AFC0-0D07807D02F4}"/>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4" name="Rectangle 3">
            <a:extLst xmlns:a="http://schemas.openxmlformats.org/drawingml/2006/main">
              <a:ext uri="{FF2B5EF4-FFF2-40B4-BE49-F238E27FC236}">
                <a16:creationId xmlns:a16="http://schemas.microsoft.com/office/drawing/2014/main" id="{96587527-1080-4BFE-924C-D698A298AC85}"/>
              </a:ext>
            </a:extLst>
          </p:cNvPr>
          <p:cNvSpPr>
            <a:spLocks xmlns:a="http://schemas.openxmlformats.org/drawingml/2006/main" noGrp="1"/>
          </p:cNvSpPr>
          <p:nvPr/>
        </p:nvSpPr>
        <p:spPr>
          <a:xfrm xmlns:a="http://schemas.openxmlformats.org/drawingml/2006/main">
            <a:off x="533400" y="2066925"/>
            <a:ext cx="523875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SUMMARY ONLY</a:t>
            </a:r>
          </a:p>
        </p:txBody>
      </p:sp>
      <p:sp>
        <p:nvSpPr>
          <p:cNvPr id="5" name="Rectangle 4">
            <a:extLst xmlns:a="http://schemas.openxmlformats.org/drawingml/2006/main">
              <a:ext uri="{FF2B5EF4-FFF2-40B4-BE49-F238E27FC236}">
                <a16:creationId xmlns:a16="http://schemas.microsoft.com/office/drawing/2014/main" id="{3178708E-DF32-4A04-9ED3-AC8F0A34B036}"/>
              </a:ext>
            </a:extLst>
          </p:cNvPr>
          <p:cNvSpPr>
            <a:spLocks xmlns:a="http://schemas.openxmlformats.org/drawingml/2006/main" noGrp="1"/>
          </p:cNvSpPr>
          <p:nvPr/>
        </p:nvSpPr>
        <p:spPr>
          <a:xfrm xmlns:a="http://schemas.openxmlformats.org/drawingml/2006/main">
            <a:off x="6477000" y="2066925"/>
            <a:ext cx="51816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FULL NANOTEL OUTPUT</a:t>
            </a:r>
          </a:p>
        </p:txBody>
      </p:sp>
      <p:sp>
        <p:nvSpPr>
          <p:cNvPr id="6" name="Rectangle 5">
            <a:extLst xmlns:a="http://schemas.openxmlformats.org/drawingml/2006/main">
              <a:ext uri="{FF2B5EF4-FFF2-40B4-BE49-F238E27FC236}">
                <a16:creationId xmlns:a16="http://schemas.microsoft.com/office/drawing/2014/main" id="{C788DF8D-7213-46D5-B18B-FE114702EC55}"/>
              </a:ext>
            </a:extLst>
          </p:cNvPr>
          <p:cNvSpPr>
            <a:spLocks xmlns:a="http://schemas.openxmlformats.org/drawingml/2006/main" noGrp="1"/>
          </p:cNvSpPr>
          <p:nvPr/>
        </p:nvSpPr>
        <p:spPr>
          <a:xfrm xmlns:a="http://schemas.openxmlformats.org/drawingml/2006/main">
            <a:off x="533400" y="2705100"/>
            <a:ext cx="523875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FFFFFF"/>
                </a:solidFill>
                <a:latin typeface="Bahnschrift"/>
                <a:ea typeface="Bahnschrift"/>
                <a:cs typeface="Bahnschrift"/>
              </a:defRPr>
            </a:pPr>
            <a:r>
              <a:t>Excel workbook  .xlsx</a:t>
            </a:r>
          </a:p>
        </p:txBody>
      </p:sp>
      <p:sp>
        <p:nvSpPr>
          <p:cNvPr id="7" name="Rectangle 6">
            <a:extLst xmlns:a="http://schemas.openxmlformats.org/drawingml/2006/main">
              <a:ext uri="{FF2B5EF4-FFF2-40B4-BE49-F238E27FC236}">
                <a16:creationId xmlns:a16="http://schemas.microsoft.com/office/drawing/2014/main" id="{AD81B7F3-F7BA-4CA4-89A7-E1E26B7B2CB2}"/>
              </a:ext>
            </a:extLst>
          </p:cNvPr>
          <p:cNvSpPr>
            <a:spLocks xmlns:a="http://schemas.openxmlformats.org/drawingml/2006/main" noGrp="1"/>
          </p:cNvSpPr>
          <p:nvPr/>
        </p:nvSpPr>
        <p:spPr>
          <a:xfrm xmlns:a="http://schemas.openxmlformats.org/drawingml/2006/main">
            <a:off x="533400" y="3305175"/>
            <a:ext cx="523875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nanotel_summary.xlsx</a:t>
            </a:r>
          </a:p>
        </p:txBody>
      </p:sp>
      <p:sp>
        <p:nvSpPr>
          <p:cNvPr id="8" name="Rectangle 7">
            <a:extLst xmlns:a="http://schemas.openxmlformats.org/drawingml/2006/main">
              <a:ext uri="{FF2B5EF4-FFF2-40B4-BE49-F238E27FC236}">
                <a16:creationId xmlns:a16="http://schemas.microsoft.com/office/drawing/2014/main" id="{0305F564-4652-462C-AE71-B36AD6B23546}"/>
              </a:ext>
            </a:extLst>
          </p:cNvPr>
          <p:cNvSpPr>
            <a:spLocks xmlns:a="http://schemas.openxmlformats.org/drawingml/2006/main" noGrp="1"/>
          </p:cNvSpPr>
          <p:nvPr/>
        </p:nvSpPr>
        <p:spPr>
          <a:xfrm xmlns:a="http://schemas.openxmlformats.org/drawingml/2006/main">
            <a:off x="533400" y="3943350"/>
            <a:ext cx="5238750" cy="1552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D5DFEB"/>
                </a:solidFill>
                <a:latin typeface="Segoe UI"/>
                <a:ea typeface="Segoe UI"/>
                <a:cs typeface="Segoe UI"/>
              </a:defRPr>
            </a:pPr>
            <a:r>
              <a:t>nanotel_summary</a:t>
            </a:r>
          </a:p>
          <a:p xmlns:a="http://schemas.openxmlformats.org/drawingml/2006/main">
            <a:pPr>
              <a:buNone/>
              <a:defRPr sz="1875" b="0">
                <a:solidFill>
                  <a:srgbClr val="D5DFEB"/>
                </a:solidFill>
                <a:latin typeface="Segoe UI"/>
                <a:ea typeface="Segoe UI"/>
                <a:cs typeface="Segoe UI"/>
              </a:defRPr>
            </a:pPr>
            <a:r>
              <a:t>barcode02 / barcode19</a:t>
            </a:r>
          </a:p>
          <a:p xmlns:a="http://schemas.openxmlformats.org/drawingml/2006/main">
            <a:pPr>
              <a:buNone/>
              <a:defRPr sz="1875" b="0">
                <a:solidFill>
                  <a:srgbClr val="D5DFEB"/>
                </a:solidFill>
                <a:latin typeface="Segoe UI"/>
                <a:ea typeface="Segoe UI"/>
                <a:cs typeface="Segoe UI"/>
              </a:defRPr>
            </a:pPr>
            <a:r>
              <a:t>filtered_barcode02 / filtered_barcode19</a:t>
            </a:r>
          </a:p>
        </p:txBody>
      </p:sp>
      <p:sp>
        <p:nvSpPr>
          <p:cNvPr id="9" name="Rectangle 8">
            <a:extLst xmlns:a="http://schemas.openxmlformats.org/drawingml/2006/main">
              <a:ext uri="{FF2B5EF4-FFF2-40B4-BE49-F238E27FC236}">
                <a16:creationId xmlns:a16="http://schemas.microsoft.com/office/drawing/2014/main" id="{C32AB7EE-9CC1-4E9C-9265-183D94B595D0}"/>
              </a:ext>
            </a:extLst>
          </p:cNvPr>
          <p:cNvSpPr>
            <a:spLocks xmlns:a="http://schemas.openxmlformats.org/drawingml/2006/main" noGrp="1"/>
          </p:cNvSpPr>
          <p:nvPr/>
        </p:nvSpPr>
        <p:spPr>
          <a:xfrm xmlns:a="http://schemas.openxmlformats.org/drawingml/2006/main">
            <a:off x="6477000" y="270510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CSV</a:t>
            </a:r>
          </a:p>
        </p:txBody>
      </p:sp>
      <p:sp>
        <p:nvSpPr>
          <p:cNvPr id="10" name="Rectangle 9">
            <a:extLst xmlns:a="http://schemas.openxmlformats.org/drawingml/2006/main">
              <a:ext uri="{FF2B5EF4-FFF2-40B4-BE49-F238E27FC236}">
                <a16:creationId xmlns:a16="http://schemas.microsoft.com/office/drawing/2014/main" id="{C772227B-1A92-440E-84EF-2E2268E8B78E}"/>
              </a:ext>
            </a:extLst>
          </p:cNvPr>
          <p:cNvSpPr>
            <a:spLocks xmlns:a="http://schemas.openxmlformats.org/drawingml/2006/main" noGrp="1"/>
          </p:cNvSpPr>
          <p:nvPr/>
        </p:nvSpPr>
        <p:spPr>
          <a:xfrm xmlns:a="http://schemas.openxmlformats.org/drawingml/2006/main">
            <a:off x="7962900" y="271462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Summary and read-level tables</a:t>
            </a:r>
          </a:p>
        </p:txBody>
      </p:sp>
      <p:sp>
        <p:nvSpPr>
          <p:cNvPr id="11" name="Rectangle 10">
            <a:extLst xmlns:a="http://schemas.openxmlformats.org/drawingml/2006/main">
              <a:ext uri="{FF2B5EF4-FFF2-40B4-BE49-F238E27FC236}">
                <a16:creationId xmlns:a16="http://schemas.microsoft.com/office/drawing/2014/main" id="{A024E701-5210-45DC-B9E2-95B118A07191}"/>
              </a:ext>
            </a:extLst>
          </p:cNvPr>
          <p:cNvSpPr>
            <a:spLocks xmlns:a="http://schemas.openxmlformats.org/drawingml/2006/main" noGrp="1"/>
          </p:cNvSpPr>
          <p:nvPr/>
        </p:nvSpPr>
        <p:spPr>
          <a:xfrm xmlns:a="http://schemas.openxmlformats.org/drawingml/2006/main">
            <a:off x="6477000" y="367665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JPEG</a:t>
            </a:r>
          </a:p>
        </p:txBody>
      </p:sp>
      <p:sp>
        <p:nvSpPr>
          <p:cNvPr id="12" name="Rectangle 11">
            <a:extLst xmlns:a="http://schemas.openxmlformats.org/drawingml/2006/main">
              <a:ext uri="{FF2B5EF4-FFF2-40B4-BE49-F238E27FC236}">
                <a16:creationId xmlns:a16="http://schemas.microsoft.com/office/drawing/2014/main" id="{76F45EE1-29CB-40C9-AAC1-2BEDD0E9F303}"/>
              </a:ext>
            </a:extLst>
          </p:cNvPr>
          <p:cNvSpPr>
            <a:spLocks xmlns:a="http://schemas.openxmlformats.org/drawingml/2006/main" noGrp="1"/>
          </p:cNvSpPr>
          <p:nvPr/>
        </p:nvSpPr>
        <p:spPr>
          <a:xfrm xmlns:a="http://schemas.openxmlformats.org/drawingml/2006/main">
            <a:off x="7962900" y="368617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Individual-read plots</a:t>
            </a:r>
          </a:p>
        </p:txBody>
      </p:sp>
      <p:sp>
        <p:nvSpPr>
          <p:cNvPr id="13" name="Rectangle 12">
            <a:extLst xmlns:a="http://schemas.openxmlformats.org/drawingml/2006/main">
              <a:ext uri="{FF2B5EF4-FFF2-40B4-BE49-F238E27FC236}">
                <a16:creationId xmlns:a16="http://schemas.microsoft.com/office/drawing/2014/main" id="{64DE7480-1EA2-40AA-838E-08B51A8EB342}"/>
              </a:ext>
            </a:extLst>
          </p:cNvPr>
          <p:cNvSpPr>
            <a:spLocks xmlns:a="http://schemas.openxmlformats.org/drawingml/2006/main" noGrp="1"/>
          </p:cNvSpPr>
          <p:nvPr/>
        </p:nvSpPr>
        <p:spPr>
          <a:xfrm xmlns:a="http://schemas.openxmlformats.org/drawingml/2006/main">
            <a:off x="6477000" y="4648200"/>
            <a:ext cx="147637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1">
                <a:solidFill>
                  <a:srgbClr val="FFFFFF"/>
                </a:solidFill>
                <a:latin typeface="Bahnschrift"/>
                <a:ea typeface="Bahnschrift"/>
                <a:cs typeface="Bahnschrift"/>
              </a:defRPr>
            </a:pPr>
            <a:r>
              <a:t>FASTA.GZ</a:t>
            </a:r>
          </a:p>
        </p:txBody>
      </p:sp>
      <p:sp>
        <p:nvSpPr>
          <p:cNvPr id="14" name="Rectangle 13">
            <a:extLst xmlns:a="http://schemas.openxmlformats.org/drawingml/2006/main">
              <a:ext uri="{FF2B5EF4-FFF2-40B4-BE49-F238E27FC236}">
                <a16:creationId xmlns:a16="http://schemas.microsoft.com/office/drawing/2014/main" id="{E8D2565B-BF12-47DD-BD82-8B3FE07DB132}"/>
              </a:ext>
            </a:extLst>
          </p:cNvPr>
          <p:cNvSpPr>
            <a:spLocks xmlns:a="http://schemas.openxmlformats.org/drawingml/2006/main" noGrp="1"/>
          </p:cNvSpPr>
          <p:nvPr/>
        </p:nvSpPr>
        <p:spPr>
          <a:xfrm xmlns:a="http://schemas.openxmlformats.org/drawingml/2006/main">
            <a:off x="8096250" y="4657725"/>
            <a:ext cx="356235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Compressed read sequences</a:t>
            </a:r>
          </a:p>
        </p:txBody>
      </p:sp>
      <p:sp>
        <p:nvSpPr>
          <p:cNvPr id="15" name="Rectangle 14">
            <a:extLst xmlns:a="http://schemas.openxmlformats.org/drawingml/2006/main">
              <a:ext uri="{FF2B5EF4-FFF2-40B4-BE49-F238E27FC236}">
                <a16:creationId xmlns:a16="http://schemas.microsoft.com/office/drawing/2014/main" id="{5D679C1A-76AF-4ADB-BFB7-A0EA6361BF90}"/>
              </a:ext>
            </a:extLst>
          </p:cNvPr>
          <p:cNvSpPr>
            <a:spLocks xmlns:a="http://schemas.openxmlformats.org/drawingml/2006/main" noGrp="1"/>
          </p:cNvSpPr>
          <p:nvPr/>
        </p:nvSpPr>
        <p:spPr>
          <a:xfrm xmlns:a="http://schemas.openxmlformats.org/drawingml/2006/main">
            <a:off x="533400" y="5857875"/>
            <a:ext cx="11125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Run records: TXT reports and JSON analysis settings.</a:t>
            </a:r>
          </a:p>
        </p:txBody>
      </p:sp>
      <p:sp>
        <p:nvSpPr>
          <p:cNvPr id="16" name="Rectangle 15">
            <a:extLst xmlns:a="http://schemas.openxmlformats.org/drawingml/2006/main">
              <a:ext uri="{FF2B5EF4-FFF2-40B4-BE49-F238E27FC236}">
                <a16:creationId xmlns:a16="http://schemas.microsoft.com/office/drawing/2014/main" id="{3BE32143-FF55-464F-B325-941B245421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18</a:t>
            </a:r>
          </a:p>
        </p:txBody>
      </p:sp>
    </p:spTree>
    <p:extLst>
      <p:ext uri="{BB962C8B-B14F-4D97-AF65-F5344CB8AC3E}">
        <p14:creationId xmlns:p14="http://schemas.microsoft.com/office/powerpoint/2010/main" val="659325908"/>
      </p:ext>
    </p:extLst>
  </p:cSld>
</p:sld>
</file>

<file path=ppt/slides/slide1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02EBEA06-EB2F-4E8D-9A07-692D840A379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WHERE TO FIND THE FILES</a:t>
            </a:r>
          </a:p>
        </p:txBody>
      </p:sp>
      <p:sp>
        <p:nvSpPr>
          <p:cNvPr id="2" name="Rectangle 1">
            <a:extLst xmlns:a="http://schemas.openxmlformats.org/drawingml/2006/main">
              <a:ext uri="{FF2B5EF4-FFF2-40B4-BE49-F238E27FC236}">
                <a16:creationId xmlns:a16="http://schemas.microsoft.com/office/drawing/2014/main" id="{D285405A-3412-4CD2-B0DD-BF7266E55EB2}"/>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Output folder structure</a:t>
            </a:r>
          </a:p>
        </p:txBody>
      </p:sp>
      <p:sp>
        <p:nvSpPr>
          <p:cNvPr id="3" name="Rectangle 2">
            <a:extLst xmlns:a="http://schemas.openxmlformats.org/drawingml/2006/main">
              <a:ext uri="{FF2B5EF4-FFF2-40B4-BE49-F238E27FC236}">
                <a16:creationId xmlns:a16="http://schemas.microsoft.com/office/drawing/2014/main" id="{CE905EFA-6251-4697-A7EA-D8DDA0D8FEFC}"/>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4" name="Rectangle 3">
            <a:extLst xmlns:a="http://schemas.openxmlformats.org/drawingml/2006/main">
              <a:ext uri="{FF2B5EF4-FFF2-40B4-BE49-F238E27FC236}">
                <a16:creationId xmlns:a16="http://schemas.microsoft.com/office/drawing/2014/main" id="{0BE58763-5641-4AF0-88E4-17C5DE54AA27}"/>
              </a:ext>
            </a:extLst>
          </p:cNvPr>
          <p:cNvSpPr>
            <a:spLocks xmlns:a="http://schemas.openxmlformats.org/drawingml/2006/main" noGrp="1"/>
          </p:cNvSpPr>
          <p:nvPr/>
        </p:nvSpPr>
        <p:spPr>
          <a:xfrm xmlns:a="http://schemas.openxmlformats.org/drawingml/2006/main">
            <a:off x="533400" y="18859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processing/basecalled/</a:t>
            </a:r>
          </a:p>
        </p:txBody>
      </p:sp>
      <p:sp>
        <p:nvSpPr>
          <p:cNvPr id="5" name="Rectangle 4">
            <a:extLst xmlns:a="http://schemas.openxmlformats.org/drawingml/2006/main">
              <a:ext uri="{FF2B5EF4-FFF2-40B4-BE49-F238E27FC236}">
                <a16:creationId xmlns:a16="http://schemas.microsoft.com/office/drawing/2014/main" id="{9D40B1BA-E6BF-4BB1-B900-AA3326BA2A51}"/>
              </a:ext>
            </a:extLst>
          </p:cNvPr>
          <p:cNvSpPr>
            <a:spLocks xmlns:a="http://schemas.openxmlformats.org/drawingml/2006/main" noGrp="1"/>
          </p:cNvSpPr>
          <p:nvPr/>
        </p:nvSpPr>
        <p:spPr>
          <a:xfrm xmlns:a="http://schemas.openxmlformats.org/drawingml/2006/main">
            <a:off x="5400675" y="18859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Dorado basecalled BAM files</a:t>
            </a:r>
          </a:p>
        </p:txBody>
      </p:sp>
      <p:sp>
        <p:nvSpPr>
          <p:cNvPr id="6" name="Rectangle 5">
            <a:extLst xmlns:a="http://schemas.openxmlformats.org/drawingml/2006/main">
              <a:ext uri="{FF2B5EF4-FFF2-40B4-BE49-F238E27FC236}">
                <a16:creationId xmlns:a16="http://schemas.microsoft.com/office/drawing/2014/main" id="{79FEA59C-80CC-41C3-94DD-B12BE44DC7A2}"/>
              </a:ext>
            </a:extLst>
          </p:cNvPr>
          <p:cNvSpPr>
            <a:spLocks xmlns:a="http://schemas.openxmlformats.org/drawingml/2006/main" noGrp="1"/>
          </p:cNvSpPr>
          <p:nvPr/>
        </p:nvSpPr>
        <p:spPr>
          <a:xfrm xmlns:a="http://schemas.openxmlformats.org/drawingml/2006/main">
            <a:off x="533400" y="23241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processing/demultiplexed/</a:t>
            </a:r>
          </a:p>
        </p:txBody>
      </p:sp>
      <p:sp>
        <p:nvSpPr>
          <p:cNvPr id="7" name="Rectangle 6">
            <a:extLst xmlns:a="http://schemas.openxmlformats.org/drawingml/2006/main">
              <a:ext uri="{FF2B5EF4-FFF2-40B4-BE49-F238E27FC236}">
                <a16:creationId xmlns:a16="http://schemas.microsoft.com/office/drawing/2014/main" id="{AB88F48F-E065-45B3-A550-8369F1418D6B}"/>
              </a:ext>
            </a:extLst>
          </p:cNvPr>
          <p:cNvSpPr>
            <a:spLocks xmlns:a="http://schemas.openxmlformats.org/drawingml/2006/main" noGrp="1"/>
          </p:cNvSpPr>
          <p:nvPr/>
        </p:nvSpPr>
        <p:spPr>
          <a:xfrm xmlns:a="http://schemas.openxmlformats.org/drawingml/2006/main">
            <a:off x="5400675" y="23241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BAM files separated by barcode</a:t>
            </a:r>
          </a:p>
        </p:txBody>
      </p:sp>
      <p:sp>
        <p:nvSpPr>
          <p:cNvPr id="8" name="Rectangle 7">
            <a:extLst xmlns:a="http://schemas.openxmlformats.org/drawingml/2006/main">
              <a:ext uri="{FF2B5EF4-FFF2-40B4-BE49-F238E27FC236}">
                <a16:creationId xmlns:a16="http://schemas.microsoft.com/office/drawing/2014/main" id="{9C9A23E6-BC6E-4DE7-8355-BAE519594EFB}"/>
              </a:ext>
            </a:extLst>
          </p:cNvPr>
          <p:cNvSpPr>
            <a:spLocks xmlns:a="http://schemas.openxmlformats.org/drawingml/2006/main" noGrp="1"/>
          </p:cNvSpPr>
          <p:nvPr/>
        </p:nvSpPr>
        <p:spPr>
          <a:xfrm xmlns:a="http://schemas.openxmlformats.org/drawingml/2006/main">
            <a:off x="533400" y="27622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processing/fastq/</a:t>
            </a:r>
          </a:p>
        </p:txBody>
      </p:sp>
      <p:sp>
        <p:nvSpPr>
          <p:cNvPr id="9" name="Rectangle 8">
            <a:extLst xmlns:a="http://schemas.openxmlformats.org/drawingml/2006/main">
              <a:ext uri="{FF2B5EF4-FFF2-40B4-BE49-F238E27FC236}">
                <a16:creationId xmlns:a16="http://schemas.microsoft.com/office/drawing/2014/main" id="{344C3586-6ACC-408A-BB90-5A10926812A7}"/>
              </a:ext>
            </a:extLst>
          </p:cNvPr>
          <p:cNvSpPr>
            <a:spLocks xmlns:a="http://schemas.openxmlformats.org/drawingml/2006/main" noGrp="1"/>
          </p:cNvSpPr>
          <p:nvPr/>
        </p:nvSpPr>
        <p:spPr>
          <a:xfrm xmlns:a="http://schemas.openxmlformats.org/drawingml/2006/main">
            <a:off x="5400675" y="27622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FASTQ reads used for analysis</a:t>
            </a:r>
          </a:p>
        </p:txBody>
      </p:sp>
      <p:sp>
        <p:nvSpPr>
          <p:cNvPr id="10" name="Rectangle 9">
            <a:extLst xmlns:a="http://schemas.openxmlformats.org/drawingml/2006/main">
              <a:ext uri="{FF2B5EF4-FFF2-40B4-BE49-F238E27FC236}">
                <a16:creationId xmlns:a16="http://schemas.microsoft.com/office/drawing/2014/main" id="{7715189C-2DCF-41B1-9C37-FF0EA15E7B10}"/>
              </a:ext>
            </a:extLst>
          </p:cNvPr>
          <p:cNvSpPr>
            <a:spLocks xmlns:a="http://schemas.openxmlformats.org/drawingml/2006/main" noGrp="1"/>
          </p:cNvSpPr>
          <p:nvPr/>
        </p:nvSpPr>
        <p:spPr>
          <a:xfrm xmlns:a="http://schemas.openxmlformats.org/drawingml/2006/main">
            <a:off x="533400" y="32004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processing/aligned/</a:t>
            </a:r>
          </a:p>
        </p:txBody>
      </p:sp>
      <p:sp>
        <p:nvSpPr>
          <p:cNvPr id="11" name="Rectangle 10">
            <a:extLst xmlns:a="http://schemas.openxmlformats.org/drawingml/2006/main">
              <a:ext uri="{FF2B5EF4-FFF2-40B4-BE49-F238E27FC236}">
                <a16:creationId xmlns:a16="http://schemas.microsoft.com/office/drawing/2014/main" id="{86610CBE-0864-4BC1-850C-6DF427412912}"/>
              </a:ext>
            </a:extLst>
          </p:cNvPr>
          <p:cNvSpPr>
            <a:spLocks xmlns:a="http://schemas.openxmlformats.org/drawingml/2006/main" noGrp="1"/>
          </p:cNvSpPr>
          <p:nvPr/>
        </p:nvSpPr>
        <p:spPr>
          <a:xfrm xmlns:a="http://schemas.openxmlformats.org/drawingml/2006/main">
            <a:off x="5400675" y="32004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Reference-aligned reads and alignment summaries</a:t>
            </a:r>
          </a:p>
        </p:txBody>
      </p:sp>
      <p:sp>
        <p:nvSpPr>
          <p:cNvPr id="12" name="Rectangle 11">
            <a:extLst xmlns:a="http://schemas.openxmlformats.org/drawingml/2006/main">
              <a:ext uri="{FF2B5EF4-FFF2-40B4-BE49-F238E27FC236}">
                <a16:creationId xmlns:a16="http://schemas.microsoft.com/office/drawing/2014/main" id="{24DC76EB-5AB8-4302-82F7-02E2B85728AC}"/>
              </a:ext>
            </a:extLst>
          </p:cNvPr>
          <p:cNvSpPr>
            <a:spLocks xmlns:a="http://schemas.openxmlformats.org/drawingml/2006/main" noGrp="1"/>
          </p:cNvSpPr>
          <p:nvPr/>
        </p:nvSpPr>
        <p:spPr>
          <a:xfrm xmlns:a="http://schemas.openxmlformats.org/drawingml/2006/main">
            <a:off x="533400" y="36385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results/nanotel/</a:t>
            </a:r>
          </a:p>
        </p:txBody>
      </p:sp>
      <p:sp>
        <p:nvSpPr>
          <p:cNvPr id="13" name="Rectangle 12">
            <a:extLst xmlns:a="http://schemas.openxmlformats.org/drawingml/2006/main">
              <a:ext uri="{FF2B5EF4-FFF2-40B4-BE49-F238E27FC236}">
                <a16:creationId xmlns:a16="http://schemas.microsoft.com/office/drawing/2014/main" id="{27B3B9D2-BAB5-470C-9F88-CD573F5DE315}"/>
              </a:ext>
            </a:extLst>
          </p:cNvPr>
          <p:cNvSpPr>
            <a:spLocks xmlns:a="http://schemas.openxmlformats.org/drawingml/2006/main" noGrp="1"/>
          </p:cNvSpPr>
          <p:nvPr/>
        </p:nvSpPr>
        <p:spPr>
          <a:xfrm xmlns:a="http://schemas.openxmlformats.org/drawingml/2006/main">
            <a:off x="5400675" y="36385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Telomere results and per-barcode output</a:t>
            </a:r>
          </a:p>
        </p:txBody>
      </p:sp>
      <p:sp>
        <p:nvSpPr>
          <p:cNvPr id="14" name="Rectangle 13">
            <a:extLst xmlns:a="http://schemas.openxmlformats.org/drawingml/2006/main">
              <a:ext uri="{FF2B5EF4-FFF2-40B4-BE49-F238E27FC236}">
                <a16:creationId xmlns:a16="http://schemas.microsoft.com/office/drawing/2014/main" id="{F53FB5F7-D02B-4D15-80AF-DDE7EFD70D13}"/>
              </a:ext>
            </a:extLst>
          </p:cNvPr>
          <p:cNvSpPr>
            <a:spLocks xmlns:a="http://schemas.openxmlformats.org/drawingml/2006/main" noGrp="1"/>
          </p:cNvSpPr>
          <p:nvPr/>
        </p:nvSpPr>
        <p:spPr>
          <a:xfrm xmlns:a="http://schemas.openxmlformats.org/drawingml/2006/main">
            <a:off x="533400" y="40767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results/mapping/</a:t>
            </a:r>
          </a:p>
        </p:txBody>
      </p:sp>
      <p:sp>
        <p:nvSpPr>
          <p:cNvPr id="15" name="Rectangle 14">
            <a:extLst xmlns:a="http://schemas.openxmlformats.org/drawingml/2006/main">
              <a:ext uri="{FF2B5EF4-FFF2-40B4-BE49-F238E27FC236}">
                <a16:creationId xmlns:a16="http://schemas.microsoft.com/office/drawing/2014/main" id="{4B8BD387-ECA2-4610-A57F-9DC14C37ECDC}"/>
              </a:ext>
            </a:extLst>
          </p:cNvPr>
          <p:cNvSpPr>
            <a:spLocks xmlns:a="http://schemas.openxmlformats.org/drawingml/2006/main" noGrp="1"/>
          </p:cNvSpPr>
          <p:nvPr/>
        </p:nvSpPr>
        <p:spPr>
          <a:xfrm xmlns:a="http://schemas.openxmlformats.org/drawingml/2006/main">
            <a:off x="5400675" y="40767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Downstream mapping results, when selected</a:t>
            </a:r>
          </a:p>
        </p:txBody>
      </p:sp>
      <p:sp>
        <p:nvSpPr>
          <p:cNvPr id="16" name="Rectangle 15">
            <a:extLst xmlns:a="http://schemas.openxmlformats.org/drawingml/2006/main">
              <a:ext uri="{FF2B5EF4-FFF2-40B4-BE49-F238E27FC236}">
                <a16:creationId xmlns:a16="http://schemas.microsoft.com/office/drawing/2014/main" id="{4BDAFC1D-0616-45F7-9B0A-3ABB80E44F45}"/>
              </a:ext>
            </a:extLst>
          </p:cNvPr>
          <p:cNvSpPr>
            <a:spLocks xmlns:a="http://schemas.openxmlformats.org/drawingml/2006/main" noGrp="1"/>
          </p:cNvSpPr>
          <p:nvPr/>
        </p:nvSpPr>
        <p:spPr>
          <a:xfrm xmlns:a="http://schemas.openxmlformats.org/drawingml/2006/main">
            <a:off x="533400" y="45148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results/methylation/</a:t>
            </a:r>
          </a:p>
        </p:txBody>
      </p:sp>
      <p:sp>
        <p:nvSpPr>
          <p:cNvPr id="17" name="Rectangle 16">
            <a:extLst xmlns:a="http://schemas.openxmlformats.org/drawingml/2006/main">
              <a:ext uri="{FF2B5EF4-FFF2-40B4-BE49-F238E27FC236}">
                <a16:creationId xmlns:a16="http://schemas.microsoft.com/office/drawing/2014/main" id="{025A6A3A-166A-43F1-8BFF-6561F2CF75E3}"/>
              </a:ext>
            </a:extLst>
          </p:cNvPr>
          <p:cNvSpPr>
            <a:spLocks xmlns:a="http://schemas.openxmlformats.org/drawingml/2006/main" noGrp="1"/>
          </p:cNvSpPr>
          <p:nvPr/>
        </p:nvSpPr>
        <p:spPr>
          <a:xfrm xmlns:a="http://schemas.openxmlformats.org/drawingml/2006/main">
            <a:off x="5400675" y="45148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Methylation outputs, when selected</a:t>
            </a:r>
          </a:p>
        </p:txBody>
      </p:sp>
      <p:sp>
        <p:nvSpPr>
          <p:cNvPr id="18" name="Rectangle 17">
            <a:extLst xmlns:a="http://schemas.openxmlformats.org/drawingml/2006/main">
              <a:ext uri="{FF2B5EF4-FFF2-40B4-BE49-F238E27FC236}">
                <a16:creationId xmlns:a16="http://schemas.microsoft.com/office/drawing/2014/main" id="{F75C4B07-E6E7-4745-B367-4CD91B669940}"/>
              </a:ext>
            </a:extLst>
          </p:cNvPr>
          <p:cNvSpPr>
            <a:spLocks xmlns:a="http://schemas.openxmlformats.org/drawingml/2006/main" noGrp="1"/>
          </p:cNvSpPr>
          <p:nvPr/>
        </p:nvSpPr>
        <p:spPr>
          <a:xfrm xmlns:a="http://schemas.openxmlformats.org/drawingml/2006/main">
            <a:off x="533400" y="49530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results/reports/</a:t>
            </a:r>
          </a:p>
        </p:txBody>
      </p:sp>
      <p:sp>
        <p:nvSpPr>
          <p:cNvPr id="19" name="Rectangle 18">
            <a:extLst xmlns:a="http://schemas.openxmlformats.org/drawingml/2006/main">
              <a:ext uri="{FF2B5EF4-FFF2-40B4-BE49-F238E27FC236}">
                <a16:creationId xmlns:a16="http://schemas.microsoft.com/office/drawing/2014/main" id="{3720C946-3F7D-4B81-8199-984B0E5ABEC4}"/>
              </a:ext>
            </a:extLst>
          </p:cNvPr>
          <p:cNvSpPr>
            <a:spLocks xmlns:a="http://schemas.openxmlformats.org/drawingml/2006/main" noGrp="1"/>
          </p:cNvSpPr>
          <p:nvPr/>
        </p:nvSpPr>
        <p:spPr>
          <a:xfrm xmlns:a="http://schemas.openxmlformats.org/drawingml/2006/main">
            <a:off x="5400675" y="49530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Analysis reports and saved configuration</a:t>
            </a:r>
          </a:p>
        </p:txBody>
      </p:sp>
      <p:sp>
        <p:nvSpPr>
          <p:cNvPr id="20" name="Rectangle 19">
            <a:extLst xmlns:a="http://schemas.openxmlformats.org/drawingml/2006/main">
              <a:ext uri="{FF2B5EF4-FFF2-40B4-BE49-F238E27FC236}">
                <a16:creationId xmlns:a16="http://schemas.microsoft.com/office/drawing/2014/main" id="{0B1B75CB-77B2-432F-BFC4-303FA6401B3B}"/>
              </a:ext>
            </a:extLst>
          </p:cNvPr>
          <p:cNvSpPr>
            <a:spLocks xmlns:a="http://schemas.openxmlformats.org/drawingml/2006/main" noGrp="1"/>
          </p:cNvSpPr>
          <p:nvPr/>
        </p:nvSpPr>
        <p:spPr>
          <a:xfrm xmlns:a="http://schemas.openxmlformats.org/drawingml/2006/main">
            <a:off x="533400" y="53911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results/logs/</a:t>
            </a:r>
          </a:p>
        </p:txBody>
      </p:sp>
      <p:sp>
        <p:nvSpPr>
          <p:cNvPr id="21" name="Rectangle 20">
            <a:extLst xmlns:a="http://schemas.openxmlformats.org/drawingml/2006/main">
              <a:ext uri="{FF2B5EF4-FFF2-40B4-BE49-F238E27FC236}">
                <a16:creationId xmlns:a16="http://schemas.microsoft.com/office/drawing/2014/main" id="{DDFAF721-4563-410A-B07A-6323A88D1AC6}"/>
              </a:ext>
            </a:extLst>
          </p:cNvPr>
          <p:cNvSpPr>
            <a:spLocks xmlns:a="http://schemas.openxmlformats.org/drawingml/2006/main" noGrp="1"/>
          </p:cNvSpPr>
          <p:nvPr/>
        </p:nvSpPr>
        <p:spPr>
          <a:xfrm xmlns:a="http://schemas.openxmlformats.org/drawingml/2006/main">
            <a:off x="5400675" y="53911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Execution logs and troubleshooting information</a:t>
            </a:r>
          </a:p>
        </p:txBody>
      </p:sp>
      <p:sp>
        <p:nvSpPr>
          <p:cNvPr id="22" name="Rectangle 21">
            <a:extLst xmlns:a="http://schemas.openxmlformats.org/drawingml/2006/main">
              <a:ext uri="{FF2B5EF4-FFF2-40B4-BE49-F238E27FC236}">
                <a16:creationId xmlns:a16="http://schemas.microsoft.com/office/drawing/2014/main" id="{17955967-8541-43DB-A5EE-6CF9DB134D5D}"/>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00" b="0">
                <a:solidFill>
                  <a:srgbClr val="68717E"/>
                </a:solidFill>
                <a:latin typeface="Segoe UI"/>
                <a:ea typeface="Segoe UI"/>
                <a:cs typeface="Segoe UI"/>
              </a:defRPr>
            </a:pPr>
            <a:r>
              <a:t>Paths are relative to the run folder; only selected stages produce output.</a:t>
            </a:r>
          </a:p>
        </p:txBody>
      </p:sp>
      <p:sp>
        <p:nvSpPr>
          <p:cNvPr id="23" name="Rectangle 22">
            <a:extLst xmlns:a="http://schemas.openxmlformats.org/drawingml/2006/main">
              <a:ext uri="{FF2B5EF4-FFF2-40B4-BE49-F238E27FC236}">
                <a16:creationId xmlns:a16="http://schemas.microsoft.com/office/drawing/2014/main" id="{07F09B32-DE22-4618-8BB0-FE3BAE9F08DA}"/>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19</a:t>
            </a:r>
          </a:p>
        </p:txBody>
      </p:sp>
    </p:spTree>
    <p:extLst>
      <p:ext uri="{BB962C8B-B14F-4D97-AF65-F5344CB8AC3E}">
        <p14:creationId xmlns:p14="http://schemas.microsoft.com/office/powerpoint/2010/main" val="1114866228"/>
      </p:ext>
    </p:extLst>
  </p:cSld>
</p:sld>
</file>

<file path=ppt/slides/slide20.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7A225E73-FC73-4CE2-BBF4-7155EC3BDDAB}"/>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DETAILED OUTPUT</a:t>
            </a:r>
          </a:p>
        </p:txBody>
      </p:sp>
      <p:sp>
        <p:nvSpPr>
          <p:cNvPr id="2" name="Rectangle 1">
            <a:extLst xmlns:a="http://schemas.openxmlformats.org/drawingml/2006/main">
              <a:ext uri="{FF2B5EF4-FFF2-40B4-BE49-F238E27FC236}">
                <a16:creationId xmlns:a16="http://schemas.microsoft.com/office/drawing/2014/main" id="{60723EE2-2191-4AFB-9614-4C24593B23F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NanoTel</a:t>
            </a:r>
            <a:r>
              <a:t> folder contents</a:t>
            </a:r>
          </a:p>
        </p:txBody>
      </p:sp>
      <p:sp>
        <p:nvSpPr>
          <p:cNvPr id="3" name="Rectangle 2">
            <a:extLst xmlns:a="http://schemas.openxmlformats.org/drawingml/2006/main">
              <a:ext uri="{FF2B5EF4-FFF2-40B4-BE49-F238E27FC236}">
                <a16:creationId xmlns:a16="http://schemas.microsoft.com/office/drawing/2014/main" id="{4D7C3EC5-53A2-472F-9295-BABD87D7A51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4" name="Rectangle 3">
            <a:extLst xmlns:a="http://schemas.openxmlformats.org/drawingml/2006/main">
              <a:ext uri="{FF2B5EF4-FFF2-40B4-BE49-F238E27FC236}">
                <a16:creationId xmlns:a16="http://schemas.microsoft.com/office/drawing/2014/main" id="{13E604B8-6F0E-4B0B-A334-6CBD0821789E}"/>
              </a:ext>
            </a:extLst>
          </p:cNvPr>
          <p:cNvSpPr>
            <a:spLocks xmlns:a="http://schemas.openxmlformats.org/drawingml/2006/main" noGrp="1"/>
          </p:cNvSpPr>
          <p:nvPr/>
        </p:nvSpPr>
        <p:spPr>
          <a:xfrm xmlns:a="http://schemas.openxmlformats.org/drawingml/2006/main">
            <a:off x="533400" y="185737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Bahnschrift"/>
                <a:ea typeface="Bahnschrift"/>
                <a:cs typeface="Bahnschrift"/>
              </a:defRPr>
            </a:pPr>
            <a:r>
              <a:t>results/</a:t>
            </a:r>
            <a:r>
              <a:t>nanotel</a:t>
            </a:r>
            <a:r>
              <a:t>/</a:t>
            </a:r>
          </a:p>
        </p:txBody>
      </p:sp>
      <p:sp>
        <p:nvSpPr>
          <p:cNvPr id="5" name="Rectangle 4">
            <a:extLst xmlns:a="http://schemas.openxmlformats.org/drawingml/2006/main">
              <a:ext uri="{FF2B5EF4-FFF2-40B4-BE49-F238E27FC236}">
                <a16:creationId xmlns:a16="http://schemas.microsoft.com/office/drawing/2014/main" id="{DE80474F-DC2B-4E29-8162-B2F9FA2686B1}"/>
              </a:ext>
            </a:extLst>
          </p:cNvPr>
          <p:cNvSpPr>
            <a:spLocks xmlns:a="http://schemas.openxmlformats.org/drawingml/2006/main" noGrp="1"/>
          </p:cNvSpPr>
          <p:nvPr/>
        </p:nvSpPr>
        <p:spPr>
          <a:xfrm xmlns:a="http://schemas.openxmlformats.org/drawingml/2006/main">
            <a:off x="533400" y="24955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Summary CSV</a:t>
            </a:r>
          </a:p>
        </p:txBody>
      </p:sp>
      <p:sp>
        <p:nvSpPr>
          <p:cNvPr id="6" name="Rectangle 5">
            <a:extLst xmlns:a="http://schemas.openxmlformats.org/drawingml/2006/main">
              <a:ext uri="{FF2B5EF4-FFF2-40B4-BE49-F238E27FC236}">
                <a16:creationId xmlns:a16="http://schemas.microsoft.com/office/drawing/2014/main" id="{BDE3CF3A-5A84-4D5C-A1DB-4E6742973C90}"/>
              </a:ext>
            </a:extLst>
          </p:cNvPr>
          <p:cNvSpPr>
            <a:spLocks xmlns:a="http://schemas.openxmlformats.org/drawingml/2006/main" noGrp="1"/>
          </p:cNvSpPr>
          <p:nvPr/>
        </p:nvSpPr>
        <p:spPr>
          <a:xfrm xmlns:a="http://schemas.openxmlformats.org/drawingml/2006/main">
            <a:off x="6343650" y="24955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Statistics across the processed barcodes</a:t>
            </a:r>
          </a:p>
        </p:txBody>
      </p:sp>
      <p:sp>
        <p:nvSpPr>
          <p:cNvPr id="7" name="Rectangle 6">
            <a:extLst xmlns:a="http://schemas.openxmlformats.org/drawingml/2006/main">
              <a:ext uri="{FF2B5EF4-FFF2-40B4-BE49-F238E27FC236}">
                <a16:creationId xmlns:a16="http://schemas.microsoft.com/office/drawing/2014/main" id="{539732FB-8EFB-4009-BDE2-4F1F2CB5F0EC}"/>
              </a:ext>
            </a:extLst>
          </p:cNvPr>
          <p:cNvSpPr>
            <a:spLocks xmlns:a="http://schemas.openxmlformats.org/drawingml/2006/main" noGrp="1"/>
          </p:cNvSpPr>
          <p:nvPr/>
        </p:nvSpPr>
        <p:spPr>
          <a:xfrm xmlns:a="http://schemas.openxmlformats.org/drawingml/2006/main">
            <a:off x="533400" y="304800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a:t>
            </a:r>
          </a:p>
        </p:txBody>
      </p:sp>
      <p:sp>
        <p:nvSpPr>
          <p:cNvPr id="8" name="Rectangle 7">
            <a:extLst xmlns:a="http://schemas.openxmlformats.org/drawingml/2006/main">
              <a:ext uri="{FF2B5EF4-FFF2-40B4-BE49-F238E27FC236}">
                <a16:creationId xmlns:a16="http://schemas.microsoft.com/office/drawing/2014/main" id="{D4EF4B06-62B7-47BD-91FB-BA90AFC74DA5}"/>
              </a:ext>
            </a:extLst>
          </p:cNvPr>
          <p:cNvSpPr>
            <a:spLocks xmlns:a="http://schemas.openxmlformats.org/drawingml/2006/main" noGrp="1"/>
          </p:cNvSpPr>
          <p:nvPr/>
        </p:nvSpPr>
        <p:spPr>
          <a:xfrm xmlns:a="http://schemas.openxmlformats.org/drawingml/2006/main">
            <a:off x="6343650" y="304800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Raw and filtered CSV tables; read identifiers</a:t>
            </a:r>
          </a:p>
        </p:txBody>
      </p:sp>
      <p:sp>
        <p:nvSpPr>
          <p:cNvPr id="9" name="Rectangle 8">
            <a:extLst xmlns:a="http://schemas.openxmlformats.org/drawingml/2006/main">
              <a:ext uri="{FF2B5EF4-FFF2-40B4-BE49-F238E27FC236}">
                <a16:creationId xmlns:a16="http://schemas.microsoft.com/office/drawing/2014/main" id="{4070E13F-FD2F-42C5-9B4B-3DDBCF9D79CA}"/>
              </a:ext>
            </a:extLst>
          </p:cNvPr>
          <p:cNvSpPr>
            <a:spLocks xmlns:a="http://schemas.openxmlformats.org/drawingml/2006/main" noGrp="1"/>
          </p:cNvSpPr>
          <p:nvPr/>
        </p:nvSpPr>
        <p:spPr>
          <a:xfrm xmlns:a="http://schemas.openxmlformats.org/drawingml/2006/main">
            <a:off x="533400" y="36004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barcodeXX/reads/</a:t>
            </a:r>
          </a:p>
        </p:txBody>
      </p:sp>
      <p:sp>
        <p:nvSpPr>
          <p:cNvPr id="10" name="Rectangle 9">
            <a:extLst xmlns:a="http://schemas.openxmlformats.org/drawingml/2006/main">
              <a:ext uri="{FF2B5EF4-FFF2-40B4-BE49-F238E27FC236}">
                <a16:creationId xmlns:a16="http://schemas.microsoft.com/office/drawing/2014/main" id="{06F9234F-DDF5-4BBA-A9F0-48B5BCD35CE8}"/>
              </a:ext>
            </a:extLst>
          </p:cNvPr>
          <p:cNvSpPr>
            <a:spLocks xmlns:a="http://schemas.openxmlformats.org/drawingml/2006/main" noGrp="1"/>
          </p:cNvSpPr>
          <p:nvPr/>
        </p:nvSpPr>
        <p:spPr>
          <a:xfrm xmlns:a="http://schemas.openxmlformats.org/drawingml/2006/main">
            <a:off x="6343650" y="36004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Individual read sequences in FASTA.GZ format</a:t>
            </a:r>
          </a:p>
        </p:txBody>
      </p:sp>
      <p:sp>
        <p:nvSpPr>
          <p:cNvPr id="11" name="Rectangle 10">
            <a:extLst xmlns:a="http://schemas.openxmlformats.org/drawingml/2006/main">
              <a:ext uri="{FF2B5EF4-FFF2-40B4-BE49-F238E27FC236}">
                <a16:creationId xmlns:a16="http://schemas.microsoft.com/office/drawing/2014/main" id="{A0B3E13E-CC68-49D8-ACBE-10C011586292}"/>
              </a:ext>
            </a:extLst>
          </p:cNvPr>
          <p:cNvSpPr>
            <a:spLocks xmlns:a="http://schemas.openxmlformats.org/drawingml/2006/main" noGrp="1"/>
          </p:cNvSpPr>
          <p:nvPr/>
        </p:nvSpPr>
        <p:spPr>
          <a:xfrm xmlns:a="http://schemas.openxmlformats.org/drawingml/2006/main">
            <a:off x="533400" y="415290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barcodeXX/single_read_plots/</a:t>
            </a:r>
          </a:p>
        </p:txBody>
      </p:sp>
      <p:sp>
        <p:nvSpPr>
          <p:cNvPr id="12" name="Rectangle 11">
            <a:extLst xmlns:a="http://schemas.openxmlformats.org/drawingml/2006/main">
              <a:ext uri="{FF2B5EF4-FFF2-40B4-BE49-F238E27FC236}">
                <a16:creationId xmlns:a16="http://schemas.microsoft.com/office/drawing/2014/main" id="{A4980270-BF13-406E-9BB8-5B6EA8022956}"/>
              </a:ext>
            </a:extLst>
          </p:cNvPr>
          <p:cNvSpPr>
            <a:spLocks xmlns:a="http://schemas.openxmlformats.org/drawingml/2006/main" noGrp="1"/>
          </p:cNvSpPr>
          <p:nvPr/>
        </p:nvSpPr>
        <p:spPr>
          <a:xfrm xmlns:a="http://schemas.openxmlformats.org/drawingml/2006/main">
            <a:off x="6343650" y="415290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Original per-read density plots</a:t>
            </a:r>
          </a:p>
        </p:txBody>
      </p:sp>
      <p:sp>
        <p:nvSpPr>
          <p:cNvPr id="13" name="Rectangle 12">
            <a:extLst xmlns:a="http://schemas.openxmlformats.org/drawingml/2006/main">
              <a:ext uri="{FF2B5EF4-FFF2-40B4-BE49-F238E27FC236}">
                <a16:creationId xmlns:a16="http://schemas.microsoft.com/office/drawing/2014/main" id="{612FBA36-C50C-40B1-AED8-998A45C4FDBD}"/>
              </a:ext>
            </a:extLst>
          </p:cNvPr>
          <p:cNvSpPr>
            <a:spLocks xmlns:a="http://schemas.openxmlformats.org/drawingml/2006/main" noGrp="1"/>
          </p:cNvSpPr>
          <p:nvPr/>
        </p:nvSpPr>
        <p:spPr>
          <a:xfrm xmlns:a="http://schemas.openxmlformats.org/drawingml/2006/main">
            <a:off x="533400" y="47053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barcodeXX/single_read_plots_adj/</a:t>
            </a:r>
          </a:p>
        </p:txBody>
      </p:sp>
      <p:sp>
        <p:nvSpPr>
          <p:cNvPr id="14" name="Rectangle 13">
            <a:extLst xmlns:a="http://schemas.openxmlformats.org/drawingml/2006/main">
              <a:ext uri="{FF2B5EF4-FFF2-40B4-BE49-F238E27FC236}">
                <a16:creationId xmlns:a16="http://schemas.microsoft.com/office/drawing/2014/main" id="{5BDAE468-B629-4B93-8571-75A8C847951F}"/>
              </a:ext>
            </a:extLst>
          </p:cNvPr>
          <p:cNvSpPr>
            <a:spLocks xmlns:a="http://schemas.openxmlformats.org/drawingml/2006/main" noGrp="1"/>
          </p:cNvSpPr>
          <p:nvPr/>
        </p:nvSpPr>
        <p:spPr>
          <a:xfrm xmlns:a="http://schemas.openxmlformats.org/drawingml/2006/main">
            <a:off x="6343650" y="47053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Adjusted per-read density plots</a:t>
            </a:r>
          </a:p>
        </p:txBody>
      </p:sp>
      <p:sp>
        <p:nvSpPr>
          <p:cNvPr id="15" name="Rectangle 14">
            <a:extLst xmlns:a="http://schemas.openxmlformats.org/drawingml/2006/main">
              <a:ext uri="{FF2B5EF4-FFF2-40B4-BE49-F238E27FC236}">
                <a16:creationId xmlns:a16="http://schemas.microsoft.com/office/drawing/2014/main" id="{DB81F44E-CEB9-4247-98D3-92D0527FCE24}"/>
              </a:ext>
            </a:extLst>
          </p:cNvPr>
          <p:cNvSpPr>
            <a:spLocks xmlns:a="http://schemas.openxmlformats.org/drawingml/2006/main" noGrp="1"/>
          </p:cNvSpPr>
          <p:nvPr/>
        </p:nvSpPr>
        <p:spPr>
          <a:xfrm xmlns:a="http://schemas.openxmlformats.org/drawingml/2006/main">
            <a:off x="533400" y="5495925"/>
            <a:ext cx="542925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1">
                <a:solidFill>
                  <a:srgbClr val="2860F5"/>
                </a:solidFill>
                <a:latin typeface="Bahnschrift"/>
                <a:ea typeface="Bahnschrift"/>
                <a:cs typeface="Bahnschrift"/>
              </a:defRPr>
            </a:pPr>
            <a:r>
              <a:t>Summary-only mode</a:t>
            </a:r>
          </a:p>
        </p:txBody>
      </p:sp>
      <p:sp>
        <p:nvSpPr>
          <p:cNvPr id="16" name="Rectangle 15">
            <a:extLst xmlns:a="http://schemas.openxmlformats.org/drawingml/2006/main">
              <a:ext uri="{FF2B5EF4-FFF2-40B4-BE49-F238E27FC236}">
                <a16:creationId xmlns:a16="http://schemas.microsoft.com/office/drawing/2014/main" id="{14F8E324-4687-469E-A920-3FDEE40B9008}"/>
              </a:ext>
            </a:extLst>
          </p:cNvPr>
          <p:cNvSpPr>
            <a:spLocks xmlns:a="http://schemas.openxmlformats.org/drawingml/2006/main" noGrp="1"/>
          </p:cNvSpPr>
          <p:nvPr/>
        </p:nvSpPr>
        <p:spPr>
          <a:xfrm xmlns:a="http://schemas.openxmlformats.org/drawingml/2006/main">
            <a:off x="533400" y="5915025"/>
            <a:ext cx="11125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results/nanotel_summary.xlsx replaces the detailed </a:t>
            </a:r>
            <a:r>
              <a:t>NanoTel</a:t>
            </a:r>
            <a:r>
              <a:t> folder.</a:t>
            </a:r>
          </a:p>
        </p:txBody>
      </p:sp>
      <p:sp>
        <p:nvSpPr>
          <p:cNvPr id="17" name="Rectangle 16">
            <a:extLst xmlns:a="http://schemas.openxmlformats.org/drawingml/2006/main">
              <a:ext uri="{FF2B5EF4-FFF2-40B4-BE49-F238E27FC236}">
                <a16:creationId xmlns:a16="http://schemas.microsoft.com/office/drawing/2014/main" id="{3F9E4CA1-507A-47CC-8F85-AD77CBBDFE5B}"/>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20</a:t>
            </a:r>
          </a:p>
        </p:txBody>
      </p:sp>
    </p:spTree>
    <p:extLst>
      <p:ext uri="{BB962C8B-B14F-4D97-AF65-F5344CB8AC3E}">
        <p14:creationId xmlns:p14="http://schemas.microsoft.com/office/powerpoint/2010/main" val="1829537530"/>
      </p:ext>
    </p:extLst>
  </p:cSld>
</p:sld>
</file>

<file path=ppt/slides/slide21.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37BDE04E-EAD8-40F3-A072-9CCCBF151FB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Bahnschrift"/>
                <a:ea typeface="Bahnschrift"/>
                <a:cs typeface="Bahnschrift"/>
              </a:defRPr>
            </a:pPr>
            <a:r>
              <a:t>PROPOSED NEXT STEPS</a:t>
            </a:r>
          </a:p>
        </p:txBody>
      </p:sp>
      <p:sp>
        <p:nvSpPr>
          <p:cNvPr id="2" name="Rectangle 1">
            <a:extLst xmlns:a="http://schemas.openxmlformats.org/drawingml/2006/main">
              <a:ext uri="{FF2B5EF4-FFF2-40B4-BE49-F238E27FC236}">
                <a16:creationId xmlns:a16="http://schemas.microsoft.com/office/drawing/2014/main" id="{559FC9F1-510A-411B-AB36-D29DCB8F8524}"/>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Bahnschrift"/>
                <a:ea typeface="Bahnschrift"/>
                <a:cs typeface="Bahnschrift"/>
              </a:defRPr>
            </a:pPr>
            <a:r>
              <a:t>Future work</a:t>
            </a:r>
          </a:p>
        </p:txBody>
      </p:sp>
      <p:sp>
        <p:nvSpPr>
          <p:cNvPr id="3" name="Rectangle 2">
            <a:extLst xmlns:a="http://schemas.openxmlformats.org/drawingml/2006/main">
              <a:ext uri="{FF2B5EF4-FFF2-40B4-BE49-F238E27FC236}">
                <a16:creationId xmlns:a16="http://schemas.microsoft.com/office/drawing/2014/main" id="{3C1A2B40-5948-403E-9A92-43BEF8227E4A}"/>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4" name="Rectangle 3">
            <a:extLst xmlns:a="http://schemas.openxmlformats.org/drawingml/2006/main">
              <a:ext uri="{FF2B5EF4-FFF2-40B4-BE49-F238E27FC236}">
                <a16:creationId xmlns:a16="http://schemas.microsoft.com/office/drawing/2014/main" id="{31859B70-2456-4554-8D6B-47545DFDA3A0}"/>
              </a:ext>
            </a:extLst>
          </p:cNvPr>
          <p:cNvSpPr>
            <a:spLocks xmlns:a="http://schemas.openxmlformats.org/drawingml/2006/main" noGrp="1"/>
          </p:cNvSpPr>
          <p:nvPr/>
        </p:nvSpPr>
        <p:spPr>
          <a:xfrm xmlns:a="http://schemas.openxmlformats.org/drawingml/2006/main">
            <a:off x="533400" y="2133600"/>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t>Broader testing</a:t>
            </a:r>
          </a:p>
        </p:txBody>
      </p:sp>
      <p:sp>
        <p:nvSpPr>
          <p:cNvPr id="5" name="Rectangle 4">
            <a:extLst xmlns:a="http://schemas.openxmlformats.org/drawingml/2006/main">
              <a:ext uri="{FF2B5EF4-FFF2-40B4-BE49-F238E27FC236}">
                <a16:creationId xmlns:a16="http://schemas.microsoft.com/office/drawing/2014/main" id="{9678B651-A01B-4639-A408-E740D0C8E64A}"/>
              </a:ext>
            </a:extLst>
          </p:cNvPr>
          <p:cNvSpPr>
            <a:spLocks xmlns:a="http://schemas.openxmlformats.org/drawingml/2006/main" noGrp="1"/>
          </p:cNvSpPr>
          <p:nvPr/>
        </p:nvSpPr>
        <p:spPr>
          <a:xfrm xmlns:a="http://schemas.openxmlformats.org/drawingml/2006/main">
            <a:off x="533400" y="2628900"/>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More barcodes, larger datasets and all input formats</a:t>
            </a:r>
          </a:p>
        </p:txBody>
      </p:sp>
      <p:sp>
        <p:nvSpPr>
          <p:cNvPr id="6" name="Rectangle 5">
            <a:extLst xmlns:a="http://schemas.openxmlformats.org/drawingml/2006/main">
              <a:ext uri="{FF2B5EF4-FFF2-40B4-BE49-F238E27FC236}">
                <a16:creationId xmlns:a16="http://schemas.microsoft.com/office/drawing/2014/main" id="{53C4BB52-8404-4BE6-8D55-FAD4B4102293}"/>
              </a:ext>
            </a:extLst>
          </p:cNvPr>
          <p:cNvSpPr>
            <a:spLocks xmlns:a="http://schemas.openxmlformats.org/drawingml/2006/main" noGrp="1"/>
          </p:cNvSpPr>
          <p:nvPr/>
        </p:nvSpPr>
        <p:spPr>
          <a:xfrm xmlns:a="http://schemas.openxmlformats.org/drawingml/2006/main">
            <a:off x="533400" y="3114675"/>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t>Validation</a:t>
            </a:r>
          </a:p>
        </p:txBody>
      </p:sp>
      <p:sp>
        <p:nvSpPr>
          <p:cNvPr id="7" name="Rectangle 6">
            <a:extLst xmlns:a="http://schemas.openxmlformats.org/drawingml/2006/main">
              <a:ext uri="{FF2B5EF4-FFF2-40B4-BE49-F238E27FC236}">
                <a16:creationId xmlns:a16="http://schemas.microsoft.com/office/drawing/2014/main" id="{F560B5FB-D93B-45DA-9389-AC996D830A84}"/>
              </a:ext>
            </a:extLst>
          </p:cNvPr>
          <p:cNvSpPr>
            <a:spLocks xmlns:a="http://schemas.openxmlformats.org/drawingml/2006/main" noGrp="1"/>
          </p:cNvSpPr>
          <p:nvPr/>
        </p:nvSpPr>
        <p:spPr>
          <a:xfrm xmlns:a="http://schemas.openxmlformats.org/drawingml/2006/main">
            <a:off x="533400" y="360997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Compare mapping and methylation with reference results</a:t>
            </a:r>
          </a:p>
        </p:txBody>
      </p:sp>
      <p:sp>
        <p:nvSpPr>
          <p:cNvPr id="8" name="Rectangle 7">
            <a:extLst xmlns:a="http://schemas.openxmlformats.org/drawingml/2006/main">
              <a:ext uri="{FF2B5EF4-FFF2-40B4-BE49-F238E27FC236}">
                <a16:creationId xmlns:a16="http://schemas.microsoft.com/office/drawing/2014/main" id="{C2D51B75-D865-42D2-B98D-6916D791E4E7}"/>
              </a:ext>
            </a:extLst>
          </p:cNvPr>
          <p:cNvSpPr>
            <a:spLocks xmlns:a="http://schemas.openxmlformats.org/drawingml/2006/main" noGrp="1"/>
          </p:cNvSpPr>
          <p:nvPr/>
        </p:nvSpPr>
        <p:spPr>
          <a:xfrm xmlns:a="http://schemas.openxmlformats.org/drawingml/2006/main">
            <a:off x="533400" y="4095750"/>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t>Installation and setup</a:t>
            </a:r>
          </a:p>
        </p:txBody>
      </p:sp>
      <p:sp>
        <p:nvSpPr>
          <p:cNvPr id="9" name="Rectangle 8">
            <a:extLst xmlns:a="http://schemas.openxmlformats.org/drawingml/2006/main">
              <a:ext uri="{FF2B5EF4-FFF2-40B4-BE49-F238E27FC236}">
                <a16:creationId xmlns:a16="http://schemas.microsoft.com/office/drawing/2014/main" id="{ECC9B004-0B75-4625-A166-C0E5C023014C}"/>
              </a:ext>
            </a:extLst>
          </p:cNvPr>
          <p:cNvSpPr>
            <a:spLocks xmlns:a="http://schemas.openxmlformats.org/drawingml/2006/main" noGrp="1"/>
          </p:cNvSpPr>
          <p:nvPr/>
        </p:nvSpPr>
        <p:spPr>
          <a:xfrm xmlns:a="http://schemas.openxmlformats.org/drawingml/2006/main">
            <a:off x="533400" y="4591050"/>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Simplify tool, model and reference configuration</a:t>
            </a:r>
          </a:p>
        </p:txBody>
      </p:sp>
      <p:sp>
        <p:nvSpPr>
          <p:cNvPr id="10" name="Rectangle 9">
            <a:extLst xmlns:a="http://schemas.openxmlformats.org/drawingml/2006/main">
              <a:ext uri="{FF2B5EF4-FFF2-40B4-BE49-F238E27FC236}">
                <a16:creationId xmlns:a16="http://schemas.microsoft.com/office/drawing/2014/main" id="{91E69A41-2AC3-4AF6-9059-3C831006D1FE}"/>
              </a:ext>
            </a:extLst>
          </p:cNvPr>
          <p:cNvSpPr>
            <a:spLocks xmlns:a="http://schemas.openxmlformats.org/drawingml/2006/main" noGrp="1"/>
          </p:cNvSpPr>
          <p:nvPr/>
        </p:nvSpPr>
        <p:spPr>
          <a:xfrm xmlns:a="http://schemas.openxmlformats.org/drawingml/2006/main">
            <a:off x="533400" y="5076825"/>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rPr sz="2550" b="1"/>
              <a:t>Statistical analysis</a:t>
            </a:r>
            <a:br/>
          </a:p>
        </p:txBody>
      </p:sp>
      <p:sp>
        <p:nvSpPr>
          <p:cNvPr id="11" name="Rectangle 10">
            <a:extLst xmlns:a="http://schemas.openxmlformats.org/drawingml/2006/main">
              <a:ext uri="{FF2B5EF4-FFF2-40B4-BE49-F238E27FC236}">
                <a16:creationId xmlns:a16="http://schemas.microsoft.com/office/drawing/2014/main" id="{1692EBBF-7C78-4D8B-A362-4001FB11E2FC}"/>
              </a:ext>
            </a:extLst>
          </p:cNvPr>
          <p:cNvSpPr>
            <a:spLocks xmlns:a="http://schemas.openxmlformats.org/drawingml/2006/main" noGrp="1"/>
          </p:cNvSpPr>
          <p:nvPr/>
        </p:nvSpPr>
        <p:spPr>
          <a:xfrm xmlns:a="http://schemas.openxmlformats.org/drawingml/2006/main">
            <a:off x="533400" y="557212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r>
              <a:rPr sz="2175">
                <a:solidFill>
                  <a:srgbClr val="FFFFFF"/>
                </a:solidFill>
                <a:latin typeface="Segoe UI"/>
                <a:ea typeface="Segoe UI"/>
                <a:cs typeface="Segoe UI"/>
              </a:rPr>
              <a:t>Compare median telomere length with and without TVRs, or with and without allowing mismatches.</a:t>
            </a:r>
          </a:p>
        </p:txBody>
      </p:sp>
      <p:sp>
        <p:nvSpPr>
          <p:cNvPr id="12" name="Rectangle 11">
            <a:extLst xmlns:a="http://schemas.openxmlformats.org/drawingml/2006/main">
              <a:ext uri="{FF2B5EF4-FFF2-40B4-BE49-F238E27FC236}">
                <a16:creationId xmlns:a16="http://schemas.microsoft.com/office/drawing/2014/main" id="{59E93229-F2A1-4C68-9FFA-8177C3782F7D}"/>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21</a:t>
            </a:r>
          </a:p>
        </p:txBody>
      </p:sp>
    </p:spTree>
    <p:extLst>
      <p:ext uri="{BB962C8B-B14F-4D97-AF65-F5344CB8AC3E}">
        <p14:creationId xmlns:p14="http://schemas.microsoft.com/office/powerpoint/2010/main" val="780040193"/>
      </p:ext>
    </p:extLst>
  </p:cSld>
</p:sld>
</file>

<file path=ppt/slides/slide22.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19">
            <a:extLst xmlns:a="http://schemas.openxmlformats.org/drawingml/2006/main">
              <a:ext uri="{FF2B5EF4-FFF2-40B4-BE49-F238E27FC236}">
                <a16:creationId xmlns:a16="http://schemas.microsoft.com/office/drawing/2014/main" id="{7E2FDAF2-3CE2-4C9C-8A03-780C7B75222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LIVE DEMO</a:t>
            </a:r>
          </a:p>
        </p:txBody>
      </p:sp>
      <p:sp>
        <p:nvSpPr>
          <p:cNvPr id="2" name="text-120">
            <a:extLst xmlns:a="http://schemas.openxmlformats.org/drawingml/2006/main">
              <a:ext uri="{FF2B5EF4-FFF2-40B4-BE49-F238E27FC236}">
                <a16:creationId xmlns:a16="http://schemas.microsoft.com/office/drawing/2014/main" id="{5C26D8A1-1756-49C0-AEC3-980AAB58841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21">
            <a:extLst xmlns:a="http://schemas.openxmlformats.org/drawingml/2006/main">
              <a:ext uri="{FF2B5EF4-FFF2-40B4-BE49-F238E27FC236}">
                <a16:creationId xmlns:a16="http://schemas.microsoft.com/office/drawing/2014/main" id="{E169E8D5-A549-423F-A3C9-D3EA2BACBA3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22</a:t>
            </a:r>
          </a:p>
        </p:txBody>
      </p:sp>
      <p:sp>
        <p:nvSpPr>
          <p:cNvPr id="4" name="text-122">
            <a:extLst xmlns:a="http://schemas.openxmlformats.org/drawingml/2006/main">
              <a:ext uri="{FF2B5EF4-FFF2-40B4-BE49-F238E27FC236}">
                <a16:creationId xmlns:a16="http://schemas.microsoft.com/office/drawing/2014/main" id="{1DE63249-A9D9-4EE6-861D-BAE604015022}"/>
              </a:ext>
            </a:extLst>
          </p:cNvPr>
          <p:cNvSpPr>
            <a:spLocks xmlns:a="http://schemas.openxmlformats.org/drawingml/2006/main" noGrp="1"/>
          </p:cNvSpPr>
          <p:nvPr/>
        </p:nvSpPr>
        <p:spPr>
          <a:xfrm xmlns:a="http://schemas.openxmlformats.org/drawingml/2006/main">
            <a:off x="533400" y="2124075"/>
            <a:ext cx="11125200" cy="15335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B5F4DE"/>
                </a:solidFill>
                <a:latin typeface="Segoe UI"/>
                <a:ea typeface="Segoe UI"/>
                <a:cs typeface="Segoe UI"/>
              </a:defRPr>
            </a:pPr>
            <a:r>
              <a:rPr sz="6600" b="1">
                <a:solidFill>
                  <a:srgbClr val="B5F4DE"/>
                </a:solidFill>
                <a:latin typeface="Segoe UI"/>
                <a:ea typeface="Segoe UI"/>
                <a:cs typeface="Segoe UI"/>
              </a:rPr>
              <a:t>Live demonstration</a:t>
            </a:r>
          </a:p>
        </p:txBody>
      </p:sp>
      <p:sp>
        <p:nvSpPr>
          <p:cNvPr id="5" name="text-123">
            <a:extLst xmlns:a="http://schemas.openxmlformats.org/drawingml/2006/main">
              <a:ext uri="{FF2B5EF4-FFF2-40B4-BE49-F238E27FC236}">
                <a16:creationId xmlns:a16="http://schemas.microsoft.com/office/drawing/2014/main" id="{DC075878-00E4-43D2-A875-6FD1158C47E0}"/>
              </a:ext>
            </a:extLst>
          </p:cNvPr>
          <p:cNvSpPr>
            <a:spLocks xmlns:a="http://schemas.openxmlformats.org/drawingml/2006/main" noGrp="1"/>
          </p:cNvSpPr>
          <p:nvPr/>
        </p:nvSpPr>
        <p:spPr>
          <a:xfrm xmlns:a="http://schemas.openxmlformats.org/drawingml/2006/main">
            <a:off x="533400" y="4133850"/>
            <a:ext cx="10477500" cy="1285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0">
                <a:solidFill>
                  <a:srgbClr val="FFFFFF"/>
                </a:solidFill>
                <a:latin typeface="Segoe UI"/>
                <a:ea typeface="Segoe UI"/>
                <a:cs typeface="Segoe UI"/>
              </a:defRPr>
            </a:pPr>
            <a:r>
              <a:rPr sz="2925" b="0">
                <a:solidFill>
                  <a:srgbClr val="FFFFFF"/>
                </a:solidFill>
                <a:latin typeface="Segoe UI"/>
                <a:ea typeface="Segoe UI"/>
                <a:cs typeface="Segoe UI"/>
              </a:rPr>
              <a:t>FASTQ input, NanoTel analysis and output review</a:t>
            </a:r>
          </a:p>
        </p:txBody>
      </p:sp>
      <p:sp>
        <p:nvSpPr>
          <p:cNvPr id="6" name="text-124">
            <a:extLst xmlns:a="http://schemas.openxmlformats.org/drawingml/2006/main">
              <a:ext uri="{FF2B5EF4-FFF2-40B4-BE49-F238E27FC236}">
                <a16:creationId xmlns:a16="http://schemas.microsoft.com/office/drawing/2014/main" id="{90D90E7F-323F-4FA7-A629-76789DCCF8C3}"/>
              </a:ext>
            </a:extLst>
          </p:cNvPr>
          <p:cNvSpPr>
            <a:spLocks xmlns:a="http://schemas.openxmlformats.org/drawingml/2006/main" noGrp="1"/>
          </p:cNvSpPr>
          <p:nvPr/>
        </p:nvSpPr>
        <p:spPr>
          <a:xfrm xmlns:a="http://schemas.openxmlformats.org/drawingml/2006/main">
            <a:off x="533400" y="5695950"/>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Telomere Analyzer • live demonstration</a:t>
            </a:r>
          </a:p>
        </p:txBody>
      </p:sp>
    </p:spTree>
    <p:extLst>
      <p:ext uri="{BB962C8B-B14F-4D97-AF65-F5344CB8AC3E}">
        <p14:creationId xmlns:p14="http://schemas.microsoft.com/office/powerpoint/2010/main" val="164061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2026-09-22T13:00:30.1880000Z</dcterms:created>
  <dcterms:modified xsi:type="dcterms:W3CDTF">2026-09-22T13:00:30.1880000Z</dcterms:modified>
</coreProperties>
</file>