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46" autoAdjust="0"/>
  </p:normalViewPr>
  <p:slideViewPr>
    <p:cSldViewPr snapToGrid="0">
      <p:cViewPr varScale="1">
        <p:scale>
          <a:sx n="70" d="100"/>
          <a:sy n="70" d="100"/>
        </p:scale>
        <p:origin x="906"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ענבר חבושה" userId="03c71d6d2f595f47" providerId="LiveId" clId="{0905C7AA-AAA3-480D-B4D4-ED1770DECA64}"/>
    <pc:docChg chg="undo custSel modSld">
      <pc:chgData name="ענבר חבושה" userId="03c71d6d2f595f47" providerId="LiveId" clId="{0905C7AA-AAA3-480D-B4D4-ED1770DECA64}" dt="2026-09-22T12:22:27.534" v="10" actId="1076"/>
      <pc:docMkLst>
        <pc:docMk/>
      </pc:docMkLst>
      <pc:sldChg chg="modSp mod">
        <pc:chgData name="ענבר חבושה" userId="03c71d6d2f595f47" providerId="LiveId" clId="{0905C7AA-AAA3-480D-B4D4-ED1770DECA64}" dt="2026-09-22T11:28:02.936" v="3" actId="1076"/>
        <pc:sldMkLst>
          <pc:docMk/>
          <pc:sldMk cId="1920071540" sldId="259"/>
        </pc:sldMkLst>
        <pc:picChg chg="mod">
          <ac:chgData name="ענבר חבושה" userId="03c71d6d2f595f47" providerId="LiveId" clId="{0905C7AA-AAA3-480D-B4D4-ED1770DECA64}" dt="2026-09-22T11:28:02.936" v="3" actId="1076"/>
          <ac:picMkLst>
            <pc:docMk/>
            <pc:sldMk cId="1920071540" sldId="259"/>
            <ac:picMk id="11" creationId="{00000000-0000-0000-0000-000000000000}"/>
          </ac:picMkLst>
        </pc:picChg>
      </pc:sldChg>
      <pc:sldChg chg="modSp mod">
        <pc:chgData name="ענבר חבושה" userId="03c71d6d2f595f47" providerId="LiveId" clId="{0905C7AA-AAA3-480D-B4D4-ED1770DECA64}" dt="2026-09-22T09:59:16.014" v="2" actId="1076"/>
        <pc:sldMkLst>
          <pc:docMk/>
          <pc:sldMk cId="492475051" sldId="260"/>
        </pc:sldMkLst>
        <pc:spChg chg="mod">
          <ac:chgData name="ענבר חבושה" userId="03c71d6d2f595f47" providerId="LiveId" clId="{0905C7AA-AAA3-480D-B4D4-ED1770DECA64}" dt="2026-09-22T09:59:16.014" v="2" actId="1076"/>
          <ac:spMkLst>
            <pc:docMk/>
            <pc:sldMk cId="492475051" sldId="260"/>
            <ac:spMk id="7" creationId="{3C5E314E-20F0-4A29-8899-6661D4A96F8C}"/>
          </ac:spMkLst>
        </pc:spChg>
      </pc:sldChg>
      <pc:sldChg chg="modSp mod">
        <pc:chgData name="ענבר חבושה" userId="03c71d6d2f595f47" providerId="LiveId" clId="{0905C7AA-AAA3-480D-B4D4-ED1770DECA64}" dt="2026-09-22T12:00:22.547" v="7" actId="1076"/>
        <pc:sldMkLst>
          <pc:docMk/>
          <pc:sldMk cId="925002915" sldId="266"/>
        </pc:sldMkLst>
        <pc:spChg chg="mod">
          <ac:chgData name="ענבר חבושה" userId="03c71d6d2f595f47" providerId="LiveId" clId="{0905C7AA-AAA3-480D-B4D4-ED1770DECA64}" dt="2026-09-22T12:00:21.336" v="5" actId="1076"/>
          <ac:spMkLst>
            <pc:docMk/>
            <pc:sldMk cId="925002915" sldId="266"/>
            <ac:spMk id="4" creationId="{F81D1C75-A9B2-4D9E-B209-8AB9BEA11B56}"/>
          </ac:spMkLst>
        </pc:spChg>
        <pc:spChg chg="mod">
          <ac:chgData name="ענבר חבושה" userId="03c71d6d2f595f47" providerId="LiveId" clId="{0905C7AA-AAA3-480D-B4D4-ED1770DECA64}" dt="2026-09-22T12:00:22.547" v="7" actId="1076"/>
          <ac:spMkLst>
            <pc:docMk/>
            <pc:sldMk cId="925002915" sldId="266"/>
            <ac:spMk id="14" creationId="{ADCEBAC6-4837-4943-8C12-DA4876E469D9}"/>
          </ac:spMkLst>
        </pc:spChg>
      </pc:sldChg>
      <pc:sldChg chg="modSp mod">
        <pc:chgData name="ענבר חבושה" userId="03c71d6d2f595f47" providerId="LiveId" clId="{0905C7AA-AAA3-480D-B4D4-ED1770DECA64}" dt="2026-09-22T12:10:24.273" v="8" actId="1076"/>
        <pc:sldMkLst>
          <pc:docMk/>
          <pc:sldMk cId="1236364068" sldId="269"/>
        </pc:sldMkLst>
        <pc:spChg chg="mod">
          <ac:chgData name="ענבר חבושה" userId="03c71d6d2f595f47" providerId="LiveId" clId="{0905C7AA-AAA3-480D-B4D4-ED1770DECA64}" dt="2026-09-22T12:10:24.273" v="8" actId="1076"/>
          <ac:spMkLst>
            <pc:docMk/>
            <pc:sldMk cId="1236364068" sldId="269"/>
            <ac:spMk id="14" creationId="{936D5DB6-2DD0-4BB7-84B4-2C16E5AB12DF}"/>
          </ac:spMkLst>
        </pc:spChg>
      </pc:sldChg>
      <pc:sldChg chg="modSp mod">
        <pc:chgData name="ענבר חבושה" userId="03c71d6d2f595f47" providerId="LiveId" clId="{0905C7AA-AAA3-480D-B4D4-ED1770DECA64}" dt="2026-09-22T12:22:27.534" v="10" actId="1076"/>
        <pc:sldMkLst>
          <pc:docMk/>
          <pc:sldMk cId="16902269" sldId="271"/>
        </pc:sldMkLst>
        <pc:spChg chg="mod">
          <ac:chgData name="ענבר חבושה" userId="03c71d6d2f595f47" providerId="LiveId" clId="{0905C7AA-AAA3-480D-B4D4-ED1770DECA64}" dt="2026-09-22T12:22:27.534" v="10" actId="1076"/>
          <ac:spMkLst>
            <pc:docMk/>
            <pc:sldMk cId="16902269" sldId="271"/>
            <ac:spMk id="2" creationId="{0ECD4207-D90C-4612-A6C2-E4BB63F72E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Deliver the punchline warmly: Do it yourself! Pause for the callback, then explain that the point is to give the lab the ability to run the analysis independently. The next slide makes that motivation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input_section.py and pipeline_runner.py. Show the three entry points and the folder chooser. POD5 starts from raw signal; BAM skips </a:t>
            </a:r>
            <a:r>
              <a:rPr dirty="0" err="1"/>
              <a:t>basecalling</a:t>
            </a:r>
            <a:r>
              <a:rPr dirty="0"/>
              <a:t> and is converted for downstream analysis; FASTQ starts from sequence reads. Barcode organization may still require demultiplexing. Users select the input directory through the folder icon.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test/Telomere Analyzer_20260914_132210/results/</a:t>
            </a:r>
            <a:r>
              <a:rPr dirty="0" err="1"/>
              <a:t>nanotel</a:t>
            </a:r>
            <a:r>
              <a:rPr dirty="0"/>
              <a:t>/nanotel_summary_statistics.csv, saved 14 September 2026. The displayed table reproduces actual values, with shorter presentation-friendly headers. Original columns: barcode, </a:t>
            </a:r>
            <a:r>
              <a:rPr dirty="0" err="1"/>
              <a:t>amount_of_telomeres</a:t>
            </a:r>
            <a:r>
              <a:rPr dirty="0"/>
              <a:t>, </a:t>
            </a:r>
            <a:r>
              <a:rPr dirty="0" err="1"/>
              <a:t>median_telomere_length</a:t>
            </a:r>
            <a:r>
              <a:rPr dirty="0"/>
              <a:t>, below_2kb_pct, </a:t>
            </a:r>
            <a:r>
              <a:rPr dirty="0" err="1"/>
              <a:t>mean_density</a:t>
            </a:r>
            <a:r>
              <a:rPr dirty="0"/>
              <a:t>. Additional columns in the CSV are </a:t>
            </a:r>
            <a:r>
              <a:rPr dirty="0" err="1"/>
              <a:t>med_read_len</a:t>
            </a:r>
            <a:r>
              <a:rPr dirty="0"/>
              <a:t> and </a:t>
            </a:r>
            <a:r>
              <a:rPr dirty="0" err="1"/>
              <a:t>mean_telo_start</a:t>
            </a:r>
            <a:r>
              <a:rPr dirty="0"/>
              <a:t>. Barcode02: 12 retained telomeres, median 4896.5 bp, 16.7% below 2 kb, mean density 0.957. Barcode19: 1 retained telomere, median 12573 bp, 0% below 2 kb, mean density 0.935. Mapping and methylation were disabled. This is an output example, not a comparison of biological conditions. No new analysis was run while preparing these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A2A0C71D-C23C-4CAF-904D-C3F8D4DE28E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REMEMBER THIS?</a:t>
            </a:r>
          </a:p>
        </p:txBody>
      </p:sp>
      <p:sp>
        <p:nvSpPr>
          <p:cNvPr id="2" name="text-2">
            <a:extLst>
              <a:ext uri="{FF2B5EF4-FFF2-40B4-BE49-F238E27FC236}">
                <a16:creationId xmlns:a16="http://schemas.microsoft.com/office/drawing/2014/main" id="{87412681-C8A9-4F5C-8DF3-7246421F2F2B}"/>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3">
            <a:extLst>
              <a:ext uri="{FF2B5EF4-FFF2-40B4-BE49-F238E27FC236}">
                <a16:creationId xmlns:a16="http://schemas.microsoft.com/office/drawing/2014/main" id="{8429FBDF-503B-45FA-8E6A-CBA7AAABF99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a:ext uri="{FF2B5EF4-FFF2-40B4-BE49-F238E27FC236}">
                <a16:creationId xmlns:a16="http://schemas.microsoft.com/office/drawing/2014/main" id="{3B63C170-2BE0-400D-9E43-9091343F2F80}"/>
              </a:ext>
            </a:extLst>
          </p:cNvPr>
          <p:cNvSpPr>
            <a:spLocks noGrp="1"/>
          </p:cNvSpPr>
          <p:nvPr/>
        </p:nvSpPr>
        <p:spPr>
          <a:xfrm>
            <a:off x="533400" y="1838325"/>
            <a:ext cx="10477500" cy="476250"/>
          </a:xfrm>
          <a:prstGeom prst="rect">
            <a:avLst/>
          </a:prstGeom>
        </p:spPr>
        <p:txBody>
          <a:bodyPr lIns="0" tIns="0" rIns="0" bIns="0" anchor="t"/>
          <a:lstStyle/>
          <a:p>
            <a:pPr>
              <a:buNone/>
              <a:defRPr sz="2100" b="0">
                <a:solidFill>
                  <a:srgbClr val="A9B9CF"/>
                </a:solidFill>
                <a:latin typeface="Segoe UI"/>
                <a:ea typeface="Segoe UI"/>
                <a:cs typeface="Segoe UI"/>
              </a:defRPr>
            </a:pPr>
            <a:r>
              <a:rPr dirty="0"/>
              <a:t>A biologist in the lab:</a:t>
            </a:r>
          </a:p>
        </p:txBody>
      </p:sp>
      <p:sp>
        <p:nvSpPr>
          <p:cNvPr id="5" name="text-5">
            <a:extLst>
              <a:ext uri="{FF2B5EF4-FFF2-40B4-BE49-F238E27FC236}">
                <a16:creationId xmlns:a16="http://schemas.microsoft.com/office/drawing/2014/main" id="{AE6314AE-F438-439A-9D63-6DAF8E4867CF}"/>
              </a:ext>
            </a:extLst>
          </p:cNvPr>
          <p:cNvSpPr>
            <a:spLocks noGrp="1"/>
          </p:cNvSpPr>
          <p:nvPr/>
        </p:nvSpPr>
        <p:spPr>
          <a:xfrm>
            <a:off x="533400" y="2695575"/>
            <a:ext cx="11125200" cy="2324100"/>
          </a:xfrm>
          <a:prstGeom prst="rect">
            <a:avLst/>
          </a:prstGeom>
        </p:spPr>
        <p:txBody>
          <a:bodyPr lIns="0" tIns="0" rIns="0" bIns="0" anchor="t"/>
          <a:lstStyle/>
          <a:p>
            <a:pPr>
              <a:buNone/>
              <a:defRPr sz="6600" b="1">
                <a:solidFill>
                  <a:srgbClr val="FFFFFF"/>
                </a:solidFill>
                <a:latin typeface="Segoe UI"/>
                <a:ea typeface="Segoe UI"/>
                <a:cs typeface="Segoe UI"/>
              </a:defRPr>
            </a:pPr>
            <a:r>
              <a:rPr dirty="0"/>
              <a:t>“Can you help me</a:t>
            </a:r>
          </a:p>
          <a:p>
            <a:pPr>
              <a:buNone/>
              <a:defRPr sz="6600" b="1">
                <a:solidFill>
                  <a:srgbClr val="FFFFFF"/>
                </a:solidFill>
                <a:latin typeface="Segoe UI"/>
                <a:ea typeface="Segoe UI"/>
                <a:cs typeface="Segoe UI"/>
              </a:defRPr>
            </a:pPr>
            <a:r>
              <a:rPr dirty="0"/>
              <a:t>analyze my data?”</a:t>
            </a:r>
          </a:p>
        </p:txBody>
      </p:sp>
      <p:sp>
        <p:nvSpPr>
          <p:cNvPr id="6" name="Rectangle 5">
            <a:extLst>
              <a:ext uri="{FF2B5EF4-FFF2-40B4-BE49-F238E27FC236}">
                <a16:creationId xmlns:a16="http://schemas.microsoft.com/office/drawing/2014/main" id="{EEE29FB3-C4A5-47E7-87C5-2715DB5F6316}"/>
              </a:ext>
            </a:extLst>
          </p:cNvPr>
          <p:cNvSpPr>
            <a:spLocks noGrp="1"/>
          </p:cNvSpPr>
          <p:nvPr/>
        </p:nvSpPr>
        <p:spPr>
          <a:xfrm>
            <a:off x="533400" y="5543550"/>
            <a:ext cx="10477500" cy="495300"/>
          </a:xfrm>
          <a:prstGeom prst="rect">
            <a:avLst/>
          </a:prstGeom>
        </p:spPr>
        <p:txBody>
          <a:bodyPr lIns="0" tIns="0" rIns="0" bIns="0" anchor="t"/>
          <a:lstStyle/>
          <a:p>
            <a:pPr>
              <a:buNone/>
              <a:defRPr sz="1950" b="1">
                <a:solidFill>
                  <a:srgbClr val="B5F4DE"/>
                </a:solidFill>
                <a:latin typeface="Segoe UI"/>
                <a:ea typeface="Segoe UI"/>
                <a:cs typeface="Segoe UI"/>
              </a:defRPr>
            </a:pPr>
            <a:r>
              <a:t>LAST TIME…</a:t>
            </a:r>
          </a:p>
        </p:txBody>
      </p:sp>
    </p:spTree>
    <p:extLst>
      <p:ext uri="{BB962C8B-B14F-4D97-AF65-F5344CB8AC3E}">
        <p14:creationId xmlns:p14="http://schemas.microsoft.com/office/powerpoint/2010/main" val="73115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60F5"/>
        </a:solidFill>
        <a:effectLst/>
      </p:bgPr>
    </p:bg>
    <p:spTree>
      <p:nvGrpSpPr>
        <p:cNvPr id="1" name=""/>
        <p:cNvGrpSpPr/>
        <p:nvPr/>
      </p:nvGrpSpPr>
      <p:grpSpPr>
        <a:xfrm>
          <a:off x="0" y="0"/>
          <a:ext cx="0" cy="0"/>
          <a:chOff x="0" y="0"/>
          <a:chExt cx="0" cy="0"/>
        </a:xfrm>
      </p:grpSpPr>
      <p:sp>
        <p:nvSpPr>
          <p:cNvPr id="6" name="text-6">
            <a:extLst>
              <a:ext uri="{FF2B5EF4-FFF2-40B4-BE49-F238E27FC236}">
                <a16:creationId xmlns:a16="http://schemas.microsoft.com/office/drawing/2014/main" id="{94768C85-6F3D-484B-8776-4EC5DF805442}"/>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MY ANSWER NOW</a:t>
            </a:r>
          </a:p>
        </p:txBody>
      </p:sp>
      <p:sp>
        <p:nvSpPr>
          <p:cNvPr id="2" name="text-7">
            <a:extLst>
              <a:ext uri="{FF2B5EF4-FFF2-40B4-BE49-F238E27FC236}">
                <a16:creationId xmlns:a16="http://schemas.microsoft.com/office/drawing/2014/main" id="{D92368AC-6471-49C4-AF37-27D32A0BA30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D9E4FF"/>
                </a:solidFill>
                <a:latin typeface="Segoe UI"/>
                <a:ea typeface="Segoe UI"/>
                <a:cs typeface="Segoe UI"/>
              </a:defRPr>
            </a:pPr>
            <a:r>
              <a:t>TELOMERE ANALYZER</a:t>
            </a:r>
          </a:p>
        </p:txBody>
      </p:sp>
      <p:sp>
        <p:nvSpPr>
          <p:cNvPr id="3" name="text-8">
            <a:extLst>
              <a:ext uri="{FF2B5EF4-FFF2-40B4-BE49-F238E27FC236}">
                <a16:creationId xmlns:a16="http://schemas.microsoft.com/office/drawing/2014/main" id="{C3560B41-CC45-4116-8F10-582DDC3C1DD6}"/>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a:ext uri="{FF2B5EF4-FFF2-40B4-BE49-F238E27FC236}">
                <a16:creationId xmlns:a16="http://schemas.microsoft.com/office/drawing/2014/main" id="{2D136804-3C04-424C-B7B8-4AD5E6350A64}"/>
              </a:ext>
            </a:extLst>
          </p:cNvPr>
          <p:cNvSpPr>
            <a:spLocks noGrp="1"/>
          </p:cNvSpPr>
          <p:nvPr/>
        </p:nvSpPr>
        <p:spPr>
          <a:xfrm>
            <a:off x="533400" y="1933575"/>
            <a:ext cx="11125200" cy="2495550"/>
          </a:xfrm>
          <a:prstGeom prst="rect">
            <a:avLst/>
          </a:prstGeom>
        </p:spPr>
        <p:txBody>
          <a:bodyPr lIns="0" tIns="0" rIns="0" bIns="0" anchor="t"/>
          <a:lstStyle/>
          <a:p>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a:ext uri="{FF2B5EF4-FFF2-40B4-BE49-F238E27FC236}">
                <a16:creationId xmlns:a16="http://schemas.microsoft.com/office/drawing/2014/main" id="{C7837720-00FB-401B-9EF8-4448853EBCAA}"/>
              </a:ext>
            </a:extLst>
          </p:cNvPr>
          <p:cNvSpPr>
            <a:spLocks noGrp="1"/>
          </p:cNvSpPr>
          <p:nvPr/>
        </p:nvSpPr>
        <p:spPr>
          <a:xfrm>
            <a:off x="533400" y="5067300"/>
            <a:ext cx="10477500" cy="685800"/>
          </a:xfrm>
          <a:prstGeom prst="rect">
            <a:avLst/>
          </a:prstGeom>
        </p:spPr>
        <p:txBody>
          <a:bodyPr lIns="0" tIns="0" rIns="0" bIns="0" anchor="t"/>
          <a:lstStyle/>
          <a:p>
            <a:pPr>
              <a:buNone/>
              <a:defRPr sz="3450" b="1">
                <a:solidFill>
                  <a:srgbClr val="B5F4DE"/>
                </a:solidFill>
                <a:latin typeface="Segoe UI"/>
                <a:ea typeface="Segoe UI"/>
                <a:cs typeface="Segoe UI"/>
              </a:defRPr>
            </a:pPr>
            <a:r>
              <a:t>Now you can.</a:t>
            </a:r>
          </a:p>
        </p:txBody>
      </p:sp>
    </p:spTree>
    <p:extLst>
      <p:ext uri="{BB962C8B-B14F-4D97-AF65-F5344CB8AC3E}">
        <p14:creationId xmlns:p14="http://schemas.microsoft.com/office/powerpoint/2010/main" val="191450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2" name="text-11">
            <a:extLst>
              <a:ext uri="{FF2B5EF4-FFF2-40B4-BE49-F238E27FC236}">
                <a16:creationId xmlns:a16="http://schemas.microsoft.com/office/drawing/2014/main" id="{A70EF6E1-4337-4C0F-A865-AD4CF64E709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THE MOTIVATION</a:t>
            </a:r>
          </a:p>
        </p:txBody>
      </p:sp>
      <p:sp>
        <p:nvSpPr>
          <p:cNvPr id="2" name="text-12">
            <a:extLst>
              <a:ext uri="{FF2B5EF4-FFF2-40B4-BE49-F238E27FC236}">
                <a16:creationId xmlns:a16="http://schemas.microsoft.com/office/drawing/2014/main" id="{0EFC6B8E-DDFB-4F2A-9A37-66F1872C458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13">
            <a:extLst>
              <a:ext uri="{FF2B5EF4-FFF2-40B4-BE49-F238E27FC236}">
                <a16:creationId xmlns:a16="http://schemas.microsoft.com/office/drawing/2014/main" id="{17BEA751-3D8A-4F94-BD95-D8EEF031283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a:ext uri="{FF2B5EF4-FFF2-40B4-BE49-F238E27FC236}">
                <a16:creationId xmlns:a16="http://schemas.microsoft.com/office/drawing/2014/main" id="{BDA82327-EB6C-457A-9F90-5609415B914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dirty="0">
                <a:solidFill>
                  <a:srgbClr val="FFFFFF"/>
                </a:solidFill>
                <a:latin typeface="Arial"/>
                <a:ea typeface="Arial"/>
                <a:cs typeface="Arial"/>
              </a:rPr>
              <a:t>Independence for biologists.</a:t>
            </a:r>
          </a:p>
        </p:txBody>
      </p:sp>
      <p:sp>
        <p:nvSpPr>
          <p:cNvPr id="5" name="text-15">
            <a:extLst>
              <a:ext uri="{FF2B5EF4-FFF2-40B4-BE49-F238E27FC236}">
                <a16:creationId xmlns:a16="http://schemas.microsoft.com/office/drawing/2014/main" id="{F5207F0A-D55E-44D1-8BFA-2A32E4A3A46B}"/>
              </a:ext>
            </a:extLst>
          </p:cNvPr>
          <p:cNvSpPr>
            <a:spLocks noGrp="1"/>
          </p:cNvSpPr>
          <p:nvPr/>
        </p:nvSpPr>
        <p:spPr>
          <a:xfrm>
            <a:off x="1476375" y="2305050"/>
            <a:ext cx="9715500" cy="666750"/>
          </a:xfrm>
          <a:prstGeom prst="rect">
            <a:avLst/>
          </a:prstGeom>
        </p:spPr>
        <p:txBody>
          <a:bodyPr lIns="0" tIns="0" rIns="0" bIns="0" anchor="t"/>
          <a:lstStyle/>
          <a:p>
            <a:pPr>
              <a:buNone/>
              <a:defRPr sz="3675" b="1">
                <a:solidFill>
                  <a:srgbClr val="FFFFFF"/>
                </a:solidFill>
                <a:latin typeface="Segoe UI"/>
                <a:ea typeface="Segoe UI"/>
                <a:cs typeface="Segoe UI"/>
              </a:defRPr>
            </a:pPr>
            <a:r>
              <a:rPr dirty="0"/>
              <a:t>Choose your data.</a:t>
            </a:r>
          </a:p>
        </p:txBody>
      </p:sp>
      <p:sp>
        <p:nvSpPr>
          <p:cNvPr id="6" name="text-16">
            <a:extLst>
              <a:ext uri="{FF2B5EF4-FFF2-40B4-BE49-F238E27FC236}">
                <a16:creationId xmlns:a16="http://schemas.microsoft.com/office/drawing/2014/main" id="{7212F038-FD93-4D70-A520-A9BFE385E166}"/>
              </a:ext>
            </a:extLst>
          </p:cNvPr>
          <p:cNvSpPr>
            <a:spLocks noGrp="1"/>
          </p:cNvSpPr>
          <p:nvPr/>
        </p:nvSpPr>
        <p:spPr>
          <a:xfrm>
            <a:off x="1476375" y="3409950"/>
            <a:ext cx="9715500" cy="666750"/>
          </a:xfrm>
          <a:prstGeom prst="rect">
            <a:avLst/>
          </a:prstGeom>
        </p:spPr>
        <p:txBody>
          <a:bodyPr lIns="0" tIns="0" rIns="0" bIns="0" anchor="t"/>
          <a:lstStyle/>
          <a:p>
            <a:pPr>
              <a:buNone/>
              <a:defRPr sz="3675" b="1">
                <a:solidFill>
                  <a:srgbClr val="FFFFFF"/>
                </a:solidFill>
                <a:latin typeface="Segoe UI"/>
                <a:ea typeface="Segoe UI"/>
                <a:cs typeface="Segoe UI"/>
              </a:defRPr>
            </a:pPr>
            <a:r>
              <a:rPr dirty="0"/>
              <a:t>Set up your analysis.</a:t>
            </a:r>
          </a:p>
        </p:txBody>
      </p:sp>
      <p:sp>
        <p:nvSpPr>
          <p:cNvPr id="7" name="text-17">
            <a:extLst>
              <a:ext uri="{FF2B5EF4-FFF2-40B4-BE49-F238E27FC236}">
                <a16:creationId xmlns:a16="http://schemas.microsoft.com/office/drawing/2014/main" id="{B23A7276-BE20-4120-93A3-C15841EC90A6}"/>
              </a:ext>
            </a:extLst>
          </p:cNvPr>
          <p:cNvSpPr>
            <a:spLocks noGrp="1"/>
          </p:cNvSpPr>
          <p:nvPr/>
        </p:nvSpPr>
        <p:spPr>
          <a:xfrm>
            <a:off x="1476375" y="4514850"/>
            <a:ext cx="9715500" cy="666750"/>
          </a:xfrm>
          <a:prstGeom prst="rect">
            <a:avLst/>
          </a:prstGeom>
        </p:spPr>
        <p:txBody>
          <a:bodyPr lIns="0" tIns="0" rIns="0" bIns="0" anchor="t"/>
          <a:lstStyle/>
          <a:p>
            <a:pPr>
              <a:buNone/>
              <a:defRPr sz="3675" b="1">
                <a:solidFill>
                  <a:srgbClr val="B5F4DE"/>
                </a:solidFill>
                <a:latin typeface="Segoe UI"/>
                <a:ea typeface="Segoe UI"/>
                <a:cs typeface="Segoe UI"/>
              </a:defRPr>
            </a:pPr>
            <a:r>
              <a:t>Run it yourself.</a:t>
            </a:r>
          </a:p>
        </p:txBody>
      </p:sp>
      <p:sp>
        <p:nvSpPr>
          <p:cNvPr id="8" name="text-18">
            <a:extLst>
              <a:ext uri="{FF2B5EF4-FFF2-40B4-BE49-F238E27FC236}">
                <a16:creationId xmlns:a16="http://schemas.microsoft.com/office/drawing/2014/main" id="{10CF1FEC-1F9A-4F13-BD39-75AEC3A770C9}"/>
              </a:ext>
            </a:extLst>
          </p:cNvPr>
          <p:cNvSpPr>
            <a:spLocks noGrp="1"/>
          </p:cNvSpPr>
          <p:nvPr/>
        </p:nvSpPr>
        <p:spPr>
          <a:xfrm>
            <a:off x="533400" y="5715000"/>
            <a:ext cx="11049000" cy="514350"/>
          </a:xfrm>
          <a:prstGeom prst="rect">
            <a:avLst/>
          </a:prstGeom>
        </p:spPr>
        <p:txBody>
          <a:bodyPr lIns="0" tIns="0" rIns="0" bIns="0" anchor="t"/>
          <a:lstStyle/>
          <a:p>
            <a:pPr>
              <a:buNone/>
              <a:defRPr sz="2175" b="0">
                <a:solidFill>
                  <a:srgbClr val="A9B9CF"/>
                </a:solidFill>
                <a:latin typeface="Segoe UI"/>
                <a:ea typeface="Segoe UI"/>
                <a:cs typeface="Segoe UI"/>
              </a:defRPr>
            </a:pPr>
            <a:r>
              <a:t>One graphical interface for the lab’s telomere workflow.</a:t>
            </a:r>
          </a:p>
        </p:txBody>
      </p:sp>
      <p:sp>
        <p:nvSpPr>
          <p:cNvPr id="9" name="Rectangle 8">
            <a:extLst>
              <a:ext uri="{FF2B5EF4-FFF2-40B4-BE49-F238E27FC236}">
                <a16:creationId xmlns:a16="http://schemas.microsoft.com/office/drawing/2014/main" id="{8865DABC-367D-40C3-860B-173E83D5BA89}"/>
              </a:ext>
            </a:extLst>
          </p:cNvPr>
          <p:cNvSpPr>
            <a:spLocks noGrp="1"/>
          </p:cNvSpPr>
          <p:nvPr/>
        </p:nvSpPr>
        <p:spPr>
          <a:xfrm>
            <a:off x="533400" y="23717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01</a:t>
            </a:r>
          </a:p>
        </p:txBody>
      </p:sp>
      <p:sp>
        <p:nvSpPr>
          <p:cNvPr id="10" name="Rectangle 9">
            <a:extLst>
              <a:ext uri="{FF2B5EF4-FFF2-40B4-BE49-F238E27FC236}">
                <a16:creationId xmlns:a16="http://schemas.microsoft.com/office/drawing/2014/main" id="{FA0652E9-767E-4A7A-9212-B63F86FC302C}"/>
              </a:ext>
            </a:extLst>
          </p:cNvPr>
          <p:cNvSpPr>
            <a:spLocks noGrp="1"/>
          </p:cNvSpPr>
          <p:nvPr/>
        </p:nvSpPr>
        <p:spPr>
          <a:xfrm>
            <a:off x="533400" y="34766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02</a:t>
            </a:r>
          </a:p>
        </p:txBody>
      </p:sp>
      <p:sp>
        <p:nvSpPr>
          <p:cNvPr id="11" name="Rectangle 10">
            <a:extLst>
              <a:ext uri="{FF2B5EF4-FFF2-40B4-BE49-F238E27FC236}">
                <a16:creationId xmlns:a16="http://schemas.microsoft.com/office/drawing/2014/main" id="{5EC75A2E-84EC-4A3D-9B85-A907B848E12A}"/>
              </a:ext>
            </a:extLst>
          </p:cNvPr>
          <p:cNvSpPr>
            <a:spLocks noGrp="1"/>
          </p:cNvSpPr>
          <p:nvPr/>
        </p:nvSpPr>
        <p:spPr>
          <a:xfrm>
            <a:off x="533400" y="45815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19">
            <a:extLst>
              <a:ext uri="{FF2B5EF4-FFF2-40B4-BE49-F238E27FC236}">
                <a16:creationId xmlns:a16="http://schemas.microsoft.com/office/drawing/2014/main" id="{7600D459-8BCE-4370-9318-DC99462DC44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THE GUI</a:t>
            </a:r>
          </a:p>
        </p:txBody>
      </p:sp>
      <p:sp>
        <p:nvSpPr>
          <p:cNvPr id="2" name="text-20">
            <a:extLst>
              <a:ext uri="{FF2B5EF4-FFF2-40B4-BE49-F238E27FC236}">
                <a16:creationId xmlns:a16="http://schemas.microsoft.com/office/drawing/2014/main" id="{E92E3885-3253-4EFD-A9AC-B5959A1D36D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21">
            <a:extLst>
              <a:ext uri="{FF2B5EF4-FFF2-40B4-BE49-F238E27FC236}">
                <a16:creationId xmlns:a16="http://schemas.microsoft.com/office/drawing/2014/main" id="{E2DAF17A-4FB7-4E98-A920-FC5C4314557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a:ext uri="{FF2B5EF4-FFF2-40B4-BE49-F238E27FC236}">
                <a16:creationId xmlns:a16="http://schemas.microsoft.com/office/drawing/2014/main" id="{066B7B4C-8634-437A-89E6-2DD8248D43E4}"/>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dirty="0">
                <a:solidFill>
                  <a:srgbClr val="FFFFFF"/>
                </a:solidFill>
                <a:latin typeface="Arial"/>
                <a:ea typeface="Arial"/>
                <a:cs typeface="Arial"/>
              </a:rPr>
              <a:t>Meet Telomere Analyzer.</a:t>
            </a:r>
          </a:p>
        </p:txBody>
      </p:sp>
      <p:pic>
        <p:nvPicPr>
          <p:cNvPr id="11" name="Picture 9"/>
          <p:cNvPicPr>
            <a:picLocks noChangeAspect="1"/>
          </p:cNvPicPr>
          <p:nvPr/>
        </p:nvPicPr>
        <p:blipFill>
          <a:blip r:embed="rId3"/>
          <a:stretch/>
        </p:blipFill>
        <p:spPr>
          <a:xfrm>
            <a:off x="533400" y="1771650"/>
            <a:ext cx="11125200" cy="4495800"/>
          </a:xfrm>
          <a:prstGeom prst="rect">
            <a:avLst/>
          </a:prstGeom>
        </p:spPr>
      </p:pic>
    </p:spTree>
    <p:extLst>
      <p:ext uri="{BB962C8B-B14F-4D97-AF65-F5344CB8AC3E}">
        <p14:creationId xmlns:p14="http://schemas.microsoft.com/office/powerpoint/2010/main" val="192007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23">
            <a:extLst>
              <a:ext uri="{FF2B5EF4-FFF2-40B4-BE49-F238E27FC236}">
                <a16:creationId xmlns:a16="http://schemas.microsoft.com/office/drawing/2014/main" id="{FACFCD14-8808-40E7-A050-5EEB24149D0A}"/>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INPUT DATA</a:t>
            </a:r>
          </a:p>
        </p:txBody>
      </p:sp>
      <p:sp>
        <p:nvSpPr>
          <p:cNvPr id="2" name="text-24">
            <a:extLst>
              <a:ext uri="{FF2B5EF4-FFF2-40B4-BE49-F238E27FC236}">
                <a16:creationId xmlns:a16="http://schemas.microsoft.com/office/drawing/2014/main" id="{E7E306F0-7678-4ADD-82C0-58E182DB96B0}"/>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25">
            <a:extLst>
              <a:ext uri="{FF2B5EF4-FFF2-40B4-BE49-F238E27FC236}">
                <a16:creationId xmlns:a16="http://schemas.microsoft.com/office/drawing/2014/main" id="{FC159E9C-9381-4B5F-BBBD-DA094B01C1D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05</a:t>
            </a:r>
          </a:p>
        </p:txBody>
      </p:sp>
      <p:sp>
        <p:nvSpPr>
          <p:cNvPr id="4" name="text-26">
            <a:extLst>
              <a:ext uri="{FF2B5EF4-FFF2-40B4-BE49-F238E27FC236}">
                <a16:creationId xmlns:a16="http://schemas.microsoft.com/office/drawing/2014/main" id="{46504EA1-B404-4CE9-949D-E138A339B8F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Start with your data.</a:t>
            </a:r>
          </a:p>
        </p:txBody>
      </p:sp>
      <p:pic>
        <p:nvPicPr>
          <p:cNvPr id="17" name="Picture 16"/>
          <p:cNvPicPr>
            <a:picLocks noChangeAspect="1"/>
          </p:cNvPicPr>
          <p:nvPr/>
        </p:nvPicPr>
        <p:blipFill>
          <a:blip r:embed="rId3"/>
          <a:stretch/>
        </p:blipFill>
        <p:spPr>
          <a:xfrm>
            <a:off x="457200" y="2081227"/>
            <a:ext cx="11277600" cy="1704947"/>
          </a:xfrm>
          <a:prstGeom prst="rect">
            <a:avLst/>
          </a:prstGeom>
        </p:spPr>
      </p:pic>
      <p:sp>
        <p:nvSpPr>
          <p:cNvPr id="6" name="text-27">
            <a:extLst>
              <a:ext uri="{FF2B5EF4-FFF2-40B4-BE49-F238E27FC236}">
                <a16:creationId xmlns:a16="http://schemas.microsoft.com/office/drawing/2014/main" id="{FBB108D3-484B-40A5-838A-6BC343236A22}"/>
              </a:ext>
            </a:extLst>
          </p:cNvPr>
          <p:cNvSpPr>
            <a:spLocks noGrp="1"/>
          </p:cNvSpPr>
          <p:nvPr/>
        </p:nvSpPr>
        <p:spPr>
          <a:xfrm>
            <a:off x="533400"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rPr dirty="0"/>
              <a:t>POD5</a:t>
            </a:r>
          </a:p>
        </p:txBody>
      </p:sp>
      <p:sp>
        <p:nvSpPr>
          <p:cNvPr id="7" name="text-28">
            <a:extLst>
              <a:ext uri="{FF2B5EF4-FFF2-40B4-BE49-F238E27FC236}">
                <a16:creationId xmlns:a16="http://schemas.microsoft.com/office/drawing/2014/main" id="{3C5E314E-20F0-4A29-8899-6661D4A96F8C}"/>
              </a:ext>
            </a:extLst>
          </p:cNvPr>
          <p:cNvSpPr>
            <a:spLocks noGrp="1"/>
          </p:cNvSpPr>
          <p:nvPr/>
        </p:nvSpPr>
        <p:spPr>
          <a:xfrm>
            <a:off x="457200"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Raw signals</a:t>
            </a:r>
          </a:p>
          <a:p>
            <a:pPr>
              <a:buNone/>
              <a:defRPr sz="2175" b="0">
                <a:solidFill>
                  <a:srgbClr val="0D182A"/>
                </a:solidFill>
                <a:latin typeface="Segoe UI"/>
                <a:ea typeface="Segoe UI"/>
                <a:cs typeface="Segoe UI"/>
              </a:defRPr>
            </a:pPr>
            <a:r>
              <a:t>Start with basecalling.</a:t>
            </a:r>
          </a:p>
        </p:txBody>
      </p:sp>
      <p:sp>
        <p:nvSpPr>
          <p:cNvPr id="8" name="text-29">
            <a:extLst>
              <a:ext uri="{FF2B5EF4-FFF2-40B4-BE49-F238E27FC236}">
                <a16:creationId xmlns:a16="http://schemas.microsoft.com/office/drawing/2014/main" id="{126DB059-40A4-4EA3-9A01-97C59E0EAEE8}"/>
              </a:ext>
            </a:extLst>
          </p:cNvPr>
          <p:cNvSpPr>
            <a:spLocks noGrp="1"/>
          </p:cNvSpPr>
          <p:nvPr/>
        </p:nvSpPr>
        <p:spPr>
          <a:xfrm>
            <a:off x="4371975"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rPr dirty="0"/>
              <a:t>BAM</a:t>
            </a:r>
          </a:p>
        </p:txBody>
      </p:sp>
      <p:sp>
        <p:nvSpPr>
          <p:cNvPr id="9" name="text-30">
            <a:extLst>
              <a:ext uri="{FF2B5EF4-FFF2-40B4-BE49-F238E27FC236}">
                <a16:creationId xmlns:a16="http://schemas.microsoft.com/office/drawing/2014/main" id="{F1EFBEC9-4DD2-487E-852A-CFFBE0836D33}"/>
              </a:ext>
            </a:extLst>
          </p:cNvPr>
          <p:cNvSpPr>
            <a:spLocks noGrp="1"/>
          </p:cNvSpPr>
          <p:nvPr/>
        </p:nvSpPr>
        <p:spPr>
          <a:xfrm>
            <a:off x="4410075"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Basecalled reads</a:t>
            </a:r>
          </a:p>
          <a:p>
            <a:pPr>
              <a:buNone/>
              <a:defRPr sz="2175" b="0">
                <a:solidFill>
                  <a:srgbClr val="0D182A"/>
                </a:solidFill>
                <a:latin typeface="Segoe UI"/>
                <a:ea typeface="Segoe UI"/>
                <a:cs typeface="Segoe UI"/>
              </a:defRPr>
            </a:pPr>
            <a:r>
              <a:t>Skip basecalling.</a:t>
            </a:r>
          </a:p>
        </p:txBody>
      </p:sp>
      <p:sp>
        <p:nvSpPr>
          <p:cNvPr id="10" name="text-31">
            <a:extLst>
              <a:ext uri="{FF2B5EF4-FFF2-40B4-BE49-F238E27FC236}">
                <a16:creationId xmlns:a16="http://schemas.microsoft.com/office/drawing/2014/main" id="{0DA4FA36-845E-4540-AE84-26B764A2F14A}"/>
              </a:ext>
            </a:extLst>
          </p:cNvPr>
          <p:cNvSpPr>
            <a:spLocks noGrp="1"/>
          </p:cNvSpPr>
          <p:nvPr/>
        </p:nvSpPr>
        <p:spPr>
          <a:xfrm>
            <a:off x="8210550"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rPr dirty="0"/>
              <a:t>FASTQ</a:t>
            </a:r>
          </a:p>
        </p:txBody>
      </p:sp>
      <p:sp>
        <p:nvSpPr>
          <p:cNvPr id="11" name="text-32">
            <a:extLst>
              <a:ext uri="{FF2B5EF4-FFF2-40B4-BE49-F238E27FC236}">
                <a16:creationId xmlns:a16="http://schemas.microsoft.com/office/drawing/2014/main" id="{E4B54E98-4591-4FAD-A394-A8C3C11E9E0C}"/>
              </a:ext>
            </a:extLst>
          </p:cNvPr>
          <p:cNvSpPr>
            <a:spLocks noGrp="1"/>
          </p:cNvSpPr>
          <p:nvPr/>
        </p:nvSpPr>
        <p:spPr>
          <a:xfrm>
            <a:off x="8362950"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Sequence reads</a:t>
            </a:r>
          </a:p>
          <a:p>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33">
            <a:extLst>
              <a:ext uri="{FF2B5EF4-FFF2-40B4-BE49-F238E27FC236}">
                <a16:creationId xmlns:a16="http://schemas.microsoft.com/office/drawing/2014/main" id="{1470AD6A-76E6-4823-B78B-AE012ACC79B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RUN SETUP</a:t>
            </a:r>
          </a:p>
        </p:txBody>
      </p:sp>
      <p:sp>
        <p:nvSpPr>
          <p:cNvPr id="2" name="text-34">
            <a:extLst>
              <a:ext uri="{FF2B5EF4-FFF2-40B4-BE49-F238E27FC236}">
                <a16:creationId xmlns:a16="http://schemas.microsoft.com/office/drawing/2014/main" id="{45D4992D-D8A9-4A81-B674-42CD64E1C3D5}"/>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35">
            <a:extLst>
              <a:ext uri="{FF2B5EF4-FFF2-40B4-BE49-F238E27FC236}">
                <a16:creationId xmlns:a16="http://schemas.microsoft.com/office/drawing/2014/main" id="{A8D9D16B-BA09-4806-8FEF-FDE9533F7AF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36">
            <a:extLst>
              <a:ext uri="{FF2B5EF4-FFF2-40B4-BE49-F238E27FC236}">
                <a16:creationId xmlns:a16="http://schemas.microsoft.com/office/drawing/2014/main" id="{FC48BF7E-DCE7-4DFF-94AA-B299906520E8}"/>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Make it your run.</a:t>
            </a:r>
          </a:p>
        </p:txBody>
      </p:sp>
      <p:pic>
        <p:nvPicPr>
          <p:cNvPr id="17" name="Picture 16"/>
          <p:cNvPicPr>
            <a:picLocks noChangeAspect="1"/>
          </p:cNvPicPr>
          <p:nvPr/>
        </p:nvPicPr>
        <p:blipFill>
          <a:blip r:embed="rId3"/>
          <a:stretch/>
        </p:blipFill>
        <p:spPr>
          <a:xfrm>
            <a:off x="533400" y="2390775"/>
            <a:ext cx="11125200" cy="1047750"/>
          </a:xfrm>
          <a:prstGeom prst="rect">
            <a:avLst/>
          </a:prstGeom>
        </p:spPr>
      </p:pic>
      <p:pic>
        <p:nvPicPr>
          <p:cNvPr id="18" name="Picture 17"/>
          <p:cNvPicPr>
            <a:picLocks noChangeAspect="1"/>
          </p:cNvPicPr>
          <p:nvPr/>
        </p:nvPicPr>
        <p:blipFill>
          <a:blip r:embed="rId4"/>
          <a:stretch/>
        </p:blipFill>
        <p:spPr>
          <a:xfrm>
            <a:off x="533400" y="4676775"/>
            <a:ext cx="5524500" cy="1047750"/>
          </a:xfrm>
          <a:prstGeom prst="rect">
            <a:avLst/>
          </a:prstGeom>
        </p:spPr>
      </p:pic>
      <p:sp>
        <p:nvSpPr>
          <p:cNvPr id="7" name="text-37">
            <a:extLst>
              <a:ext uri="{FF2B5EF4-FFF2-40B4-BE49-F238E27FC236}">
                <a16:creationId xmlns:a16="http://schemas.microsoft.com/office/drawing/2014/main" id="{D7B9068A-7A46-4162-8650-53BCE29AB944}"/>
              </a:ext>
            </a:extLst>
          </p:cNvPr>
          <p:cNvSpPr>
            <a:spLocks noGrp="1"/>
          </p:cNvSpPr>
          <p:nvPr/>
        </p:nvSpPr>
        <p:spPr>
          <a:xfrm>
            <a:off x="533400" y="1914525"/>
            <a:ext cx="10477500" cy="428625"/>
          </a:xfrm>
          <a:prstGeom prst="rect">
            <a:avLst/>
          </a:prstGeom>
        </p:spPr>
        <p:txBody>
          <a:bodyPr lIns="0" tIns="0" rIns="0" bIns="0" anchor="t"/>
          <a:lstStyle/>
          <a:p>
            <a:pPr>
              <a:buNone/>
              <a:defRPr sz="2400" b="1">
                <a:solidFill>
                  <a:srgbClr val="2860F5"/>
                </a:solidFill>
                <a:latin typeface="Segoe UI"/>
                <a:ea typeface="Segoe UI"/>
                <a:cs typeface="Segoe UI"/>
              </a:defRPr>
            </a:pPr>
            <a:r>
              <a:rPr dirty="0"/>
              <a:t>Output Path</a:t>
            </a:r>
          </a:p>
        </p:txBody>
      </p:sp>
      <p:sp>
        <p:nvSpPr>
          <p:cNvPr id="8" name="text-38">
            <a:extLst>
              <a:ext uri="{FF2B5EF4-FFF2-40B4-BE49-F238E27FC236}">
                <a16:creationId xmlns:a16="http://schemas.microsoft.com/office/drawing/2014/main" id="{593E95AD-0920-430B-B3A0-81C5C86C56A6}"/>
              </a:ext>
            </a:extLst>
          </p:cNvPr>
          <p:cNvSpPr>
            <a:spLocks noGrp="1"/>
          </p:cNvSpPr>
          <p:nvPr/>
        </p:nvSpPr>
        <p:spPr>
          <a:xfrm>
            <a:off x="533400" y="3571875"/>
            <a:ext cx="10668000" cy="571500"/>
          </a:xfrm>
          <a:prstGeom prst="rect">
            <a:avLst/>
          </a:prstGeom>
        </p:spPr>
        <p:txBody>
          <a:bodyPr lIns="0" tIns="0" rIns="0" bIns="0" anchor="t"/>
          <a:lstStyle/>
          <a:p>
            <a:pPr>
              <a:buNone/>
              <a:defRPr sz="2175" b="0">
                <a:solidFill>
                  <a:srgbClr val="0D182A"/>
                </a:solidFill>
                <a:latin typeface="Segoe UI"/>
                <a:ea typeface="Segoe UI"/>
                <a:cs typeface="Segoe UI"/>
              </a:defRPr>
            </a:pPr>
            <a:r>
              <a:rPr dirty="0"/>
              <a:t>Select the destination for your run.</a:t>
            </a:r>
          </a:p>
        </p:txBody>
      </p:sp>
      <p:sp>
        <p:nvSpPr>
          <p:cNvPr id="9" name="text-39">
            <a:extLst>
              <a:ext uri="{FF2B5EF4-FFF2-40B4-BE49-F238E27FC236}">
                <a16:creationId xmlns:a16="http://schemas.microsoft.com/office/drawing/2014/main" id="{91233E65-7BD7-410D-A67E-0B9E7FAB0ED9}"/>
              </a:ext>
            </a:extLst>
          </p:cNvPr>
          <p:cNvSpPr>
            <a:spLocks noGrp="1"/>
          </p:cNvSpPr>
          <p:nvPr/>
        </p:nvSpPr>
        <p:spPr>
          <a:xfrm>
            <a:off x="533400" y="4162425"/>
            <a:ext cx="10477500" cy="428625"/>
          </a:xfrm>
          <a:prstGeom prst="rect">
            <a:avLst/>
          </a:prstGeom>
        </p:spPr>
        <p:txBody>
          <a:bodyPr lIns="0" tIns="0" rIns="0" bIns="0" anchor="t"/>
          <a:lstStyle/>
          <a:p>
            <a:pPr>
              <a:buNone/>
              <a:defRPr sz="2400" b="1">
                <a:solidFill>
                  <a:srgbClr val="2860F5"/>
                </a:solidFill>
                <a:latin typeface="Segoe UI"/>
                <a:ea typeface="Segoe UI"/>
                <a:cs typeface="Segoe UI"/>
              </a:defRPr>
            </a:pPr>
            <a:r>
              <a:rPr dirty="0"/>
              <a:t>Organism</a:t>
            </a:r>
          </a:p>
        </p:txBody>
      </p:sp>
      <p:sp>
        <p:nvSpPr>
          <p:cNvPr id="10" name="text-40">
            <a:extLst>
              <a:ext uri="{FF2B5EF4-FFF2-40B4-BE49-F238E27FC236}">
                <a16:creationId xmlns:a16="http://schemas.microsoft.com/office/drawing/2014/main" id="{E790D870-C49F-42D8-92CE-6FE799395AA3}"/>
              </a:ext>
            </a:extLst>
          </p:cNvPr>
          <p:cNvSpPr>
            <a:spLocks noGrp="1"/>
          </p:cNvSpPr>
          <p:nvPr/>
        </p:nvSpPr>
        <p:spPr>
          <a:xfrm>
            <a:off x="6543675" y="4924425"/>
            <a:ext cx="4953000" cy="819150"/>
          </a:xfrm>
          <a:prstGeom prst="rect">
            <a:avLst/>
          </a:prstGeom>
        </p:spPr>
        <p:txBody>
          <a:bodyPr lIns="0" tIns="0" rIns="0" bIns="0" anchor="t"/>
          <a:lstStyle/>
          <a:p>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41">
            <a:extLst>
              <a:ext uri="{FF2B5EF4-FFF2-40B4-BE49-F238E27FC236}">
                <a16:creationId xmlns:a16="http://schemas.microsoft.com/office/drawing/2014/main" id="{A1A91230-714F-4894-BFE5-0E8BE69DFB4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ANALYSIS STEPS</a:t>
            </a:r>
          </a:p>
        </p:txBody>
      </p:sp>
      <p:sp>
        <p:nvSpPr>
          <p:cNvPr id="2" name="text-42">
            <a:extLst>
              <a:ext uri="{FF2B5EF4-FFF2-40B4-BE49-F238E27FC236}">
                <a16:creationId xmlns:a16="http://schemas.microsoft.com/office/drawing/2014/main" id="{1D7146C9-ED50-4BAB-B83C-44083196609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43">
            <a:extLst>
              <a:ext uri="{FF2B5EF4-FFF2-40B4-BE49-F238E27FC236}">
                <a16:creationId xmlns:a16="http://schemas.microsoft.com/office/drawing/2014/main" id="{E77EE328-559F-43E1-B9DA-E98D9A9F6F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44">
            <a:extLst>
              <a:ext uri="{FF2B5EF4-FFF2-40B4-BE49-F238E27FC236}">
                <a16:creationId xmlns:a16="http://schemas.microsoft.com/office/drawing/2014/main" id="{4155C7D3-1FCE-457D-931A-53A9A28EA48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Choose your workflow.</a:t>
            </a:r>
          </a:p>
        </p:txBody>
      </p:sp>
      <p:pic>
        <p:nvPicPr>
          <p:cNvPr id="15" name="Picture 14"/>
          <p:cNvPicPr>
            <a:picLocks noChangeAspect="1"/>
          </p:cNvPicPr>
          <p:nvPr/>
        </p:nvPicPr>
        <p:blipFill>
          <a:blip r:embed="rId3"/>
          <a:stretch/>
        </p:blipFill>
        <p:spPr>
          <a:xfrm>
            <a:off x="457200" y="2302156"/>
            <a:ext cx="11277600" cy="1205938"/>
          </a:xfrm>
          <a:prstGeom prst="rect">
            <a:avLst/>
          </a:prstGeom>
        </p:spPr>
      </p:pic>
      <p:sp>
        <p:nvSpPr>
          <p:cNvPr id="6" name="text-45">
            <a:extLst>
              <a:ext uri="{FF2B5EF4-FFF2-40B4-BE49-F238E27FC236}">
                <a16:creationId xmlns:a16="http://schemas.microsoft.com/office/drawing/2014/main" id="{BD7DD90A-C991-4A9F-AA57-36F7E6550089}"/>
              </a:ext>
            </a:extLst>
          </p:cNvPr>
          <p:cNvSpPr>
            <a:spLocks noGrp="1"/>
          </p:cNvSpPr>
          <p:nvPr/>
        </p:nvSpPr>
        <p:spPr>
          <a:xfrm>
            <a:off x="533400" y="4133850"/>
            <a:ext cx="5191125" cy="523875"/>
          </a:xfrm>
          <a:prstGeom prst="rect">
            <a:avLst/>
          </a:prstGeom>
        </p:spPr>
        <p:txBody>
          <a:bodyPr lIns="0" tIns="0" rIns="0" bIns="0" anchor="t"/>
          <a:lstStyle/>
          <a:p>
            <a:pPr>
              <a:buNone/>
              <a:defRPr sz="2925" b="1">
                <a:solidFill>
                  <a:srgbClr val="2860F5"/>
                </a:solidFill>
                <a:latin typeface="Segoe UI"/>
                <a:ea typeface="Segoe UI"/>
                <a:cs typeface="Segoe UI"/>
              </a:defRPr>
            </a:pPr>
            <a:r>
              <a:rPr dirty="0" err="1"/>
              <a:t>Basecalling</a:t>
            </a:r>
            <a:endParaRPr dirty="0"/>
          </a:p>
        </p:txBody>
      </p:sp>
      <p:sp>
        <p:nvSpPr>
          <p:cNvPr id="7" name="text-46">
            <a:extLst>
              <a:ext uri="{FF2B5EF4-FFF2-40B4-BE49-F238E27FC236}">
                <a16:creationId xmlns:a16="http://schemas.microsoft.com/office/drawing/2014/main" id="{810EB671-641E-481E-9136-1378025F4460}"/>
              </a:ext>
            </a:extLst>
          </p:cNvPr>
          <p:cNvSpPr>
            <a:spLocks noGrp="1"/>
          </p:cNvSpPr>
          <p:nvPr/>
        </p:nvSpPr>
        <p:spPr>
          <a:xfrm>
            <a:off x="533400" y="4895850"/>
            <a:ext cx="5191125" cy="1095375"/>
          </a:xfrm>
          <a:prstGeom prst="rect">
            <a:avLst/>
          </a:prstGeom>
        </p:spPr>
        <p:txBody>
          <a:bodyPr lIns="0" tIns="0" rIns="0" bIns="0" anchor="t"/>
          <a:lstStyle/>
          <a:p>
            <a:pPr>
              <a:buNone/>
              <a:defRPr sz="2175" b="0">
                <a:solidFill>
                  <a:srgbClr val="0D182A"/>
                </a:solidFill>
                <a:latin typeface="Segoe UI"/>
                <a:ea typeface="Segoe UI"/>
                <a:cs typeface="Segoe UI"/>
              </a:defRPr>
            </a:pPr>
            <a:r>
              <a:rPr dirty="0"/>
              <a:t>Convert POD5 signals into sequence reads.</a:t>
            </a:r>
          </a:p>
        </p:txBody>
      </p:sp>
      <p:sp>
        <p:nvSpPr>
          <p:cNvPr id="8" name="text-47">
            <a:extLst>
              <a:ext uri="{FF2B5EF4-FFF2-40B4-BE49-F238E27FC236}">
                <a16:creationId xmlns:a16="http://schemas.microsoft.com/office/drawing/2014/main" id="{CCD7D3F7-70EA-47EE-9CF9-A98306C73C74}"/>
              </a:ext>
            </a:extLst>
          </p:cNvPr>
          <p:cNvSpPr>
            <a:spLocks noGrp="1"/>
          </p:cNvSpPr>
          <p:nvPr/>
        </p:nvSpPr>
        <p:spPr>
          <a:xfrm>
            <a:off x="6381750" y="4133850"/>
            <a:ext cx="5334000" cy="523875"/>
          </a:xfrm>
          <a:prstGeom prst="rect">
            <a:avLst/>
          </a:prstGeom>
        </p:spPr>
        <p:txBody>
          <a:bodyPr lIns="0" tIns="0" rIns="0" bIns="0" anchor="t"/>
          <a:lstStyle/>
          <a:p>
            <a:pPr>
              <a:buNone/>
              <a:defRPr sz="2925" b="1">
                <a:solidFill>
                  <a:srgbClr val="2860F5"/>
                </a:solidFill>
                <a:latin typeface="Segoe UI"/>
                <a:ea typeface="Segoe UI"/>
                <a:cs typeface="Segoe UI"/>
              </a:defRPr>
            </a:pPr>
            <a:r>
              <a:t>NanoTel Analysis</a:t>
            </a:r>
          </a:p>
        </p:txBody>
      </p:sp>
      <p:sp>
        <p:nvSpPr>
          <p:cNvPr id="9" name="text-48">
            <a:extLst>
              <a:ext uri="{FF2B5EF4-FFF2-40B4-BE49-F238E27FC236}">
                <a16:creationId xmlns:a16="http://schemas.microsoft.com/office/drawing/2014/main" id="{04942B0C-5FD2-4B87-9D0F-1C3D96104560}"/>
              </a:ext>
            </a:extLst>
          </p:cNvPr>
          <p:cNvSpPr>
            <a:spLocks noGrp="1"/>
          </p:cNvSpPr>
          <p:nvPr/>
        </p:nvSpPr>
        <p:spPr>
          <a:xfrm>
            <a:off x="6381750" y="4895850"/>
            <a:ext cx="5334000" cy="1095375"/>
          </a:xfrm>
          <a:prstGeom prst="rect">
            <a:avLst/>
          </a:prstGeom>
        </p:spPr>
        <p:txBody>
          <a:bodyPr lIns="0" tIns="0" rIns="0" bIns="0" anchor="t"/>
          <a:lstStyle/>
          <a:p>
            <a:pPr>
              <a:buNone/>
              <a:defRPr sz="2175" b="0">
                <a:solidFill>
                  <a:srgbClr val="0D182A"/>
                </a:solidFill>
                <a:latin typeface="Segoe UI"/>
                <a:ea typeface="Segoe UI"/>
                <a:cs typeface="Segoe UI"/>
              </a:defRPr>
            </a:pPr>
            <a:r>
              <a:rPr dirty="0"/>
              <a:t>Analyze telomere content and generate summaries.</a:t>
            </a:r>
          </a:p>
        </p:txBody>
      </p:sp>
    </p:spTree>
    <p:extLst>
      <p:ext uri="{BB962C8B-B14F-4D97-AF65-F5344CB8AC3E}">
        <p14:creationId xmlns:p14="http://schemas.microsoft.com/office/powerpoint/2010/main" val="146378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49">
            <a:extLst>
              <a:ext uri="{FF2B5EF4-FFF2-40B4-BE49-F238E27FC236}">
                <a16:creationId xmlns:a16="http://schemas.microsoft.com/office/drawing/2014/main" id="{0C07940F-2360-451F-BAB2-984E09C0A2DB}"/>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rPr dirty="0"/>
              <a:t>BASECALLING OPTIONS</a:t>
            </a:r>
          </a:p>
        </p:txBody>
      </p:sp>
      <p:sp>
        <p:nvSpPr>
          <p:cNvPr id="2" name="text-50">
            <a:extLst>
              <a:ext uri="{FF2B5EF4-FFF2-40B4-BE49-F238E27FC236}">
                <a16:creationId xmlns:a16="http://schemas.microsoft.com/office/drawing/2014/main" id="{F7756C69-1AC5-4C08-83D9-47A360608C5E}"/>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51">
            <a:extLst>
              <a:ext uri="{FF2B5EF4-FFF2-40B4-BE49-F238E27FC236}">
                <a16:creationId xmlns:a16="http://schemas.microsoft.com/office/drawing/2014/main" id="{A819AA8B-77B7-4B62-9D0C-60AD8DAD81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08</a:t>
            </a:r>
          </a:p>
        </p:txBody>
      </p:sp>
      <p:sp>
        <p:nvSpPr>
          <p:cNvPr id="4" name="text-52">
            <a:extLst>
              <a:ext uri="{FF2B5EF4-FFF2-40B4-BE49-F238E27FC236}">
                <a16:creationId xmlns:a16="http://schemas.microsoft.com/office/drawing/2014/main" id="{A8FCC4FB-174E-45A0-A953-7109CF5FC15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dirty="0" err="1">
                <a:solidFill>
                  <a:srgbClr val="FFFFFF"/>
                </a:solidFill>
                <a:latin typeface="Arial"/>
                <a:ea typeface="Arial"/>
                <a:cs typeface="Arial"/>
              </a:rPr>
              <a:t>Basecalling</a:t>
            </a:r>
            <a:r>
              <a:rPr sz="4650" b="1" dirty="0">
                <a:solidFill>
                  <a:srgbClr val="FFFFFF"/>
                </a:solidFill>
                <a:latin typeface="Arial"/>
                <a:ea typeface="Arial"/>
                <a:cs typeface="Arial"/>
              </a:rPr>
              <a:t>, your way.</a:t>
            </a:r>
          </a:p>
        </p:txBody>
      </p:sp>
      <p:pic>
        <p:nvPicPr>
          <p:cNvPr id="15" name="Picture 14"/>
          <p:cNvPicPr>
            <a:picLocks noChangeAspect="1"/>
          </p:cNvPicPr>
          <p:nvPr/>
        </p:nvPicPr>
        <p:blipFill>
          <a:blip r:embed="rId3"/>
          <a:stretch/>
        </p:blipFill>
        <p:spPr>
          <a:xfrm>
            <a:off x="457200" y="2284206"/>
            <a:ext cx="7239000" cy="2461038"/>
          </a:xfrm>
          <a:prstGeom prst="rect">
            <a:avLst/>
          </a:prstGeom>
        </p:spPr>
      </p:pic>
      <p:sp>
        <p:nvSpPr>
          <p:cNvPr id="6" name="text-53">
            <a:extLst>
              <a:ext uri="{FF2B5EF4-FFF2-40B4-BE49-F238E27FC236}">
                <a16:creationId xmlns:a16="http://schemas.microsoft.com/office/drawing/2014/main" id="{2405A6C0-21AD-486D-944A-47A77F533C2D}"/>
              </a:ext>
            </a:extLst>
          </p:cNvPr>
          <p:cNvSpPr>
            <a:spLocks noGrp="1"/>
          </p:cNvSpPr>
          <p:nvPr/>
        </p:nvSpPr>
        <p:spPr>
          <a:xfrm>
            <a:off x="8286750" y="2238375"/>
            <a:ext cx="3333750" cy="523875"/>
          </a:xfrm>
          <a:prstGeom prst="rect">
            <a:avLst/>
          </a:prstGeom>
        </p:spPr>
        <p:txBody>
          <a:bodyPr lIns="0" tIns="0" rIns="0" bIns="0" anchor="t"/>
          <a:lstStyle/>
          <a:p>
            <a:pPr>
              <a:buNone/>
              <a:defRPr sz="2400" b="1">
                <a:solidFill>
                  <a:srgbClr val="B5F4DE"/>
                </a:solidFill>
                <a:latin typeface="Segoe UI"/>
                <a:ea typeface="Segoe UI"/>
                <a:cs typeface="Segoe UI"/>
              </a:defRPr>
            </a:pPr>
            <a:r>
              <a:rPr dirty="0"/>
              <a:t>Methylation Type</a:t>
            </a:r>
          </a:p>
        </p:txBody>
      </p:sp>
      <p:sp>
        <p:nvSpPr>
          <p:cNvPr id="7" name="text-54">
            <a:extLst>
              <a:ext uri="{FF2B5EF4-FFF2-40B4-BE49-F238E27FC236}">
                <a16:creationId xmlns:a16="http://schemas.microsoft.com/office/drawing/2014/main" id="{593A1565-8199-477B-AF38-BA39DE44D8BD}"/>
              </a:ext>
            </a:extLst>
          </p:cNvPr>
          <p:cNvSpPr>
            <a:spLocks noGrp="1"/>
          </p:cNvSpPr>
          <p:nvPr/>
        </p:nvSpPr>
        <p:spPr>
          <a:xfrm>
            <a:off x="8286750" y="2952750"/>
            <a:ext cx="3429000" cy="1562100"/>
          </a:xfrm>
          <a:prstGeom prst="rect">
            <a:avLst/>
          </a:prstGeom>
        </p:spPr>
        <p:txBody>
          <a:bodyPr lIns="0" tIns="0" rIns="0" bIns="0" anchor="t"/>
          <a:lstStyle/>
          <a:p>
            <a:pPr>
              <a:buNone/>
              <a:defRPr sz="2250" b="0">
                <a:solidFill>
                  <a:srgbClr val="FFFFFF"/>
                </a:solidFill>
                <a:latin typeface="Segoe UI"/>
                <a:ea typeface="Segoe UI"/>
                <a:cs typeface="Segoe UI"/>
              </a:defRPr>
            </a:pPr>
            <a:r>
              <a:rPr dirty="0"/>
              <a:t>None</a:t>
            </a:r>
          </a:p>
          <a:p>
            <a:pPr>
              <a:buNone/>
              <a:defRPr sz="2250" b="0">
                <a:solidFill>
                  <a:srgbClr val="FFFFFF"/>
                </a:solidFill>
                <a:latin typeface="Segoe UI"/>
                <a:ea typeface="Segoe UI"/>
                <a:cs typeface="Segoe UI"/>
              </a:defRPr>
            </a:pPr>
            <a:r>
              <a:rPr dirty="0"/>
              <a:t>5mCpG</a:t>
            </a:r>
          </a:p>
          <a:p>
            <a:pPr>
              <a:buNone/>
              <a:defRPr sz="2250" b="0">
                <a:solidFill>
                  <a:srgbClr val="FFFFFF"/>
                </a:solidFill>
                <a:latin typeface="Segoe UI"/>
                <a:ea typeface="Segoe UI"/>
                <a:cs typeface="Segoe UI"/>
              </a:defRPr>
            </a:pPr>
            <a:r>
              <a:rPr dirty="0"/>
              <a:t>5mCpG + 5hmCpG</a:t>
            </a:r>
          </a:p>
        </p:txBody>
      </p:sp>
      <p:sp>
        <p:nvSpPr>
          <p:cNvPr id="8" name="text-55">
            <a:extLst>
              <a:ext uri="{FF2B5EF4-FFF2-40B4-BE49-F238E27FC236}">
                <a16:creationId xmlns:a16="http://schemas.microsoft.com/office/drawing/2014/main" id="{595BDF70-A000-4301-BC6E-7462BC48AC05}"/>
              </a:ext>
            </a:extLst>
          </p:cNvPr>
          <p:cNvSpPr>
            <a:spLocks noGrp="1"/>
          </p:cNvSpPr>
          <p:nvPr/>
        </p:nvSpPr>
        <p:spPr>
          <a:xfrm>
            <a:off x="533400" y="5248275"/>
            <a:ext cx="11049000" cy="495300"/>
          </a:xfrm>
          <a:prstGeom prst="rect">
            <a:avLst/>
          </a:prstGeom>
        </p:spPr>
        <p:txBody>
          <a:bodyPr lIns="0" tIns="0" rIns="0" bIns="0" anchor="t"/>
          <a:lstStyle/>
          <a:p>
            <a:pPr>
              <a:buNone/>
              <a:defRPr sz="2550" b="1">
                <a:solidFill>
                  <a:srgbClr val="B5F4DE"/>
                </a:solidFill>
                <a:latin typeface="Segoe UI"/>
                <a:ea typeface="Segoe UI"/>
                <a:cs typeface="Segoe UI"/>
              </a:defRPr>
            </a:pPr>
            <a:r>
              <a:rPr dirty="0"/>
              <a:t>Chromosome Mapping</a:t>
            </a:r>
          </a:p>
        </p:txBody>
      </p:sp>
      <p:sp>
        <p:nvSpPr>
          <p:cNvPr id="9" name="text-56">
            <a:extLst>
              <a:ext uri="{FF2B5EF4-FFF2-40B4-BE49-F238E27FC236}">
                <a16:creationId xmlns:a16="http://schemas.microsoft.com/office/drawing/2014/main" id="{F672FBA0-248C-4024-90AF-0A50D184ED86}"/>
              </a:ext>
            </a:extLst>
          </p:cNvPr>
          <p:cNvSpPr>
            <a:spLocks noGrp="1"/>
          </p:cNvSpPr>
          <p:nvPr/>
        </p:nvSpPr>
        <p:spPr>
          <a:xfrm>
            <a:off x="457200" y="5800725"/>
            <a:ext cx="11239500" cy="428625"/>
          </a:xfrm>
          <a:prstGeom prst="rect">
            <a:avLst/>
          </a:prstGeom>
        </p:spPr>
        <p:txBody>
          <a:bodyPr lIns="0" tIns="0" rIns="0" bIns="0" anchor="t"/>
          <a:lstStyle/>
          <a:p>
            <a:pPr>
              <a:buNone/>
              <a:defRPr sz="2100" b="0">
                <a:solidFill>
                  <a:srgbClr val="FFFFFF"/>
                </a:solidFill>
                <a:latin typeface="Segoe UI"/>
                <a:ea typeface="Segoe UI"/>
                <a:cs typeface="Segoe UI"/>
              </a:defRPr>
            </a:pPr>
            <a:r>
              <a:rPr dirty="0"/>
              <a:t>Align reads to the genome; required when modifications are selected.</a:t>
            </a:r>
          </a:p>
        </p:txBody>
      </p:sp>
    </p:spTree>
    <p:extLst>
      <p:ext uri="{BB962C8B-B14F-4D97-AF65-F5344CB8AC3E}">
        <p14:creationId xmlns:p14="http://schemas.microsoft.com/office/powerpoint/2010/main" val="136064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57">
            <a:extLst>
              <a:ext uri="{FF2B5EF4-FFF2-40B4-BE49-F238E27FC236}">
                <a16:creationId xmlns:a16="http://schemas.microsoft.com/office/drawing/2014/main" id="{B29BF157-2942-48D0-80D4-F39912FCD0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NANOTEL • TVR OPTIONS</a:t>
            </a:r>
          </a:p>
        </p:txBody>
      </p:sp>
      <p:sp>
        <p:nvSpPr>
          <p:cNvPr id="2" name="text-58">
            <a:extLst>
              <a:ext uri="{FF2B5EF4-FFF2-40B4-BE49-F238E27FC236}">
                <a16:creationId xmlns:a16="http://schemas.microsoft.com/office/drawing/2014/main" id="{70EB7BE5-9D75-477E-96E3-16A220BFBDA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59">
            <a:extLst>
              <a:ext uri="{FF2B5EF4-FFF2-40B4-BE49-F238E27FC236}">
                <a16:creationId xmlns:a16="http://schemas.microsoft.com/office/drawing/2014/main" id="{1D7DBC4F-A491-49F3-8465-FDA6DA58217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09</a:t>
            </a:r>
          </a:p>
        </p:txBody>
      </p:sp>
      <p:sp>
        <p:nvSpPr>
          <p:cNvPr id="4" name="text-60">
            <a:extLst>
              <a:ext uri="{FF2B5EF4-FFF2-40B4-BE49-F238E27FC236}">
                <a16:creationId xmlns:a16="http://schemas.microsoft.com/office/drawing/2014/main" id="{CAAA48A2-FEAA-4F4B-B956-18F960D35C6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Define the TVR</a:t>
            </a:r>
          </a:p>
        </p:txBody>
      </p:sp>
      <p:pic>
        <p:nvPicPr>
          <p:cNvPr id="18" name="Picture 17"/>
          <p:cNvPicPr>
            <a:picLocks noChangeAspect="1"/>
          </p:cNvPicPr>
          <p:nvPr/>
        </p:nvPicPr>
        <p:blipFill>
          <a:blip r:embed="rId3"/>
          <a:stretch/>
        </p:blipFill>
        <p:spPr>
          <a:xfrm>
            <a:off x="457200" y="2150856"/>
            <a:ext cx="7239000" cy="2461038"/>
          </a:xfrm>
          <a:prstGeom prst="rect">
            <a:avLst/>
          </a:prstGeom>
        </p:spPr>
      </p:pic>
      <p:sp>
        <p:nvSpPr>
          <p:cNvPr id="6" name="text-61">
            <a:extLst>
              <a:ext uri="{FF2B5EF4-FFF2-40B4-BE49-F238E27FC236}">
                <a16:creationId xmlns:a16="http://schemas.microsoft.com/office/drawing/2014/main" id="{1EA42CB5-2EE4-4C47-8A47-2C4089BA63F7}"/>
              </a:ext>
            </a:extLst>
          </p:cNvPr>
          <p:cNvSpPr>
            <a:spLocks noGrp="1"/>
          </p:cNvSpPr>
          <p:nvPr/>
        </p:nvSpPr>
        <p:spPr>
          <a:xfrm>
            <a:off x="8286750" y="2076450"/>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rPr dirty="0"/>
              <a:t>Preset</a:t>
            </a:r>
          </a:p>
        </p:txBody>
      </p:sp>
      <p:sp>
        <p:nvSpPr>
          <p:cNvPr id="7" name="text-62">
            <a:extLst>
              <a:ext uri="{FF2B5EF4-FFF2-40B4-BE49-F238E27FC236}">
                <a16:creationId xmlns:a16="http://schemas.microsoft.com/office/drawing/2014/main" id="{E358A90B-F70E-4C9A-A7F5-3F86FFFD93B6}"/>
              </a:ext>
            </a:extLst>
          </p:cNvPr>
          <p:cNvSpPr>
            <a:spLocks noGrp="1"/>
          </p:cNvSpPr>
          <p:nvPr/>
        </p:nvSpPr>
        <p:spPr>
          <a:xfrm>
            <a:off x="8286750" y="2533650"/>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rPr dirty="0"/>
              <a:t>Organism-specific patterns</a:t>
            </a:r>
          </a:p>
        </p:txBody>
      </p:sp>
      <p:sp>
        <p:nvSpPr>
          <p:cNvPr id="8" name="text-63">
            <a:extLst>
              <a:ext uri="{FF2B5EF4-FFF2-40B4-BE49-F238E27FC236}">
                <a16:creationId xmlns:a16="http://schemas.microsoft.com/office/drawing/2014/main" id="{F13EA020-7D54-4374-BF2E-94D1D7BCBABE}"/>
              </a:ext>
            </a:extLst>
          </p:cNvPr>
          <p:cNvSpPr>
            <a:spLocks noGrp="1"/>
          </p:cNvSpPr>
          <p:nvPr/>
        </p:nvSpPr>
        <p:spPr>
          <a:xfrm>
            <a:off x="8286750" y="3324225"/>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rPr dirty="0"/>
              <a:t>TSQ1</a:t>
            </a:r>
          </a:p>
        </p:txBody>
      </p:sp>
      <p:sp>
        <p:nvSpPr>
          <p:cNvPr id="9" name="text-64">
            <a:extLst>
              <a:ext uri="{FF2B5EF4-FFF2-40B4-BE49-F238E27FC236}">
                <a16:creationId xmlns:a16="http://schemas.microsoft.com/office/drawing/2014/main" id="{470B4A04-385C-496B-9BA6-3030EA041EE1}"/>
              </a:ext>
            </a:extLst>
          </p:cNvPr>
          <p:cNvSpPr>
            <a:spLocks noGrp="1"/>
          </p:cNvSpPr>
          <p:nvPr/>
        </p:nvSpPr>
        <p:spPr>
          <a:xfrm>
            <a:off x="8286750" y="3781425"/>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rPr dirty="0"/>
              <a:t>The TSQ1 repeat pattern</a:t>
            </a:r>
          </a:p>
        </p:txBody>
      </p:sp>
      <p:sp>
        <p:nvSpPr>
          <p:cNvPr id="10" name="text-65">
            <a:extLst>
              <a:ext uri="{FF2B5EF4-FFF2-40B4-BE49-F238E27FC236}">
                <a16:creationId xmlns:a16="http://schemas.microsoft.com/office/drawing/2014/main" id="{892E5AC4-A288-4C63-8DEE-C93FE66A43D3}"/>
              </a:ext>
            </a:extLst>
          </p:cNvPr>
          <p:cNvSpPr>
            <a:spLocks noGrp="1"/>
          </p:cNvSpPr>
          <p:nvPr/>
        </p:nvSpPr>
        <p:spPr>
          <a:xfrm>
            <a:off x="8286750" y="4572000"/>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rPr dirty="0"/>
              <a:t>Manual</a:t>
            </a:r>
          </a:p>
        </p:txBody>
      </p:sp>
      <p:sp>
        <p:nvSpPr>
          <p:cNvPr id="11" name="text-66">
            <a:extLst>
              <a:ext uri="{FF2B5EF4-FFF2-40B4-BE49-F238E27FC236}">
                <a16:creationId xmlns:a16="http://schemas.microsoft.com/office/drawing/2014/main" id="{35CFC218-A44A-4659-A934-6A87A549DD36}"/>
              </a:ext>
            </a:extLst>
          </p:cNvPr>
          <p:cNvSpPr>
            <a:spLocks noGrp="1"/>
          </p:cNvSpPr>
          <p:nvPr/>
        </p:nvSpPr>
        <p:spPr>
          <a:xfrm>
            <a:off x="8286750" y="5029200"/>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rPr dirty="0"/>
              <a:t>Your own DNA patterns</a:t>
            </a:r>
          </a:p>
        </p:txBody>
      </p:sp>
      <p:sp>
        <p:nvSpPr>
          <p:cNvPr id="12" name="text-67">
            <a:extLst>
              <a:ext uri="{FF2B5EF4-FFF2-40B4-BE49-F238E27FC236}">
                <a16:creationId xmlns:a16="http://schemas.microsoft.com/office/drawing/2014/main" id="{315E14B6-056A-42F1-81E2-71AA65ED5FE9}"/>
              </a:ext>
            </a:extLst>
          </p:cNvPr>
          <p:cNvSpPr>
            <a:spLocks noGrp="1"/>
          </p:cNvSpPr>
          <p:nvPr/>
        </p:nvSpPr>
        <p:spPr>
          <a:xfrm>
            <a:off x="457200" y="5648325"/>
            <a:ext cx="7635240" cy="619125"/>
          </a:xfrm>
          <a:prstGeom prst="rect">
            <a:avLst/>
          </a:prstGeom>
        </p:spPr>
        <p:txBody>
          <a:bodyPr lIns="0" tIns="0" rIns="0" bIns="0" anchor="t"/>
          <a:lstStyle/>
          <a:p>
            <a:pPr>
              <a:buNone/>
              <a:defRPr sz="2175" b="0">
                <a:solidFill>
                  <a:srgbClr val="0D182A"/>
                </a:solidFill>
                <a:latin typeface="Segoe UI"/>
                <a:ea typeface="Segoe UI"/>
                <a:cs typeface="Segoe UI"/>
              </a:defRPr>
            </a:pPr>
            <a:r>
              <a:rPr dirty="0"/>
              <a:t>Combine modes, or leave all unselected to skip TVR patterns.</a:t>
            </a:r>
          </a:p>
        </p:txBody>
      </p:sp>
    </p:spTree>
    <p:extLst>
      <p:ext uri="{BB962C8B-B14F-4D97-AF65-F5344CB8AC3E}">
        <p14:creationId xmlns:p14="http://schemas.microsoft.com/office/powerpoint/2010/main" val="110400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68">
            <a:extLst>
              <a:ext uri="{FF2B5EF4-FFF2-40B4-BE49-F238E27FC236}">
                <a16:creationId xmlns:a16="http://schemas.microsoft.com/office/drawing/2014/main" id="{7A451CE1-AC27-4740-997E-A3DE3082EF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NANOTEL • PATTERN MATCHING</a:t>
            </a:r>
          </a:p>
        </p:txBody>
      </p:sp>
      <p:sp>
        <p:nvSpPr>
          <p:cNvPr id="2" name="text-69">
            <a:extLst>
              <a:ext uri="{FF2B5EF4-FFF2-40B4-BE49-F238E27FC236}">
                <a16:creationId xmlns:a16="http://schemas.microsoft.com/office/drawing/2014/main" id="{7A512A98-E9EA-4FB2-91F3-3EA58EBE663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70">
            <a:extLst>
              <a:ext uri="{FF2B5EF4-FFF2-40B4-BE49-F238E27FC236}">
                <a16:creationId xmlns:a16="http://schemas.microsoft.com/office/drawing/2014/main" id="{8AF1B14A-DC75-4E00-8850-7F0A4452279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71">
            <a:extLst>
              <a:ext uri="{FF2B5EF4-FFF2-40B4-BE49-F238E27FC236}">
                <a16:creationId xmlns:a16="http://schemas.microsoft.com/office/drawing/2014/main" id="{33A8A0CD-89E4-4ED5-81EE-5CE8BEB5D3A1}"/>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Fine-tune the matching.</a:t>
            </a:r>
          </a:p>
        </p:txBody>
      </p:sp>
      <p:pic>
        <p:nvPicPr>
          <p:cNvPr id="17" name="Picture 16"/>
          <p:cNvPicPr>
            <a:picLocks noChangeAspect="1"/>
          </p:cNvPicPr>
          <p:nvPr/>
        </p:nvPicPr>
        <p:blipFill>
          <a:blip r:embed="rId3"/>
          <a:stretch/>
        </p:blipFill>
        <p:spPr>
          <a:xfrm>
            <a:off x="457200" y="2399225"/>
            <a:ext cx="5143500" cy="2107176"/>
          </a:xfrm>
          <a:prstGeom prst="rect">
            <a:avLst/>
          </a:prstGeom>
        </p:spPr>
      </p:pic>
      <p:sp>
        <p:nvSpPr>
          <p:cNvPr id="6" name="text-72">
            <a:extLst>
              <a:ext uri="{FF2B5EF4-FFF2-40B4-BE49-F238E27FC236}">
                <a16:creationId xmlns:a16="http://schemas.microsoft.com/office/drawing/2014/main" id="{7F806321-704A-49F4-9725-D75840278ED2}"/>
              </a:ext>
            </a:extLst>
          </p:cNvPr>
          <p:cNvSpPr>
            <a:spLocks noGrp="1"/>
          </p:cNvSpPr>
          <p:nvPr/>
        </p:nvSpPr>
        <p:spPr>
          <a:xfrm>
            <a:off x="533400" y="5076825"/>
            <a:ext cx="5191125" cy="476250"/>
          </a:xfrm>
          <a:prstGeom prst="rect">
            <a:avLst/>
          </a:prstGeom>
        </p:spPr>
        <p:txBody>
          <a:bodyPr lIns="0" tIns="0" rIns="0" bIns="0" anchor="t"/>
          <a:lstStyle/>
          <a:p>
            <a:pPr>
              <a:buNone/>
              <a:defRPr sz="2550" b="1">
                <a:solidFill>
                  <a:srgbClr val="2860F5"/>
                </a:solidFill>
                <a:latin typeface="Segoe UI"/>
                <a:ea typeface="Segoe UI"/>
                <a:cs typeface="Segoe UI"/>
              </a:defRPr>
            </a:pPr>
            <a:r>
              <a:t>Manual patterns</a:t>
            </a:r>
          </a:p>
        </p:txBody>
      </p:sp>
      <p:sp>
        <p:nvSpPr>
          <p:cNvPr id="7" name="text-73">
            <a:extLst>
              <a:ext uri="{FF2B5EF4-FFF2-40B4-BE49-F238E27FC236}">
                <a16:creationId xmlns:a16="http://schemas.microsoft.com/office/drawing/2014/main" id="{64913607-7C6E-4AAC-894E-A54ADF9F8A88}"/>
              </a:ext>
            </a:extLst>
          </p:cNvPr>
          <p:cNvSpPr>
            <a:spLocks noGrp="1"/>
          </p:cNvSpPr>
          <p:nvPr/>
        </p:nvSpPr>
        <p:spPr>
          <a:xfrm>
            <a:off x="457200" y="5686425"/>
            <a:ext cx="5191125" cy="619125"/>
          </a:xfrm>
          <a:prstGeom prst="rect">
            <a:avLst/>
          </a:prstGeom>
        </p:spPr>
        <p:txBody>
          <a:bodyPr lIns="0" tIns="0" rIns="0" bIns="0" anchor="t"/>
          <a:lstStyle/>
          <a:p>
            <a:pPr>
              <a:buNone/>
              <a:defRPr sz="2175" b="0">
                <a:solidFill>
                  <a:srgbClr val="0D182A"/>
                </a:solidFill>
                <a:latin typeface="Segoe UI"/>
                <a:ea typeface="Segoe UI"/>
                <a:cs typeface="Segoe UI"/>
              </a:defRPr>
            </a:pPr>
            <a:r>
              <a:rPr dirty="0"/>
              <a:t>Enter DNA patterns separated by spaces.</a:t>
            </a:r>
          </a:p>
        </p:txBody>
      </p:sp>
      <p:sp>
        <p:nvSpPr>
          <p:cNvPr id="8" name="text-74">
            <a:extLst>
              <a:ext uri="{FF2B5EF4-FFF2-40B4-BE49-F238E27FC236}">
                <a16:creationId xmlns:a16="http://schemas.microsoft.com/office/drawing/2014/main" id="{741EEF5D-51CD-42DA-82C6-4C86EE45F9FF}"/>
              </a:ext>
            </a:extLst>
          </p:cNvPr>
          <p:cNvSpPr>
            <a:spLocks noGrp="1"/>
          </p:cNvSpPr>
          <p:nvPr/>
        </p:nvSpPr>
        <p:spPr>
          <a:xfrm>
            <a:off x="6381750" y="2276475"/>
            <a:ext cx="5334000" cy="523875"/>
          </a:xfrm>
          <a:prstGeom prst="rect">
            <a:avLst/>
          </a:prstGeom>
        </p:spPr>
        <p:txBody>
          <a:bodyPr lIns="0" tIns="0" rIns="0" bIns="0" anchor="t"/>
          <a:lstStyle/>
          <a:p>
            <a:pPr>
              <a:buNone/>
              <a:defRPr sz="2550" b="1">
                <a:solidFill>
                  <a:srgbClr val="2860F5"/>
                </a:solidFill>
                <a:latin typeface="Segoe UI"/>
                <a:ea typeface="Segoe UI"/>
                <a:cs typeface="Segoe UI"/>
              </a:defRPr>
            </a:pPr>
            <a:r>
              <a:rPr dirty="0"/>
              <a:t>Allow 1 mismatch</a:t>
            </a:r>
          </a:p>
        </p:txBody>
      </p:sp>
      <p:sp>
        <p:nvSpPr>
          <p:cNvPr id="9" name="text-75">
            <a:extLst>
              <a:ext uri="{FF2B5EF4-FFF2-40B4-BE49-F238E27FC236}">
                <a16:creationId xmlns:a16="http://schemas.microsoft.com/office/drawing/2014/main" id="{2A906778-4FD5-462D-9DE4-0A252D5F6993}"/>
              </a:ext>
            </a:extLst>
          </p:cNvPr>
          <p:cNvSpPr>
            <a:spLocks noGrp="1"/>
          </p:cNvSpPr>
          <p:nvPr/>
        </p:nvSpPr>
        <p:spPr>
          <a:xfrm>
            <a:off x="6381750" y="2971800"/>
            <a:ext cx="5334000" cy="1143000"/>
          </a:xfrm>
          <a:prstGeom prst="rect">
            <a:avLst/>
          </a:prstGeom>
        </p:spPr>
        <p:txBody>
          <a:bodyPr lIns="0" tIns="0" rIns="0" bIns="0" anchor="t"/>
          <a:lstStyle/>
          <a:p>
            <a:pPr>
              <a:buNone/>
              <a:defRPr sz="2325" b="0">
                <a:solidFill>
                  <a:srgbClr val="0D182A"/>
                </a:solidFill>
                <a:latin typeface="Segoe UI"/>
                <a:ea typeface="Segoe UI"/>
                <a:cs typeface="Segoe UI"/>
              </a:defRPr>
            </a:pPr>
            <a:r>
              <a:rPr dirty="0"/>
              <a:t>Permit one difference in telomere and TVR patterns.</a:t>
            </a:r>
          </a:p>
        </p:txBody>
      </p:sp>
      <p:sp>
        <p:nvSpPr>
          <p:cNvPr id="10" name="text-76">
            <a:extLst>
              <a:ext uri="{FF2B5EF4-FFF2-40B4-BE49-F238E27FC236}">
                <a16:creationId xmlns:a16="http://schemas.microsoft.com/office/drawing/2014/main" id="{73A9EA40-5481-4503-AA85-5F9F90695B51}"/>
              </a:ext>
            </a:extLst>
          </p:cNvPr>
          <p:cNvSpPr>
            <a:spLocks noGrp="1"/>
          </p:cNvSpPr>
          <p:nvPr/>
        </p:nvSpPr>
        <p:spPr>
          <a:xfrm>
            <a:off x="6381750" y="4552950"/>
            <a:ext cx="5334000" cy="571500"/>
          </a:xfrm>
          <a:prstGeom prst="rect">
            <a:avLst/>
          </a:prstGeom>
        </p:spPr>
        <p:txBody>
          <a:bodyPr lIns="0" tIns="0" rIns="0" bIns="0" anchor="t"/>
          <a:lstStyle/>
          <a:p>
            <a:pPr>
              <a:buNone/>
              <a:defRPr sz="2400" b="1">
                <a:solidFill>
                  <a:srgbClr val="0D182A"/>
                </a:solidFill>
                <a:latin typeface="Segoe UI"/>
                <a:ea typeface="Segoe UI"/>
                <a:cs typeface="Segoe UI"/>
              </a:defRPr>
            </a:pPr>
            <a:r>
              <a:rPr dirty="0"/>
              <a:t>Preset uses exact matching.</a:t>
            </a:r>
          </a:p>
        </p:txBody>
      </p:sp>
      <p:sp>
        <p:nvSpPr>
          <p:cNvPr id="11" name="text-77">
            <a:extLst>
              <a:ext uri="{FF2B5EF4-FFF2-40B4-BE49-F238E27FC236}">
                <a16:creationId xmlns:a16="http://schemas.microsoft.com/office/drawing/2014/main" id="{DBD5FD1C-1194-456C-90D5-D489DC901769}"/>
              </a:ext>
            </a:extLst>
          </p:cNvPr>
          <p:cNvSpPr>
            <a:spLocks noGrp="1"/>
          </p:cNvSpPr>
          <p:nvPr/>
        </p:nvSpPr>
        <p:spPr>
          <a:xfrm>
            <a:off x="6381750" y="5314950"/>
            <a:ext cx="5334000" cy="857250"/>
          </a:xfrm>
          <a:prstGeom prst="rect">
            <a:avLst/>
          </a:prstGeom>
        </p:spPr>
        <p:txBody>
          <a:bodyPr lIns="0" tIns="0" rIns="0" bIns="0" anchor="t"/>
          <a:lstStyle/>
          <a:p>
            <a:pPr>
              <a:buNone/>
              <a:defRPr sz="2175" b="0">
                <a:solidFill>
                  <a:srgbClr val="0D182A"/>
                </a:solidFill>
                <a:latin typeface="Segoe UI"/>
                <a:ea typeface="Segoe UI"/>
                <a:cs typeface="Segoe UI"/>
              </a:defRPr>
            </a:pPr>
            <a:r>
              <a:rPr dirty="0"/>
              <a:t>Selecting Preset disables the mismatch option.</a:t>
            </a:r>
          </a:p>
        </p:txBody>
      </p:sp>
    </p:spTree>
    <p:extLst>
      <p:ext uri="{BB962C8B-B14F-4D97-AF65-F5344CB8AC3E}">
        <p14:creationId xmlns:p14="http://schemas.microsoft.com/office/powerpoint/2010/main" val="65607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5" name="text-78">
            <a:extLst>
              <a:ext uri="{FF2B5EF4-FFF2-40B4-BE49-F238E27FC236}">
                <a16:creationId xmlns:a16="http://schemas.microsoft.com/office/drawing/2014/main" id="{10FEC68C-6DD7-425E-8BF9-ED9A3C10E10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NANOTEL • NUMERIC OPTIONS</a:t>
            </a:r>
          </a:p>
        </p:txBody>
      </p:sp>
      <p:sp>
        <p:nvSpPr>
          <p:cNvPr id="2" name="text-79">
            <a:extLst>
              <a:ext uri="{FF2B5EF4-FFF2-40B4-BE49-F238E27FC236}">
                <a16:creationId xmlns:a16="http://schemas.microsoft.com/office/drawing/2014/main" id="{35C42D44-8886-4F7D-9691-75394D651D78}"/>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80">
            <a:extLst>
              <a:ext uri="{FF2B5EF4-FFF2-40B4-BE49-F238E27FC236}">
                <a16:creationId xmlns:a16="http://schemas.microsoft.com/office/drawing/2014/main" id="{2DB7CDFB-7300-4838-AA82-AF0751716F04}"/>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81">
            <a:extLst>
              <a:ext uri="{FF2B5EF4-FFF2-40B4-BE49-F238E27FC236}">
                <a16:creationId xmlns:a16="http://schemas.microsoft.com/office/drawing/2014/main" id="{F81D1C75-A9B2-4D9E-B209-8AB9BEA11B56}"/>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Set your thresholds.</a:t>
            </a:r>
          </a:p>
        </p:txBody>
      </p:sp>
      <p:sp>
        <p:nvSpPr>
          <p:cNvPr id="5" name="text-82">
            <a:extLst>
              <a:ext uri="{FF2B5EF4-FFF2-40B4-BE49-F238E27FC236}">
                <a16:creationId xmlns:a16="http://schemas.microsoft.com/office/drawing/2014/main" id="{1C535630-D523-4540-B77F-08EC5F1BA43E}"/>
              </a:ext>
            </a:extLst>
          </p:cNvPr>
          <p:cNvSpPr>
            <a:spLocks noGrp="1"/>
          </p:cNvSpPr>
          <p:nvPr/>
        </p:nvSpPr>
        <p:spPr>
          <a:xfrm>
            <a:off x="457200" y="21431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rPr dirty="0"/>
              <a:t>Min Read Length (bp)</a:t>
            </a:r>
          </a:p>
        </p:txBody>
      </p:sp>
      <p:sp>
        <p:nvSpPr>
          <p:cNvPr id="6" name="text-83">
            <a:extLst>
              <a:ext uri="{FF2B5EF4-FFF2-40B4-BE49-F238E27FC236}">
                <a16:creationId xmlns:a16="http://schemas.microsoft.com/office/drawing/2014/main" id="{DA59870A-A5B2-4C1B-8C03-572ED051A401}"/>
              </a:ext>
            </a:extLst>
          </p:cNvPr>
          <p:cNvSpPr>
            <a:spLocks noGrp="1"/>
          </p:cNvSpPr>
          <p:nvPr/>
        </p:nvSpPr>
        <p:spPr>
          <a:xfrm>
            <a:off x="5810250" y="21431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rPr dirty="0"/>
              <a:t>Minimum accepted read length</a:t>
            </a:r>
          </a:p>
        </p:txBody>
      </p:sp>
      <p:sp>
        <p:nvSpPr>
          <p:cNvPr id="7" name="text-84">
            <a:extLst>
              <a:ext uri="{FF2B5EF4-FFF2-40B4-BE49-F238E27FC236}">
                <a16:creationId xmlns:a16="http://schemas.microsoft.com/office/drawing/2014/main" id="{4FD33363-0FAB-487D-8059-701B40F76206}"/>
              </a:ext>
            </a:extLst>
          </p:cNvPr>
          <p:cNvSpPr>
            <a:spLocks noGrp="1"/>
          </p:cNvSpPr>
          <p:nvPr/>
        </p:nvSpPr>
        <p:spPr>
          <a:xfrm>
            <a:off x="457200" y="29432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rPr dirty="0"/>
              <a:t>Max Edge Distance</a:t>
            </a:r>
          </a:p>
        </p:txBody>
      </p:sp>
      <p:sp>
        <p:nvSpPr>
          <p:cNvPr id="8" name="text-85">
            <a:extLst>
              <a:ext uri="{FF2B5EF4-FFF2-40B4-BE49-F238E27FC236}">
                <a16:creationId xmlns:a16="http://schemas.microsoft.com/office/drawing/2014/main" id="{8D242702-1B21-4DB5-AAED-184B245AB261}"/>
              </a:ext>
            </a:extLst>
          </p:cNvPr>
          <p:cNvSpPr>
            <a:spLocks noGrp="1"/>
          </p:cNvSpPr>
          <p:nvPr/>
        </p:nvSpPr>
        <p:spPr>
          <a:xfrm>
            <a:off x="5810250" y="29432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rPr dirty="0"/>
              <a:t>Allowed distance from a read end</a:t>
            </a:r>
          </a:p>
        </p:txBody>
      </p:sp>
      <p:sp>
        <p:nvSpPr>
          <p:cNvPr id="9" name="text-86">
            <a:extLst>
              <a:ext uri="{FF2B5EF4-FFF2-40B4-BE49-F238E27FC236}">
                <a16:creationId xmlns:a16="http://schemas.microsoft.com/office/drawing/2014/main" id="{43A73DB9-1E6A-4FC5-BAE3-E98DAE20B87F}"/>
              </a:ext>
            </a:extLst>
          </p:cNvPr>
          <p:cNvSpPr>
            <a:spLocks noGrp="1"/>
          </p:cNvSpPr>
          <p:nvPr/>
        </p:nvSpPr>
        <p:spPr>
          <a:xfrm>
            <a:off x="457200" y="37433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rPr dirty="0"/>
              <a:t>Max Telomere Start</a:t>
            </a:r>
          </a:p>
        </p:txBody>
      </p:sp>
      <p:sp>
        <p:nvSpPr>
          <p:cNvPr id="10" name="text-87">
            <a:extLst>
              <a:ext uri="{FF2B5EF4-FFF2-40B4-BE49-F238E27FC236}">
                <a16:creationId xmlns:a16="http://schemas.microsoft.com/office/drawing/2014/main" id="{876E5015-A3C6-45BD-ACFB-349B0F005236}"/>
              </a:ext>
            </a:extLst>
          </p:cNvPr>
          <p:cNvSpPr>
            <a:spLocks noGrp="1"/>
          </p:cNvSpPr>
          <p:nvPr/>
        </p:nvSpPr>
        <p:spPr>
          <a:xfrm>
            <a:off x="5810250" y="37433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Limit on the telomere start position</a:t>
            </a:r>
          </a:p>
        </p:txBody>
      </p:sp>
      <p:sp>
        <p:nvSpPr>
          <p:cNvPr id="11" name="text-88">
            <a:extLst>
              <a:ext uri="{FF2B5EF4-FFF2-40B4-BE49-F238E27FC236}">
                <a16:creationId xmlns:a16="http://schemas.microsoft.com/office/drawing/2014/main" id="{90DCC6FE-B7AB-4CB0-BA13-9438CDFA681C}"/>
              </a:ext>
            </a:extLst>
          </p:cNvPr>
          <p:cNvSpPr>
            <a:spLocks noGrp="1"/>
          </p:cNvSpPr>
          <p:nvPr/>
        </p:nvSpPr>
        <p:spPr>
          <a:xfrm>
            <a:off x="457200" y="45434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rPr dirty="0"/>
              <a:t>Min Density</a:t>
            </a:r>
          </a:p>
        </p:txBody>
      </p:sp>
      <p:sp>
        <p:nvSpPr>
          <p:cNvPr id="12" name="text-89">
            <a:extLst>
              <a:ext uri="{FF2B5EF4-FFF2-40B4-BE49-F238E27FC236}">
                <a16:creationId xmlns:a16="http://schemas.microsoft.com/office/drawing/2014/main" id="{804E35AA-5C3E-4DB2-91EB-B834FC722828}"/>
              </a:ext>
            </a:extLst>
          </p:cNvPr>
          <p:cNvSpPr>
            <a:spLocks noGrp="1"/>
          </p:cNvSpPr>
          <p:nvPr/>
        </p:nvSpPr>
        <p:spPr>
          <a:xfrm>
            <a:off x="5810250" y="45434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Minimum telomeric-repeat density</a:t>
            </a:r>
          </a:p>
        </p:txBody>
      </p:sp>
      <p:sp>
        <p:nvSpPr>
          <p:cNvPr id="13" name="text-90">
            <a:extLst>
              <a:ext uri="{FF2B5EF4-FFF2-40B4-BE49-F238E27FC236}">
                <a16:creationId xmlns:a16="http://schemas.microsoft.com/office/drawing/2014/main" id="{F9DDD254-8BD2-46C6-B33C-20D92F9CE2BC}"/>
              </a:ext>
            </a:extLst>
          </p:cNvPr>
          <p:cNvSpPr>
            <a:spLocks noGrp="1"/>
          </p:cNvSpPr>
          <p:nvPr/>
        </p:nvSpPr>
        <p:spPr>
          <a:xfrm>
            <a:off x="457200" y="53435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rPr dirty="0"/>
              <a:t>Short Telomere Cutoff</a:t>
            </a:r>
          </a:p>
        </p:txBody>
      </p:sp>
      <p:sp>
        <p:nvSpPr>
          <p:cNvPr id="14" name="text-91">
            <a:extLst>
              <a:ext uri="{FF2B5EF4-FFF2-40B4-BE49-F238E27FC236}">
                <a16:creationId xmlns:a16="http://schemas.microsoft.com/office/drawing/2014/main" id="{ADCEBAC6-4837-4943-8C12-DA4876E469D9}"/>
              </a:ext>
            </a:extLst>
          </p:cNvPr>
          <p:cNvSpPr>
            <a:spLocks noGrp="1"/>
          </p:cNvSpPr>
          <p:nvPr/>
        </p:nvSpPr>
        <p:spPr>
          <a:xfrm>
            <a:off x="5810250" y="53435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92">
            <a:extLst>
              <a:ext uri="{FF2B5EF4-FFF2-40B4-BE49-F238E27FC236}">
                <a16:creationId xmlns:a16="http://schemas.microsoft.com/office/drawing/2014/main" id="{42B91FFF-E6A0-45C3-ACDF-880930A188E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NANOTEL • OUTPUT OPTIONS</a:t>
            </a:r>
          </a:p>
        </p:txBody>
      </p:sp>
      <p:sp>
        <p:nvSpPr>
          <p:cNvPr id="2" name="text-93">
            <a:extLst>
              <a:ext uri="{FF2B5EF4-FFF2-40B4-BE49-F238E27FC236}">
                <a16:creationId xmlns:a16="http://schemas.microsoft.com/office/drawing/2014/main" id="{EA9DA0AE-CE58-4DA0-8314-5F76C5501A6D}"/>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94">
            <a:extLst>
              <a:ext uri="{FF2B5EF4-FFF2-40B4-BE49-F238E27FC236}">
                <a16:creationId xmlns:a16="http://schemas.microsoft.com/office/drawing/2014/main" id="{4D5F4A65-F6D6-4CC6-B122-37061B171B52}"/>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12</a:t>
            </a:r>
          </a:p>
        </p:txBody>
      </p:sp>
      <p:sp>
        <p:nvSpPr>
          <p:cNvPr id="4" name="text-95">
            <a:extLst>
              <a:ext uri="{FF2B5EF4-FFF2-40B4-BE49-F238E27FC236}">
                <a16:creationId xmlns:a16="http://schemas.microsoft.com/office/drawing/2014/main" id="{49D933FA-4F06-43CF-96A7-FCA3D7FB631A}"/>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dirty="0">
                <a:solidFill>
                  <a:srgbClr val="FFFFFF"/>
                </a:solidFill>
                <a:latin typeface="Arial"/>
                <a:ea typeface="Arial"/>
                <a:cs typeface="Arial"/>
              </a:rPr>
              <a:t>Choose your outputs.</a:t>
            </a:r>
          </a:p>
        </p:txBody>
      </p:sp>
      <p:pic>
        <p:nvPicPr>
          <p:cNvPr id="16" name="Picture 15"/>
          <p:cNvPicPr>
            <a:picLocks noChangeAspect="1"/>
          </p:cNvPicPr>
          <p:nvPr/>
        </p:nvPicPr>
        <p:blipFill>
          <a:blip r:embed="rId3"/>
          <a:stretch/>
        </p:blipFill>
        <p:spPr>
          <a:xfrm>
            <a:off x="457200" y="2150856"/>
            <a:ext cx="7239000" cy="2461038"/>
          </a:xfrm>
          <a:prstGeom prst="rect">
            <a:avLst/>
          </a:prstGeom>
        </p:spPr>
      </p:pic>
      <p:sp>
        <p:nvSpPr>
          <p:cNvPr id="6" name="text-96">
            <a:extLst>
              <a:ext uri="{FF2B5EF4-FFF2-40B4-BE49-F238E27FC236}">
                <a16:creationId xmlns:a16="http://schemas.microsoft.com/office/drawing/2014/main" id="{A8C42833-F201-443A-B542-FB52D3230E1C}"/>
              </a:ext>
            </a:extLst>
          </p:cNvPr>
          <p:cNvSpPr>
            <a:spLocks noGrp="1"/>
          </p:cNvSpPr>
          <p:nvPr/>
        </p:nvSpPr>
        <p:spPr>
          <a:xfrm>
            <a:off x="8286750" y="2190750"/>
            <a:ext cx="3333750" cy="476250"/>
          </a:xfrm>
          <a:prstGeom prst="rect">
            <a:avLst/>
          </a:prstGeom>
        </p:spPr>
        <p:txBody>
          <a:bodyPr lIns="0" tIns="0" rIns="0" bIns="0" anchor="t"/>
          <a:lstStyle/>
          <a:p>
            <a:pPr>
              <a:buNone/>
              <a:defRPr sz="2550" b="1">
                <a:solidFill>
                  <a:srgbClr val="B5F4DE"/>
                </a:solidFill>
                <a:latin typeface="Segoe UI"/>
                <a:ea typeface="Segoe UI"/>
                <a:cs typeface="Segoe UI"/>
              </a:defRPr>
            </a:pPr>
            <a:r>
              <a:rPr dirty="0"/>
              <a:t>Summary only</a:t>
            </a:r>
          </a:p>
        </p:txBody>
      </p:sp>
      <p:sp>
        <p:nvSpPr>
          <p:cNvPr id="7" name="text-97">
            <a:extLst>
              <a:ext uri="{FF2B5EF4-FFF2-40B4-BE49-F238E27FC236}">
                <a16:creationId xmlns:a16="http://schemas.microsoft.com/office/drawing/2014/main" id="{45188749-4649-4C68-8596-DCF85F481F71}"/>
              </a:ext>
            </a:extLst>
          </p:cNvPr>
          <p:cNvSpPr>
            <a:spLocks noGrp="1"/>
          </p:cNvSpPr>
          <p:nvPr/>
        </p:nvSpPr>
        <p:spPr>
          <a:xfrm>
            <a:off x="8286750" y="2857500"/>
            <a:ext cx="3333750" cy="1143000"/>
          </a:xfrm>
          <a:prstGeom prst="rect">
            <a:avLst/>
          </a:prstGeom>
        </p:spPr>
        <p:txBody>
          <a:bodyPr lIns="0" tIns="0" rIns="0" bIns="0" anchor="t"/>
          <a:lstStyle/>
          <a:p>
            <a:pPr>
              <a:buNone/>
              <a:defRPr sz="2250" b="0">
                <a:solidFill>
                  <a:srgbClr val="FFFFFF"/>
                </a:solidFill>
                <a:latin typeface="Segoe UI"/>
                <a:ea typeface="Segoe UI"/>
                <a:cs typeface="Segoe UI"/>
              </a:defRPr>
            </a:pPr>
            <a:r>
              <a:rPr dirty="0"/>
              <a:t>Compact summaries in one Excel workbook.</a:t>
            </a:r>
          </a:p>
        </p:txBody>
      </p:sp>
      <p:sp>
        <p:nvSpPr>
          <p:cNvPr id="8" name="text-98">
            <a:extLst>
              <a:ext uri="{FF2B5EF4-FFF2-40B4-BE49-F238E27FC236}">
                <a16:creationId xmlns:a16="http://schemas.microsoft.com/office/drawing/2014/main" id="{D2176879-2AD8-43D5-93B3-62F322FD9659}"/>
              </a:ext>
            </a:extLst>
          </p:cNvPr>
          <p:cNvSpPr>
            <a:spLocks noGrp="1"/>
          </p:cNvSpPr>
          <p:nvPr/>
        </p:nvSpPr>
        <p:spPr>
          <a:xfrm>
            <a:off x="8286750" y="4381500"/>
            <a:ext cx="3333750" cy="1476375"/>
          </a:xfrm>
          <a:prstGeom prst="rect">
            <a:avLst/>
          </a:prstGeom>
        </p:spPr>
        <p:txBody>
          <a:bodyPr lIns="0" tIns="0" rIns="0" bIns="0" anchor="t"/>
          <a:lstStyle/>
          <a:p>
            <a:pPr>
              <a:buNone/>
              <a:defRPr sz="2175" b="0">
                <a:solidFill>
                  <a:srgbClr val="FFFFFF"/>
                </a:solidFill>
                <a:latin typeface="Segoe UI"/>
                <a:ea typeface="Segoe UI"/>
                <a:cs typeface="Segoe UI"/>
              </a:defRPr>
            </a:pPr>
            <a:r>
              <a:rPr dirty="0"/>
              <a:t>Off: include individual read plots and FASTA files.</a:t>
            </a:r>
          </a:p>
        </p:txBody>
      </p:sp>
      <p:sp>
        <p:nvSpPr>
          <p:cNvPr id="9" name="text-99">
            <a:extLst>
              <a:ext uri="{FF2B5EF4-FFF2-40B4-BE49-F238E27FC236}">
                <a16:creationId xmlns:a16="http://schemas.microsoft.com/office/drawing/2014/main" id="{4BFB72F0-B871-416E-BCAA-7E7E3E8431B1}"/>
              </a:ext>
            </a:extLst>
          </p:cNvPr>
          <p:cNvSpPr>
            <a:spLocks noGrp="1"/>
          </p:cNvSpPr>
          <p:nvPr/>
        </p:nvSpPr>
        <p:spPr>
          <a:xfrm>
            <a:off x="533400" y="5143500"/>
            <a:ext cx="7239000" cy="476250"/>
          </a:xfrm>
          <a:prstGeom prst="rect">
            <a:avLst/>
          </a:prstGeom>
        </p:spPr>
        <p:txBody>
          <a:bodyPr lIns="0" tIns="0" rIns="0" bIns="0" anchor="t"/>
          <a:lstStyle/>
          <a:p>
            <a:pPr>
              <a:buNone/>
              <a:defRPr sz="2550" b="1">
                <a:solidFill>
                  <a:srgbClr val="B5F4DE"/>
                </a:solidFill>
                <a:latin typeface="Segoe UI"/>
                <a:ea typeface="Segoe UI"/>
                <a:cs typeface="Segoe UI"/>
              </a:defRPr>
            </a:pPr>
            <a:r>
              <a:rPr dirty="0"/>
              <a:t>Run mapping</a:t>
            </a:r>
          </a:p>
        </p:txBody>
      </p:sp>
      <p:sp>
        <p:nvSpPr>
          <p:cNvPr id="10" name="text-100">
            <a:extLst>
              <a:ext uri="{FF2B5EF4-FFF2-40B4-BE49-F238E27FC236}">
                <a16:creationId xmlns:a16="http://schemas.microsoft.com/office/drawing/2014/main" id="{3895C555-FD8F-431E-8516-90D535F2DF79}"/>
              </a:ext>
            </a:extLst>
          </p:cNvPr>
          <p:cNvSpPr>
            <a:spLocks noGrp="1"/>
          </p:cNvSpPr>
          <p:nvPr/>
        </p:nvSpPr>
        <p:spPr>
          <a:xfrm>
            <a:off x="457200" y="5772150"/>
            <a:ext cx="7239000" cy="438150"/>
          </a:xfrm>
          <a:prstGeom prst="rect">
            <a:avLst/>
          </a:prstGeom>
        </p:spPr>
        <p:txBody>
          <a:bodyPr lIns="0" tIns="0" rIns="0" bIns="0" anchor="t"/>
          <a:lstStyle/>
          <a:p>
            <a:pPr>
              <a:buNone/>
              <a:defRPr sz="2250" b="0">
                <a:solidFill>
                  <a:srgbClr val="FFFFFF"/>
                </a:solidFill>
                <a:latin typeface="Segoe UI"/>
                <a:ea typeface="Segoe UI"/>
                <a:cs typeface="Segoe UI"/>
              </a:defRPr>
            </a:pPr>
            <a:r>
              <a:rPr dirty="0"/>
              <a:t>Map </a:t>
            </a:r>
            <a:r>
              <a:rPr dirty="0" err="1"/>
              <a:t>NanoTel</a:t>
            </a:r>
            <a:r>
              <a:rPr dirty="0"/>
              <a:t> reads to the genome.</a:t>
            </a:r>
          </a:p>
        </p:txBody>
      </p:sp>
    </p:spTree>
    <p:extLst>
      <p:ext uri="{BB962C8B-B14F-4D97-AF65-F5344CB8AC3E}">
        <p14:creationId xmlns:p14="http://schemas.microsoft.com/office/powerpoint/2010/main" val="141798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7" name="text-101">
            <a:extLst>
              <a:ext uri="{FF2B5EF4-FFF2-40B4-BE49-F238E27FC236}">
                <a16:creationId xmlns:a16="http://schemas.microsoft.com/office/drawing/2014/main" id="{133A806F-D9E6-4C9B-8F54-63BD63F9CF4D}"/>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rPr dirty="0"/>
              <a:t>HELP AND INPUT QUESTIONS</a:t>
            </a:r>
          </a:p>
        </p:txBody>
      </p:sp>
      <p:sp>
        <p:nvSpPr>
          <p:cNvPr id="2" name="text-102">
            <a:extLst>
              <a:ext uri="{FF2B5EF4-FFF2-40B4-BE49-F238E27FC236}">
                <a16:creationId xmlns:a16="http://schemas.microsoft.com/office/drawing/2014/main" id="{D5A21DF3-7F90-4C64-8B1A-51F554E018C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103">
            <a:extLst>
              <a:ext uri="{FF2B5EF4-FFF2-40B4-BE49-F238E27FC236}">
                <a16:creationId xmlns:a16="http://schemas.microsoft.com/office/drawing/2014/main" id="{E4CCD158-41B3-4E02-98D0-8C721D890B2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13</a:t>
            </a:r>
          </a:p>
        </p:txBody>
      </p:sp>
      <p:sp>
        <p:nvSpPr>
          <p:cNvPr id="4" name="text-104">
            <a:extLst>
              <a:ext uri="{FF2B5EF4-FFF2-40B4-BE49-F238E27FC236}">
                <a16:creationId xmlns:a16="http://schemas.microsoft.com/office/drawing/2014/main" id="{A1D3D275-F736-4178-8F27-3D3264FA295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Help is built in.</a:t>
            </a:r>
          </a:p>
        </p:txBody>
      </p:sp>
      <p:sp>
        <p:nvSpPr>
          <p:cNvPr id="5" name="text-105">
            <a:extLst>
              <a:ext uri="{FF2B5EF4-FFF2-40B4-BE49-F238E27FC236}">
                <a16:creationId xmlns:a16="http://schemas.microsoft.com/office/drawing/2014/main" id="{CD673756-1141-4E4F-9E70-D02B65A4D8F4}"/>
              </a:ext>
            </a:extLst>
          </p:cNvPr>
          <p:cNvSpPr>
            <a:spLocks noGrp="1"/>
          </p:cNvSpPr>
          <p:nvPr/>
        </p:nvSpPr>
        <p:spPr>
          <a:xfrm>
            <a:off x="533400" y="2238375"/>
            <a:ext cx="5191125" cy="571500"/>
          </a:xfrm>
          <a:prstGeom prst="rect">
            <a:avLst/>
          </a:prstGeom>
        </p:spPr>
        <p:txBody>
          <a:bodyPr lIns="0" tIns="0" rIns="0" bIns="0" anchor="t"/>
          <a:lstStyle/>
          <a:p>
            <a:pPr>
              <a:buNone/>
              <a:defRPr sz="2550" b="1">
                <a:solidFill>
                  <a:srgbClr val="2860F5"/>
                </a:solidFill>
                <a:latin typeface="Segoe UI"/>
                <a:ea typeface="Segoe UI"/>
                <a:cs typeface="Segoe UI"/>
              </a:defRPr>
            </a:pPr>
            <a:r>
              <a:rPr dirty="0"/>
              <a:t>Help where you need it</a:t>
            </a:r>
          </a:p>
        </p:txBody>
      </p:sp>
      <p:sp>
        <p:nvSpPr>
          <p:cNvPr id="6" name="text-106">
            <a:extLst>
              <a:ext uri="{FF2B5EF4-FFF2-40B4-BE49-F238E27FC236}">
                <a16:creationId xmlns:a16="http://schemas.microsoft.com/office/drawing/2014/main" id="{A95C4A8D-F996-4FE2-8400-3C44EEA8174D}"/>
              </a:ext>
            </a:extLst>
          </p:cNvPr>
          <p:cNvSpPr>
            <a:spLocks noGrp="1"/>
          </p:cNvSpPr>
          <p:nvPr/>
        </p:nvSpPr>
        <p:spPr>
          <a:xfrm>
            <a:off x="457200" y="3048000"/>
            <a:ext cx="5191125" cy="2333625"/>
          </a:xfrm>
          <a:prstGeom prst="rect">
            <a:avLst/>
          </a:prstGeom>
        </p:spPr>
        <p:txBody>
          <a:bodyPr lIns="0" tIns="0" rIns="0" bIns="0" anchor="t"/>
          <a:lstStyle/>
          <a:p>
            <a:pPr>
              <a:buNone/>
              <a:defRPr sz="2325" b="0">
                <a:solidFill>
                  <a:srgbClr val="0D182A"/>
                </a:solidFill>
                <a:latin typeface="Segoe UI"/>
                <a:ea typeface="Segoe UI"/>
                <a:cs typeface="Segoe UI"/>
              </a:defRPr>
            </a:pPr>
            <a:r>
              <a:rPr dirty="0"/>
              <a:t>Use the ? buttons for input and workflow explanations.</a:t>
            </a:r>
          </a:p>
          <a:p>
            <a:pPr>
              <a:buNone/>
              <a:defRPr sz="2325" b="0">
                <a:solidFill>
                  <a:srgbClr val="152033"/>
                </a:solidFill>
                <a:latin typeface="Arial"/>
                <a:ea typeface="Arial"/>
                <a:cs typeface="Arial"/>
              </a:defRPr>
            </a:pPr>
            <a:endParaRPr dirty="0"/>
          </a:p>
          <a:p>
            <a:pPr>
              <a:buNone/>
              <a:defRPr sz="2325" b="0">
                <a:solidFill>
                  <a:srgbClr val="0D182A"/>
                </a:solidFill>
                <a:latin typeface="Segoe UI"/>
                <a:ea typeface="Segoe UI"/>
                <a:cs typeface="Segoe UI"/>
              </a:defRPr>
            </a:pPr>
            <a:r>
              <a:rPr dirty="0"/>
              <a:t>Hover over supported controls for short hints.</a:t>
            </a:r>
          </a:p>
        </p:txBody>
      </p:sp>
      <p:pic>
        <p:nvPicPr>
          <p:cNvPr id="17" name="Picture 16"/>
          <p:cNvPicPr>
            <a:picLocks noChangeAspect="1"/>
          </p:cNvPicPr>
          <p:nvPr/>
        </p:nvPicPr>
        <p:blipFill>
          <a:blip r:embed="rId3"/>
          <a:stretch/>
        </p:blipFill>
        <p:spPr>
          <a:xfrm>
            <a:off x="6381750" y="2570485"/>
            <a:ext cx="5334000" cy="1612254"/>
          </a:xfrm>
          <a:prstGeom prst="rect">
            <a:avLst/>
          </a:prstGeom>
        </p:spPr>
      </p:pic>
      <p:sp>
        <p:nvSpPr>
          <p:cNvPr id="8" name="text-107">
            <a:extLst>
              <a:ext uri="{FF2B5EF4-FFF2-40B4-BE49-F238E27FC236}">
                <a16:creationId xmlns:a16="http://schemas.microsoft.com/office/drawing/2014/main" id="{89B94BC5-64FE-493B-8FC1-41228AF06C84}"/>
              </a:ext>
            </a:extLst>
          </p:cNvPr>
          <p:cNvSpPr>
            <a:spLocks noGrp="1"/>
          </p:cNvSpPr>
          <p:nvPr/>
        </p:nvSpPr>
        <p:spPr>
          <a:xfrm>
            <a:off x="6381750" y="4905375"/>
            <a:ext cx="5334000" cy="495300"/>
          </a:xfrm>
          <a:prstGeom prst="rect">
            <a:avLst/>
          </a:prstGeom>
        </p:spPr>
        <p:txBody>
          <a:bodyPr lIns="0" tIns="0" rIns="0" bIns="0" anchor="t"/>
          <a:lstStyle/>
          <a:p>
            <a:pPr>
              <a:buNone/>
              <a:defRPr sz="2550" b="1">
                <a:solidFill>
                  <a:srgbClr val="2860F5"/>
                </a:solidFill>
                <a:latin typeface="Segoe UI"/>
                <a:ea typeface="Segoe UI"/>
                <a:cs typeface="Segoe UI"/>
              </a:defRPr>
            </a:pPr>
            <a:r>
              <a:rPr dirty="0"/>
              <a:t>FASTQ and BAM inputs</a:t>
            </a:r>
          </a:p>
        </p:txBody>
      </p:sp>
      <p:sp>
        <p:nvSpPr>
          <p:cNvPr id="9" name="text-108">
            <a:extLst>
              <a:ext uri="{FF2B5EF4-FFF2-40B4-BE49-F238E27FC236}">
                <a16:creationId xmlns:a16="http://schemas.microsoft.com/office/drawing/2014/main" id="{FEF1DEDB-8BC6-429C-B9C2-76D934356ED9}"/>
              </a:ext>
            </a:extLst>
          </p:cNvPr>
          <p:cNvSpPr>
            <a:spLocks noGrp="1"/>
          </p:cNvSpPr>
          <p:nvPr/>
        </p:nvSpPr>
        <p:spPr>
          <a:xfrm>
            <a:off x="6381750" y="5572125"/>
            <a:ext cx="5334000" cy="619125"/>
          </a:xfrm>
          <a:prstGeom prst="rect">
            <a:avLst/>
          </a:prstGeom>
        </p:spPr>
        <p:txBody>
          <a:bodyPr lIns="0" tIns="0" rIns="0" bIns="0" anchor="t"/>
          <a:lstStyle/>
          <a:p>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4" name="text-109">
            <a:extLst>
              <a:ext uri="{FF2B5EF4-FFF2-40B4-BE49-F238E27FC236}">
                <a16:creationId xmlns:a16="http://schemas.microsoft.com/office/drawing/2014/main" id="{936D5DB6-2DD0-4BB7-84B4-2C16E5AB12DF}"/>
              </a:ext>
            </a:extLst>
          </p:cNvPr>
          <p:cNvSpPr>
            <a:spLocks noGrp="1"/>
          </p:cNvSpPr>
          <p:nvPr/>
        </p:nvSpPr>
        <p:spPr>
          <a:xfrm>
            <a:off x="552734" y="224335"/>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RUN CONTROLS</a:t>
            </a:r>
          </a:p>
        </p:txBody>
      </p:sp>
      <p:sp>
        <p:nvSpPr>
          <p:cNvPr id="2" name="text-110">
            <a:extLst>
              <a:ext uri="{FF2B5EF4-FFF2-40B4-BE49-F238E27FC236}">
                <a16:creationId xmlns:a16="http://schemas.microsoft.com/office/drawing/2014/main" id="{BB48286D-77DD-425D-AC8E-2279810DBDAA}"/>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111">
            <a:extLst>
              <a:ext uri="{FF2B5EF4-FFF2-40B4-BE49-F238E27FC236}">
                <a16:creationId xmlns:a16="http://schemas.microsoft.com/office/drawing/2014/main" id="{EDD1E89D-4A4A-4F68-8975-A7CA72536E7B}"/>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12">
            <a:extLst>
              <a:ext uri="{FF2B5EF4-FFF2-40B4-BE49-F238E27FC236}">
                <a16:creationId xmlns:a16="http://schemas.microsoft.com/office/drawing/2014/main" id="{B5AAB9D5-D037-40A5-8EAD-3D00E62CEC39}"/>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dirty="0">
                <a:solidFill>
                  <a:srgbClr val="0D182A"/>
                </a:solidFill>
                <a:latin typeface="Arial"/>
                <a:ea typeface="Arial"/>
                <a:cs typeface="Arial"/>
              </a:rPr>
              <a:t>Ready. Set. Run.</a:t>
            </a:r>
          </a:p>
        </p:txBody>
      </p:sp>
      <p:sp>
        <p:nvSpPr>
          <p:cNvPr id="5" name="text-113">
            <a:extLst>
              <a:ext uri="{FF2B5EF4-FFF2-40B4-BE49-F238E27FC236}">
                <a16:creationId xmlns:a16="http://schemas.microsoft.com/office/drawing/2014/main" id="{F8B8D57A-4F51-4BA8-9918-9E7F37F13529}"/>
              </a:ext>
            </a:extLst>
          </p:cNvPr>
          <p:cNvSpPr>
            <a:spLocks noGrp="1"/>
          </p:cNvSpPr>
          <p:nvPr/>
        </p:nvSpPr>
        <p:spPr>
          <a:xfrm>
            <a:off x="1371600" y="2266950"/>
            <a:ext cx="10191750" cy="657225"/>
          </a:xfrm>
          <a:prstGeom prst="rect">
            <a:avLst/>
          </a:prstGeom>
        </p:spPr>
        <p:txBody>
          <a:bodyPr lIns="0" tIns="0" rIns="0" bIns="0" anchor="t"/>
          <a:lstStyle/>
          <a:p>
            <a:pPr>
              <a:buNone/>
              <a:defRPr sz="3600" b="1">
                <a:solidFill>
                  <a:srgbClr val="2860F5"/>
                </a:solidFill>
                <a:latin typeface="Segoe UI"/>
                <a:ea typeface="Segoe UI"/>
                <a:cs typeface="Segoe UI"/>
              </a:defRPr>
            </a:pPr>
            <a:r>
              <a:rPr dirty="0"/>
              <a:t>Run Workflow</a:t>
            </a:r>
          </a:p>
        </p:txBody>
      </p:sp>
      <p:sp>
        <p:nvSpPr>
          <p:cNvPr id="6" name="text-114">
            <a:extLst>
              <a:ext uri="{FF2B5EF4-FFF2-40B4-BE49-F238E27FC236}">
                <a16:creationId xmlns:a16="http://schemas.microsoft.com/office/drawing/2014/main" id="{05B6AA6A-1DC7-4375-9709-C1D3762FE5B5}"/>
              </a:ext>
            </a:extLst>
          </p:cNvPr>
          <p:cNvSpPr>
            <a:spLocks noGrp="1"/>
          </p:cNvSpPr>
          <p:nvPr/>
        </p:nvSpPr>
        <p:spPr>
          <a:xfrm>
            <a:off x="1371600" y="2971800"/>
            <a:ext cx="10096500" cy="542925"/>
          </a:xfrm>
          <a:prstGeom prst="rect">
            <a:avLst/>
          </a:prstGeom>
        </p:spPr>
        <p:txBody>
          <a:bodyPr lIns="0" tIns="0" rIns="0" bIns="0" anchor="t"/>
          <a:lstStyle/>
          <a:p>
            <a:pPr>
              <a:buNone/>
              <a:defRPr sz="2175" b="0">
                <a:solidFill>
                  <a:srgbClr val="0D182A"/>
                </a:solidFill>
                <a:latin typeface="Segoe UI"/>
                <a:ea typeface="Segoe UI"/>
                <a:cs typeface="Segoe UI"/>
              </a:defRPr>
            </a:pPr>
            <a:r>
              <a:t>Start the selected analysis with your settings.</a:t>
            </a:r>
          </a:p>
        </p:txBody>
      </p:sp>
      <p:sp>
        <p:nvSpPr>
          <p:cNvPr id="7" name="text-115">
            <a:extLst>
              <a:ext uri="{FF2B5EF4-FFF2-40B4-BE49-F238E27FC236}">
                <a16:creationId xmlns:a16="http://schemas.microsoft.com/office/drawing/2014/main" id="{6E6F13C6-8489-4F01-8529-258C7BABF897}"/>
              </a:ext>
            </a:extLst>
          </p:cNvPr>
          <p:cNvSpPr>
            <a:spLocks noGrp="1"/>
          </p:cNvSpPr>
          <p:nvPr/>
        </p:nvSpPr>
        <p:spPr>
          <a:xfrm>
            <a:off x="1371600" y="3914775"/>
            <a:ext cx="10191750" cy="542925"/>
          </a:xfrm>
          <a:prstGeom prst="rect">
            <a:avLst/>
          </a:prstGeom>
        </p:spPr>
        <p:txBody>
          <a:bodyPr lIns="0" tIns="0" rIns="0" bIns="0" anchor="t"/>
          <a:lstStyle/>
          <a:p>
            <a:pPr>
              <a:buNone/>
              <a:defRPr sz="2925" b="1">
                <a:solidFill>
                  <a:srgbClr val="0D182A"/>
                </a:solidFill>
                <a:latin typeface="Segoe UI"/>
                <a:ea typeface="Segoe UI"/>
                <a:cs typeface="Segoe UI"/>
              </a:defRPr>
            </a:pPr>
            <a:r>
              <a:t>Execution Log</a:t>
            </a:r>
          </a:p>
        </p:txBody>
      </p:sp>
      <p:sp>
        <p:nvSpPr>
          <p:cNvPr id="8" name="text-116">
            <a:extLst>
              <a:ext uri="{FF2B5EF4-FFF2-40B4-BE49-F238E27FC236}">
                <a16:creationId xmlns:a16="http://schemas.microsoft.com/office/drawing/2014/main" id="{BF8CF565-0594-49F4-9AEE-1B2D2DB6ECEC}"/>
              </a:ext>
            </a:extLst>
          </p:cNvPr>
          <p:cNvSpPr>
            <a:spLocks noGrp="1"/>
          </p:cNvSpPr>
          <p:nvPr/>
        </p:nvSpPr>
        <p:spPr>
          <a:xfrm>
            <a:off x="1371600" y="4543425"/>
            <a:ext cx="10096500" cy="514350"/>
          </a:xfrm>
          <a:prstGeom prst="rect">
            <a:avLst/>
          </a:prstGeom>
        </p:spPr>
        <p:txBody>
          <a:bodyPr lIns="0" tIns="0" rIns="0" bIns="0" anchor="t"/>
          <a:lstStyle/>
          <a:p>
            <a:pPr>
              <a:buNone/>
              <a:defRPr sz="2175" b="0">
                <a:solidFill>
                  <a:srgbClr val="0D182A"/>
                </a:solidFill>
                <a:latin typeface="Segoe UI"/>
                <a:ea typeface="Segoe UI"/>
                <a:cs typeface="Segoe UI"/>
              </a:defRPr>
            </a:pPr>
            <a:r>
              <a:t>Follow processing messages and progress.</a:t>
            </a:r>
          </a:p>
        </p:txBody>
      </p:sp>
      <p:sp>
        <p:nvSpPr>
          <p:cNvPr id="9" name="text-117">
            <a:extLst>
              <a:ext uri="{FF2B5EF4-FFF2-40B4-BE49-F238E27FC236}">
                <a16:creationId xmlns:a16="http://schemas.microsoft.com/office/drawing/2014/main" id="{0E136FCF-DF17-42A2-B58B-C9ED6D236DBB}"/>
              </a:ext>
            </a:extLst>
          </p:cNvPr>
          <p:cNvSpPr>
            <a:spLocks noGrp="1"/>
          </p:cNvSpPr>
          <p:nvPr/>
        </p:nvSpPr>
        <p:spPr>
          <a:xfrm>
            <a:off x="1371600" y="5381625"/>
            <a:ext cx="3095625" cy="542925"/>
          </a:xfrm>
          <a:prstGeom prst="rect">
            <a:avLst/>
          </a:prstGeom>
        </p:spPr>
        <p:txBody>
          <a:bodyPr lIns="0" tIns="0" rIns="0" bIns="0" anchor="t"/>
          <a:lstStyle/>
          <a:p>
            <a:pPr>
              <a:buNone/>
              <a:defRPr sz="2925" b="1">
                <a:solidFill>
                  <a:srgbClr val="0D182A"/>
                </a:solidFill>
                <a:latin typeface="Segoe UI"/>
                <a:ea typeface="Segoe UI"/>
                <a:cs typeface="Segoe UI"/>
              </a:defRPr>
            </a:pPr>
            <a:r>
              <a:t>Cancel</a:t>
            </a:r>
          </a:p>
        </p:txBody>
      </p:sp>
      <p:sp>
        <p:nvSpPr>
          <p:cNvPr id="10" name="text-118">
            <a:extLst>
              <a:ext uri="{FF2B5EF4-FFF2-40B4-BE49-F238E27FC236}">
                <a16:creationId xmlns:a16="http://schemas.microsoft.com/office/drawing/2014/main" id="{1E1A42AC-99FD-4AF7-A227-17FE34C37BD8}"/>
              </a:ext>
            </a:extLst>
          </p:cNvPr>
          <p:cNvSpPr>
            <a:spLocks noGrp="1"/>
          </p:cNvSpPr>
          <p:nvPr/>
        </p:nvSpPr>
        <p:spPr>
          <a:xfrm>
            <a:off x="4667250" y="5476875"/>
            <a:ext cx="6829425" cy="619125"/>
          </a:xfrm>
          <a:prstGeom prst="rect">
            <a:avLst/>
          </a:prstGeom>
        </p:spPr>
        <p:txBody>
          <a:bodyPr lIns="0" tIns="0" rIns="0" bIns="0" anchor="t"/>
          <a:lstStyle/>
          <a:p>
            <a:pPr>
              <a:buNone/>
              <a:defRPr sz="2100" b="0">
                <a:solidFill>
                  <a:srgbClr val="0D182A"/>
                </a:solidFill>
                <a:latin typeface="Segoe UI"/>
                <a:ea typeface="Segoe UI"/>
                <a:cs typeface="Segoe UI"/>
              </a:defRPr>
            </a:pPr>
            <a:r>
              <a:t>Request that the running workflow stops.</a:t>
            </a:r>
          </a:p>
        </p:txBody>
      </p:sp>
      <p:sp>
        <p:nvSpPr>
          <p:cNvPr id="11" name="Rectangle 10">
            <a:extLst>
              <a:ext uri="{FF2B5EF4-FFF2-40B4-BE49-F238E27FC236}">
                <a16:creationId xmlns:a16="http://schemas.microsoft.com/office/drawing/2014/main" id="{8E380C90-43B6-4206-AA09-612214D96C51}"/>
              </a:ext>
            </a:extLst>
          </p:cNvPr>
          <p:cNvSpPr>
            <a:spLocks noGrp="1"/>
          </p:cNvSpPr>
          <p:nvPr/>
        </p:nvSpPr>
        <p:spPr>
          <a:xfrm>
            <a:off x="533400" y="2362200"/>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rPr dirty="0"/>
              <a:t>01</a:t>
            </a:r>
          </a:p>
        </p:txBody>
      </p:sp>
      <p:sp>
        <p:nvSpPr>
          <p:cNvPr id="12" name="Rectangle 11">
            <a:extLst>
              <a:ext uri="{FF2B5EF4-FFF2-40B4-BE49-F238E27FC236}">
                <a16:creationId xmlns:a16="http://schemas.microsoft.com/office/drawing/2014/main" id="{414AF8C1-4FE9-4BFF-B79E-EF5BF2592DA0}"/>
              </a:ext>
            </a:extLst>
          </p:cNvPr>
          <p:cNvSpPr>
            <a:spLocks noGrp="1"/>
          </p:cNvSpPr>
          <p:nvPr/>
        </p:nvSpPr>
        <p:spPr>
          <a:xfrm>
            <a:off x="533400" y="3971925"/>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t>02</a:t>
            </a:r>
          </a:p>
        </p:txBody>
      </p:sp>
      <p:sp>
        <p:nvSpPr>
          <p:cNvPr id="13" name="Rectangle 12">
            <a:extLst>
              <a:ext uri="{FF2B5EF4-FFF2-40B4-BE49-F238E27FC236}">
                <a16:creationId xmlns:a16="http://schemas.microsoft.com/office/drawing/2014/main" id="{FBF2FC55-5BA4-44EF-AA66-7C379522C7EB}"/>
              </a:ext>
            </a:extLst>
          </p:cNvPr>
          <p:cNvSpPr>
            <a:spLocks noGrp="1"/>
          </p:cNvSpPr>
          <p:nvPr/>
        </p:nvSpPr>
        <p:spPr>
          <a:xfrm>
            <a:off x="533400" y="5457825"/>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AD19C9-7727-494C-BF86-F92B5A99DC79}"/>
              </a:ext>
            </a:extLst>
          </p:cNvPr>
          <p:cNvSpPr>
            <a:spLocks noGrp="1"/>
          </p:cNvSpPr>
          <p:nvPr/>
        </p:nvSpPr>
        <p:spPr>
          <a:xfrm>
            <a:off x="533400" y="285750"/>
            <a:ext cx="10477500" cy="304800"/>
          </a:xfrm>
          <a:prstGeom prst="rect">
            <a:avLst/>
          </a:prstGeom>
        </p:spPr>
        <p:txBody>
          <a:bodyPr lIns="0" tIns="0" rIns="0" bIns="0" anchor="t"/>
          <a:lstStyle/>
          <a:p>
            <a:pPr>
              <a:defRPr sz="1650" b="1">
                <a:solidFill>
                  <a:srgbClr val="2860F5"/>
                </a:solidFill>
                <a:latin typeface="Bahnschrift"/>
                <a:ea typeface="Bahnschrift"/>
                <a:cs typeface="Bahnschrift"/>
              </a:defRPr>
            </a:pPr>
            <a:r>
              <a:rPr dirty="0"/>
              <a:t>EXAMPLE RESULTS • SAVED NANOTEL RUN</a:t>
            </a:r>
          </a:p>
        </p:txBody>
      </p:sp>
      <p:sp>
        <p:nvSpPr>
          <p:cNvPr id="2" name="Rectangle 1">
            <a:extLst>
              <a:ext uri="{FF2B5EF4-FFF2-40B4-BE49-F238E27FC236}">
                <a16:creationId xmlns:a16="http://schemas.microsoft.com/office/drawing/2014/main" id="{6021120A-D8FD-417F-A205-DBC6AF2F6CC3}"/>
              </a:ext>
            </a:extLst>
          </p:cNvPr>
          <p:cNvSpPr>
            <a:spLocks noGrp="1"/>
          </p:cNvSpPr>
          <p:nvPr/>
        </p:nvSpPr>
        <p:spPr>
          <a:xfrm>
            <a:off x="533400" y="838200"/>
            <a:ext cx="11125200" cy="857250"/>
          </a:xfrm>
          <a:prstGeom prst="rect">
            <a:avLst/>
          </a:prstGeom>
        </p:spPr>
        <p:txBody>
          <a:bodyPr lIns="0" tIns="0" rIns="0" bIns="0" anchor="t"/>
          <a:lstStyle/>
          <a:p>
            <a:pPr>
              <a:defRPr sz="4650" b="1">
                <a:solidFill>
                  <a:srgbClr val="0D182A"/>
                </a:solidFill>
                <a:latin typeface="Bahnschrift"/>
                <a:ea typeface="Bahnschrift"/>
                <a:cs typeface="Bahnschrift"/>
              </a:defRPr>
            </a:pPr>
            <a:r>
              <a:rPr dirty="0"/>
              <a:t>Results at a glance.</a:t>
            </a:r>
          </a:p>
        </p:txBody>
      </p:sp>
      <p:sp>
        <p:nvSpPr>
          <p:cNvPr id="3" name="Rectangle 2">
            <a:extLst>
              <a:ext uri="{FF2B5EF4-FFF2-40B4-BE49-F238E27FC236}">
                <a16:creationId xmlns:a16="http://schemas.microsoft.com/office/drawing/2014/main" id="{09690918-F3CD-4096-86D9-A3251DED6908}"/>
              </a:ext>
            </a:extLst>
          </p:cNvPr>
          <p:cNvSpPr>
            <a:spLocks noGrp="1"/>
          </p:cNvSpPr>
          <p:nvPr/>
        </p:nvSpPr>
        <p:spPr>
          <a:xfrm>
            <a:off x="533400" y="6438900"/>
            <a:ext cx="9525000" cy="247650"/>
          </a:xfrm>
          <a:prstGeom prst="rect">
            <a:avLst/>
          </a:prstGeom>
        </p:spPr>
        <p:txBody>
          <a:bodyPr lIns="0" tIns="0" rIns="0" bIns="0" anchor="t"/>
          <a:lstStyle/>
          <a:p>
            <a:pPr>
              <a:defRPr sz="1350" b="0">
                <a:solidFill>
                  <a:srgbClr val="68717E"/>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99F596C1-0506-4504-A971-1A7DE3AD9FD3}"/>
              </a:ext>
            </a:extLst>
          </p:cNvPr>
          <p:cNvSpPr>
            <a:spLocks noGrp="1"/>
          </p:cNvSpPr>
          <p:nvPr/>
        </p:nvSpPr>
        <p:spPr>
          <a:xfrm>
            <a:off x="533400" y="1876425"/>
            <a:ext cx="11125200" cy="609600"/>
          </a:xfrm>
          <a:prstGeom prst="rect">
            <a:avLst/>
          </a:prstGeom>
        </p:spPr>
        <p:txBody>
          <a:bodyPr lIns="0" tIns="0" rIns="0" bIns="0" anchor="t"/>
          <a:lstStyle/>
          <a:p>
            <a:pPr>
              <a:defRPr sz="2400" b="0">
                <a:solidFill>
                  <a:srgbClr val="0D182A"/>
                </a:solidFill>
                <a:latin typeface="Segoe UI"/>
                <a:ea typeface="Segoe UI"/>
                <a:cs typeface="Segoe UI"/>
              </a:defRPr>
            </a:pPr>
            <a:r>
              <a:rPr dirty="0"/>
              <a:t>One row per barcode. Measurements ready to review.</a:t>
            </a:r>
          </a:p>
        </p:txBody>
      </p:sp>
      <p:graphicFrame>
        <p:nvGraphicFramePr>
          <p:cNvPr id="13" name="Table 12"/>
          <p:cNvGraphicFramePr/>
          <p:nvPr/>
        </p:nvGraphicFramePr>
        <p:xfrm>
          <a:off x="533400" y="2800350"/>
          <a:ext cx="11125200" cy="2133600"/>
        </p:xfrm>
        <a:graphic>
          <a:graphicData uri="http://schemas.openxmlformats.org/drawingml/2006/table">
            <a:tbl>
              <a:tblPr/>
              <a:tblGrid>
                <a:gridCol w="2095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71700">
                  <a:extLst>
                    <a:ext uri="{9D8B030D-6E8A-4147-A177-3AD203B41FA5}">
                      <a16:colId xmlns:a16="http://schemas.microsoft.com/office/drawing/2014/main" val="20004"/>
                    </a:ext>
                  </a:extLst>
                </a:gridCol>
              </a:tblGrid>
              <a:tr h="711200">
                <a:tc>
                  <a:txBody>
                    <a:bodyPr/>
                    <a:lstStyle/>
                    <a:p>
                      <a:r>
                        <a:rPr sz="1950" b="1">
                          <a:solidFill>
                            <a:srgbClr val="FFFFFF"/>
                          </a:solidFill>
                          <a:latin typeface="Bahnschrift"/>
                          <a:ea typeface="Bahnschrift"/>
                          <a:cs typeface="Bahnschrift"/>
                        </a:rPr>
                        <a:t>Barcode</a:t>
                      </a:r>
                    </a:p>
                  </a:txBody>
                  <a:tcPr>
                    <a:solidFill>
                      <a:srgbClr val="0D182A"/>
                    </a:solidFill>
                  </a:tcPr>
                </a:tc>
                <a:tc>
                  <a:txBody>
                    <a:bodyPr/>
                    <a:lstStyle/>
                    <a:p>
                      <a:r>
                        <a:rPr sz="1950" b="1" dirty="0">
                          <a:solidFill>
                            <a:srgbClr val="FFFFFF"/>
                          </a:solidFill>
                          <a:latin typeface="Bahnschrift"/>
                          <a:ea typeface="Bahnschrift"/>
                          <a:cs typeface="Bahnschrift"/>
                        </a:rPr>
                        <a:t>Telomeres</a:t>
                      </a:r>
                    </a:p>
                  </a:txBody>
                  <a:tcPr>
                    <a:solidFill>
                      <a:srgbClr val="0D182A"/>
                    </a:solidFill>
                  </a:tcPr>
                </a:tc>
                <a:tc>
                  <a:txBody>
                    <a:bodyPr/>
                    <a:lstStyle/>
                    <a:p>
                      <a:r>
                        <a:rPr sz="1950" b="1" dirty="0">
                          <a:solidFill>
                            <a:srgbClr val="FFFFFF"/>
                          </a:solidFill>
                          <a:latin typeface="Bahnschrift"/>
                          <a:ea typeface="Bahnschrift"/>
                          <a:cs typeface="Bahnschrift"/>
                        </a:rPr>
                        <a:t>Median length</a:t>
                      </a:r>
                    </a:p>
                    <a:p>
                      <a:r>
                        <a:rPr sz="1950" b="1" dirty="0">
                          <a:solidFill>
                            <a:srgbClr val="FFFFFF"/>
                          </a:solidFill>
                          <a:latin typeface="Bahnschrift"/>
                          <a:ea typeface="Bahnschrift"/>
                          <a:cs typeface="Bahnschrift"/>
                        </a:rPr>
                        <a:t>(bp)</a:t>
                      </a:r>
                    </a:p>
                  </a:txBody>
                  <a:tcPr>
                    <a:solidFill>
                      <a:srgbClr val="0D182A"/>
                    </a:solidFill>
                  </a:tcPr>
                </a:tc>
                <a:tc>
                  <a:txBody>
                    <a:bodyPr/>
                    <a:lstStyle/>
                    <a:p>
                      <a:r>
                        <a:rPr sz="1950" b="1">
                          <a:solidFill>
                            <a:srgbClr val="FFFFFF"/>
                          </a:solidFill>
                          <a:latin typeface="Bahnschrift"/>
                          <a:ea typeface="Bahnschrift"/>
                          <a:cs typeface="Bahnschrift"/>
                        </a:rPr>
                        <a:t>Below 2 kb</a:t>
                      </a:r>
                    </a:p>
                  </a:txBody>
                  <a:tcPr>
                    <a:solidFill>
                      <a:srgbClr val="0D182A"/>
                    </a:solidFill>
                  </a:tcPr>
                </a:tc>
                <a:tc>
                  <a:txBody>
                    <a:bodyPr/>
                    <a:lstStyle/>
                    <a:p>
                      <a:r>
                        <a:rPr sz="1950" b="1">
                          <a:solidFill>
                            <a:srgbClr val="FFFFFF"/>
                          </a:solidFill>
                          <a:latin typeface="Bahnschrift"/>
                          <a:ea typeface="Bahnschrift"/>
                          <a:cs typeface="Bahnschrift"/>
                        </a:rPr>
                        <a:t>Mean</a:t>
                      </a:r>
                    </a:p>
                    <a:p>
                      <a:r>
                        <a:rPr sz="1950" b="1">
                          <a:solidFill>
                            <a:srgbClr val="FFFFFF"/>
                          </a:solidFill>
                          <a:latin typeface="Bahnschrift"/>
                          <a:ea typeface="Bahnschrift"/>
                          <a:cs typeface="Bahnschrift"/>
                        </a:rPr>
                        <a:t>density</a:t>
                      </a:r>
                    </a:p>
                  </a:txBody>
                  <a:tcPr>
                    <a:solidFill>
                      <a:srgbClr val="0D182A"/>
                    </a:solidFill>
                  </a:tcPr>
                </a:tc>
                <a:extLst>
                  <a:ext uri="{0D108BD9-81ED-4DB2-BD59-A6C34878D82A}">
                    <a16:rowId xmlns:a16="http://schemas.microsoft.com/office/drawing/2014/main" val="10000"/>
                  </a:ext>
                </a:extLst>
              </a:tr>
              <a:tr h="711200">
                <a:tc>
                  <a:txBody>
                    <a:bodyPr/>
                    <a:lstStyle/>
                    <a:p>
                      <a:r>
                        <a:rPr sz="2400" b="0">
                          <a:solidFill>
                            <a:srgbClr val="0D182A"/>
                          </a:solidFill>
                          <a:latin typeface="Segoe UI"/>
                          <a:ea typeface="Segoe UI"/>
                          <a:cs typeface="Segoe UI"/>
                        </a:rPr>
                        <a:t>barcode02</a:t>
                      </a:r>
                    </a:p>
                  </a:txBody>
                  <a:tcPr>
                    <a:solidFill>
                      <a:srgbClr val="FFFFFF"/>
                    </a:solidFill>
                  </a:tcPr>
                </a:tc>
                <a:tc>
                  <a:txBody>
                    <a:bodyPr/>
                    <a:lstStyle/>
                    <a:p>
                      <a:r>
                        <a:rPr sz="2400" b="0">
                          <a:solidFill>
                            <a:srgbClr val="0D182A"/>
                          </a:solidFill>
                          <a:latin typeface="Segoe UI"/>
                          <a:ea typeface="Segoe UI"/>
                          <a:cs typeface="Segoe UI"/>
                        </a:rPr>
                        <a:t>12</a:t>
                      </a:r>
                    </a:p>
                  </a:txBody>
                  <a:tcPr>
                    <a:solidFill>
                      <a:srgbClr val="FFFFFF"/>
                    </a:solidFill>
                  </a:tcPr>
                </a:tc>
                <a:tc>
                  <a:txBody>
                    <a:bodyPr/>
                    <a:lstStyle/>
                    <a:p>
                      <a:r>
                        <a:rPr sz="2400" b="0" dirty="0">
                          <a:solidFill>
                            <a:srgbClr val="0D182A"/>
                          </a:solidFill>
                          <a:latin typeface="Segoe UI"/>
                          <a:ea typeface="Segoe UI"/>
                          <a:cs typeface="Segoe UI"/>
                        </a:rPr>
                        <a:t>4,896.5</a:t>
                      </a:r>
                    </a:p>
                  </a:txBody>
                  <a:tcPr>
                    <a:solidFill>
                      <a:srgbClr val="FFFFFF"/>
                    </a:solidFill>
                  </a:tcPr>
                </a:tc>
                <a:tc>
                  <a:txBody>
                    <a:bodyPr/>
                    <a:lstStyle/>
                    <a:p>
                      <a:r>
                        <a:rPr sz="2400" b="0">
                          <a:solidFill>
                            <a:srgbClr val="0D182A"/>
                          </a:solidFill>
                          <a:latin typeface="Segoe UI"/>
                          <a:ea typeface="Segoe UI"/>
                          <a:cs typeface="Segoe UI"/>
                        </a:rPr>
                        <a:t>16.7%</a:t>
                      </a:r>
                    </a:p>
                  </a:txBody>
                  <a:tcPr>
                    <a:solidFill>
                      <a:srgbClr val="FFFFFF"/>
                    </a:solidFill>
                  </a:tcPr>
                </a:tc>
                <a:tc>
                  <a:txBody>
                    <a:bodyPr/>
                    <a:lstStyle/>
                    <a:p>
                      <a:r>
                        <a:rPr sz="2400" b="0">
                          <a:solidFill>
                            <a:srgbClr val="0D182A"/>
                          </a:solidFill>
                          <a:latin typeface="Segoe UI"/>
                          <a:ea typeface="Segoe UI"/>
                          <a:cs typeface="Segoe UI"/>
                        </a:rPr>
                        <a:t>0.957</a:t>
                      </a:r>
                    </a:p>
                  </a:txBody>
                  <a:tcPr>
                    <a:solidFill>
                      <a:srgbClr val="FFFFFF"/>
                    </a:solidFill>
                  </a:tcPr>
                </a:tc>
                <a:extLst>
                  <a:ext uri="{0D108BD9-81ED-4DB2-BD59-A6C34878D82A}">
                    <a16:rowId xmlns:a16="http://schemas.microsoft.com/office/drawing/2014/main" val="10001"/>
                  </a:ext>
                </a:extLst>
              </a:tr>
              <a:tr h="711200">
                <a:tc>
                  <a:txBody>
                    <a:bodyPr/>
                    <a:lstStyle/>
                    <a:p>
                      <a:r>
                        <a:rPr sz="2400" b="0">
                          <a:solidFill>
                            <a:srgbClr val="0D182A"/>
                          </a:solidFill>
                          <a:latin typeface="Segoe UI"/>
                          <a:ea typeface="Segoe UI"/>
                          <a:cs typeface="Segoe UI"/>
                        </a:rPr>
                        <a:t>barcode19</a:t>
                      </a:r>
                    </a:p>
                  </a:txBody>
                  <a:tcPr>
                    <a:solidFill>
                      <a:srgbClr val="E8EDF4"/>
                    </a:solidFill>
                  </a:tcPr>
                </a:tc>
                <a:tc>
                  <a:txBody>
                    <a:bodyPr/>
                    <a:lstStyle/>
                    <a:p>
                      <a:r>
                        <a:rPr sz="2400" b="0">
                          <a:solidFill>
                            <a:srgbClr val="0D182A"/>
                          </a:solidFill>
                          <a:latin typeface="Segoe UI"/>
                          <a:ea typeface="Segoe UI"/>
                          <a:cs typeface="Segoe UI"/>
                        </a:rPr>
                        <a:t>1</a:t>
                      </a:r>
                    </a:p>
                  </a:txBody>
                  <a:tcPr>
                    <a:solidFill>
                      <a:srgbClr val="E8EDF4"/>
                    </a:solidFill>
                  </a:tcPr>
                </a:tc>
                <a:tc>
                  <a:txBody>
                    <a:bodyPr/>
                    <a:lstStyle/>
                    <a:p>
                      <a:r>
                        <a:rPr sz="2400" b="0" dirty="0">
                          <a:solidFill>
                            <a:srgbClr val="0D182A"/>
                          </a:solidFill>
                          <a:latin typeface="Segoe UI"/>
                          <a:ea typeface="Segoe UI"/>
                          <a:cs typeface="Segoe UI"/>
                        </a:rPr>
                        <a:t>12,573</a:t>
                      </a:r>
                    </a:p>
                  </a:txBody>
                  <a:tcPr>
                    <a:solidFill>
                      <a:srgbClr val="E8EDF4"/>
                    </a:solidFill>
                  </a:tcPr>
                </a:tc>
                <a:tc>
                  <a:txBody>
                    <a:bodyPr/>
                    <a:lstStyle/>
                    <a:p>
                      <a:r>
                        <a:rPr sz="2400" b="0">
                          <a:solidFill>
                            <a:srgbClr val="0D182A"/>
                          </a:solidFill>
                          <a:latin typeface="Segoe UI"/>
                          <a:ea typeface="Segoe UI"/>
                          <a:cs typeface="Segoe UI"/>
                        </a:rPr>
                        <a:t>0%</a:t>
                      </a:r>
                    </a:p>
                  </a:txBody>
                  <a:tcPr>
                    <a:solidFill>
                      <a:srgbClr val="E8EDF4"/>
                    </a:solidFill>
                  </a:tcPr>
                </a:tc>
                <a:tc>
                  <a:txBody>
                    <a:bodyPr/>
                    <a:lstStyle/>
                    <a:p>
                      <a:r>
                        <a:rPr sz="2400" b="0" dirty="0">
                          <a:solidFill>
                            <a:srgbClr val="0D182A"/>
                          </a:solidFill>
                          <a:latin typeface="Segoe UI"/>
                          <a:ea typeface="Segoe UI"/>
                          <a:cs typeface="Segoe UI"/>
                        </a:rPr>
                        <a:t>0.935</a:t>
                      </a:r>
                    </a:p>
                  </a:txBody>
                  <a:tcPr>
                    <a:solidFill>
                      <a:srgbClr val="E8EDF4"/>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4B46B8B6-8EB6-4F65-BF94-6DA4E8A089CC}"/>
              </a:ext>
            </a:extLst>
          </p:cNvPr>
          <p:cNvSpPr>
            <a:spLocks noGrp="1"/>
          </p:cNvSpPr>
          <p:nvPr/>
        </p:nvSpPr>
        <p:spPr>
          <a:xfrm>
            <a:off x="533400" y="5210175"/>
            <a:ext cx="11125200" cy="447675"/>
          </a:xfrm>
          <a:prstGeom prst="rect">
            <a:avLst/>
          </a:prstGeom>
        </p:spPr>
        <p:txBody>
          <a:bodyPr lIns="0" tIns="0" rIns="0" bIns="0" anchor="t"/>
          <a:lstStyle/>
          <a:p>
            <a:pPr>
              <a:defRPr sz="2175" b="1">
                <a:solidFill>
                  <a:srgbClr val="2860F5"/>
                </a:solidFill>
                <a:latin typeface="Bahnschrift"/>
                <a:ea typeface="Bahnschrift"/>
                <a:cs typeface="Bahnschrift"/>
              </a:defRPr>
            </a:pPr>
            <a:r>
              <a:rPr dirty="0"/>
              <a:t>nanotel_summary_statistics.csv</a:t>
            </a:r>
          </a:p>
        </p:txBody>
      </p:sp>
      <p:sp>
        <p:nvSpPr>
          <p:cNvPr id="7" name="Rectangle 6">
            <a:extLst>
              <a:ext uri="{FF2B5EF4-FFF2-40B4-BE49-F238E27FC236}">
                <a16:creationId xmlns:a16="http://schemas.microsoft.com/office/drawing/2014/main" id="{B6BEF820-2446-4583-A87B-CEC33F06ACC1}"/>
              </a:ext>
            </a:extLst>
          </p:cNvPr>
          <p:cNvSpPr>
            <a:spLocks noGrp="1"/>
          </p:cNvSpPr>
          <p:nvPr/>
        </p:nvSpPr>
        <p:spPr>
          <a:xfrm>
            <a:off x="533400" y="5781675"/>
            <a:ext cx="11125200" cy="485775"/>
          </a:xfrm>
          <a:prstGeom prst="rect">
            <a:avLst/>
          </a:prstGeom>
        </p:spPr>
        <p:txBody>
          <a:bodyPr lIns="0" tIns="0" rIns="0" bIns="0" anchor="t"/>
          <a:lstStyle/>
          <a:p>
            <a:pPr>
              <a:defRPr sz="1875" b="0">
                <a:solidFill>
                  <a:srgbClr val="68717E"/>
                </a:solidFill>
                <a:latin typeface="Segoe UI"/>
                <a:ea typeface="Segoe UI"/>
                <a:cs typeface="Segoe UI"/>
              </a:defRPr>
            </a:pPr>
            <a:r>
              <a:rPr dirty="0"/>
              <a:t>Illustrative output: barcode19 contains only one retained observation.</a:t>
            </a:r>
          </a:p>
        </p:txBody>
      </p:sp>
      <p:sp>
        <p:nvSpPr>
          <p:cNvPr id="8" name="Rectangle 7">
            <a:extLst>
              <a:ext uri="{FF2B5EF4-FFF2-40B4-BE49-F238E27FC236}">
                <a16:creationId xmlns:a16="http://schemas.microsoft.com/office/drawing/2014/main" id="{B5273849-29B3-42BB-9B33-CD9540BE9753}"/>
              </a:ext>
            </a:extLst>
          </p:cNvPr>
          <p:cNvSpPr>
            <a:spLocks noGrp="1"/>
          </p:cNvSpPr>
          <p:nvPr/>
        </p:nvSpPr>
        <p:spPr>
          <a:xfrm>
            <a:off x="11239500" y="6438900"/>
            <a:ext cx="571500" cy="247650"/>
          </a:xfrm>
          <a:prstGeom prst="rect">
            <a:avLst/>
          </a:prstGeom>
        </p:spPr>
        <p:txBody>
          <a:bodyPr lIns="0" tIns="0" rIns="0" bIns="0" anchor="t"/>
          <a:lstStyle/>
          <a:p>
            <a:pPr>
              <a:defRPr sz="1350" b="0">
                <a:solidFill>
                  <a:srgbClr val="68717E"/>
                </a:solidFill>
                <a:latin typeface="Segoe UI"/>
                <a:ea typeface="Segoe UI"/>
                <a:cs typeface="Segoe UI"/>
              </a:defRPr>
            </a:pPr>
            <a:r>
              <a:t>15</a:t>
            </a:r>
          </a:p>
        </p:txBody>
      </p:sp>
    </p:spTree>
    <p:extLst>
      <p:ext uri="{BB962C8B-B14F-4D97-AF65-F5344CB8AC3E}">
        <p14:creationId xmlns:p14="http://schemas.microsoft.com/office/powerpoint/2010/main" val="1275735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9C5C57-C81E-4121-94A3-68C5D204E5E1}"/>
              </a:ext>
            </a:extLst>
          </p:cNvPr>
          <p:cNvSpPr>
            <a:spLocks noGrp="1"/>
          </p:cNvSpPr>
          <p:nvPr/>
        </p:nvSpPr>
        <p:spPr>
          <a:xfrm>
            <a:off x="533400" y="285750"/>
            <a:ext cx="10477500" cy="304800"/>
          </a:xfrm>
          <a:prstGeom prst="rect">
            <a:avLst/>
          </a:prstGeom>
        </p:spPr>
        <p:txBody>
          <a:bodyPr lIns="0" tIns="0" rIns="0" bIns="0" anchor="t"/>
          <a:lstStyle/>
          <a:p>
            <a:pPr>
              <a:defRPr sz="1650" b="1">
                <a:solidFill>
                  <a:srgbClr val="2860F5"/>
                </a:solidFill>
                <a:latin typeface="Bahnschrift"/>
                <a:ea typeface="Bahnschrift"/>
                <a:cs typeface="Bahnschrift"/>
              </a:defRPr>
            </a:pPr>
            <a:r>
              <a:rPr dirty="0"/>
              <a:t>DETAILED RESULTS • BARCODE02 / READ908</a:t>
            </a:r>
          </a:p>
        </p:txBody>
      </p:sp>
      <p:sp>
        <p:nvSpPr>
          <p:cNvPr id="2" name="Rectangle 1">
            <a:extLst>
              <a:ext uri="{FF2B5EF4-FFF2-40B4-BE49-F238E27FC236}">
                <a16:creationId xmlns:a16="http://schemas.microsoft.com/office/drawing/2014/main" id="{0ECD4207-D90C-4612-A6C2-E4BB63F72E61}"/>
              </a:ext>
            </a:extLst>
          </p:cNvPr>
          <p:cNvSpPr>
            <a:spLocks noGrp="1"/>
          </p:cNvSpPr>
          <p:nvPr/>
        </p:nvSpPr>
        <p:spPr>
          <a:xfrm>
            <a:off x="533400" y="838200"/>
            <a:ext cx="11125200" cy="857250"/>
          </a:xfrm>
          <a:prstGeom prst="rect">
            <a:avLst/>
          </a:prstGeom>
        </p:spPr>
        <p:txBody>
          <a:bodyPr lIns="0" tIns="0" rIns="0" bIns="0" anchor="t"/>
          <a:lstStyle/>
          <a:p>
            <a:pPr>
              <a:defRPr sz="4650" b="1">
                <a:solidFill>
                  <a:srgbClr val="0D182A"/>
                </a:solidFill>
                <a:latin typeface="Bahnschrift"/>
                <a:ea typeface="Bahnschrift"/>
                <a:cs typeface="Bahnschrift"/>
              </a:defRPr>
            </a:pPr>
            <a:r>
              <a:rPr dirty="0"/>
              <a:t>Inspect an individual read.</a:t>
            </a:r>
          </a:p>
        </p:txBody>
      </p:sp>
      <p:sp>
        <p:nvSpPr>
          <p:cNvPr id="3" name="Rectangle 2">
            <a:extLst>
              <a:ext uri="{FF2B5EF4-FFF2-40B4-BE49-F238E27FC236}">
                <a16:creationId xmlns:a16="http://schemas.microsoft.com/office/drawing/2014/main" id="{A68DF8BE-BD75-4B6B-AB27-C70A3377090C}"/>
              </a:ext>
            </a:extLst>
          </p:cNvPr>
          <p:cNvSpPr>
            <a:spLocks noGrp="1"/>
          </p:cNvSpPr>
          <p:nvPr/>
        </p:nvSpPr>
        <p:spPr>
          <a:xfrm>
            <a:off x="533400" y="6438900"/>
            <a:ext cx="9525000" cy="247650"/>
          </a:xfrm>
          <a:prstGeom prst="rect">
            <a:avLst/>
          </a:prstGeom>
        </p:spPr>
        <p:txBody>
          <a:bodyPr lIns="0" tIns="0" rIns="0" bIns="0" anchor="t"/>
          <a:lstStyle/>
          <a:p>
            <a:pPr>
              <a:defRPr sz="1350" b="0">
                <a:solidFill>
                  <a:srgbClr val="68717E"/>
                </a:solidFill>
                <a:latin typeface="Segoe UI"/>
                <a:ea typeface="Segoe UI"/>
                <a:cs typeface="Segoe UI"/>
              </a:defRPr>
            </a:pPr>
            <a:r>
              <a:t>TELOMERE ANALYZER</a:t>
            </a:r>
          </a:p>
        </p:txBody>
      </p:sp>
      <p:pic>
        <p:nvPicPr>
          <p:cNvPr id="16" name="Picture 15"/>
          <p:cNvPicPr>
            <a:picLocks noChangeAspect="1"/>
          </p:cNvPicPr>
          <p:nvPr/>
        </p:nvPicPr>
        <p:blipFill>
          <a:blip r:embed="rId3"/>
          <a:stretch/>
        </p:blipFill>
        <p:spPr>
          <a:xfrm>
            <a:off x="533400" y="2295525"/>
            <a:ext cx="7810500" cy="3124200"/>
          </a:xfrm>
          <a:prstGeom prst="rect">
            <a:avLst/>
          </a:prstGeom>
        </p:spPr>
      </p:pic>
      <p:sp>
        <p:nvSpPr>
          <p:cNvPr id="5" name="Rectangle 4">
            <a:extLst>
              <a:ext uri="{FF2B5EF4-FFF2-40B4-BE49-F238E27FC236}">
                <a16:creationId xmlns:a16="http://schemas.microsoft.com/office/drawing/2014/main" id="{ACFA86D1-CA76-4370-B329-877B6F1A5BDA}"/>
              </a:ext>
            </a:extLst>
          </p:cNvPr>
          <p:cNvSpPr>
            <a:spLocks noGrp="1"/>
          </p:cNvSpPr>
          <p:nvPr/>
        </p:nvSpPr>
        <p:spPr>
          <a:xfrm>
            <a:off x="8896350" y="2152650"/>
            <a:ext cx="2809875" cy="638175"/>
          </a:xfrm>
          <a:prstGeom prst="rect">
            <a:avLst/>
          </a:prstGeom>
        </p:spPr>
        <p:txBody>
          <a:bodyPr lIns="0" tIns="0" rIns="0" bIns="0" anchor="t"/>
          <a:lstStyle/>
          <a:p>
            <a:pPr>
              <a:defRPr sz="3225" b="1">
                <a:solidFill>
                  <a:srgbClr val="2860F5"/>
                </a:solidFill>
                <a:latin typeface="Bahnschrift"/>
                <a:ea typeface="Bahnschrift"/>
                <a:cs typeface="Bahnschrift"/>
              </a:defRPr>
            </a:pPr>
            <a:r>
              <a:t>35,551 bp</a:t>
            </a:r>
          </a:p>
        </p:txBody>
      </p:sp>
      <p:sp>
        <p:nvSpPr>
          <p:cNvPr id="6" name="Rectangle 5">
            <a:extLst>
              <a:ext uri="{FF2B5EF4-FFF2-40B4-BE49-F238E27FC236}">
                <a16:creationId xmlns:a16="http://schemas.microsoft.com/office/drawing/2014/main" id="{1FC18669-6CEF-458D-8B76-457A162A16A6}"/>
              </a:ext>
            </a:extLst>
          </p:cNvPr>
          <p:cNvSpPr>
            <a:spLocks noGrp="1"/>
          </p:cNvSpPr>
          <p:nvPr/>
        </p:nvSpPr>
        <p:spPr>
          <a:xfrm>
            <a:off x="8896350" y="2771775"/>
            <a:ext cx="2809875" cy="419100"/>
          </a:xfrm>
          <a:prstGeom prst="rect">
            <a:avLst/>
          </a:prstGeom>
        </p:spPr>
        <p:txBody>
          <a:bodyPr lIns="0" tIns="0" rIns="0" bIns="0" anchor="t"/>
          <a:lstStyle/>
          <a:p>
            <a:pPr>
              <a:defRPr sz="1875" b="0">
                <a:solidFill>
                  <a:srgbClr val="0D182A"/>
                </a:solidFill>
                <a:latin typeface="Segoe UI"/>
                <a:ea typeface="Segoe UI"/>
                <a:cs typeface="Segoe UI"/>
              </a:defRPr>
            </a:pPr>
            <a:r>
              <a:t>Read length</a:t>
            </a:r>
          </a:p>
        </p:txBody>
      </p:sp>
      <p:sp>
        <p:nvSpPr>
          <p:cNvPr id="7" name="Rectangle 6">
            <a:extLst>
              <a:ext uri="{FF2B5EF4-FFF2-40B4-BE49-F238E27FC236}">
                <a16:creationId xmlns:a16="http://schemas.microsoft.com/office/drawing/2014/main" id="{081B33DD-A359-4E3D-8E1C-1816873DC871}"/>
              </a:ext>
            </a:extLst>
          </p:cNvPr>
          <p:cNvSpPr>
            <a:spLocks noGrp="1"/>
          </p:cNvSpPr>
          <p:nvPr/>
        </p:nvSpPr>
        <p:spPr>
          <a:xfrm>
            <a:off x="8896350" y="3533775"/>
            <a:ext cx="2809875" cy="638175"/>
          </a:xfrm>
          <a:prstGeom prst="rect">
            <a:avLst/>
          </a:prstGeom>
        </p:spPr>
        <p:txBody>
          <a:bodyPr lIns="0" tIns="0" rIns="0" bIns="0" anchor="t"/>
          <a:lstStyle/>
          <a:p>
            <a:pPr>
              <a:defRPr sz="3225" b="1">
                <a:solidFill>
                  <a:srgbClr val="2860F5"/>
                </a:solidFill>
                <a:latin typeface="Bahnschrift"/>
                <a:ea typeface="Bahnschrift"/>
                <a:cs typeface="Bahnschrift"/>
              </a:defRPr>
            </a:pPr>
            <a:r>
              <a:t>6,326 bp</a:t>
            </a:r>
          </a:p>
        </p:txBody>
      </p:sp>
      <p:sp>
        <p:nvSpPr>
          <p:cNvPr id="8" name="Rectangle 7">
            <a:extLst>
              <a:ext uri="{FF2B5EF4-FFF2-40B4-BE49-F238E27FC236}">
                <a16:creationId xmlns:a16="http://schemas.microsoft.com/office/drawing/2014/main" id="{D9C94D47-1A5A-4566-A7C9-37D59C422F19}"/>
              </a:ext>
            </a:extLst>
          </p:cNvPr>
          <p:cNvSpPr>
            <a:spLocks noGrp="1"/>
          </p:cNvSpPr>
          <p:nvPr/>
        </p:nvSpPr>
        <p:spPr>
          <a:xfrm>
            <a:off x="8896350" y="4152900"/>
            <a:ext cx="2809875" cy="419100"/>
          </a:xfrm>
          <a:prstGeom prst="rect">
            <a:avLst/>
          </a:prstGeom>
        </p:spPr>
        <p:txBody>
          <a:bodyPr lIns="0" tIns="0" rIns="0" bIns="0" anchor="t"/>
          <a:lstStyle/>
          <a:p>
            <a:pPr>
              <a:defRPr sz="1875" b="0">
                <a:solidFill>
                  <a:srgbClr val="0D182A"/>
                </a:solidFill>
                <a:latin typeface="Segoe UI"/>
                <a:ea typeface="Segoe UI"/>
                <a:cs typeface="Segoe UI"/>
              </a:defRPr>
            </a:pPr>
            <a:r>
              <a:t>Telomere length</a:t>
            </a:r>
          </a:p>
        </p:txBody>
      </p:sp>
      <p:sp>
        <p:nvSpPr>
          <p:cNvPr id="9" name="Rectangle 8">
            <a:extLst>
              <a:ext uri="{FF2B5EF4-FFF2-40B4-BE49-F238E27FC236}">
                <a16:creationId xmlns:a16="http://schemas.microsoft.com/office/drawing/2014/main" id="{8AD00D34-86A7-42CD-9403-1BFAA3FE47AD}"/>
              </a:ext>
            </a:extLst>
          </p:cNvPr>
          <p:cNvSpPr>
            <a:spLocks noGrp="1"/>
          </p:cNvSpPr>
          <p:nvPr/>
        </p:nvSpPr>
        <p:spPr>
          <a:xfrm>
            <a:off x="8896350" y="4914900"/>
            <a:ext cx="2809875" cy="571500"/>
          </a:xfrm>
          <a:prstGeom prst="rect">
            <a:avLst/>
          </a:prstGeom>
        </p:spPr>
        <p:txBody>
          <a:bodyPr lIns="0" tIns="0" rIns="0" bIns="0" anchor="t"/>
          <a:lstStyle/>
          <a:p>
            <a:pPr>
              <a:defRPr sz="3225" b="1">
                <a:solidFill>
                  <a:srgbClr val="2860F5"/>
                </a:solidFill>
                <a:latin typeface="Bahnschrift"/>
                <a:ea typeface="Bahnschrift"/>
                <a:cs typeface="Bahnschrift"/>
              </a:defRPr>
            </a:pPr>
            <a:r>
              <a:t>0.933</a:t>
            </a:r>
          </a:p>
        </p:txBody>
      </p:sp>
      <p:sp>
        <p:nvSpPr>
          <p:cNvPr id="10" name="Rectangle 9">
            <a:extLst>
              <a:ext uri="{FF2B5EF4-FFF2-40B4-BE49-F238E27FC236}">
                <a16:creationId xmlns:a16="http://schemas.microsoft.com/office/drawing/2014/main" id="{5A5FED05-D860-4EE7-9203-A99FAE71CA25}"/>
              </a:ext>
            </a:extLst>
          </p:cNvPr>
          <p:cNvSpPr>
            <a:spLocks noGrp="1"/>
          </p:cNvSpPr>
          <p:nvPr/>
        </p:nvSpPr>
        <p:spPr>
          <a:xfrm>
            <a:off x="8896350" y="5514975"/>
            <a:ext cx="2809875" cy="609600"/>
          </a:xfrm>
          <a:prstGeom prst="rect">
            <a:avLst/>
          </a:prstGeom>
        </p:spPr>
        <p:txBody>
          <a:bodyPr lIns="0" tIns="0" rIns="0" bIns="0" anchor="t"/>
          <a:lstStyle/>
          <a:p>
            <a:pPr>
              <a:defRPr sz="1800" b="0">
                <a:solidFill>
                  <a:srgbClr val="0D182A"/>
                </a:solidFill>
                <a:latin typeface="Segoe UI"/>
                <a:ea typeface="Segoe UI"/>
                <a:cs typeface="Segoe UI"/>
              </a:defRPr>
            </a:pPr>
            <a:r>
              <a:t>Telomeric-repeat density</a:t>
            </a:r>
          </a:p>
        </p:txBody>
      </p:sp>
      <p:sp>
        <p:nvSpPr>
          <p:cNvPr id="11" name="Rectangle 10">
            <a:extLst>
              <a:ext uri="{FF2B5EF4-FFF2-40B4-BE49-F238E27FC236}">
                <a16:creationId xmlns:a16="http://schemas.microsoft.com/office/drawing/2014/main" id="{799C847A-D38E-4ED4-AECE-A9A4FA36942B}"/>
              </a:ext>
            </a:extLst>
          </p:cNvPr>
          <p:cNvSpPr>
            <a:spLocks noGrp="1"/>
          </p:cNvSpPr>
          <p:nvPr/>
        </p:nvSpPr>
        <p:spPr>
          <a:xfrm>
            <a:off x="533400" y="5734050"/>
            <a:ext cx="7810500" cy="504825"/>
          </a:xfrm>
          <a:prstGeom prst="rect">
            <a:avLst/>
          </a:prstGeom>
        </p:spPr>
        <p:txBody>
          <a:bodyPr lIns="0" tIns="0" rIns="0" bIns="0" anchor="t"/>
          <a:lstStyle/>
          <a:p>
            <a:pPr>
              <a:defRPr sz="2025" b="1">
                <a:solidFill>
                  <a:srgbClr val="0D182A"/>
                </a:solidFill>
                <a:latin typeface="Bahnschrift"/>
                <a:ea typeface="Bahnschrift"/>
                <a:cs typeface="Bahnschrift"/>
              </a:defRPr>
            </a:pPr>
            <a:r>
              <a:rPr dirty="0"/>
              <a:t>JPEG plot + FASTA.GZ sequence + a row in the CSV</a:t>
            </a:r>
          </a:p>
        </p:txBody>
      </p:sp>
      <p:sp>
        <p:nvSpPr>
          <p:cNvPr id="12" name="Rectangle 11">
            <a:extLst>
              <a:ext uri="{FF2B5EF4-FFF2-40B4-BE49-F238E27FC236}">
                <a16:creationId xmlns:a16="http://schemas.microsoft.com/office/drawing/2014/main" id="{5BCA310A-EE47-445C-B9E8-71DCBEAD3EB3}"/>
              </a:ext>
            </a:extLst>
          </p:cNvPr>
          <p:cNvSpPr>
            <a:spLocks noGrp="1"/>
          </p:cNvSpPr>
          <p:nvPr/>
        </p:nvSpPr>
        <p:spPr>
          <a:xfrm>
            <a:off x="11239500" y="6438900"/>
            <a:ext cx="571500" cy="247650"/>
          </a:xfrm>
          <a:prstGeom prst="rect">
            <a:avLst/>
          </a:prstGeom>
        </p:spPr>
        <p:txBody>
          <a:bodyPr lIns="0" tIns="0" rIns="0" bIns="0" anchor="t"/>
          <a:lstStyle/>
          <a:p>
            <a:pPr>
              <a:defRPr sz="1350" b="0">
                <a:solidFill>
                  <a:srgbClr val="68717E"/>
                </a:solidFill>
                <a:latin typeface="Segoe UI"/>
                <a:ea typeface="Segoe UI"/>
                <a:cs typeface="Segoe UI"/>
              </a:defRPr>
            </a:pPr>
            <a:r>
              <a:t>16</a:t>
            </a:r>
          </a:p>
        </p:txBody>
      </p:sp>
    </p:spTree>
    <p:extLst>
      <p:ext uri="{BB962C8B-B14F-4D97-AF65-F5344CB8AC3E}">
        <p14:creationId xmlns:p14="http://schemas.microsoft.com/office/powerpoint/2010/main" val="16902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189D15-88D3-4CFC-B58C-98B945711D5A}"/>
              </a:ext>
            </a:extLst>
          </p:cNvPr>
          <p:cNvSpPr>
            <a:spLocks noGrp="1"/>
          </p:cNvSpPr>
          <p:nvPr/>
        </p:nvSpPr>
        <p:spPr>
          <a:xfrm>
            <a:off x="533400" y="285750"/>
            <a:ext cx="10477500" cy="304800"/>
          </a:xfrm>
          <a:prstGeom prst="rect">
            <a:avLst/>
          </a:prstGeom>
        </p:spPr>
        <p:txBody>
          <a:bodyPr lIns="0" tIns="0" rIns="0" bIns="0" anchor="t"/>
          <a:lstStyle/>
          <a:p>
            <a:pPr>
              <a:defRPr sz="1650" b="1">
                <a:solidFill>
                  <a:srgbClr val="B5F4DE"/>
                </a:solidFill>
                <a:latin typeface="Bahnschrift"/>
                <a:ea typeface="Bahnschrift"/>
                <a:cs typeface="Bahnschrift"/>
              </a:defRPr>
            </a:pPr>
            <a:r>
              <a:t>OUTPUT FORMATS</a:t>
            </a:r>
          </a:p>
        </p:txBody>
      </p:sp>
      <p:sp>
        <p:nvSpPr>
          <p:cNvPr id="2" name="Rectangle 1">
            <a:extLst>
              <a:ext uri="{FF2B5EF4-FFF2-40B4-BE49-F238E27FC236}">
                <a16:creationId xmlns:a16="http://schemas.microsoft.com/office/drawing/2014/main" id="{F50DDB1F-4A86-4C0E-843F-5FB08D7B718C}"/>
              </a:ext>
            </a:extLst>
          </p:cNvPr>
          <p:cNvSpPr>
            <a:spLocks noGrp="1"/>
          </p:cNvSpPr>
          <p:nvPr/>
        </p:nvSpPr>
        <p:spPr>
          <a:xfrm>
            <a:off x="533400" y="838200"/>
            <a:ext cx="11125200" cy="857250"/>
          </a:xfrm>
          <a:prstGeom prst="rect">
            <a:avLst/>
          </a:prstGeom>
        </p:spPr>
        <p:txBody>
          <a:bodyPr lIns="0" tIns="0" rIns="0" bIns="0" anchor="t"/>
          <a:lstStyle/>
          <a:p>
            <a:pPr>
              <a:defRPr sz="4650" b="1">
                <a:solidFill>
                  <a:srgbClr val="FFFFFF"/>
                </a:solidFill>
                <a:latin typeface="Bahnschrift"/>
                <a:ea typeface="Bahnschrift"/>
                <a:cs typeface="Bahnschrift"/>
              </a:defRPr>
            </a:pPr>
            <a:r>
              <a:t>Files you can work with.</a:t>
            </a:r>
          </a:p>
        </p:txBody>
      </p:sp>
      <p:sp>
        <p:nvSpPr>
          <p:cNvPr id="3" name="Rectangle 2">
            <a:extLst>
              <a:ext uri="{FF2B5EF4-FFF2-40B4-BE49-F238E27FC236}">
                <a16:creationId xmlns:a16="http://schemas.microsoft.com/office/drawing/2014/main" id="{CD15755B-76E9-4BDD-AFC0-0D07807D02F4}"/>
              </a:ext>
            </a:extLst>
          </p:cNvPr>
          <p:cNvSpPr>
            <a:spLocks noGrp="1"/>
          </p:cNvSpPr>
          <p:nvPr/>
        </p:nvSpPr>
        <p:spPr>
          <a:xfrm>
            <a:off x="533400" y="6438900"/>
            <a:ext cx="9525000" cy="247650"/>
          </a:xfrm>
          <a:prstGeom prst="rect">
            <a:avLst/>
          </a:prstGeom>
        </p:spPr>
        <p:txBody>
          <a:bodyPr lIns="0" tIns="0" rIns="0" bIns="0" anchor="t"/>
          <a:lstStyle/>
          <a:p>
            <a:pPr>
              <a:defRPr sz="1350" b="0">
                <a:solidFill>
                  <a:srgbClr val="A9B9CF"/>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96587527-1080-4BFE-924C-D698A298AC85}"/>
              </a:ext>
            </a:extLst>
          </p:cNvPr>
          <p:cNvSpPr>
            <a:spLocks noGrp="1"/>
          </p:cNvSpPr>
          <p:nvPr/>
        </p:nvSpPr>
        <p:spPr>
          <a:xfrm>
            <a:off x="533400" y="2066925"/>
            <a:ext cx="5238750" cy="419100"/>
          </a:xfrm>
          <a:prstGeom prst="rect">
            <a:avLst/>
          </a:prstGeom>
        </p:spPr>
        <p:txBody>
          <a:bodyPr lIns="0" tIns="0" rIns="0" bIns="0" anchor="t"/>
          <a:lstStyle/>
          <a:p>
            <a:pPr>
              <a:defRPr sz="2025" b="1">
                <a:solidFill>
                  <a:srgbClr val="B5F4DE"/>
                </a:solidFill>
                <a:latin typeface="Bahnschrift"/>
                <a:ea typeface="Bahnschrift"/>
                <a:cs typeface="Bahnschrift"/>
              </a:defRPr>
            </a:pPr>
            <a:r>
              <a:t>SUMMARY ONLY</a:t>
            </a:r>
          </a:p>
        </p:txBody>
      </p:sp>
      <p:sp>
        <p:nvSpPr>
          <p:cNvPr id="5" name="Rectangle 4">
            <a:extLst>
              <a:ext uri="{FF2B5EF4-FFF2-40B4-BE49-F238E27FC236}">
                <a16:creationId xmlns:a16="http://schemas.microsoft.com/office/drawing/2014/main" id="{3178708E-DF32-4A04-9ED3-AC8F0A34B036}"/>
              </a:ext>
            </a:extLst>
          </p:cNvPr>
          <p:cNvSpPr>
            <a:spLocks noGrp="1"/>
          </p:cNvSpPr>
          <p:nvPr/>
        </p:nvSpPr>
        <p:spPr>
          <a:xfrm>
            <a:off x="6477000" y="2066925"/>
            <a:ext cx="5181600" cy="419100"/>
          </a:xfrm>
          <a:prstGeom prst="rect">
            <a:avLst/>
          </a:prstGeom>
        </p:spPr>
        <p:txBody>
          <a:bodyPr lIns="0" tIns="0" rIns="0" bIns="0" anchor="t"/>
          <a:lstStyle/>
          <a:p>
            <a:pPr>
              <a:defRPr sz="2025" b="1">
                <a:solidFill>
                  <a:srgbClr val="B5F4DE"/>
                </a:solidFill>
                <a:latin typeface="Bahnschrift"/>
                <a:ea typeface="Bahnschrift"/>
                <a:cs typeface="Bahnschrift"/>
              </a:defRPr>
            </a:pPr>
            <a:r>
              <a:t>FULL NANOTEL OUTPUT</a:t>
            </a:r>
          </a:p>
        </p:txBody>
      </p:sp>
      <p:sp>
        <p:nvSpPr>
          <p:cNvPr id="6" name="Rectangle 5">
            <a:extLst>
              <a:ext uri="{FF2B5EF4-FFF2-40B4-BE49-F238E27FC236}">
                <a16:creationId xmlns:a16="http://schemas.microsoft.com/office/drawing/2014/main" id="{C788DF8D-7213-46D5-B18B-FE114702EC55}"/>
              </a:ext>
            </a:extLst>
          </p:cNvPr>
          <p:cNvSpPr>
            <a:spLocks noGrp="1"/>
          </p:cNvSpPr>
          <p:nvPr/>
        </p:nvSpPr>
        <p:spPr>
          <a:xfrm>
            <a:off x="533400" y="2705100"/>
            <a:ext cx="5238750" cy="504825"/>
          </a:xfrm>
          <a:prstGeom prst="rect">
            <a:avLst/>
          </a:prstGeom>
        </p:spPr>
        <p:txBody>
          <a:bodyPr lIns="0" tIns="0" rIns="0" bIns="0" anchor="t"/>
          <a:lstStyle/>
          <a:p>
            <a:pPr>
              <a:defRPr sz="2550" b="1">
                <a:solidFill>
                  <a:srgbClr val="FFFFFF"/>
                </a:solidFill>
                <a:latin typeface="Bahnschrift"/>
                <a:ea typeface="Bahnschrift"/>
                <a:cs typeface="Bahnschrift"/>
              </a:defRPr>
            </a:pPr>
            <a:r>
              <a:t>Excel workbook  .xlsx</a:t>
            </a:r>
          </a:p>
        </p:txBody>
      </p:sp>
      <p:sp>
        <p:nvSpPr>
          <p:cNvPr id="7" name="Rectangle 6">
            <a:extLst>
              <a:ext uri="{FF2B5EF4-FFF2-40B4-BE49-F238E27FC236}">
                <a16:creationId xmlns:a16="http://schemas.microsoft.com/office/drawing/2014/main" id="{AD81B7F3-F7BA-4CA4-89A7-E1E26B7B2CB2}"/>
              </a:ext>
            </a:extLst>
          </p:cNvPr>
          <p:cNvSpPr>
            <a:spLocks noGrp="1"/>
          </p:cNvSpPr>
          <p:nvPr/>
        </p:nvSpPr>
        <p:spPr>
          <a:xfrm>
            <a:off x="533400" y="3305175"/>
            <a:ext cx="5238750" cy="409575"/>
          </a:xfrm>
          <a:prstGeom prst="rect">
            <a:avLst/>
          </a:prstGeom>
        </p:spPr>
        <p:txBody>
          <a:bodyPr lIns="0" tIns="0" rIns="0" bIns="0" anchor="t"/>
          <a:lstStyle/>
          <a:p>
            <a:pPr>
              <a:defRPr sz="2100" b="0">
                <a:solidFill>
                  <a:srgbClr val="FFFFFF"/>
                </a:solidFill>
                <a:latin typeface="Segoe UI"/>
                <a:ea typeface="Segoe UI"/>
                <a:cs typeface="Segoe UI"/>
              </a:defRPr>
            </a:pPr>
            <a:r>
              <a:t>nanotel_summary.xlsx</a:t>
            </a:r>
          </a:p>
        </p:txBody>
      </p:sp>
      <p:sp>
        <p:nvSpPr>
          <p:cNvPr id="8" name="Rectangle 7">
            <a:extLst>
              <a:ext uri="{FF2B5EF4-FFF2-40B4-BE49-F238E27FC236}">
                <a16:creationId xmlns:a16="http://schemas.microsoft.com/office/drawing/2014/main" id="{0305F564-4652-462C-AE71-B36AD6B23546}"/>
              </a:ext>
            </a:extLst>
          </p:cNvPr>
          <p:cNvSpPr>
            <a:spLocks noGrp="1"/>
          </p:cNvSpPr>
          <p:nvPr/>
        </p:nvSpPr>
        <p:spPr>
          <a:xfrm>
            <a:off x="533400" y="3943350"/>
            <a:ext cx="5238750" cy="1552575"/>
          </a:xfrm>
          <a:prstGeom prst="rect">
            <a:avLst/>
          </a:prstGeom>
        </p:spPr>
        <p:txBody>
          <a:bodyPr lIns="0" tIns="0" rIns="0" bIns="0" anchor="t"/>
          <a:lstStyle/>
          <a:p>
            <a:pPr>
              <a:defRPr sz="1875" b="0">
                <a:solidFill>
                  <a:srgbClr val="D5DFEB"/>
                </a:solidFill>
                <a:latin typeface="Segoe UI"/>
                <a:ea typeface="Segoe UI"/>
                <a:cs typeface="Segoe UI"/>
              </a:defRPr>
            </a:pPr>
            <a:r>
              <a:t>nanotel_summary</a:t>
            </a:r>
          </a:p>
          <a:p>
            <a:pPr>
              <a:defRPr sz="1875" b="0">
                <a:solidFill>
                  <a:srgbClr val="D5DFEB"/>
                </a:solidFill>
                <a:latin typeface="Segoe UI"/>
                <a:ea typeface="Segoe UI"/>
                <a:cs typeface="Segoe UI"/>
              </a:defRPr>
            </a:pPr>
            <a:r>
              <a:t>barcode02 / barcode19</a:t>
            </a:r>
          </a:p>
          <a:p>
            <a:pPr>
              <a:defRPr sz="1875" b="0">
                <a:solidFill>
                  <a:srgbClr val="D5DFEB"/>
                </a:solidFill>
                <a:latin typeface="Segoe UI"/>
                <a:ea typeface="Segoe UI"/>
                <a:cs typeface="Segoe UI"/>
              </a:defRPr>
            </a:pPr>
            <a:r>
              <a:t>filtered_barcode02 / filtered_barcode19</a:t>
            </a:r>
          </a:p>
        </p:txBody>
      </p:sp>
      <p:sp>
        <p:nvSpPr>
          <p:cNvPr id="9" name="Rectangle 8">
            <a:extLst>
              <a:ext uri="{FF2B5EF4-FFF2-40B4-BE49-F238E27FC236}">
                <a16:creationId xmlns:a16="http://schemas.microsoft.com/office/drawing/2014/main" id="{C32AB7EE-9CC1-4E9C-9265-183D94B595D0}"/>
              </a:ext>
            </a:extLst>
          </p:cNvPr>
          <p:cNvSpPr>
            <a:spLocks noGrp="1"/>
          </p:cNvSpPr>
          <p:nvPr/>
        </p:nvSpPr>
        <p:spPr>
          <a:xfrm>
            <a:off x="6477000" y="2705100"/>
            <a:ext cx="1333500" cy="476250"/>
          </a:xfrm>
          <a:prstGeom prst="rect">
            <a:avLst/>
          </a:prstGeom>
        </p:spPr>
        <p:txBody>
          <a:bodyPr lIns="0" tIns="0" rIns="0" bIns="0" anchor="t"/>
          <a:lstStyle/>
          <a:p>
            <a:pPr>
              <a:defRPr sz="2475" b="1">
                <a:solidFill>
                  <a:srgbClr val="FFFFFF"/>
                </a:solidFill>
                <a:latin typeface="Bahnschrift"/>
                <a:ea typeface="Bahnschrift"/>
                <a:cs typeface="Bahnschrift"/>
              </a:defRPr>
            </a:pPr>
            <a:r>
              <a:t>CSV</a:t>
            </a:r>
          </a:p>
        </p:txBody>
      </p:sp>
      <p:sp>
        <p:nvSpPr>
          <p:cNvPr id="10" name="Rectangle 9">
            <a:extLst>
              <a:ext uri="{FF2B5EF4-FFF2-40B4-BE49-F238E27FC236}">
                <a16:creationId xmlns:a16="http://schemas.microsoft.com/office/drawing/2014/main" id="{C772227B-1A92-440E-84EF-2E2268E8B78E}"/>
              </a:ext>
            </a:extLst>
          </p:cNvPr>
          <p:cNvSpPr>
            <a:spLocks noGrp="1"/>
          </p:cNvSpPr>
          <p:nvPr/>
        </p:nvSpPr>
        <p:spPr>
          <a:xfrm>
            <a:off x="7962900" y="2714625"/>
            <a:ext cx="3695700" cy="723900"/>
          </a:xfrm>
          <a:prstGeom prst="rect">
            <a:avLst/>
          </a:prstGeom>
        </p:spPr>
        <p:txBody>
          <a:bodyPr lIns="0" tIns="0" rIns="0" bIns="0" anchor="t"/>
          <a:lstStyle/>
          <a:p>
            <a:pPr>
              <a:defRPr sz="2025" b="0">
                <a:solidFill>
                  <a:srgbClr val="FFFFFF"/>
                </a:solidFill>
                <a:latin typeface="Segoe UI"/>
                <a:ea typeface="Segoe UI"/>
                <a:cs typeface="Segoe UI"/>
              </a:defRPr>
            </a:pPr>
            <a:r>
              <a:t>Summary and read-level tables</a:t>
            </a:r>
          </a:p>
        </p:txBody>
      </p:sp>
      <p:sp>
        <p:nvSpPr>
          <p:cNvPr id="11" name="Rectangle 10">
            <a:extLst>
              <a:ext uri="{FF2B5EF4-FFF2-40B4-BE49-F238E27FC236}">
                <a16:creationId xmlns:a16="http://schemas.microsoft.com/office/drawing/2014/main" id="{A024E701-5210-45DC-B9E2-95B118A07191}"/>
              </a:ext>
            </a:extLst>
          </p:cNvPr>
          <p:cNvSpPr>
            <a:spLocks noGrp="1"/>
          </p:cNvSpPr>
          <p:nvPr/>
        </p:nvSpPr>
        <p:spPr>
          <a:xfrm>
            <a:off x="6477000" y="3676650"/>
            <a:ext cx="1333500" cy="476250"/>
          </a:xfrm>
          <a:prstGeom prst="rect">
            <a:avLst/>
          </a:prstGeom>
        </p:spPr>
        <p:txBody>
          <a:bodyPr lIns="0" tIns="0" rIns="0" bIns="0" anchor="t"/>
          <a:lstStyle/>
          <a:p>
            <a:pPr>
              <a:defRPr sz="2475" b="1">
                <a:solidFill>
                  <a:srgbClr val="FFFFFF"/>
                </a:solidFill>
                <a:latin typeface="Bahnschrift"/>
                <a:ea typeface="Bahnschrift"/>
                <a:cs typeface="Bahnschrift"/>
              </a:defRPr>
            </a:pPr>
            <a:r>
              <a:t>JPEG</a:t>
            </a:r>
          </a:p>
        </p:txBody>
      </p:sp>
      <p:sp>
        <p:nvSpPr>
          <p:cNvPr id="12" name="Rectangle 11">
            <a:extLst>
              <a:ext uri="{FF2B5EF4-FFF2-40B4-BE49-F238E27FC236}">
                <a16:creationId xmlns:a16="http://schemas.microsoft.com/office/drawing/2014/main" id="{76F45EE1-29CB-40C9-AAC1-2BEDD0E9F303}"/>
              </a:ext>
            </a:extLst>
          </p:cNvPr>
          <p:cNvSpPr>
            <a:spLocks noGrp="1"/>
          </p:cNvSpPr>
          <p:nvPr/>
        </p:nvSpPr>
        <p:spPr>
          <a:xfrm>
            <a:off x="7962900" y="3686175"/>
            <a:ext cx="3695700" cy="723900"/>
          </a:xfrm>
          <a:prstGeom prst="rect">
            <a:avLst/>
          </a:prstGeom>
        </p:spPr>
        <p:txBody>
          <a:bodyPr lIns="0" tIns="0" rIns="0" bIns="0" anchor="t"/>
          <a:lstStyle/>
          <a:p>
            <a:pPr>
              <a:defRPr sz="2025" b="0">
                <a:solidFill>
                  <a:srgbClr val="FFFFFF"/>
                </a:solidFill>
                <a:latin typeface="Segoe UI"/>
                <a:ea typeface="Segoe UI"/>
                <a:cs typeface="Segoe UI"/>
              </a:defRPr>
            </a:pPr>
            <a:r>
              <a:t>Individual-read plots</a:t>
            </a:r>
          </a:p>
        </p:txBody>
      </p:sp>
      <p:sp>
        <p:nvSpPr>
          <p:cNvPr id="13" name="Rectangle 12">
            <a:extLst>
              <a:ext uri="{FF2B5EF4-FFF2-40B4-BE49-F238E27FC236}">
                <a16:creationId xmlns:a16="http://schemas.microsoft.com/office/drawing/2014/main" id="{64DE7480-1EA2-40AA-838E-08B51A8EB342}"/>
              </a:ext>
            </a:extLst>
          </p:cNvPr>
          <p:cNvSpPr>
            <a:spLocks noGrp="1"/>
          </p:cNvSpPr>
          <p:nvPr/>
        </p:nvSpPr>
        <p:spPr>
          <a:xfrm>
            <a:off x="6477000" y="4648200"/>
            <a:ext cx="1476375" cy="476250"/>
          </a:xfrm>
          <a:prstGeom prst="rect">
            <a:avLst/>
          </a:prstGeom>
        </p:spPr>
        <p:txBody>
          <a:bodyPr lIns="0" tIns="0" rIns="0" bIns="0" anchor="t"/>
          <a:lstStyle/>
          <a:p>
            <a:pPr>
              <a:defRPr sz="2325" b="1">
                <a:solidFill>
                  <a:srgbClr val="FFFFFF"/>
                </a:solidFill>
                <a:latin typeface="Bahnschrift"/>
                <a:ea typeface="Bahnschrift"/>
                <a:cs typeface="Bahnschrift"/>
              </a:defRPr>
            </a:pPr>
            <a:r>
              <a:t>FASTA.GZ</a:t>
            </a:r>
          </a:p>
        </p:txBody>
      </p:sp>
      <p:sp>
        <p:nvSpPr>
          <p:cNvPr id="14" name="Rectangle 13">
            <a:extLst>
              <a:ext uri="{FF2B5EF4-FFF2-40B4-BE49-F238E27FC236}">
                <a16:creationId xmlns:a16="http://schemas.microsoft.com/office/drawing/2014/main" id="{E8D2565B-BF12-47DD-BD82-8B3FE07DB132}"/>
              </a:ext>
            </a:extLst>
          </p:cNvPr>
          <p:cNvSpPr>
            <a:spLocks noGrp="1"/>
          </p:cNvSpPr>
          <p:nvPr/>
        </p:nvSpPr>
        <p:spPr>
          <a:xfrm>
            <a:off x="8096250" y="4657725"/>
            <a:ext cx="3562350" cy="723900"/>
          </a:xfrm>
          <a:prstGeom prst="rect">
            <a:avLst/>
          </a:prstGeom>
        </p:spPr>
        <p:txBody>
          <a:bodyPr lIns="0" tIns="0" rIns="0" bIns="0" anchor="t"/>
          <a:lstStyle/>
          <a:p>
            <a:pPr>
              <a:defRPr sz="2025" b="0">
                <a:solidFill>
                  <a:srgbClr val="FFFFFF"/>
                </a:solidFill>
                <a:latin typeface="Segoe UI"/>
                <a:ea typeface="Segoe UI"/>
                <a:cs typeface="Segoe UI"/>
              </a:defRPr>
            </a:pPr>
            <a:r>
              <a:t>Compressed read sequences</a:t>
            </a:r>
          </a:p>
        </p:txBody>
      </p:sp>
      <p:sp>
        <p:nvSpPr>
          <p:cNvPr id="15" name="Rectangle 14">
            <a:extLst>
              <a:ext uri="{FF2B5EF4-FFF2-40B4-BE49-F238E27FC236}">
                <a16:creationId xmlns:a16="http://schemas.microsoft.com/office/drawing/2014/main" id="{5D679C1A-76AF-4ADB-BFB7-A0EA6361BF90}"/>
              </a:ext>
            </a:extLst>
          </p:cNvPr>
          <p:cNvSpPr>
            <a:spLocks noGrp="1"/>
          </p:cNvSpPr>
          <p:nvPr/>
        </p:nvSpPr>
        <p:spPr>
          <a:xfrm>
            <a:off x="533400" y="5857875"/>
            <a:ext cx="11125200" cy="419100"/>
          </a:xfrm>
          <a:prstGeom prst="rect">
            <a:avLst/>
          </a:prstGeom>
        </p:spPr>
        <p:txBody>
          <a:bodyPr lIns="0" tIns="0" rIns="0" bIns="0" anchor="t"/>
          <a:lstStyle/>
          <a:p>
            <a:pPr>
              <a:defRPr sz="2025" b="0">
                <a:solidFill>
                  <a:srgbClr val="A9B9CF"/>
                </a:solidFill>
                <a:latin typeface="Segoe UI"/>
                <a:ea typeface="Segoe UI"/>
                <a:cs typeface="Segoe UI"/>
              </a:defRPr>
            </a:pPr>
            <a:r>
              <a:t>Run records: TXT reports and JSON analysis settings.</a:t>
            </a:r>
          </a:p>
        </p:txBody>
      </p:sp>
      <p:sp>
        <p:nvSpPr>
          <p:cNvPr id="16" name="Rectangle 15">
            <a:extLst>
              <a:ext uri="{FF2B5EF4-FFF2-40B4-BE49-F238E27FC236}">
                <a16:creationId xmlns:a16="http://schemas.microsoft.com/office/drawing/2014/main" id="{3BE32143-FF55-464F-B325-941B24542195}"/>
              </a:ext>
            </a:extLst>
          </p:cNvPr>
          <p:cNvSpPr>
            <a:spLocks noGrp="1"/>
          </p:cNvSpPr>
          <p:nvPr/>
        </p:nvSpPr>
        <p:spPr>
          <a:xfrm>
            <a:off x="11239500" y="6438900"/>
            <a:ext cx="571500" cy="247650"/>
          </a:xfrm>
          <a:prstGeom prst="rect">
            <a:avLst/>
          </a:prstGeom>
        </p:spPr>
        <p:txBody>
          <a:bodyPr lIns="0" tIns="0" rIns="0" bIns="0" anchor="t"/>
          <a:lstStyle/>
          <a:p>
            <a:pPr>
              <a:defRPr sz="1350" b="0">
                <a:solidFill>
                  <a:srgbClr val="A9B9CF"/>
                </a:solidFill>
                <a:latin typeface="Segoe UI"/>
                <a:ea typeface="Segoe UI"/>
                <a:cs typeface="Segoe UI"/>
              </a:defRPr>
            </a:pPr>
            <a:r>
              <a:t>17</a:t>
            </a:r>
          </a:p>
        </p:txBody>
      </p:sp>
    </p:spTree>
    <p:extLst>
      <p:ext uri="{BB962C8B-B14F-4D97-AF65-F5344CB8AC3E}">
        <p14:creationId xmlns:p14="http://schemas.microsoft.com/office/powerpoint/2010/main" val="65932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19">
            <a:extLst>
              <a:ext uri="{FF2B5EF4-FFF2-40B4-BE49-F238E27FC236}">
                <a16:creationId xmlns:a16="http://schemas.microsoft.com/office/drawing/2014/main" id="{7E2FDAF2-3CE2-4C9C-8A03-780C7B75222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LIVE DEMO</a:t>
            </a:r>
          </a:p>
        </p:txBody>
      </p:sp>
      <p:sp>
        <p:nvSpPr>
          <p:cNvPr id="2" name="text-120">
            <a:extLst>
              <a:ext uri="{FF2B5EF4-FFF2-40B4-BE49-F238E27FC236}">
                <a16:creationId xmlns:a16="http://schemas.microsoft.com/office/drawing/2014/main" id="{5C26D8A1-1756-49C0-AEC3-980AAB58841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121">
            <a:extLst>
              <a:ext uri="{FF2B5EF4-FFF2-40B4-BE49-F238E27FC236}">
                <a16:creationId xmlns:a16="http://schemas.microsoft.com/office/drawing/2014/main" id="{E169E8D5-A549-423F-A3C9-D3EA2BACBA33}"/>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18</a:t>
            </a:r>
          </a:p>
        </p:txBody>
      </p:sp>
      <p:sp>
        <p:nvSpPr>
          <p:cNvPr id="4" name="text-122">
            <a:extLst>
              <a:ext uri="{FF2B5EF4-FFF2-40B4-BE49-F238E27FC236}">
                <a16:creationId xmlns:a16="http://schemas.microsoft.com/office/drawing/2014/main" id="{1DE63249-A9D9-4EE6-861D-BAE604015022}"/>
              </a:ext>
            </a:extLst>
          </p:cNvPr>
          <p:cNvSpPr>
            <a:spLocks noGrp="1"/>
          </p:cNvSpPr>
          <p:nvPr/>
        </p:nvSpPr>
        <p:spPr>
          <a:xfrm>
            <a:off x="533400" y="2124075"/>
            <a:ext cx="11125200" cy="1533525"/>
          </a:xfrm>
          <a:prstGeom prst="rect">
            <a:avLst/>
          </a:prstGeom>
        </p:spPr>
        <p:txBody>
          <a:bodyPr lIns="0" tIns="0" rIns="0" bIns="0" anchor="t"/>
          <a:lstStyle/>
          <a:p>
            <a:pPr>
              <a:buNone/>
              <a:defRPr sz="8700" b="1">
                <a:solidFill>
                  <a:srgbClr val="B5F4DE"/>
                </a:solidFill>
                <a:latin typeface="Segoe UI"/>
                <a:ea typeface="Segoe UI"/>
                <a:cs typeface="Segoe UI"/>
              </a:defRPr>
            </a:pPr>
            <a:r>
              <a:t>Let’s do it.</a:t>
            </a:r>
          </a:p>
        </p:txBody>
      </p:sp>
      <p:sp>
        <p:nvSpPr>
          <p:cNvPr id="5" name="text-123">
            <a:extLst>
              <a:ext uri="{FF2B5EF4-FFF2-40B4-BE49-F238E27FC236}">
                <a16:creationId xmlns:a16="http://schemas.microsoft.com/office/drawing/2014/main" id="{DC075878-00E4-43D2-A875-6FD1158C47E0}"/>
              </a:ext>
            </a:extLst>
          </p:cNvPr>
          <p:cNvSpPr>
            <a:spLocks noGrp="1"/>
          </p:cNvSpPr>
          <p:nvPr/>
        </p:nvSpPr>
        <p:spPr>
          <a:xfrm>
            <a:off x="533400" y="4133850"/>
            <a:ext cx="10477500" cy="1285875"/>
          </a:xfrm>
          <a:prstGeom prst="rect">
            <a:avLst/>
          </a:prstGeom>
        </p:spPr>
        <p:txBody>
          <a:bodyPr lIns="0" tIns="0" rIns="0" bIns="0" anchor="t"/>
          <a:lstStyle/>
          <a:p>
            <a:pPr>
              <a:buNone/>
              <a:defRPr sz="3525" b="0">
                <a:solidFill>
                  <a:srgbClr val="FFFFFF"/>
                </a:solidFill>
                <a:latin typeface="Segoe UI"/>
                <a:ea typeface="Segoe UI"/>
                <a:cs typeface="Segoe UI"/>
              </a:defRPr>
            </a:pPr>
            <a:r>
              <a:t>Choose data. Configure. Run. Open the results.</a:t>
            </a:r>
          </a:p>
        </p:txBody>
      </p:sp>
      <p:sp>
        <p:nvSpPr>
          <p:cNvPr id="6" name="text-124">
            <a:extLst>
              <a:ext uri="{FF2B5EF4-FFF2-40B4-BE49-F238E27FC236}">
                <a16:creationId xmlns:a16="http://schemas.microsoft.com/office/drawing/2014/main" id="{90D90E7F-323F-4FA7-A629-76789DCCF8C3}"/>
              </a:ext>
            </a:extLst>
          </p:cNvPr>
          <p:cNvSpPr>
            <a:spLocks noGrp="1"/>
          </p:cNvSpPr>
          <p:nvPr/>
        </p:nvSpPr>
        <p:spPr>
          <a:xfrm>
            <a:off x="533400" y="5695950"/>
            <a:ext cx="10477500" cy="428625"/>
          </a:xfrm>
          <a:prstGeom prst="rect">
            <a:avLst/>
          </a:prstGeom>
        </p:spPr>
        <p:txBody>
          <a:bodyPr lIns="0" tIns="0" rIns="0" bIns="0" anchor="t"/>
          <a:lstStyle/>
          <a:p>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2253</Words>
  <Application>Microsoft Office PowerPoint</Application>
  <DocSecurity>0</DocSecurity>
  <PresentationFormat>Widescreen</PresentationFormat>
  <Paragraphs>211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Bahnschrift</vt: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ענבר חבושה</cp:lastModifiedBy>
  <cp:revision>1</cp:revision>
  <dcterms:created xsi:type="dcterms:W3CDTF">2026-09-22T09:27:36Z</dcterms:created>
  <dcterms:modified xsi:type="dcterms:W3CDTF">2026-09-22T12:22:47Z</dcterms:modified>
</cp:coreProperties>
</file>