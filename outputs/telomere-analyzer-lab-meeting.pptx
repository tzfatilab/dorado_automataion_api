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bbbba9c26bb4aa8" /><Relationship Type="http://schemas.openxmlformats.org/officeDocument/2006/relationships/extended-properties" Target="/docProps/app.xml" Id="R80acc70a70f74d27" /><Relationship Type="http://schemas.openxmlformats.org/officeDocument/2006/relationships/officeDocument" Target="/ppt/presentation.xml" Id="R9083518e163a43a9" /></Relationships>
</file>

<file path=ppt/presentation.xml><?xml version="1.0" encoding="utf-8"?>
<p:presentation xmlns:p="http://schemas.openxmlformats.org/presentationml/2006/main">
  <p:sldMasterIdLst>
    <p:sldMasterId xmlns:r="http://schemas.openxmlformats.org/officeDocument/2006/relationships" id="2147483648" r:id="R097ac2af87c64113"/>
  </p:sldMasterIdLst>
  <p:notesMasterIdLst>
    <p:notesMasterId xmlns:r="http://schemas.openxmlformats.org/officeDocument/2006/relationships" r:id="Rc59878a972cc4195"/>
  </p:notesMasterIdLst>
  <p:sldIdLst>
    <p:sldId xmlns:r="http://schemas.openxmlformats.org/officeDocument/2006/relationships" id="256" r:id="R8ac66eba649847ca"/>
    <p:sldId xmlns:r="http://schemas.openxmlformats.org/officeDocument/2006/relationships" id="257" r:id="Rf14c97904e1e4a87"/>
    <p:sldId xmlns:r="http://schemas.openxmlformats.org/officeDocument/2006/relationships" id="258" r:id="R400c2dedb620463b"/>
    <p:sldId xmlns:r="http://schemas.openxmlformats.org/officeDocument/2006/relationships" id="259" r:id="Re895661dbfc94223"/>
    <p:sldId xmlns:r="http://schemas.openxmlformats.org/officeDocument/2006/relationships" id="260" r:id="R1e18b457b91749b9"/>
    <p:sldId xmlns:r="http://schemas.openxmlformats.org/officeDocument/2006/relationships" id="261" r:id="Rc76406642acc43cc"/>
    <p:sldId xmlns:r="http://schemas.openxmlformats.org/officeDocument/2006/relationships" id="262" r:id="R4015210392904a5f"/>
    <p:sldId xmlns:r="http://schemas.openxmlformats.org/officeDocument/2006/relationships" id="263" r:id="R5d1feca061094446"/>
    <p:sldId xmlns:r="http://schemas.openxmlformats.org/officeDocument/2006/relationships" id="264" r:id="R884becd3cfe2487c"/>
    <p:sldId xmlns:r="http://schemas.openxmlformats.org/officeDocument/2006/relationships" id="265" r:id="Rbd618176ea394cd7"/>
    <p:sldId xmlns:r="http://schemas.openxmlformats.org/officeDocument/2006/relationships" id="266" r:id="R78f4c29f860e4faa"/>
    <p:sldId xmlns:r="http://schemas.openxmlformats.org/officeDocument/2006/relationships" id="267" r:id="R26fb6a18b9f44ec5"/>
    <p:sldId xmlns:r="http://schemas.openxmlformats.org/officeDocument/2006/relationships" id="268" r:id="Rdc4b72cffec340c0"/>
    <p:sldId xmlns:r="http://schemas.openxmlformats.org/officeDocument/2006/relationships" id="269" r:id="R85270174fa134f45"/>
    <p:sldId xmlns:r="http://schemas.openxmlformats.org/officeDocument/2006/relationships" id="270" r:id="R0aac5a83d1b649ae"/>
    <p:sldId xmlns:r="http://schemas.openxmlformats.org/officeDocument/2006/relationships" id="271" r:id="Rd29fdfc2a16c4a50"/>
    <p:sldId xmlns:r="http://schemas.openxmlformats.org/officeDocument/2006/relationships" id="272" r:id="Rdda8e0a7afe44d1b"/>
    <p:sldId xmlns:r="http://schemas.openxmlformats.org/officeDocument/2006/relationships" id="273" r:id="Rc82f1ccff6ed471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f775b498d1476f" /><Relationship Type="http://schemas.openxmlformats.org/officeDocument/2006/relationships/slideMaster" Target="/ppt/slideMasters/slideMaster1.xml" Id="R097ac2af87c64113" /><Relationship Type="http://schemas.openxmlformats.org/officeDocument/2006/relationships/notesMaster" Target="/ppt/notesMasters/notesMaster1.xml" Id="Rc59878a972cc4195" /><Relationship Type="http://schemas.openxmlformats.org/officeDocument/2006/relationships/presProps" Target="/ppt/presProps.xml" Id="R600170f34a9248c6" /><Relationship Type="http://schemas.openxmlformats.org/officeDocument/2006/relationships/tableStyles" Target="/ppt/tableStyles.xml" Id="R97caa0b6b4b94d56" /><Relationship Type="http://schemas.openxmlformats.org/officeDocument/2006/relationships/slide" Target="/ppt/slides/slide1.xml" Id="R8ac66eba649847ca" /><Relationship Type="http://schemas.openxmlformats.org/officeDocument/2006/relationships/slide" Target="/ppt/slides/slide2.xml" Id="Rf14c97904e1e4a87" /><Relationship Type="http://schemas.openxmlformats.org/officeDocument/2006/relationships/slide" Target="/ppt/slides/slide3.xml" Id="R400c2dedb620463b" /><Relationship Type="http://schemas.openxmlformats.org/officeDocument/2006/relationships/slide" Target="/ppt/slides/slide4.xml" Id="Re895661dbfc94223" /><Relationship Type="http://schemas.openxmlformats.org/officeDocument/2006/relationships/slide" Target="/ppt/slides/slide5.xml" Id="R1e18b457b91749b9" /><Relationship Type="http://schemas.openxmlformats.org/officeDocument/2006/relationships/slide" Target="/ppt/slides/slide6.xml" Id="Rc76406642acc43cc" /><Relationship Type="http://schemas.openxmlformats.org/officeDocument/2006/relationships/slide" Target="/ppt/slides/slide7.xml" Id="R4015210392904a5f" /><Relationship Type="http://schemas.openxmlformats.org/officeDocument/2006/relationships/slide" Target="/ppt/slides/slide8.xml" Id="R5d1feca061094446" /><Relationship Type="http://schemas.openxmlformats.org/officeDocument/2006/relationships/slide" Target="/ppt/slides/slide9.xml" Id="R884becd3cfe2487c" /><Relationship Type="http://schemas.openxmlformats.org/officeDocument/2006/relationships/slide" Target="/ppt/slides/slide10.xml" Id="Rbd618176ea394cd7" /><Relationship Type="http://schemas.openxmlformats.org/officeDocument/2006/relationships/slide" Target="/ppt/slides/slide11.xml" Id="R78f4c29f860e4faa" /><Relationship Type="http://schemas.openxmlformats.org/officeDocument/2006/relationships/slide" Target="/ppt/slides/slide12.xml" Id="R26fb6a18b9f44ec5" /><Relationship Type="http://schemas.openxmlformats.org/officeDocument/2006/relationships/slide" Target="/ppt/slides/slide13.xml" Id="Rdc4b72cffec340c0" /><Relationship Type="http://schemas.openxmlformats.org/officeDocument/2006/relationships/slide" Target="/ppt/slides/slide14.xml" Id="R85270174fa134f45" /><Relationship Type="http://schemas.openxmlformats.org/officeDocument/2006/relationships/slide" Target="/ppt/slides/slide15.xml" Id="R0aac5a83d1b649ae" /><Relationship Type="http://schemas.openxmlformats.org/officeDocument/2006/relationships/slide" Target="/ppt/slides/slide16.xml" Id="Rd29fdfc2a16c4a50" /><Relationship Type="http://schemas.openxmlformats.org/officeDocument/2006/relationships/slide" Target="/ppt/slides/slide17.xml" Id="Rdda8e0a7afe44d1b" /><Relationship Type="http://schemas.openxmlformats.org/officeDocument/2006/relationships/slide" Target="/ppt/slides/slide18.xml" Id="Rc82f1ccff6ed471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9a0b1caaf74a4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da4f63611549af" /><Relationship Type="http://schemas.openxmlformats.org/officeDocument/2006/relationships/notesMaster" Target="/ppt/notesMasters/notesMaster1.xml" Id="R51059763bd1849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80bb120aa9d84ae8" /><Relationship Type="http://schemas.openxmlformats.org/officeDocument/2006/relationships/notesMaster" Target="/ppt/notesMasters/notesMaster1.xml" Id="Rc158ef8494d14af3"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8fdecbb5e04df1" /><Relationship Type="http://schemas.openxmlformats.org/officeDocument/2006/relationships/notesMaster" Target="/ppt/notesMasters/notesMaster1.xml" Id="R0f8198938943445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ac3ba97a25b49c8" /><Relationship Type="http://schemas.openxmlformats.org/officeDocument/2006/relationships/notesMaster" Target="/ppt/notesMasters/notesMaster1.xml" Id="R9ee8337342144d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edd6f6bbe84498" /><Relationship Type="http://schemas.openxmlformats.org/officeDocument/2006/relationships/notesMaster" Target="/ppt/notesMasters/notesMaster1.xml" Id="Ra9f170ac6f6148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0aa4d1f501644288" /><Relationship Type="http://schemas.openxmlformats.org/officeDocument/2006/relationships/notesMaster" Target="/ppt/notesMasters/notesMaster1.xml" Id="Rf69b7e43642c47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4052b2ab4d094d20" /><Relationship Type="http://schemas.openxmlformats.org/officeDocument/2006/relationships/notesMaster" Target="/ppt/notesMasters/notesMaster1.xml" Id="Rf9f9d3d1332a4b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6285f1a8264a55" /><Relationship Type="http://schemas.openxmlformats.org/officeDocument/2006/relationships/notesMaster" Target="/ppt/notesMasters/notesMaster1.xml" Id="Rd35b07cecaf04b9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c6d8e791464c30" /><Relationship Type="http://schemas.openxmlformats.org/officeDocument/2006/relationships/notesMaster" Target="/ppt/notesMasters/notesMaster1.xml" Id="R0b67fb45794342b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a89e4d2f5c4e31" /><Relationship Type="http://schemas.openxmlformats.org/officeDocument/2006/relationships/notesMaster" Target="/ppt/notesMasters/notesMaster1.xml" Id="Rb64bccd7258e4e0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33c6576957d41fc" /><Relationship Type="http://schemas.openxmlformats.org/officeDocument/2006/relationships/notesMaster" Target="/ppt/notesMasters/notesMaster1.xml" Id="R6c34fe785d2445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9df104fe8074144" /><Relationship Type="http://schemas.openxmlformats.org/officeDocument/2006/relationships/notesMaster" Target="/ppt/notesMasters/notesMaster1.xml" Id="R72a16778676b44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7a59a2858cb4040" /><Relationship Type="http://schemas.openxmlformats.org/officeDocument/2006/relationships/notesMaster" Target="/ppt/notesMasters/notesMaster1.xml" Id="R802b870eb53e4d1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5cba871018d4d03" /><Relationship Type="http://schemas.openxmlformats.org/officeDocument/2006/relationships/notesMaster" Target="/ppt/notesMasters/notesMaster1.xml" Id="R0951a7a921044a5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8da5ef7f64e4577" /><Relationship Type="http://schemas.openxmlformats.org/officeDocument/2006/relationships/notesMaster" Target="/ppt/notesMasters/notesMaster1.xml" Id="R89869b23bdbf4b3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549c78f72974512" /><Relationship Type="http://schemas.openxmlformats.org/officeDocument/2006/relationships/notesMaster" Target="/ppt/notesMasters/notesMaster1.xml" Id="R3bd29437c77541b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d0aad8ceb564232" /><Relationship Type="http://schemas.openxmlformats.org/officeDocument/2006/relationships/notesMaster" Target="/ppt/notesMasters/notesMaster1.xml" Id="R8d7b26a56359452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2890e67d4ec4a67" /><Relationship Type="http://schemas.openxmlformats.org/officeDocument/2006/relationships/notesMaster" Target="/ppt/notesMasters/notesMaster1.xml" Id="Rd13c55bed69d4a8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The main deliverable is a graphical tool that connects configuration, execution and output review for the laboratory workflow. This presentation is grounded in the current repository and saved results, not a new biological study. Suggested presentation length: 20–25 minutes plus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README.md and current GUI/backend structure. Describe the practical challenge: separate tools need compatible inputs, options and output paths. These are design motivations; no time-saving or usability improvement was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dorado_gui, dorado_workflow and packaging documentation. Describe the current project scope without claiming authorship of the underlying Dorado or NanoTel algorithms. The contribution presented is interface and integration development.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fresh offscreen capture of the current AppWindow. Arial was explicitly loaded for the screenshot because the offscreen environment initially lacked font discovery. No workflow was executed for this screenshot. Walk through the screen from input to run controls.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input_section.py, workflow_section.py and pipeline_runner.py. POD5 uses Dorado basecalling. BAM skips basecalling and supplies reads via conversion. FASTQ can enter downstream analysis; unseparated reads may still require demultiplexing.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AppWindow and GUI section modules. Demo narrative: choose a data type and directory, choose an output folder and organism preset, select the analysis steps, review options, then run and inspect results. Organism options are Mouse, Human and Zebra Fish; availability of presets does not demonstrate validation on all organisms.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advanced_section.py and workflow_section.py. Explain that these options configure existing tools; they are not new biological algorithms. Modified-base selection and chromosome mapping have dependencies. Preset TVR mode uses exact matching.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core/validators.py and AppWindow. Concrete checks include file presence and workflow compatibility. BAM inspection is sampled: up to three BAM files and up to 1,000 reads for modification inspection by default, so it is not exhaustive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workers/worker_thread.py, services/pipeline_runner.py, AppWindow and workflow backend. The worker emits log/finished/error signals. Cancellation is requested through a stop flag and checked by the workflow; do not promise immediate cancellation of every external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saved 2026-09-14 run and workflow_section.py. Distinguish full output from summary-only mode. The full run contains per-read plots, FASTA files, per-barcode tables and aggregate reports. A separate saved run contains nanotel_summary.xlsx.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test/Telomere Analyzer_20260914_132210/results/reports/complete_pipeline_report.txt and nanotel/nanotel_analysis_report.txt. This is an existing saved result, not a run executed during preparation of the presentation. The report marks NanoTel SUCCESS, two barcodes, two files. Mapping and methylation were disabled.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test/Telomere Analyzer_20260914_132210/results/nanotel/nanotel_summary_statistics.csv. Exact values preserved. Counts refer to the saved filtered output. Barcode19 contains only one retained telomere, so its median is a single observation. These are illustrative outputs and should not be used to infer differences between biological conditions.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test/Telomere Analyzer_20260914_132210/results/nanotel/barcode19/single_read_plots_adj/read1.jpeg. The plot label reports read length 1,996 and telomere length 442. This read is an individual generated plot, not the single retained barcode19 result in the filtered summary. Explain that plots may exist for reads excluded by downstream filtering.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packaging/BIOCONDA_BUILD_REHEARSAL.md, recorded 6 August 2026. This is documented historical validation, not a fresh rerun. The build used a temporary package name and version. Three real-data tests passed, along with installed GUI construction and clean installation. Later NanoTel analysis assertions were added after this build and require another package-level rerun.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saved run reports, packaging/README.md and BIOCONDA_BUILD_REHEARSAL.md. Distinguish implemented capability, historical test evidence and outstanding validation. Avoid presenting a working GUI as full scientific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plan, not a claim of committed or completed work. Ask the lab to prioritize the first use case and provide representative inputs with expected outputs. Validate both operation and scientific output correctness, then address package release blockers.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returning to the central contribution: one graphical entry point for the laboratory workflow, with configuration, execution and output organization. The requested discussion is prioritization, not a claim that deployment is finished.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content is grounded in local project files. No external scientific literature was added. GUI features were checked in source code. Numerical values come from the saved run. Packaging evidence is explicitly historical.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b8cdb8f57743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504f98d7a34a71" /><Relationship Type="http://schemas.openxmlformats.org/officeDocument/2006/relationships/slideLayout" Target="/ppt/slideLayouts/slideLayout1.xml" Id="R38381c6ea27e4bc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381c6ea27e4bc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981cd9616304c4a" /><Relationship Type="http://schemas.openxmlformats.org/officeDocument/2006/relationships/notesSlide" Target="/ppt/notesSlides/notesSlide1.xml" Id="R0333e015311545e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c17166d63d343be" /><Relationship Type="http://schemas.openxmlformats.org/officeDocument/2006/relationships/notesSlide" Target="/ppt/notesSlides/notesSlide2.xml" Id="R03a6fc10e66d4df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6f358bd969047c2" /><Relationship Type="http://schemas.openxmlformats.org/officeDocument/2006/relationships/notesSlide" Target="/ppt/notesSlides/notesSlide3.xml" Id="Re3b79428a7b743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c606d0b0d774559" /><Relationship Type="http://schemas.openxmlformats.org/officeDocument/2006/relationships/image" Target="/ppt/media/image.png" Id="R648a24a99a6547ec" /><Relationship Type="http://schemas.openxmlformats.org/officeDocument/2006/relationships/notesSlide" Target="/ppt/notesSlides/notesSlide4.xml" Id="R81b840880dc4416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3af0a459f89407e" /><Relationship Type="http://schemas.openxmlformats.org/officeDocument/2006/relationships/notesSlide" Target="/ppt/notesSlides/notesSlide5.xml" Id="R36272900181c42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465b13a8fef465a" /><Relationship Type="http://schemas.openxmlformats.org/officeDocument/2006/relationships/notesSlide" Target="/ppt/notesSlides/notesSlide6.xml" Id="R1c05630c8f764e9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f6946ab87ce45a3" /><Relationship Type="http://schemas.openxmlformats.org/officeDocument/2006/relationships/notesSlide" Target="/ppt/notesSlides/notesSlide7.xml" Id="R193f5d398ea64be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add86016470433d" /><Relationship Type="http://schemas.openxmlformats.org/officeDocument/2006/relationships/notesSlide" Target="/ppt/notesSlides/notesSlide8.xml" Id="R7d42b086f70c4e9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521e81f9e3840ff" /><Relationship Type="http://schemas.openxmlformats.org/officeDocument/2006/relationships/notesSlide" Target="/ppt/notesSlides/notesSlide9.xml" Id="Rb717aca185c142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61a9184ec9e4a88" /><Relationship Type="http://schemas.openxmlformats.org/officeDocument/2006/relationships/notesSlide" Target="/ppt/notesSlides/notesSlide10.xml" Id="Rd722df3b6d574c5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01ac0b790d64e99" /><Relationship Type="http://schemas.openxmlformats.org/officeDocument/2006/relationships/notesSlide" Target="/ppt/notesSlides/notesSlide11.xml" Id="R91cad6a44b7a48e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29cd560ae3e46a1" /><Relationship Type="http://schemas.openxmlformats.org/officeDocument/2006/relationships/notesSlide" Target="/ppt/notesSlides/notesSlide12.xml" Id="R340806f944df4c4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5efd5e2966b4149" /><Relationship Type="http://schemas.openxmlformats.org/officeDocument/2006/relationships/image" Target="/ppt/media/image.jpeg" Id="Re96aeac1b5914441" /><Relationship Type="http://schemas.openxmlformats.org/officeDocument/2006/relationships/notesSlide" Target="/ppt/notesSlides/notesSlide13.xml" Id="Rabaabdd5b4e94b7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1995751698541e4" /><Relationship Type="http://schemas.openxmlformats.org/officeDocument/2006/relationships/notesSlide" Target="/ppt/notesSlides/notesSlide14.xml" Id="Rea208d5f71de4d8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83591c9b01c488e" /><Relationship Type="http://schemas.openxmlformats.org/officeDocument/2006/relationships/notesSlide" Target="/ppt/notesSlides/notesSlide15.xml" Id="Rba4bc9a9046f45c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f6cd3f88a6f4a02" /><Relationship Type="http://schemas.openxmlformats.org/officeDocument/2006/relationships/notesSlide" Target="/ppt/notesSlides/notesSlide16.xml" Id="R0e5bc0e16b024fc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b11b17852b74b7e" /><Relationship Type="http://schemas.openxmlformats.org/officeDocument/2006/relationships/notesSlide" Target="/ppt/notesSlides/notesSlide17.xml" Id="R46d00e23fd264d2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71eff4e62934c12" /><Relationship Type="http://schemas.openxmlformats.org/officeDocument/2006/relationships/notesSlide" Target="/ppt/notesSlides/notesSlide18.xml" Id="Rcb8e5465e019423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1">
            <a:extLst xmlns:a="http://schemas.openxmlformats.org/drawingml/2006/main">
              <a:ext uri="{FF2B5EF4-FFF2-40B4-BE49-F238E27FC236}">
                <a16:creationId xmlns:a16="http://schemas.microsoft.com/office/drawing/2014/main" id="{624EAFA2-AF0E-4E0A-B3C0-51081920899A}"/>
              </a:ext>
            </a:extLst>
          </p:cNvPr>
          <p:cNvSpPr>
            <a:spLocks xmlns:a="http://schemas.openxmlformats.org/drawingml/2006/main" noGrp="1"/>
          </p:cNvSpPr>
          <p:nvPr/>
        </p:nvSpPr>
        <p:spPr>
          <a:xfrm xmlns:a="http://schemas.openxmlformats.org/drawingml/2006/main">
            <a:off x="457200" y="247650"/>
            <a:ext cx="1047750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DEVELOPMENT UPDATE</a:t>
            </a:r>
          </a:p>
        </p:txBody>
      </p:sp>
      <p:sp>
        <p:nvSpPr>
          <p:cNvPr id="2" name="text-2">
            <a:extLst xmlns:a="http://schemas.openxmlformats.org/drawingml/2006/main">
              <a:ext uri="{FF2B5EF4-FFF2-40B4-BE49-F238E27FC236}">
                <a16:creationId xmlns:a16="http://schemas.microsoft.com/office/drawing/2014/main" id="{6D3BA54D-0DEE-4B6D-AC62-CBDE645F31FB}"/>
              </a:ext>
            </a:extLst>
          </p:cNvPr>
          <p:cNvSpPr>
            <a:spLocks xmlns:a="http://schemas.openxmlformats.org/drawingml/2006/main" noGrp="1"/>
          </p:cNvSpPr>
          <p:nvPr/>
        </p:nvSpPr>
        <p:spPr>
          <a:xfrm xmlns:a="http://schemas.openxmlformats.org/drawingml/2006/main">
            <a:off x="457200" y="762000"/>
            <a:ext cx="112776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5100" b="1">
                <a:solidFill>
                  <a:srgbClr val="171717"/>
                </a:solidFill>
                <a:latin typeface="Arial"/>
                <a:ea typeface="Arial"/>
                <a:cs typeface="Arial"/>
              </a:defRPr>
            </a:pPr>
            <a:r>
              <a:t>Telomere Analyzer</a:t>
            </a:r>
          </a:p>
        </p:txBody>
      </p:sp>
      <p:sp>
        <p:nvSpPr>
          <p:cNvPr id="3" name="text-3">
            <a:extLst xmlns:a="http://schemas.openxmlformats.org/drawingml/2006/main">
              <a:ext uri="{FF2B5EF4-FFF2-40B4-BE49-F238E27FC236}">
                <a16:creationId xmlns:a16="http://schemas.microsoft.com/office/drawing/2014/main" id="{21038F49-7A18-4C4A-AB32-ACD48A5D3D84}"/>
              </a:ext>
            </a:extLst>
          </p:cNvPr>
          <p:cNvSpPr>
            <a:spLocks xmlns:a="http://schemas.openxmlformats.org/drawingml/2006/main" noGrp="1"/>
          </p:cNvSpPr>
          <p:nvPr/>
        </p:nvSpPr>
        <p:spPr>
          <a:xfrm xmlns:a="http://schemas.openxmlformats.org/drawingml/2006/main">
            <a:off x="457200" y="6419850"/>
            <a:ext cx="952500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TELOMERE ANALYZER  /  LAB MEETING</a:t>
            </a:r>
          </a:p>
        </p:txBody>
      </p:sp>
      <p:sp>
        <p:nvSpPr>
          <p:cNvPr id="4" name="text-4">
            <a:extLst xmlns:a="http://schemas.openxmlformats.org/drawingml/2006/main">
              <a:ext uri="{FF2B5EF4-FFF2-40B4-BE49-F238E27FC236}">
                <a16:creationId xmlns:a16="http://schemas.microsoft.com/office/drawing/2014/main" id="{9407F068-72B9-4E20-AF7F-31CEC426DB41}"/>
              </a:ext>
            </a:extLst>
          </p:cNvPr>
          <p:cNvSpPr>
            <a:spLocks xmlns:a="http://schemas.openxmlformats.org/drawingml/2006/main" noGrp="1"/>
          </p:cNvSpPr>
          <p:nvPr/>
        </p:nvSpPr>
        <p:spPr>
          <a:xfrm xmlns:a="http://schemas.openxmlformats.org/drawingml/2006/main">
            <a:off x="11191875" y="6419850"/>
            <a:ext cx="523875"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171717"/>
                </a:solidFill>
                <a:latin typeface="Arial"/>
                <a:ea typeface="Arial"/>
                <a:cs typeface="Arial"/>
              </a:defRPr>
            </a:pPr>
            <a:r>
              <a:t>01</a:t>
            </a:r>
          </a:p>
        </p:txBody>
      </p:sp>
      <p:sp>
        <p:nvSpPr>
          <p:cNvPr id="5" name="text-5">
            <a:extLst xmlns:a="http://schemas.openxmlformats.org/drawingml/2006/main">
              <a:ext uri="{FF2B5EF4-FFF2-40B4-BE49-F238E27FC236}">
                <a16:creationId xmlns:a16="http://schemas.microsoft.com/office/drawing/2014/main" id="{EFFD2CA6-714F-4536-91D2-7662A1B4927E}"/>
              </a:ext>
            </a:extLst>
          </p:cNvPr>
          <p:cNvSpPr>
            <a:spLocks xmlns:a="http://schemas.openxmlformats.org/drawingml/2006/main" noGrp="1"/>
          </p:cNvSpPr>
          <p:nvPr/>
        </p:nvSpPr>
        <p:spPr>
          <a:xfrm xmlns:a="http://schemas.openxmlformats.org/drawingml/2006/main">
            <a:off x="457200" y="2238375"/>
            <a:ext cx="10953750" cy="1571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4800" b="1">
                <a:solidFill>
                  <a:srgbClr val="171717"/>
                </a:solidFill>
                <a:latin typeface="Arial"/>
                <a:ea typeface="Arial"/>
                <a:cs typeface="Arial"/>
              </a:defRPr>
            </a:pPr>
            <a:r>
              <a:t>A graphical interface for the lab’s</a:t>
            </a:r>
          </a:p>
          <a:p xmlns:a="http://schemas.openxmlformats.org/drawingml/2006/main">
            <a:pPr>
              <a:defRPr sz="4800" b="1">
                <a:solidFill>
                  <a:srgbClr val="171717"/>
                </a:solidFill>
                <a:latin typeface="Arial"/>
                <a:ea typeface="Arial"/>
                <a:cs typeface="Arial"/>
              </a:defRPr>
            </a:pPr>
            <a:r>
              <a:t>Nanopore telomere workflow</a:t>
            </a:r>
          </a:p>
        </p:txBody>
      </p:sp>
      <p:sp>
        <p:nvSpPr>
          <p:cNvPr id="6" name="text-6">
            <a:extLst xmlns:a="http://schemas.openxmlformats.org/drawingml/2006/main">
              <a:ext uri="{FF2B5EF4-FFF2-40B4-BE49-F238E27FC236}">
                <a16:creationId xmlns:a16="http://schemas.microsoft.com/office/drawing/2014/main" id="{9AEECB18-3BB6-4B88-8853-790F8C0E1750}"/>
              </a:ext>
            </a:extLst>
          </p:cNvPr>
          <p:cNvSpPr>
            <a:spLocks xmlns:a="http://schemas.openxmlformats.org/drawingml/2006/main" noGrp="1"/>
          </p:cNvSpPr>
          <p:nvPr/>
        </p:nvSpPr>
        <p:spPr>
          <a:xfrm xmlns:a="http://schemas.openxmlformats.org/drawingml/2006/main">
            <a:off x="457200" y="4429125"/>
            <a:ext cx="10810875"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00" b="0">
                <a:solidFill>
                  <a:srgbClr val="171717"/>
                </a:solidFill>
                <a:latin typeface="Arial"/>
                <a:ea typeface="Arial"/>
                <a:cs typeface="Arial"/>
              </a:defRPr>
            </a:pPr>
            <a:r>
              <a:t>Interface design • workflow integration • output review</a:t>
            </a:r>
          </a:p>
        </p:txBody>
      </p:sp>
      <p:sp>
        <p:nvSpPr>
          <p:cNvPr id="7" name="text-7">
            <a:extLst xmlns:a="http://schemas.openxmlformats.org/drawingml/2006/main">
              <a:ext uri="{FF2B5EF4-FFF2-40B4-BE49-F238E27FC236}">
                <a16:creationId xmlns:a16="http://schemas.microsoft.com/office/drawing/2014/main" id="{D63A89E5-354D-4209-97B8-15FA612A620C}"/>
              </a:ext>
            </a:extLst>
          </p:cNvPr>
          <p:cNvSpPr>
            <a:spLocks xmlns:a="http://schemas.openxmlformats.org/drawingml/2006/main" noGrp="1"/>
          </p:cNvSpPr>
          <p:nvPr/>
        </p:nvSpPr>
        <p:spPr>
          <a:xfrm xmlns:a="http://schemas.openxmlformats.org/drawingml/2006/main">
            <a:off x="457200" y="5581650"/>
            <a:ext cx="10810875" cy="381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75" b="0">
                <a:solidFill>
                  <a:srgbClr val="666666"/>
                </a:solidFill>
                <a:latin typeface="Arial"/>
                <a:ea typeface="Arial"/>
                <a:cs typeface="Arial"/>
              </a:defRPr>
            </a:pPr>
            <a:r>
              <a:t>Progress to date  |  September 2026</a:t>
            </a:r>
          </a:p>
        </p:txBody>
      </p:sp>
    </p:spTree>
    <p:extLst>
      <p:ext uri="{BB962C8B-B14F-4D97-AF65-F5344CB8AC3E}">
        <p14:creationId xmlns:p14="http://schemas.microsoft.com/office/powerpoint/2010/main" val="49931308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8">
            <a:extLst xmlns:a="http://schemas.openxmlformats.org/drawingml/2006/main">
              <a:ext uri="{FF2B5EF4-FFF2-40B4-BE49-F238E27FC236}">
                <a16:creationId xmlns:a16="http://schemas.microsoft.com/office/drawing/2014/main" id="{B9197CC5-788C-4C0E-B829-A6A2A2CE8E96}"/>
              </a:ext>
            </a:extLst>
          </p:cNvPr>
          <p:cNvSpPr>
            <a:spLocks xmlns:a="http://schemas.openxmlformats.org/drawingml/2006/main" noGrp="1"/>
          </p:cNvSpPr>
          <p:nvPr/>
        </p:nvSpPr>
        <p:spPr>
          <a:xfrm xmlns:a="http://schemas.openxmlformats.org/drawingml/2006/main">
            <a:off x="457200" y="247650"/>
            <a:ext cx="1047750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THE NEED</a:t>
            </a:r>
          </a:p>
        </p:txBody>
      </p:sp>
      <p:sp>
        <p:nvSpPr>
          <p:cNvPr id="2" name="text-9">
            <a:extLst xmlns:a="http://schemas.openxmlformats.org/drawingml/2006/main">
              <a:ext uri="{FF2B5EF4-FFF2-40B4-BE49-F238E27FC236}">
                <a16:creationId xmlns:a16="http://schemas.microsoft.com/office/drawing/2014/main" id="{F1A1B88E-F3A1-404B-9683-6D4899F39A98}"/>
              </a:ext>
            </a:extLst>
          </p:cNvPr>
          <p:cNvSpPr>
            <a:spLocks xmlns:a="http://schemas.openxmlformats.org/drawingml/2006/main" noGrp="1"/>
          </p:cNvSpPr>
          <p:nvPr/>
        </p:nvSpPr>
        <p:spPr>
          <a:xfrm xmlns:a="http://schemas.openxmlformats.org/drawingml/2006/main">
            <a:off x="457200" y="762000"/>
            <a:ext cx="112776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71717"/>
                </a:solidFill>
                <a:latin typeface="Arial"/>
                <a:ea typeface="Arial"/>
                <a:cs typeface="Arial"/>
              </a:defRPr>
            </a:pPr>
            <a:r>
              <a:t>The workflow needs a single point of control</a:t>
            </a:r>
          </a:p>
        </p:txBody>
      </p:sp>
      <p:sp>
        <p:nvSpPr>
          <p:cNvPr id="3" name="text-10">
            <a:extLst xmlns:a="http://schemas.openxmlformats.org/drawingml/2006/main">
              <a:ext uri="{FF2B5EF4-FFF2-40B4-BE49-F238E27FC236}">
                <a16:creationId xmlns:a16="http://schemas.microsoft.com/office/drawing/2014/main" id="{7D6E8764-0BCC-4734-9048-2E72A3E477DF}"/>
              </a:ext>
            </a:extLst>
          </p:cNvPr>
          <p:cNvSpPr>
            <a:spLocks xmlns:a="http://schemas.openxmlformats.org/drawingml/2006/main" noGrp="1"/>
          </p:cNvSpPr>
          <p:nvPr/>
        </p:nvSpPr>
        <p:spPr>
          <a:xfrm xmlns:a="http://schemas.openxmlformats.org/drawingml/2006/main">
            <a:off x="457200" y="6419850"/>
            <a:ext cx="952500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TELOMERE ANALYZER  /  LAB MEETING</a:t>
            </a:r>
          </a:p>
        </p:txBody>
      </p:sp>
      <p:sp>
        <p:nvSpPr>
          <p:cNvPr id="4" name="text-11">
            <a:extLst xmlns:a="http://schemas.openxmlformats.org/drawingml/2006/main">
              <a:ext uri="{FF2B5EF4-FFF2-40B4-BE49-F238E27FC236}">
                <a16:creationId xmlns:a16="http://schemas.microsoft.com/office/drawing/2014/main" id="{2AFD9D04-5945-4391-B7D7-BD061099B11E}"/>
              </a:ext>
            </a:extLst>
          </p:cNvPr>
          <p:cNvSpPr>
            <a:spLocks xmlns:a="http://schemas.openxmlformats.org/drawingml/2006/main" noGrp="1"/>
          </p:cNvSpPr>
          <p:nvPr/>
        </p:nvSpPr>
        <p:spPr>
          <a:xfrm xmlns:a="http://schemas.openxmlformats.org/drawingml/2006/main">
            <a:off x="11191875" y="6419850"/>
            <a:ext cx="523875"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171717"/>
                </a:solidFill>
                <a:latin typeface="Arial"/>
                <a:ea typeface="Arial"/>
                <a:cs typeface="Arial"/>
              </a:defRPr>
            </a:pPr>
            <a:r>
              <a:t>02</a:t>
            </a:r>
          </a:p>
        </p:txBody>
      </p:sp>
      <p:sp>
        <p:nvSpPr>
          <p:cNvPr id="5" name="text-12">
            <a:extLst xmlns:a="http://schemas.openxmlformats.org/drawingml/2006/main">
              <a:ext uri="{FF2B5EF4-FFF2-40B4-BE49-F238E27FC236}">
                <a16:creationId xmlns:a16="http://schemas.microsoft.com/office/drawing/2014/main" id="{CD25BF26-A27E-4689-9DAA-D70ADD7956A3}"/>
              </a:ext>
            </a:extLst>
          </p:cNvPr>
          <p:cNvSpPr>
            <a:spLocks xmlns:a="http://schemas.openxmlformats.org/drawingml/2006/main" noGrp="1"/>
          </p:cNvSpPr>
          <p:nvPr/>
        </p:nvSpPr>
        <p:spPr>
          <a:xfrm xmlns:a="http://schemas.openxmlformats.org/drawingml/2006/main">
            <a:off x="457200" y="2143125"/>
            <a:ext cx="5334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What must be coordinated</a:t>
            </a:r>
          </a:p>
        </p:txBody>
      </p:sp>
      <p:sp>
        <p:nvSpPr>
          <p:cNvPr id="6" name="text-13">
            <a:extLst xmlns:a="http://schemas.openxmlformats.org/drawingml/2006/main">
              <a:ext uri="{FF2B5EF4-FFF2-40B4-BE49-F238E27FC236}">
                <a16:creationId xmlns:a16="http://schemas.microsoft.com/office/drawing/2014/main" id="{61785D5D-6949-4930-AC55-0564ED86397A}"/>
              </a:ext>
            </a:extLst>
          </p:cNvPr>
          <p:cNvSpPr>
            <a:spLocks xmlns:a="http://schemas.openxmlformats.org/drawingml/2006/main" noGrp="1"/>
          </p:cNvSpPr>
          <p:nvPr/>
        </p:nvSpPr>
        <p:spPr>
          <a:xfrm xmlns:a="http://schemas.openxmlformats.org/drawingml/2006/main">
            <a:off x="457200" y="2857500"/>
            <a:ext cx="5219700" cy="2952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Input format and barcode structure</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Dorado, NanoTel and R analysis</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Paths, parameters and output files</a:t>
            </a:r>
          </a:p>
        </p:txBody>
      </p:sp>
      <p:sp>
        <p:nvSpPr>
          <p:cNvPr id="7" name="text-14">
            <a:extLst xmlns:a="http://schemas.openxmlformats.org/drawingml/2006/main">
              <a:ext uri="{FF2B5EF4-FFF2-40B4-BE49-F238E27FC236}">
                <a16:creationId xmlns:a16="http://schemas.microsoft.com/office/drawing/2014/main" id="{DABFB5CB-29E8-4CBD-8AA3-6569C8310880}"/>
              </a:ext>
            </a:extLst>
          </p:cNvPr>
          <p:cNvSpPr>
            <a:spLocks xmlns:a="http://schemas.openxmlformats.org/drawingml/2006/main" noGrp="1"/>
          </p:cNvSpPr>
          <p:nvPr/>
        </p:nvSpPr>
        <p:spPr>
          <a:xfrm xmlns:a="http://schemas.openxmlformats.org/drawingml/2006/main">
            <a:off x="6286500" y="2143125"/>
            <a:ext cx="542925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What the GUI brings together</a:t>
            </a:r>
          </a:p>
        </p:txBody>
      </p:sp>
      <p:sp>
        <p:nvSpPr>
          <p:cNvPr id="8" name="text-15">
            <a:extLst xmlns:a="http://schemas.openxmlformats.org/drawingml/2006/main">
              <a:ext uri="{FF2B5EF4-FFF2-40B4-BE49-F238E27FC236}">
                <a16:creationId xmlns:a16="http://schemas.microsoft.com/office/drawing/2014/main" id="{61B7C037-76A3-4BDB-B037-596ABA665069}"/>
              </a:ext>
            </a:extLst>
          </p:cNvPr>
          <p:cNvSpPr>
            <a:spLocks xmlns:a="http://schemas.openxmlformats.org/drawingml/2006/main" noGrp="1"/>
          </p:cNvSpPr>
          <p:nvPr/>
        </p:nvSpPr>
        <p:spPr>
          <a:xfrm xmlns:a="http://schemas.openxmlformats.org/drawingml/2006/main">
            <a:off x="6286500" y="2857500"/>
            <a:ext cx="5334000" cy="2952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One place to configure the run</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Selectable analysis steps</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Run feedback and organized results</a:t>
            </a:r>
          </a:p>
        </p:txBody>
      </p:sp>
    </p:spTree>
    <p:extLst>
      <p:ext uri="{BB962C8B-B14F-4D97-AF65-F5344CB8AC3E}">
        <p14:creationId xmlns:p14="http://schemas.microsoft.com/office/powerpoint/2010/main" val="6832128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16">
            <a:extLst xmlns:a="http://schemas.openxmlformats.org/drawingml/2006/main">
              <a:ext uri="{FF2B5EF4-FFF2-40B4-BE49-F238E27FC236}">
                <a16:creationId xmlns:a16="http://schemas.microsoft.com/office/drawing/2014/main" id="{6347D057-0CEF-4CD6-8EB3-41AF7DB93659}"/>
              </a:ext>
            </a:extLst>
          </p:cNvPr>
          <p:cNvSpPr>
            <a:spLocks xmlns:a="http://schemas.openxmlformats.org/drawingml/2006/main" noGrp="1"/>
          </p:cNvSpPr>
          <p:nvPr/>
        </p:nvSpPr>
        <p:spPr>
          <a:xfrm xmlns:a="http://schemas.openxmlformats.org/drawingml/2006/main">
            <a:off x="457200" y="247650"/>
            <a:ext cx="1047750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DEVELOPMENT SCOPE</a:t>
            </a:r>
          </a:p>
        </p:txBody>
      </p:sp>
      <p:sp>
        <p:nvSpPr>
          <p:cNvPr id="2" name="text-17">
            <a:extLst xmlns:a="http://schemas.openxmlformats.org/drawingml/2006/main">
              <a:ext uri="{FF2B5EF4-FFF2-40B4-BE49-F238E27FC236}">
                <a16:creationId xmlns:a16="http://schemas.microsoft.com/office/drawing/2014/main" id="{4454D81B-3715-49DD-BA10-28DDF262F23B}"/>
              </a:ext>
            </a:extLst>
          </p:cNvPr>
          <p:cNvSpPr>
            <a:spLocks xmlns:a="http://schemas.openxmlformats.org/drawingml/2006/main" noGrp="1"/>
          </p:cNvSpPr>
          <p:nvPr/>
        </p:nvSpPr>
        <p:spPr>
          <a:xfrm xmlns:a="http://schemas.openxmlformats.org/drawingml/2006/main">
            <a:off x="457200" y="762000"/>
            <a:ext cx="112776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71717"/>
                </a:solidFill>
                <a:latin typeface="Arial"/>
                <a:ea typeface="Arial"/>
                <a:cs typeface="Arial"/>
              </a:defRPr>
            </a:pPr>
            <a:r>
              <a:t>The work spans more than the visible interface</a:t>
            </a:r>
          </a:p>
        </p:txBody>
      </p:sp>
      <p:sp>
        <p:nvSpPr>
          <p:cNvPr id="3" name="text-18">
            <a:extLst xmlns:a="http://schemas.openxmlformats.org/drawingml/2006/main">
              <a:ext uri="{FF2B5EF4-FFF2-40B4-BE49-F238E27FC236}">
                <a16:creationId xmlns:a16="http://schemas.microsoft.com/office/drawing/2014/main" id="{83CA491B-CD50-4CF9-AE9E-9E345F363C60}"/>
              </a:ext>
            </a:extLst>
          </p:cNvPr>
          <p:cNvSpPr>
            <a:spLocks xmlns:a="http://schemas.openxmlformats.org/drawingml/2006/main" noGrp="1"/>
          </p:cNvSpPr>
          <p:nvPr/>
        </p:nvSpPr>
        <p:spPr>
          <a:xfrm xmlns:a="http://schemas.openxmlformats.org/drawingml/2006/main">
            <a:off x="457200" y="6419850"/>
            <a:ext cx="952500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TELOMERE ANALYZER  /  LAB MEETING</a:t>
            </a:r>
          </a:p>
        </p:txBody>
      </p:sp>
      <p:sp>
        <p:nvSpPr>
          <p:cNvPr id="4" name="text-19">
            <a:extLst xmlns:a="http://schemas.openxmlformats.org/drawingml/2006/main">
              <a:ext uri="{FF2B5EF4-FFF2-40B4-BE49-F238E27FC236}">
                <a16:creationId xmlns:a16="http://schemas.microsoft.com/office/drawing/2014/main" id="{8DE5A4AA-138B-43BA-BF2E-8D945C6AC683}"/>
              </a:ext>
            </a:extLst>
          </p:cNvPr>
          <p:cNvSpPr>
            <a:spLocks xmlns:a="http://schemas.openxmlformats.org/drawingml/2006/main" noGrp="1"/>
          </p:cNvSpPr>
          <p:nvPr/>
        </p:nvSpPr>
        <p:spPr>
          <a:xfrm xmlns:a="http://schemas.openxmlformats.org/drawingml/2006/main">
            <a:off x="11191875" y="6419850"/>
            <a:ext cx="523875"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171717"/>
                </a:solidFill>
                <a:latin typeface="Arial"/>
                <a:ea typeface="Arial"/>
                <a:cs typeface="Arial"/>
              </a:defRPr>
            </a:pPr>
            <a:r>
              <a:t>03</a:t>
            </a:r>
          </a:p>
        </p:txBody>
      </p:sp>
      <p:sp>
        <p:nvSpPr>
          <p:cNvPr id="5" name="text-20">
            <a:extLst xmlns:a="http://schemas.openxmlformats.org/drawingml/2006/main">
              <a:ext uri="{FF2B5EF4-FFF2-40B4-BE49-F238E27FC236}">
                <a16:creationId xmlns:a16="http://schemas.microsoft.com/office/drawing/2014/main" id="{04F397D0-9973-4A15-9E40-1B28B368384C}"/>
              </a:ext>
            </a:extLst>
          </p:cNvPr>
          <p:cNvSpPr>
            <a:spLocks xmlns:a="http://schemas.openxmlformats.org/drawingml/2006/main" noGrp="1"/>
          </p:cNvSpPr>
          <p:nvPr/>
        </p:nvSpPr>
        <p:spPr>
          <a:xfrm xmlns:a="http://schemas.openxmlformats.org/drawingml/2006/main">
            <a:off x="457200" y="2143125"/>
            <a:ext cx="5238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01  Interface</a:t>
            </a:r>
          </a:p>
        </p:txBody>
      </p:sp>
      <p:sp>
        <p:nvSpPr>
          <p:cNvPr id="6" name="text-21">
            <a:extLst xmlns:a="http://schemas.openxmlformats.org/drawingml/2006/main">
              <a:ext uri="{FF2B5EF4-FFF2-40B4-BE49-F238E27FC236}">
                <a16:creationId xmlns:a16="http://schemas.microsoft.com/office/drawing/2014/main" id="{FEEAA85E-3A7E-472A-B757-5EBE67B61FF3}"/>
              </a:ext>
            </a:extLst>
          </p:cNvPr>
          <p:cNvSpPr>
            <a:spLocks xmlns:a="http://schemas.openxmlformats.org/drawingml/2006/main" noGrp="1"/>
          </p:cNvSpPr>
          <p:nvPr/>
        </p:nvSpPr>
        <p:spPr>
          <a:xfrm xmlns:a="http://schemas.openxmlformats.org/drawingml/2006/main">
            <a:off x="457200" y="2714625"/>
            <a:ext cx="5238750" cy="1047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Input selection, analysis options and contextual help</a:t>
            </a:r>
          </a:p>
        </p:txBody>
      </p:sp>
      <p:sp>
        <p:nvSpPr>
          <p:cNvPr id="7" name="text-22">
            <a:extLst xmlns:a="http://schemas.openxmlformats.org/drawingml/2006/main">
              <a:ext uri="{FF2B5EF4-FFF2-40B4-BE49-F238E27FC236}">
                <a16:creationId xmlns:a16="http://schemas.microsoft.com/office/drawing/2014/main" id="{E691743E-AABF-4300-8004-5EBE6FD085F9}"/>
              </a:ext>
            </a:extLst>
          </p:cNvPr>
          <p:cNvSpPr>
            <a:spLocks xmlns:a="http://schemas.openxmlformats.org/drawingml/2006/main" noGrp="1"/>
          </p:cNvSpPr>
          <p:nvPr/>
        </p:nvSpPr>
        <p:spPr>
          <a:xfrm xmlns:a="http://schemas.openxmlformats.org/drawingml/2006/main">
            <a:off x="6286500" y="2143125"/>
            <a:ext cx="5238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02  Execution</a:t>
            </a:r>
          </a:p>
        </p:txBody>
      </p:sp>
      <p:sp>
        <p:nvSpPr>
          <p:cNvPr id="8" name="text-23">
            <a:extLst xmlns:a="http://schemas.openxmlformats.org/drawingml/2006/main">
              <a:ext uri="{FF2B5EF4-FFF2-40B4-BE49-F238E27FC236}">
                <a16:creationId xmlns:a16="http://schemas.microsoft.com/office/drawing/2014/main" id="{96BE1793-0A0B-4523-BDE8-0ECA4A6AF312}"/>
              </a:ext>
            </a:extLst>
          </p:cNvPr>
          <p:cNvSpPr>
            <a:spLocks xmlns:a="http://schemas.openxmlformats.org/drawingml/2006/main" noGrp="1"/>
          </p:cNvSpPr>
          <p:nvPr/>
        </p:nvSpPr>
        <p:spPr>
          <a:xfrm xmlns:a="http://schemas.openxmlformats.org/drawingml/2006/main">
            <a:off x="6286500" y="2714625"/>
            <a:ext cx="5238750" cy="1047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Connect GUI settings to the existing workflow engine</a:t>
            </a:r>
          </a:p>
        </p:txBody>
      </p:sp>
      <p:sp>
        <p:nvSpPr>
          <p:cNvPr id="9" name="text-24">
            <a:extLst xmlns:a="http://schemas.openxmlformats.org/drawingml/2006/main">
              <a:ext uri="{FF2B5EF4-FFF2-40B4-BE49-F238E27FC236}">
                <a16:creationId xmlns:a16="http://schemas.microsoft.com/office/drawing/2014/main" id="{C3C7AEBD-1299-43C3-98AD-E8A296D2150D}"/>
              </a:ext>
            </a:extLst>
          </p:cNvPr>
          <p:cNvSpPr>
            <a:spLocks xmlns:a="http://schemas.openxmlformats.org/drawingml/2006/main" noGrp="1"/>
          </p:cNvSpPr>
          <p:nvPr/>
        </p:nvSpPr>
        <p:spPr>
          <a:xfrm xmlns:a="http://schemas.openxmlformats.org/drawingml/2006/main">
            <a:off x="457200" y="4191000"/>
            <a:ext cx="5238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03  Reliability</a:t>
            </a:r>
          </a:p>
        </p:txBody>
      </p:sp>
      <p:sp>
        <p:nvSpPr>
          <p:cNvPr id="10" name="text-25">
            <a:extLst xmlns:a="http://schemas.openxmlformats.org/drawingml/2006/main">
              <a:ext uri="{FF2B5EF4-FFF2-40B4-BE49-F238E27FC236}">
                <a16:creationId xmlns:a16="http://schemas.microsoft.com/office/drawing/2014/main" id="{6EDC3A19-2E0E-4939-A71F-9BF75D6E4F6E}"/>
              </a:ext>
            </a:extLst>
          </p:cNvPr>
          <p:cNvSpPr>
            <a:spLocks xmlns:a="http://schemas.openxmlformats.org/drawingml/2006/main" noGrp="1"/>
          </p:cNvSpPr>
          <p:nvPr/>
        </p:nvSpPr>
        <p:spPr>
          <a:xfrm xmlns:a="http://schemas.openxmlformats.org/drawingml/2006/main">
            <a:off x="457200" y="4762500"/>
            <a:ext cx="5238750" cy="1047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Validation, background execution and run feedback</a:t>
            </a:r>
          </a:p>
        </p:txBody>
      </p:sp>
      <p:sp>
        <p:nvSpPr>
          <p:cNvPr id="11" name="text-26">
            <a:extLst xmlns:a="http://schemas.openxmlformats.org/drawingml/2006/main">
              <a:ext uri="{FF2B5EF4-FFF2-40B4-BE49-F238E27FC236}">
                <a16:creationId xmlns:a16="http://schemas.microsoft.com/office/drawing/2014/main" id="{7D062FD0-C4AA-4E81-890E-A914EC38729B}"/>
              </a:ext>
            </a:extLst>
          </p:cNvPr>
          <p:cNvSpPr>
            <a:spLocks xmlns:a="http://schemas.openxmlformats.org/drawingml/2006/main" noGrp="1"/>
          </p:cNvSpPr>
          <p:nvPr/>
        </p:nvSpPr>
        <p:spPr>
          <a:xfrm xmlns:a="http://schemas.openxmlformats.org/drawingml/2006/main">
            <a:off x="6286500" y="4191000"/>
            <a:ext cx="5238750" cy="4286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04  Distribution</a:t>
            </a:r>
          </a:p>
        </p:txBody>
      </p:sp>
      <p:sp>
        <p:nvSpPr>
          <p:cNvPr id="12" name="text-27">
            <a:extLst xmlns:a="http://schemas.openxmlformats.org/drawingml/2006/main">
              <a:ext uri="{FF2B5EF4-FFF2-40B4-BE49-F238E27FC236}">
                <a16:creationId xmlns:a16="http://schemas.microsoft.com/office/drawing/2014/main" id="{1B0F1CFB-5523-429C-8AF3-F0F4DA5FA5EB}"/>
              </a:ext>
            </a:extLst>
          </p:cNvPr>
          <p:cNvSpPr>
            <a:spLocks xmlns:a="http://schemas.openxmlformats.org/drawingml/2006/main" noGrp="1"/>
          </p:cNvSpPr>
          <p:nvPr/>
        </p:nvSpPr>
        <p:spPr>
          <a:xfrm xmlns:a="http://schemas.openxmlformats.org/drawingml/2006/main">
            <a:off x="6286500" y="4762500"/>
            <a:ext cx="5238750" cy="1047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Package resources and test clean installation</a:t>
            </a:r>
          </a:p>
        </p:txBody>
      </p:sp>
    </p:spTree>
    <p:extLst>
      <p:ext uri="{BB962C8B-B14F-4D97-AF65-F5344CB8AC3E}">
        <p14:creationId xmlns:p14="http://schemas.microsoft.com/office/powerpoint/2010/main" val="1148377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28">
            <a:extLst xmlns:a="http://schemas.openxmlformats.org/drawingml/2006/main">
              <a:ext uri="{FF2B5EF4-FFF2-40B4-BE49-F238E27FC236}">
                <a16:creationId xmlns:a16="http://schemas.microsoft.com/office/drawing/2014/main" id="{CAA2839A-B15B-45CD-8E9D-3EC9A4F77245}"/>
              </a:ext>
            </a:extLst>
          </p:cNvPr>
          <p:cNvSpPr>
            <a:spLocks xmlns:a="http://schemas.openxmlformats.org/drawingml/2006/main" noGrp="1"/>
          </p:cNvSpPr>
          <p:nvPr/>
        </p:nvSpPr>
        <p:spPr>
          <a:xfrm xmlns:a="http://schemas.openxmlformats.org/drawingml/2006/main">
            <a:off x="457200" y="247650"/>
            <a:ext cx="1047750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INTERFACE WALKTHROUGH</a:t>
            </a:r>
          </a:p>
        </p:txBody>
      </p:sp>
      <p:sp>
        <p:nvSpPr>
          <p:cNvPr id="2" name="text-29">
            <a:extLst xmlns:a="http://schemas.openxmlformats.org/drawingml/2006/main">
              <a:ext uri="{FF2B5EF4-FFF2-40B4-BE49-F238E27FC236}">
                <a16:creationId xmlns:a16="http://schemas.microsoft.com/office/drawing/2014/main" id="{53635EC8-9796-497D-BDF5-EAE41F88CB4C}"/>
              </a:ext>
            </a:extLst>
          </p:cNvPr>
          <p:cNvSpPr>
            <a:spLocks xmlns:a="http://schemas.openxmlformats.org/drawingml/2006/main" noGrp="1"/>
          </p:cNvSpPr>
          <p:nvPr/>
        </p:nvSpPr>
        <p:spPr>
          <a:xfrm xmlns:a="http://schemas.openxmlformats.org/drawingml/2006/main">
            <a:off x="457200" y="762000"/>
            <a:ext cx="112776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71717"/>
                </a:solidFill>
                <a:latin typeface="Arial"/>
                <a:ea typeface="Arial"/>
                <a:cs typeface="Arial"/>
              </a:defRPr>
            </a:pPr>
            <a:r>
              <a:t>The main screen brings the setup together</a:t>
            </a:r>
          </a:p>
        </p:txBody>
      </p:sp>
      <p:sp>
        <p:nvSpPr>
          <p:cNvPr id="3" name="text-30">
            <a:extLst xmlns:a="http://schemas.openxmlformats.org/drawingml/2006/main">
              <a:ext uri="{FF2B5EF4-FFF2-40B4-BE49-F238E27FC236}">
                <a16:creationId xmlns:a16="http://schemas.microsoft.com/office/drawing/2014/main" id="{C159662A-8FDC-49B3-86B0-AEDC55A2CB60}"/>
              </a:ext>
            </a:extLst>
          </p:cNvPr>
          <p:cNvSpPr>
            <a:spLocks xmlns:a="http://schemas.openxmlformats.org/drawingml/2006/main" noGrp="1"/>
          </p:cNvSpPr>
          <p:nvPr/>
        </p:nvSpPr>
        <p:spPr>
          <a:xfrm xmlns:a="http://schemas.openxmlformats.org/drawingml/2006/main">
            <a:off x="457200" y="6419850"/>
            <a:ext cx="952500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TELOMERE ANALYZER  /  LAB MEETING</a:t>
            </a:r>
          </a:p>
        </p:txBody>
      </p:sp>
      <p:sp>
        <p:nvSpPr>
          <p:cNvPr id="4" name="text-31">
            <a:extLst xmlns:a="http://schemas.openxmlformats.org/drawingml/2006/main">
              <a:ext uri="{FF2B5EF4-FFF2-40B4-BE49-F238E27FC236}">
                <a16:creationId xmlns:a16="http://schemas.microsoft.com/office/drawing/2014/main" id="{606C48BC-F3E8-4296-9A5D-3F2D32F55CC9}"/>
              </a:ext>
            </a:extLst>
          </p:cNvPr>
          <p:cNvSpPr>
            <a:spLocks xmlns:a="http://schemas.openxmlformats.org/drawingml/2006/main" noGrp="1"/>
          </p:cNvSpPr>
          <p:nvPr/>
        </p:nvSpPr>
        <p:spPr>
          <a:xfrm xmlns:a="http://schemas.openxmlformats.org/drawingml/2006/main">
            <a:off x="11191875" y="6419850"/>
            <a:ext cx="523875"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171717"/>
                </a:solidFill>
                <a:latin typeface="Arial"/>
                <a:ea typeface="Arial"/>
                <a:cs typeface="Arial"/>
              </a:defRPr>
            </a:pPr>
            <a:r>
              <a:t>04</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48a24a99a6547ec"/>
          <a:stretch xmlns:a="http://schemas.openxmlformats.org/drawingml/2006/main"/>
        </p:blipFill>
        <p:spPr>
          <a:xfrm xmlns:a="http://schemas.openxmlformats.org/drawingml/2006/main">
            <a:off x="2446421" y="1905000"/>
            <a:ext cx="7299158" cy="4333875"/>
          </a:xfrm>
          <a:prstGeom xmlns:a="http://schemas.openxmlformats.org/drawingml/2006/main" prst="rect">
            <a:avLst/>
          </a:prstGeom>
        </p:spPr>
      </p:pic>
    </p:spTree>
    <p:extLst>
      <p:ext uri="{BB962C8B-B14F-4D97-AF65-F5344CB8AC3E}">
        <p14:creationId xmlns:p14="http://schemas.microsoft.com/office/powerpoint/2010/main" val="33448319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32">
            <a:extLst xmlns:a="http://schemas.openxmlformats.org/drawingml/2006/main">
              <a:ext uri="{FF2B5EF4-FFF2-40B4-BE49-F238E27FC236}">
                <a16:creationId xmlns:a16="http://schemas.microsoft.com/office/drawing/2014/main" id="{999A0D16-E77E-4A49-8975-7C1114260820}"/>
              </a:ext>
            </a:extLst>
          </p:cNvPr>
          <p:cNvSpPr>
            <a:spLocks xmlns:a="http://schemas.openxmlformats.org/drawingml/2006/main" noGrp="1"/>
          </p:cNvSpPr>
          <p:nvPr/>
        </p:nvSpPr>
        <p:spPr>
          <a:xfrm xmlns:a="http://schemas.openxmlformats.org/drawingml/2006/main">
            <a:off x="457200" y="247650"/>
            <a:ext cx="1047750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INPUT ROUTES</a:t>
            </a:r>
          </a:p>
        </p:txBody>
      </p:sp>
      <p:sp>
        <p:nvSpPr>
          <p:cNvPr id="2" name="text-33">
            <a:extLst xmlns:a="http://schemas.openxmlformats.org/drawingml/2006/main">
              <a:ext uri="{FF2B5EF4-FFF2-40B4-BE49-F238E27FC236}">
                <a16:creationId xmlns:a16="http://schemas.microsoft.com/office/drawing/2014/main" id="{DC8119CD-663F-4A1B-8ABD-D6C07F7DDE33}"/>
              </a:ext>
            </a:extLst>
          </p:cNvPr>
          <p:cNvSpPr>
            <a:spLocks xmlns:a="http://schemas.openxmlformats.org/drawingml/2006/main" noGrp="1"/>
          </p:cNvSpPr>
          <p:nvPr/>
        </p:nvSpPr>
        <p:spPr>
          <a:xfrm xmlns:a="http://schemas.openxmlformats.org/drawingml/2006/main">
            <a:off x="457200" y="762000"/>
            <a:ext cx="112776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71717"/>
                </a:solidFill>
                <a:latin typeface="Arial"/>
                <a:ea typeface="Arial"/>
                <a:cs typeface="Arial"/>
              </a:defRPr>
            </a:pPr>
            <a:r>
              <a:t>Users can start with the data they already have</a:t>
            </a:r>
          </a:p>
        </p:txBody>
      </p:sp>
      <p:sp>
        <p:nvSpPr>
          <p:cNvPr id="3" name="text-34">
            <a:extLst xmlns:a="http://schemas.openxmlformats.org/drawingml/2006/main">
              <a:ext uri="{FF2B5EF4-FFF2-40B4-BE49-F238E27FC236}">
                <a16:creationId xmlns:a16="http://schemas.microsoft.com/office/drawing/2014/main" id="{EA03FF28-33FA-4E7B-86E1-5DB7A3B6A798}"/>
              </a:ext>
            </a:extLst>
          </p:cNvPr>
          <p:cNvSpPr>
            <a:spLocks xmlns:a="http://schemas.openxmlformats.org/drawingml/2006/main" noGrp="1"/>
          </p:cNvSpPr>
          <p:nvPr/>
        </p:nvSpPr>
        <p:spPr>
          <a:xfrm xmlns:a="http://schemas.openxmlformats.org/drawingml/2006/main">
            <a:off x="457200" y="6419850"/>
            <a:ext cx="952500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TELOMERE ANALYZER  /  LAB MEETING</a:t>
            </a:r>
          </a:p>
        </p:txBody>
      </p:sp>
      <p:sp>
        <p:nvSpPr>
          <p:cNvPr id="4" name="text-35">
            <a:extLst xmlns:a="http://schemas.openxmlformats.org/drawingml/2006/main">
              <a:ext uri="{FF2B5EF4-FFF2-40B4-BE49-F238E27FC236}">
                <a16:creationId xmlns:a16="http://schemas.microsoft.com/office/drawing/2014/main" id="{6E773AA9-F56E-40D3-9E30-93F2A00F70E0}"/>
              </a:ext>
            </a:extLst>
          </p:cNvPr>
          <p:cNvSpPr>
            <a:spLocks xmlns:a="http://schemas.openxmlformats.org/drawingml/2006/main" noGrp="1"/>
          </p:cNvSpPr>
          <p:nvPr/>
        </p:nvSpPr>
        <p:spPr>
          <a:xfrm xmlns:a="http://schemas.openxmlformats.org/drawingml/2006/main">
            <a:off x="11191875" y="6419850"/>
            <a:ext cx="523875"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171717"/>
                </a:solidFill>
                <a:latin typeface="Arial"/>
                <a:ea typeface="Arial"/>
                <a:cs typeface="Arial"/>
              </a:defRPr>
            </a:pPr>
            <a:r>
              <a:t>05</a:t>
            </a:r>
          </a:p>
        </p:txBody>
      </p:sp>
      <p:sp>
        <p:nvSpPr>
          <p:cNvPr id="5" name="text-36">
            <a:extLst xmlns:a="http://schemas.openxmlformats.org/drawingml/2006/main">
              <a:ext uri="{FF2B5EF4-FFF2-40B4-BE49-F238E27FC236}">
                <a16:creationId xmlns:a16="http://schemas.microsoft.com/office/drawing/2014/main" id="{11B77F0E-E6C0-46C3-8C50-FC4C35DC05B0}"/>
              </a:ext>
            </a:extLst>
          </p:cNvPr>
          <p:cNvSpPr>
            <a:spLocks xmlns:a="http://schemas.openxmlformats.org/drawingml/2006/main" noGrp="1"/>
          </p:cNvSpPr>
          <p:nvPr/>
        </p:nvSpPr>
        <p:spPr>
          <a:xfrm xmlns:a="http://schemas.openxmlformats.org/drawingml/2006/main">
            <a:off x="457200" y="2238375"/>
            <a:ext cx="333375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850" b="1">
                <a:solidFill>
                  <a:srgbClr val="171717"/>
                </a:solidFill>
                <a:latin typeface="Arial"/>
                <a:ea typeface="Arial"/>
                <a:cs typeface="Arial"/>
              </a:defRPr>
            </a:pPr>
            <a:r>
              <a:t>POD5</a:t>
            </a:r>
          </a:p>
        </p:txBody>
      </p:sp>
      <p:sp>
        <p:nvSpPr>
          <p:cNvPr id="6" name="text-37">
            <a:extLst xmlns:a="http://schemas.openxmlformats.org/drawingml/2006/main">
              <a:ext uri="{FF2B5EF4-FFF2-40B4-BE49-F238E27FC236}">
                <a16:creationId xmlns:a16="http://schemas.microsoft.com/office/drawing/2014/main" id="{9A79C92B-FCD2-4F48-ACAA-60FA06B62F50}"/>
              </a:ext>
            </a:extLst>
          </p:cNvPr>
          <p:cNvSpPr>
            <a:spLocks xmlns:a="http://schemas.openxmlformats.org/drawingml/2006/main" noGrp="1"/>
          </p:cNvSpPr>
          <p:nvPr/>
        </p:nvSpPr>
        <p:spPr>
          <a:xfrm xmlns:a="http://schemas.openxmlformats.org/drawingml/2006/main">
            <a:off x="457200" y="3000375"/>
            <a:ext cx="3333750" cy="2667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Raw signal files</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Basecalling produces reads for the downstream workflow.</a:t>
            </a:r>
          </a:p>
        </p:txBody>
      </p:sp>
      <p:sp>
        <p:nvSpPr>
          <p:cNvPr id="7" name="text-38">
            <a:extLst xmlns:a="http://schemas.openxmlformats.org/drawingml/2006/main">
              <a:ext uri="{FF2B5EF4-FFF2-40B4-BE49-F238E27FC236}">
                <a16:creationId xmlns:a16="http://schemas.microsoft.com/office/drawing/2014/main" id="{4CDC613B-DB45-4999-A606-C4E76ACCA93B}"/>
              </a:ext>
            </a:extLst>
          </p:cNvPr>
          <p:cNvSpPr>
            <a:spLocks xmlns:a="http://schemas.openxmlformats.org/drawingml/2006/main" noGrp="1"/>
          </p:cNvSpPr>
          <p:nvPr/>
        </p:nvSpPr>
        <p:spPr>
          <a:xfrm xmlns:a="http://schemas.openxmlformats.org/drawingml/2006/main">
            <a:off x="4410075" y="2238375"/>
            <a:ext cx="333375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850" b="1">
                <a:solidFill>
                  <a:srgbClr val="171717"/>
                </a:solidFill>
                <a:latin typeface="Arial"/>
                <a:ea typeface="Arial"/>
                <a:cs typeface="Arial"/>
              </a:defRPr>
            </a:pPr>
            <a:r>
              <a:t>BAM</a:t>
            </a:r>
          </a:p>
        </p:txBody>
      </p:sp>
      <p:sp>
        <p:nvSpPr>
          <p:cNvPr id="8" name="text-39">
            <a:extLst xmlns:a="http://schemas.openxmlformats.org/drawingml/2006/main">
              <a:ext uri="{FF2B5EF4-FFF2-40B4-BE49-F238E27FC236}">
                <a16:creationId xmlns:a16="http://schemas.microsoft.com/office/drawing/2014/main" id="{286A875F-CEF4-48BD-8B4A-3474568D1840}"/>
              </a:ext>
            </a:extLst>
          </p:cNvPr>
          <p:cNvSpPr>
            <a:spLocks xmlns:a="http://schemas.openxmlformats.org/drawingml/2006/main" noGrp="1"/>
          </p:cNvSpPr>
          <p:nvPr/>
        </p:nvSpPr>
        <p:spPr>
          <a:xfrm xmlns:a="http://schemas.openxmlformats.org/drawingml/2006/main">
            <a:off x="4410075" y="3000375"/>
            <a:ext cx="3333750" cy="2667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Basecalled reads</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Skip basecalling; convert reads for NanoTel analysis.</a:t>
            </a:r>
          </a:p>
        </p:txBody>
      </p:sp>
      <p:sp>
        <p:nvSpPr>
          <p:cNvPr id="9" name="text-40">
            <a:extLst xmlns:a="http://schemas.openxmlformats.org/drawingml/2006/main">
              <a:ext uri="{FF2B5EF4-FFF2-40B4-BE49-F238E27FC236}">
                <a16:creationId xmlns:a16="http://schemas.microsoft.com/office/drawing/2014/main" id="{0542154B-2BC2-4943-8096-DC6CFD5F9F5C}"/>
              </a:ext>
            </a:extLst>
          </p:cNvPr>
          <p:cNvSpPr>
            <a:spLocks xmlns:a="http://schemas.openxmlformats.org/drawingml/2006/main" noGrp="1"/>
          </p:cNvSpPr>
          <p:nvPr/>
        </p:nvSpPr>
        <p:spPr>
          <a:xfrm xmlns:a="http://schemas.openxmlformats.org/drawingml/2006/main">
            <a:off x="8362950" y="2238375"/>
            <a:ext cx="333375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850" b="1">
                <a:solidFill>
                  <a:srgbClr val="171717"/>
                </a:solidFill>
                <a:latin typeface="Arial"/>
                <a:ea typeface="Arial"/>
                <a:cs typeface="Arial"/>
              </a:defRPr>
            </a:pPr>
            <a:r>
              <a:t>FASTQ</a:t>
            </a:r>
          </a:p>
        </p:txBody>
      </p:sp>
      <p:sp>
        <p:nvSpPr>
          <p:cNvPr id="10" name="text-41">
            <a:extLst xmlns:a="http://schemas.openxmlformats.org/drawingml/2006/main">
              <a:ext uri="{FF2B5EF4-FFF2-40B4-BE49-F238E27FC236}">
                <a16:creationId xmlns:a16="http://schemas.microsoft.com/office/drawing/2014/main" id="{F934BBB9-3440-4376-9B9F-523161EE4BD3}"/>
              </a:ext>
            </a:extLst>
          </p:cNvPr>
          <p:cNvSpPr>
            <a:spLocks xmlns:a="http://schemas.openxmlformats.org/drawingml/2006/main" noGrp="1"/>
          </p:cNvSpPr>
          <p:nvPr/>
        </p:nvSpPr>
        <p:spPr>
          <a:xfrm xmlns:a="http://schemas.openxmlformats.org/drawingml/2006/main">
            <a:off x="8362950" y="3000375"/>
            <a:ext cx="3333750" cy="2667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Sequence reads</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Continue with NanoTel; barcode handling depends on input organization.</a:t>
            </a:r>
          </a:p>
        </p:txBody>
      </p:sp>
    </p:spTree>
    <p:extLst>
      <p:ext uri="{BB962C8B-B14F-4D97-AF65-F5344CB8AC3E}">
        <p14:creationId xmlns:p14="http://schemas.microsoft.com/office/powerpoint/2010/main" val="146487424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42">
            <a:extLst xmlns:a="http://schemas.openxmlformats.org/drawingml/2006/main">
              <a:ext uri="{FF2B5EF4-FFF2-40B4-BE49-F238E27FC236}">
                <a16:creationId xmlns:a16="http://schemas.microsoft.com/office/drawing/2014/main" id="{6F90A656-D6EA-458E-8BCC-67F104D488D5}"/>
              </a:ext>
            </a:extLst>
          </p:cNvPr>
          <p:cNvSpPr>
            <a:spLocks xmlns:a="http://schemas.openxmlformats.org/drawingml/2006/main" noGrp="1"/>
          </p:cNvSpPr>
          <p:nvPr/>
        </p:nvSpPr>
        <p:spPr>
          <a:xfrm xmlns:a="http://schemas.openxmlformats.org/drawingml/2006/main">
            <a:off x="457200" y="247650"/>
            <a:ext cx="1047750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USER WORKFLOW</a:t>
            </a:r>
          </a:p>
        </p:txBody>
      </p:sp>
      <p:sp>
        <p:nvSpPr>
          <p:cNvPr id="2" name="text-43">
            <a:extLst xmlns:a="http://schemas.openxmlformats.org/drawingml/2006/main">
              <a:ext uri="{FF2B5EF4-FFF2-40B4-BE49-F238E27FC236}">
                <a16:creationId xmlns:a16="http://schemas.microsoft.com/office/drawing/2014/main" id="{3D348536-BF64-41F7-A7A3-1FC6A63D736C}"/>
              </a:ext>
            </a:extLst>
          </p:cNvPr>
          <p:cNvSpPr>
            <a:spLocks xmlns:a="http://schemas.openxmlformats.org/drawingml/2006/main" noGrp="1"/>
          </p:cNvSpPr>
          <p:nvPr/>
        </p:nvSpPr>
        <p:spPr>
          <a:xfrm xmlns:a="http://schemas.openxmlformats.org/drawingml/2006/main">
            <a:off x="457200" y="762000"/>
            <a:ext cx="112776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71717"/>
                </a:solidFill>
                <a:latin typeface="Arial"/>
                <a:ea typeface="Arial"/>
                <a:cs typeface="Arial"/>
              </a:defRPr>
            </a:pPr>
            <a:r>
              <a:t>A run follows a clear sequence of choices</a:t>
            </a:r>
          </a:p>
        </p:txBody>
      </p:sp>
      <p:sp>
        <p:nvSpPr>
          <p:cNvPr id="3" name="text-44">
            <a:extLst xmlns:a="http://schemas.openxmlformats.org/drawingml/2006/main">
              <a:ext uri="{FF2B5EF4-FFF2-40B4-BE49-F238E27FC236}">
                <a16:creationId xmlns:a16="http://schemas.microsoft.com/office/drawing/2014/main" id="{BC21A008-4034-49ED-9AEF-6CC859C89EED}"/>
              </a:ext>
            </a:extLst>
          </p:cNvPr>
          <p:cNvSpPr>
            <a:spLocks xmlns:a="http://schemas.openxmlformats.org/drawingml/2006/main" noGrp="1"/>
          </p:cNvSpPr>
          <p:nvPr/>
        </p:nvSpPr>
        <p:spPr>
          <a:xfrm xmlns:a="http://schemas.openxmlformats.org/drawingml/2006/main">
            <a:off x="457200" y="6419850"/>
            <a:ext cx="952500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TELOMERE ANALYZER  /  LAB MEETING</a:t>
            </a:r>
          </a:p>
        </p:txBody>
      </p:sp>
      <p:sp>
        <p:nvSpPr>
          <p:cNvPr id="4" name="text-45">
            <a:extLst xmlns:a="http://schemas.openxmlformats.org/drawingml/2006/main">
              <a:ext uri="{FF2B5EF4-FFF2-40B4-BE49-F238E27FC236}">
                <a16:creationId xmlns:a16="http://schemas.microsoft.com/office/drawing/2014/main" id="{8F33FB1B-F182-49F4-B4B4-781B07D00A08}"/>
              </a:ext>
            </a:extLst>
          </p:cNvPr>
          <p:cNvSpPr>
            <a:spLocks xmlns:a="http://schemas.openxmlformats.org/drawingml/2006/main" noGrp="1"/>
          </p:cNvSpPr>
          <p:nvPr/>
        </p:nvSpPr>
        <p:spPr>
          <a:xfrm xmlns:a="http://schemas.openxmlformats.org/drawingml/2006/main">
            <a:off x="11191875" y="6419850"/>
            <a:ext cx="523875"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171717"/>
                </a:solidFill>
                <a:latin typeface="Arial"/>
                <a:ea typeface="Arial"/>
                <a:cs typeface="Arial"/>
              </a:defRPr>
            </a:pPr>
            <a:r>
              <a:t>06</a:t>
            </a:r>
          </a:p>
        </p:txBody>
      </p:sp>
      <p:sp>
        <p:nvSpPr>
          <p:cNvPr id="5" name="text-46">
            <a:extLst xmlns:a="http://schemas.openxmlformats.org/drawingml/2006/main">
              <a:ext uri="{FF2B5EF4-FFF2-40B4-BE49-F238E27FC236}">
                <a16:creationId xmlns:a16="http://schemas.microsoft.com/office/drawing/2014/main" id="{C4BE18BF-8027-42BB-B073-53C67BB6C5A9}"/>
              </a:ext>
            </a:extLst>
          </p:cNvPr>
          <p:cNvSpPr>
            <a:spLocks xmlns:a="http://schemas.openxmlformats.org/drawingml/2006/main" noGrp="1"/>
          </p:cNvSpPr>
          <p:nvPr/>
        </p:nvSpPr>
        <p:spPr>
          <a:xfrm xmlns:a="http://schemas.openxmlformats.org/drawingml/2006/main">
            <a:off x="457200" y="2143125"/>
            <a:ext cx="523875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1   Select data</a:t>
            </a:r>
          </a:p>
        </p:txBody>
      </p:sp>
      <p:sp>
        <p:nvSpPr>
          <p:cNvPr id="6" name="text-47">
            <a:extLst xmlns:a="http://schemas.openxmlformats.org/drawingml/2006/main">
              <a:ext uri="{FF2B5EF4-FFF2-40B4-BE49-F238E27FC236}">
                <a16:creationId xmlns:a16="http://schemas.microsoft.com/office/drawing/2014/main" id="{525504F5-2DA3-44CA-B9F5-482F37545BF5}"/>
              </a:ext>
            </a:extLst>
          </p:cNvPr>
          <p:cNvSpPr>
            <a:spLocks xmlns:a="http://schemas.openxmlformats.org/drawingml/2006/main" noGrp="1"/>
          </p:cNvSpPr>
          <p:nvPr/>
        </p:nvSpPr>
        <p:spPr>
          <a:xfrm xmlns:a="http://schemas.openxmlformats.org/drawingml/2006/main">
            <a:off x="457200" y="2714625"/>
            <a:ext cx="5238750" cy="714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Choose the input type and folder.</a:t>
            </a:r>
          </a:p>
        </p:txBody>
      </p:sp>
      <p:sp>
        <p:nvSpPr>
          <p:cNvPr id="7" name="text-48">
            <a:extLst xmlns:a="http://schemas.openxmlformats.org/drawingml/2006/main">
              <a:ext uri="{FF2B5EF4-FFF2-40B4-BE49-F238E27FC236}">
                <a16:creationId xmlns:a16="http://schemas.microsoft.com/office/drawing/2014/main" id="{7C536B84-6EC2-4B1A-A613-83604AF3EFC5}"/>
              </a:ext>
            </a:extLst>
          </p:cNvPr>
          <p:cNvSpPr>
            <a:spLocks xmlns:a="http://schemas.openxmlformats.org/drawingml/2006/main" noGrp="1"/>
          </p:cNvSpPr>
          <p:nvPr/>
        </p:nvSpPr>
        <p:spPr>
          <a:xfrm xmlns:a="http://schemas.openxmlformats.org/drawingml/2006/main">
            <a:off x="6286500" y="2143125"/>
            <a:ext cx="523875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2   Set the context</a:t>
            </a:r>
          </a:p>
        </p:txBody>
      </p:sp>
      <p:sp>
        <p:nvSpPr>
          <p:cNvPr id="8" name="text-49">
            <a:extLst xmlns:a="http://schemas.openxmlformats.org/drawingml/2006/main">
              <a:ext uri="{FF2B5EF4-FFF2-40B4-BE49-F238E27FC236}">
                <a16:creationId xmlns:a16="http://schemas.microsoft.com/office/drawing/2014/main" id="{BD2EF7AB-16E5-42DA-95D4-200712134490}"/>
              </a:ext>
            </a:extLst>
          </p:cNvPr>
          <p:cNvSpPr>
            <a:spLocks xmlns:a="http://schemas.openxmlformats.org/drawingml/2006/main" noGrp="1"/>
          </p:cNvSpPr>
          <p:nvPr/>
        </p:nvSpPr>
        <p:spPr>
          <a:xfrm xmlns:a="http://schemas.openxmlformats.org/drawingml/2006/main">
            <a:off x="6286500" y="2714625"/>
            <a:ext cx="5238750" cy="714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Choose output location and organism.</a:t>
            </a:r>
          </a:p>
        </p:txBody>
      </p:sp>
      <p:sp>
        <p:nvSpPr>
          <p:cNvPr id="9" name="text-50">
            <a:extLst xmlns:a="http://schemas.openxmlformats.org/drawingml/2006/main">
              <a:ext uri="{FF2B5EF4-FFF2-40B4-BE49-F238E27FC236}">
                <a16:creationId xmlns:a16="http://schemas.microsoft.com/office/drawing/2014/main" id="{387E85BB-C4D7-49D0-A465-3254F2659680}"/>
              </a:ext>
            </a:extLst>
          </p:cNvPr>
          <p:cNvSpPr>
            <a:spLocks xmlns:a="http://schemas.openxmlformats.org/drawingml/2006/main" noGrp="1"/>
          </p:cNvSpPr>
          <p:nvPr/>
        </p:nvSpPr>
        <p:spPr>
          <a:xfrm xmlns:a="http://schemas.openxmlformats.org/drawingml/2006/main">
            <a:off x="457200" y="4095750"/>
            <a:ext cx="523875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3   Configure analysis</a:t>
            </a:r>
          </a:p>
        </p:txBody>
      </p:sp>
      <p:sp>
        <p:nvSpPr>
          <p:cNvPr id="10" name="text-51">
            <a:extLst xmlns:a="http://schemas.openxmlformats.org/drawingml/2006/main">
              <a:ext uri="{FF2B5EF4-FFF2-40B4-BE49-F238E27FC236}">
                <a16:creationId xmlns:a16="http://schemas.microsoft.com/office/drawing/2014/main" id="{71B2F480-952F-4EAB-87DE-68ACC9A64CF4}"/>
              </a:ext>
            </a:extLst>
          </p:cNvPr>
          <p:cNvSpPr>
            <a:spLocks xmlns:a="http://schemas.openxmlformats.org/drawingml/2006/main" noGrp="1"/>
          </p:cNvSpPr>
          <p:nvPr/>
        </p:nvSpPr>
        <p:spPr>
          <a:xfrm xmlns:a="http://schemas.openxmlformats.org/drawingml/2006/main">
            <a:off x="457200" y="4667250"/>
            <a:ext cx="523875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Select stages and review parameters.</a:t>
            </a:r>
          </a:p>
        </p:txBody>
      </p:sp>
      <p:sp>
        <p:nvSpPr>
          <p:cNvPr id="11" name="text-52">
            <a:extLst xmlns:a="http://schemas.openxmlformats.org/drawingml/2006/main">
              <a:ext uri="{FF2B5EF4-FFF2-40B4-BE49-F238E27FC236}">
                <a16:creationId xmlns:a16="http://schemas.microsoft.com/office/drawing/2014/main" id="{DDFE38C2-B699-4F48-82E7-78B7E4041F1E}"/>
              </a:ext>
            </a:extLst>
          </p:cNvPr>
          <p:cNvSpPr>
            <a:spLocks xmlns:a="http://schemas.openxmlformats.org/drawingml/2006/main" noGrp="1"/>
          </p:cNvSpPr>
          <p:nvPr/>
        </p:nvSpPr>
        <p:spPr>
          <a:xfrm xmlns:a="http://schemas.openxmlformats.org/drawingml/2006/main">
            <a:off x="6286500" y="4095750"/>
            <a:ext cx="523875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4   Run and review</a:t>
            </a:r>
          </a:p>
        </p:txBody>
      </p:sp>
      <p:sp>
        <p:nvSpPr>
          <p:cNvPr id="12" name="text-53">
            <a:extLst xmlns:a="http://schemas.openxmlformats.org/drawingml/2006/main">
              <a:ext uri="{FF2B5EF4-FFF2-40B4-BE49-F238E27FC236}">
                <a16:creationId xmlns:a16="http://schemas.microsoft.com/office/drawing/2014/main" id="{AC2A4E03-5F3B-492B-88C0-1163DD2728CD}"/>
              </a:ext>
            </a:extLst>
          </p:cNvPr>
          <p:cNvSpPr>
            <a:spLocks xmlns:a="http://schemas.openxmlformats.org/drawingml/2006/main" noGrp="1"/>
          </p:cNvSpPr>
          <p:nvPr/>
        </p:nvSpPr>
        <p:spPr>
          <a:xfrm xmlns:a="http://schemas.openxmlformats.org/drawingml/2006/main">
            <a:off x="6286500" y="4667250"/>
            <a:ext cx="5238750" cy="857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Follow execution and inspect saved outputs.</a:t>
            </a:r>
          </a:p>
        </p:txBody>
      </p:sp>
    </p:spTree>
    <p:extLst>
      <p:ext uri="{BB962C8B-B14F-4D97-AF65-F5344CB8AC3E}">
        <p14:creationId xmlns:p14="http://schemas.microsoft.com/office/powerpoint/2010/main" val="16119260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54">
            <a:extLst xmlns:a="http://schemas.openxmlformats.org/drawingml/2006/main">
              <a:ext uri="{FF2B5EF4-FFF2-40B4-BE49-F238E27FC236}">
                <a16:creationId xmlns:a16="http://schemas.microsoft.com/office/drawing/2014/main" id="{71DC65A3-8786-4E05-B415-89C325464914}"/>
              </a:ext>
            </a:extLst>
          </p:cNvPr>
          <p:cNvSpPr>
            <a:spLocks xmlns:a="http://schemas.openxmlformats.org/drawingml/2006/main" noGrp="1"/>
          </p:cNvSpPr>
          <p:nvPr/>
        </p:nvSpPr>
        <p:spPr>
          <a:xfrm xmlns:a="http://schemas.openxmlformats.org/drawingml/2006/main">
            <a:off x="457200" y="247650"/>
            <a:ext cx="1047750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CONFIGURATION</a:t>
            </a:r>
          </a:p>
        </p:txBody>
      </p:sp>
      <p:sp>
        <p:nvSpPr>
          <p:cNvPr id="2" name="text-55">
            <a:extLst xmlns:a="http://schemas.openxmlformats.org/drawingml/2006/main">
              <a:ext uri="{FF2B5EF4-FFF2-40B4-BE49-F238E27FC236}">
                <a16:creationId xmlns:a16="http://schemas.microsoft.com/office/drawing/2014/main" id="{B8B59FFC-30EA-4193-BB36-B314A1AA7F99}"/>
              </a:ext>
            </a:extLst>
          </p:cNvPr>
          <p:cNvSpPr>
            <a:spLocks xmlns:a="http://schemas.openxmlformats.org/drawingml/2006/main" noGrp="1"/>
          </p:cNvSpPr>
          <p:nvPr/>
        </p:nvSpPr>
        <p:spPr>
          <a:xfrm xmlns:a="http://schemas.openxmlformats.org/drawingml/2006/main">
            <a:off x="457200" y="762000"/>
            <a:ext cx="112776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71717"/>
                </a:solidFill>
                <a:latin typeface="Arial"/>
                <a:ea typeface="Arial"/>
                <a:cs typeface="Arial"/>
              </a:defRPr>
            </a:pPr>
            <a:r>
              <a:t>Analysis options are exposed in the interface</a:t>
            </a:r>
          </a:p>
        </p:txBody>
      </p:sp>
      <p:sp>
        <p:nvSpPr>
          <p:cNvPr id="3" name="text-56">
            <a:extLst xmlns:a="http://schemas.openxmlformats.org/drawingml/2006/main">
              <a:ext uri="{FF2B5EF4-FFF2-40B4-BE49-F238E27FC236}">
                <a16:creationId xmlns:a16="http://schemas.microsoft.com/office/drawing/2014/main" id="{1C95D461-973B-494E-83D0-93DC6151D01F}"/>
              </a:ext>
            </a:extLst>
          </p:cNvPr>
          <p:cNvSpPr>
            <a:spLocks xmlns:a="http://schemas.openxmlformats.org/drawingml/2006/main" noGrp="1"/>
          </p:cNvSpPr>
          <p:nvPr/>
        </p:nvSpPr>
        <p:spPr>
          <a:xfrm xmlns:a="http://schemas.openxmlformats.org/drawingml/2006/main">
            <a:off x="457200" y="6419850"/>
            <a:ext cx="952500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TELOMERE ANALYZER  /  LAB MEETING</a:t>
            </a:r>
          </a:p>
        </p:txBody>
      </p:sp>
      <p:sp>
        <p:nvSpPr>
          <p:cNvPr id="4" name="text-57">
            <a:extLst xmlns:a="http://schemas.openxmlformats.org/drawingml/2006/main">
              <a:ext uri="{FF2B5EF4-FFF2-40B4-BE49-F238E27FC236}">
                <a16:creationId xmlns:a16="http://schemas.microsoft.com/office/drawing/2014/main" id="{D6B209B8-4C25-4283-8064-747E01E3E9CD}"/>
              </a:ext>
            </a:extLst>
          </p:cNvPr>
          <p:cNvSpPr>
            <a:spLocks xmlns:a="http://schemas.openxmlformats.org/drawingml/2006/main" noGrp="1"/>
          </p:cNvSpPr>
          <p:nvPr/>
        </p:nvSpPr>
        <p:spPr>
          <a:xfrm xmlns:a="http://schemas.openxmlformats.org/drawingml/2006/main">
            <a:off x="11191875" y="6419850"/>
            <a:ext cx="523875"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171717"/>
                </a:solidFill>
                <a:latin typeface="Arial"/>
                <a:ea typeface="Arial"/>
                <a:cs typeface="Arial"/>
              </a:defRPr>
            </a:pPr>
            <a:r>
              <a:t>07</a:t>
            </a:r>
          </a:p>
        </p:txBody>
      </p:sp>
      <p:sp>
        <p:nvSpPr>
          <p:cNvPr id="5" name="text-58">
            <a:extLst xmlns:a="http://schemas.openxmlformats.org/drawingml/2006/main">
              <a:ext uri="{FF2B5EF4-FFF2-40B4-BE49-F238E27FC236}">
                <a16:creationId xmlns:a16="http://schemas.microsoft.com/office/drawing/2014/main" id="{66E9E5AB-8355-41D8-9FAD-029ADB7E9CE6}"/>
              </a:ext>
            </a:extLst>
          </p:cNvPr>
          <p:cNvSpPr>
            <a:spLocks xmlns:a="http://schemas.openxmlformats.org/drawingml/2006/main" noGrp="1"/>
          </p:cNvSpPr>
          <p:nvPr/>
        </p:nvSpPr>
        <p:spPr>
          <a:xfrm xmlns:a="http://schemas.openxmlformats.org/drawingml/2006/main">
            <a:off x="457200" y="2143125"/>
            <a:ext cx="5334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Basecalling options</a:t>
            </a:r>
          </a:p>
        </p:txBody>
      </p:sp>
      <p:sp>
        <p:nvSpPr>
          <p:cNvPr id="6" name="text-59">
            <a:extLst xmlns:a="http://schemas.openxmlformats.org/drawingml/2006/main">
              <a:ext uri="{FF2B5EF4-FFF2-40B4-BE49-F238E27FC236}">
                <a16:creationId xmlns:a16="http://schemas.microsoft.com/office/drawing/2014/main" id="{5C31BE32-4569-45BA-BE6C-780DFA61E77B}"/>
              </a:ext>
            </a:extLst>
          </p:cNvPr>
          <p:cNvSpPr>
            <a:spLocks xmlns:a="http://schemas.openxmlformats.org/drawingml/2006/main" noGrp="1"/>
          </p:cNvSpPr>
          <p:nvPr/>
        </p:nvSpPr>
        <p:spPr>
          <a:xfrm xmlns:a="http://schemas.openxmlformats.org/drawingml/2006/main">
            <a:off x="457200" y="2857500"/>
            <a:ext cx="5219700" cy="2952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No modified-base detection</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5mCpG or 5mCpG + 5hmCpG</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Optional chromosome mapping</a:t>
            </a:r>
          </a:p>
        </p:txBody>
      </p:sp>
      <p:sp>
        <p:nvSpPr>
          <p:cNvPr id="7" name="text-60">
            <a:extLst xmlns:a="http://schemas.openxmlformats.org/drawingml/2006/main">
              <a:ext uri="{FF2B5EF4-FFF2-40B4-BE49-F238E27FC236}">
                <a16:creationId xmlns:a16="http://schemas.microsoft.com/office/drawing/2014/main" id="{2B8F96C1-5B37-4FFD-9220-9C45C2833426}"/>
              </a:ext>
            </a:extLst>
          </p:cNvPr>
          <p:cNvSpPr>
            <a:spLocks xmlns:a="http://schemas.openxmlformats.org/drawingml/2006/main" noGrp="1"/>
          </p:cNvSpPr>
          <p:nvPr/>
        </p:nvSpPr>
        <p:spPr>
          <a:xfrm xmlns:a="http://schemas.openxmlformats.org/drawingml/2006/main">
            <a:off x="6286500" y="2143125"/>
            <a:ext cx="542925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NanoTel options</a:t>
            </a:r>
          </a:p>
        </p:txBody>
      </p:sp>
      <p:sp>
        <p:nvSpPr>
          <p:cNvPr id="8" name="text-61">
            <a:extLst xmlns:a="http://schemas.openxmlformats.org/drawingml/2006/main">
              <a:ext uri="{FF2B5EF4-FFF2-40B4-BE49-F238E27FC236}">
                <a16:creationId xmlns:a16="http://schemas.microsoft.com/office/drawing/2014/main" id="{10345EA5-A65A-4214-B67C-A3EF3ADB17C4}"/>
              </a:ext>
            </a:extLst>
          </p:cNvPr>
          <p:cNvSpPr>
            <a:spLocks xmlns:a="http://schemas.openxmlformats.org/drawingml/2006/main" noGrp="1"/>
          </p:cNvSpPr>
          <p:nvPr/>
        </p:nvSpPr>
        <p:spPr>
          <a:xfrm xmlns:a="http://schemas.openxmlformats.org/drawingml/2006/main">
            <a:off x="6286500" y="2857500"/>
            <a:ext cx="5334000" cy="2952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TVR presets, TSQ1 or manual patterns</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Read length, density and edge filters</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Short-telomere cutoff and summary-only output</a:t>
            </a:r>
          </a:p>
        </p:txBody>
      </p:sp>
    </p:spTree>
    <p:extLst>
      <p:ext uri="{BB962C8B-B14F-4D97-AF65-F5344CB8AC3E}">
        <p14:creationId xmlns:p14="http://schemas.microsoft.com/office/powerpoint/2010/main" val="207771450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62">
            <a:extLst xmlns:a="http://schemas.openxmlformats.org/drawingml/2006/main">
              <a:ext uri="{FF2B5EF4-FFF2-40B4-BE49-F238E27FC236}">
                <a16:creationId xmlns:a16="http://schemas.microsoft.com/office/drawing/2014/main" id="{03B3339A-0E49-4FB9-B6E5-87875BBFDF5E}"/>
              </a:ext>
            </a:extLst>
          </p:cNvPr>
          <p:cNvSpPr>
            <a:spLocks xmlns:a="http://schemas.openxmlformats.org/drawingml/2006/main" noGrp="1"/>
          </p:cNvSpPr>
          <p:nvPr/>
        </p:nvSpPr>
        <p:spPr>
          <a:xfrm xmlns:a="http://schemas.openxmlformats.org/drawingml/2006/main">
            <a:off x="457200" y="247650"/>
            <a:ext cx="1047750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RELIABILITY</a:t>
            </a:r>
          </a:p>
        </p:txBody>
      </p:sp>
      <p:sp>
        <p:nvSpPr>
          <p:cNvPr id="2" name="text-63">
            <a:extLst xmlns:a="http://schemas.openxmlformats.org/drawingml/2006/main">
              <a:ext uri="{FF2B5EF4-FFF2-40B4-BE49-F238E27FC236}">
                <a16:creationId xmlns:a16="http://schemas.microsoft.com/office/drawing/2014/main" id="{35E473EE-B79F-43D4-ADA6-2FCFBEC72B93}"/>
              </a:ext>
            </a:extLst>
          </p:cNvPr>
          <p:cNvSpPr>
            <a:spLocks xmlns:a="http://schemas.openxmlformats.org/drawingml/2006/main" noGrp="1"/>
          </p:cNvSpPr>
          <p:nvPr/>
        </p:nvSpPr>
        <p:spPr>
          <a:xfrm xmlns:a="http://schemas.openxmlformats.org/drawingml/2006/main">
            <a:off x="457200" y="762000"/>
            <a:ext cx="112776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71717"/>
                </a:solidFill>
                <a:latin typeface="Arial"/>
                <a:ea typeface="Arial"/>
                <a:cs typeface="Arial"/>
              </a:defRPr>
            </a:pPr>
            <a:r>
              <a:t>Input checks catch problems before execution</a:t>
            </a:r>
          </a:p>
        </p:txBody>
      </p:sp>
      <p:sp>
        <p:nvSpPr>
          <p:cNvPr id="3" name="text-64">
            <a:extLst xmlns:a="http://schemas.openxmlformats.org/drawingml/2006/main">
              <a:ext uri="{FF2B5EF4-FFF2-40B4-BE49-F238E27FC236}">
                <a16:creationId xmlns:a16="http://schemas.microsoft.com/office/drawing/2014/main" id="{21C47368-F23F-4BE5-9A36-50A9C716208D}"/>
              </a:ext>
            </a:extLst>
          </p:cNvPr>
          <p:cNvSpPr>
            <a:spLocks xmlns:a="http://schemas.openxmlformats.org/drawingml/2006/main" noGrp="1"/>
          </p:cNvSpPr>
          <p:nvPr/>
        </p:nvSpPr>
        <p:spPr>
          <a:xfrm xmlns:a="http://schemas.openxmlformats.org/drawingml/2006/main">
            <a:off x="457200" y="6419850"/>
            <a:ext cx="952500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TELOMERE ANALYZER  /  LAB MEETING</a:t>
            </a:r>
          </a:p>
        </p:txBody>
      </p:sp>
      <p:sp>
        <p:nvSpPr>
          <p:cNvPr id="4" name="text-65">
            <a:extLst xmlns:a="http://schemas.openxmlformats.org/drawingml/2006/main">
              <a:ext uri="{FF2B5EF4-FFF2-40B4-BE49-F238E27FC236}">
                <a16:creationId xmlns:a16="http://schemas.microsoft.com/office/drawing/2014/main" id="{673F6F5B-F3FB-4281-9A58-337D4CADFC42}"/>
              </a:ext>
            </a:extLst>
          </p:cNvPr>
          <p:cNvSpPr>
            <a:spLocks xmlns:a="http://schemas.openxmlformats.org/drawingml/2006/main" noGrp="1"/>
          </p:cNvSpPr>
          <p:nvPr/>
        </p:nvSpPr>
        <p:spPr>
          <a:xfrm xmlns:a="http://schemas.openxmlformats.org/drawingml/2006/main">
            <a:off x="11191875" y="6419850"/>
            <a:ext cx="523875"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171717"/>
                </a:solidFill>
                <a:latin typeface="Arial"/>
                <a:ea typeface="Arial"/>
                <a:cs typeface="Arial"/>
              </a:defRPr>
            </a:pPr>
            <a:r>
              <a:t>08</a:t>
            </a:r>
          </a:p>
        </p:txBody>
      </p:sp>
      <p:sp>
        <p:nvSpPr>
          <p:cNvPr id="5" name="text-66">
            <a:extLst xmlns:a="http://schemas.openxmlformats.org/drawingml/2006/main">
              <a:ext uri="{FF2B5EF4-FFF2-40B4-BE49-F238E27FC236}">
                <a16:creationId xmlns:a16="http://schemas.microsoft.com/office/drawing/2014/main" id="{2241697C-3F70-4C81-B150-EA20310A553F}"/>
              </a:ext>
            </a:extLst>
          </p:cNvPr>
          <p:cNvSpPr>
            <a:spLocks xmlns:a="http://schemas.openxmlformats.org/drawingml/2006/main" noGrp="1"/>
          </p:cNvSpPr>
          <p:nvPr/>
        </p:nvSpPr>
        <p:spPr>
          <a:xfrm xmlns:a="http://schemas.openxmlformats.org/drawingml/2006/main">
            <a:off x="457200" y="2143125"/>
            <a:ext cx="5334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Checks implemented</a:t>
            </a:r>
          </a:p>
        </p:txBody>
      </p:sp>
      <p:sp>
        <p:nvSpPr>
          <p:cNvPr id="6" name="text-67">
            <a:extLst xmlns:a="http://schemas.openxmlformats.org/drawingml/2006/main">
              <a:ext uri="{FF2B5EF4-FFF2-40B4-BE49-F238E27FC236}">
                <a16:creationId xmlns:a16="http://schemas.microsoft.com/office/drawing/2014/main" id="{4363A725-8426-40E5-8615-BAAD212C3E2D}"/>
              </a:ext>
            </a:extLst>
          </p:cNvPr>
          <p:cNvSpPr>
            <a:spLocks xmlns:a="http://schemas.openxmlformats.org/drawingml/2006/main" noGrp="1"/>
          </p:cNvSpPr>
          <p:nvPr/>
        </p:nvSpPr>
        <p:spPr>
          <a:xfrm xmlns:a="http://schemas.openxmlformats.org/drawingml/2006/main">
            <a:off x="457200" y="2857500"/>
            <a:ext cx="5219700" cy="2952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Expected input files are present</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Selected stages match the input</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BAM alignment and modification metadata are inspected</a:t>
            </a:r>
          </a:p>
        </p:txBody>
      </p:sp>
      <p:sp>
        <p:nvSpPr>
          <p:cNvPr id="7" name="text-68">
            <a:extLst xmlns:a="http://schemas.openxmlformats.org/drawingml/2006/main">
              <a:ext uri="{FF2B5EF4-FFF2-40B4-BE49-F238E27FC236}">
                <a16:creationId xmlns:a16="http://schemas.microsoft.com/office/drawing/2014/main" id="{933EF28D-5665-4DF9-9504-00FAC38839E2}"/>
              </a:ext>
            </a:extLst>
          </p:cNvPr>
          <p:cNvSpPr>
            <a:spLocks xmlns:a="http://schemas.openxmlformats.org/drawingml/2006/main" noGrp="1"/>
          </p:cNvSpPr>
          <p:nvPr/>
        </p:nvSpPr>
        <p:spPr>
          <a:xfrm xmlns:a="http://schemas.openxmlformats.org/drawingml/2006/main">
            <a:off x="6286500" y="2143125"/>
            <a:ext cx="542925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Why this matters</a:t>
            </a:r>
          </a:p>
        </p:txBody>
      </p:sp>
      <p:sp>
        <p:nvSpPr>
          <p:cNvPr id="8" name="text-69">
            <a:extLst xmlns:a="http://schemas.openxmlformats.org/drawingml/2006/main">
              <a:ext uri="{FF2B5EF4-FFF2-40B4-BE49-F238E27FC236}">
                <a16:creationId xmlns:a16="http://schemas.microsoft.com/office/drawing/2014/main" id="{41B5BFB1-B709-4BBF-8AD8-ABE4C976F326}"/>
              </a:ext>
            </a:extLst>
          </p:cNvPr>
          <p:cNvSpPr>
            <a:spLocks xmlns:a="http://schemas.openxmlformats.org/drawingml/2006/main" noGrp="1"/>
          </p:cNvSpPr>
          <p:nvPr/>
        </p:nvSpPr>
        <p:spPr>
          <a:xfrm xmlns:a="http://schemas.openxmlformats.org/drawingml/2006/main">
            <a:off x="6286500" y="2857500"/>
            <a:ext cx="5334000" cy="2952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Explain missing or incompatible inputs before an expensive run.</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BAM inspection samples files and reads; it is not a complete data audit.</a:t>
            </a:r>
          </a:p>
        </p:txBody>
      </p:sp>
    </p:spTree>
    <p:extLst>
      <p:ext uri="{BB962C8B-B14F-4D97-AF65-F5344CB8AC3E}">
        <p14:creationId xmlns:p14="http://schemas.microsoft.com/office/powerpoint/2010/main" val="138039891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70">
            <a:extLst xmlns:a="http://schemas.openxmlformats.org/drawingml/2006/main">
              <a:ext uri="{FF2B5EF4-FFF2-40B4-BE49-F238E27FC236}">
                <a16:creationId xmlns:a16="http://schemas.microsoft.com/office/drawing/2014/main" id="{72FBBB85-8A07-468A-94F0-0D3FD1C28C11}"/>
              </a:ext>
            </a:extLst>
          </p:cNvPr>
          <p:cNvSpPr>
            <a:spLocks xmlns:a="http://schemas.openxmlformats.org/drawingml/2006/main" noGrp="1"/>
          </p:cNvSpPr>
          <p:nvPr/>
        </p:nvSpPr>
        <p:spPr>
          <a:xfrm xmlns:a="http://schemas.openxmlformats.org/drawingml/2006/main">
            <a:off x="457200" y="247650"/>
            <a:ext cx="1047750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IMPLEMENTATION</a:t>
            </a:r>
          </a:p>
        </p:txBody>
      </p:sp>
      <p:sp>
        <p:nvSpPr>
          <p:cNvPr id="2" name="text-71">
            <a:extLst xmlns:a="http://schemas.openxmlformats.org/drawingml/2006/main">
              <a:ext uri="{FF2B5EF4-FFF2-40B4-BE49-F238E27FC236}">
                <a16:creationId xmlns:a16="http://schemas.microsoft.com/office/drawing/2014/main" id="{41C9290D-9F1C-43C9-AD70-3C6546A4A6C1}"/>
              </a:ext>
            </a:extLst>
          </p:cNvPr>
          <p:cNvSpPr>
            <a:spLocks xmlns:a="http://schemas.openxmlformats.org/drawingml/2006/main" noGrp="1"/>
          </p:cNvSpPr>
          <p:nvPr/>
        </p:nvSpPr>
        <p:spPr>
          <a:xfrm xmlns:a="http://schemas.openxmlformats.org/drawingml/2006/main">
            <a:off x="457200" y="762000"/>
            <a:ext cx="112776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71717"/>
                </a:solidFill>
                <a:latin typeface="Arial"/>
                <a:ea typeface="Arial"/>
                <a:cs typeface="Arial"/>
              </a:defRPr>
            </a:pPr>
            <a:r>
              <a:t>Long analyses run through a separate worker</a:t>
            </a:r>
          </a:p>
        </p:txBody>
      </p:sp>
      <p:sp>
        <p:nvSpPr>
          <p:cNvPr id="3" name="text-72">
            <a:extLst xmlns:a="http://schemas.openxmlformats.org/drawingml/2006/main">
              <a:ext uri="{FF2B5EF4-FFF2-40B4-BE49-F238E27FC236}">
                <a16:creationId xmlns:a16="http://schemas.microsoft.com/office/drawing/2014/main" id="{3D8C20EE-A9AC-4F6B-9BA8-657B310C3666}"/>
              </a:ext>
            </a:extLst>
          </p:cNvPr>
          <p:cNvSpPr>
            <a:spLocks xmlns:a="http://schemas.openxmlformats.org/drawingml/2006/main" noGrp="1"/>
          </p:cNvSpPr>
          <p:nvPr/>
        </p:nvSpPr>
        <p:spPr>
          <a:xfrm xmlns:a="http://schemas.openxmlformats.org/drawingml/2006/main">
            <a:off x="457200" y="6419850"/>
            <a:ext cx="952500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TELOMERE ANALYZER  /  LAB MEETING</a:t>
            </a:r>
          </a:p>
        </p:txBody>
      </p:sp>
      <p:sp>
        <p:nvSpPr>
          <p:cNvPr id="4" name="text-73">
            <a:extLst xmlns:a="http://schemas.openxmlformats.org/drawingml/2006/main">
              <a:ext uri="{FF2B5EF4-FFF2-40B4-BE49-F238E27FC236}">
                <a16:creationId xmlns:a16="http://schemas.microsoft.com/office/drawing/2014/main" id="{99A3E298-F7F4-4388-A73A-FB15EE224C79}"/>
              </a:ext>
            </a:extLst>
          </p:cNvPr>
          <p:cNvSpPr>
            <a:spLocks xmlns:a="http://schemas.openxmlformats.org/drawingml/2006/main" noGrp="1"/>
          </p:cNvSpPr>
          <p:nvPr/>
        </p:nvSpPr>
        <p:spPr>
          <a:xfrm xmlns:a="http://schemas.openxmlformats.org/drawingml/2006/main">
            <a:off x="11191875" y="6419850"/>
            <a:ext cx="523875"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171717"/>
                </a:solidFill>
                <a:latin typeface="Arial"/>
                <a:ea typeface="Arial"/>
                <a:cs typeface="Arial"/>
              </a:defRPr>
            </a:pPr>
            <a:r>
              <a:t>09</a:t>
            </a:r>
          </a:p>
        </p:txBody>
      </p:sp>
      <p:sp>
        <p:nvSpPr>
          <p:cNvPr id="5" name="text-74">
            <a:extLst xmlns:a="http://schemas.openxmlformats.org/drawingml/2006/main">
              <a:ext uri="{FF2B5EF4-FFF2-40B4-BE49-F238E27FC236}">
                <a16:creationId xmlns:a16="http://schemas.microsoft.com/office/drawing/2014/main" id="{E26CFE8E-D4CE-40DA-8DE7-C593458F28D0}"/>
              </a:ext>
            </a:extLst>
          </p:cNvPr>
          <p:cNvSpPr>
            <a:spLocks xmlns:a="http://schemas.openxmlformats.org/drawingml/2006/main" noGrp="1"/>
          </p:cNvSpPr>
          <p:nvPr/>
        </p:nvSpPr>
        <p:spPr>
          <a:xfrm xmlns:a="http://schemas.openxmlformats.org/drawingml/2006/main">
            <a:off x="457200" y="2143125"/>
            <a:ext cx="5334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Separation of responsibilities</a:t>
            </a:r>
          </a:p>
        </p:txBody>
      </p:sp>
      <p:sp>
        <p:nvSpPr>
          <p:cNvPr id="6" name="text-75">
            <a:extLst xmlns:a="http://schemas.openxmlformats.org/drawingml/2006/main">
              <a:ext uri="{FF2B5EF4-FFF2-40B4-BE49-F238E27FC236}">
                <a16:creationId xmlns:a16="http://schemas.microsoft.com/office/drawing/2014/main" id="{E6F2451E-5627-4EC0-A343-95640299630E}"/>
              </a:ext>
            </a:extLst>
          </p:cNvPr>
          <p:cNvSpPr>
            <a:spLocks xmlns:a="http://schemas.openxmlformats.org/drawingml/2006/main" noGrp="1"/>
          </p:cNvSpPr>
          <p:nvPr/>
        </p:nvSpPr>
        <p:spPr>
          <a:xfrm xmlns:a="http://schemas.openxmlformats.org/drawingml/2006/main">
            <a:off x="457200" y="2857500"/>
            <a:ext cx="5219700" cy="2952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GUI collects user choices</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Service prepares the workflow</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Backend executes analysis stages</a:t>
            </a:r>
          </a:p>
        </p:txBody>
      </p:sp>
      <p:sp>
        <p:nvSpPr>
          <p:cNvPr id="7" name="text-76">
            <a:extLst xmlns:a="http://schemas.openxmlformats.org/drawingml/2006/main">
              <a:ext uri="{FF2B5EF4-FFF2-40B4-BE49-F238E27FC236}">
                <a16:creationId xmlns:a16="http://schemas.microsoft.com/office/drawing/2014/main" id="{FE4C00F9-1DA1-40F1-A2D7-165B0F2F8877}"/>
              </a:ext>
            </a:extLst>
          </p:cNvPr>
          <p:cNvSpPr>
            <a:spLocks xmlns:a="http://schemas.openxmlformats.org/drawingml/2006/main" noGrp="1"/>
          </p:cNvSpPr>
          <p:nvPr/>
        </p:nvSpPr>
        <p:spPr>
          <a:xfrm xmlns:a="http://schemas.openxmlformats.org/drawingml/2006/main">
            <a:off x="6286500" y="2143125"/>
            <a:ext cx="542925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Execution feedback</a:t>
            </a:r>
          </a:p>
        </p:txBody>
      </p:sp>
      <p:sp>
        <p:nvSpPr>
          <p:cNvPr id="8" name="text-77">
            <a:extLst xmlns:a="http://schemas.openxmlformats.org/drawingml/2006/main">
              <a:ext uri="{FF2B5EF4-FFF2-40B4-BE49-F238E27FC236}">
                <a16:creationId xmlns:a16="http://schemas.microsoft.com/office/drawing/2014/main" id="{E1F778F0-3F1B-46B4-B6DC-AC697AF8D2F7}"/>
              </a:ext>
            </a:extLst>
          </p:cNvPr>
          <p:cNvSpPr>
            <a:spLocks xmlns:a="http://schemas.openxmlformats.org/drawingml/2006/main" noGrp="1"/>
          </p:cNvSpPr>
          <p:nvPr/>
        </p:nvSpPr>
        <p:spPr>
          <a:xfrm xmlns:a="http://schemas.openxmlformats.org/drawingml/2006/main">
            <a:off x="6286500" y="2857500"/>
            <a:ext cx="5334000" cy="2952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Background worker runs the job</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Logs and progress reach the GUI</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Cancel requests are checked by the workflow</a:t>
            </a:r>
          </a:p>
        </p:txBody>
      </p:sp>
    </p:spTree>
    <p:extLst>
      <p:ext uri="{BB962C8B-B14F-4D97-AF65-F5344CB8AC3E}">
        <p14:creationId xmlns:p14="http://schemas.microsoft.com/office/powerpoint/2010/main" val="179098739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78">
            <a:extLst xmlns:a="http://schemas.openxmlformats.org/drawingml/2006/main">
              <a:ext uri="{FF2B5EF4-FFF2-40B4-BE49-F238E27FC236}">
                <a16:creationId xmlns:a16="http://schemas.microsoft.com/office/drawing/2014/main" id="{C16EAB6F-941D-4495-B761-B8AD42420ADF}"/>
              </a:ext>
            </a:extLst>
          </p:cNvPr>
          <p:cNvSpPr>
            <a:spLocks xmlns:a="http://schemas.openxmlformats.org/drawingml/2006/main" noGrp="1"/>
          </p:cNvSpPr>
          <p:nvPr/>
        </p:nvSpPr>
        <p:spPr>
          <a:xfrm xmlns:a="http://schemas.openxmlformats.org/drawingml/2006/main">
            <a:off x="457200" y="247650"/>
            <a:ext cx="1047750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OUTPUTS</a:t>
            </a:r>
          </a:p>
        </p:txBody>
      </p:sp>
      <p:sp>
        <p:nvSpPr>
          <p:cNvPr id="2" name="text-79">
            <a:extLst xmlns:a="http://schemas.openxmlformats.org/drawingml/2006/main">
              <a:ext uri="{FF2B5EF4-FFF2-40B4-BE49-F238E27FC236}">
                <a16:creationId xmlns:a16="http://schemas.microsoft.com/office/drawing/2014/main" id="{369B3B20-F95F-4601-9B0C-5A155A3D1A90}"/>
              </a:ext>
            </a:extLst>
          </p:cNvPr>
          <p:cNvSpPr>
            <a:spLocks xmlns:a="http://schemas.openxmlformats.org/drawingml/2006/main" noGrp="1"/>
          </p:cNvSpPr>
          <p:nvPr/>
        </p:nvSpPr>
        <p:spPr>
          <a:xfrm xmlns:a="http://schemas.openxmlformats.org/drawingml/2006/main">
            <a:off x="457200" y="762000"/>
            <a:ext cx="112776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71717"/>
                </a:solidFill>
                <a:latin typeface="Arial"/>
                <a:ea typeface="Arial"/>
                <a:cs typeface="Arial"/>
              </a:defRPr>
            </a:pPr>
            <a:r>
              <a:t>Saved outputs support review at several levels</a:t>
            </a:r>
          </a:p>
        </p:txBody>
      </p:sp>
      <p:sp>
        <p:nvSpPr>
          <p:cNvPr id="3" name="text-80">
            <a:extLst xmlns:a="http://schemas.openxmlformats.org/drawingml/2006/main">
              <a:ext uri="{FF2B5EF4-FFF2-40B4-BE49-F238E27FC236}">
                <a16:creationId xmlns:a16="http://schemas.microsoft.com/office/drawing/2014/main" id="{FFA138A8-BD2A-4EE7-B7DE-418FF77FBFBC}"/>
              </a:ext>
            </a:extLst>
          </p:cNvPr>
          <p:cNvSpPr>
            <a:spLocks xmlns:a="http://schemas.openxmlformats.org/drawingml/2006/main" noGrp="1"/>
          </p:cNvSpPr>
          <p:nvPr/>
        </p:nvSpPr>
        <p:spPr>
          <a:xfrm xmlns:a="http://schemas.openxmlformats.org/drawingml/2006/main">
            <a:off x="457200" y="6419850"/>
            <a:ext cx="952500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TELOMERE ANALYZER  /  LAB MEETING</a:t>
            </a:r>
          </a:p>
        </p:txBody>
      </p:sp>
      <p:sp>
        <p:nvSpPr>
          <p:cNvPr id="4" name="text-81">
            <a:extLst xmlns:a="http://schemas.openxmlformats.org/drawingml/2006/main">
              <a:ext uri="{FF2B5EF4-FFF2-40B4-BE49-F238E27FC236}">
                <a16:creationId xmlns:a16="http://schemas.microsoft.com/office/drawing/2014/main" id="{A42EB9CD-3158-4F64-92D3-6512BF272B18}"/>
              </a:ext>
            </a:extLst>
          </p:cNvPr>
          <p:cNvSpPr>
            <a:spLocks xmlns:a="http://schemas.openxmlformats.org/drawingml/2006/main" noGrp="1"/>
          </p:cNvSpPr>
          <p:nvPr/>
        </p:nvSpPr>
        <p:spPr>
          <a:xfrm xmlns:a="http://schemas.openxmlformats.org/drawingml/2006/main">
            <a:off x="11191875" y="6419850"/>
            <a:ext cx="523875"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171717"/>
                </a:solidFill>
                <a:latin typeface="Arial"/>
                <a:ea typeface="Arial"/>
                <a:cs typeface="Arial"/>
              </a:defRPr>
            </a:pPr>
            <a:r>
              <a:t>10</a:t>
            </a:r>
          </a:p>
        </p:txBody>
      </p:sp>
      <p:sp>
        <p:nvSpPr>
          <p:cNvPr id="5" name="text-82">
            <a:extLst xmlns:a="http://schemas.openxmlformats.org/drawingml/2006/main">
              <a:ext uri="{FF2B5EF4-FFF2-40B4-BE49-F238E27FC236}">
                <a16:creationId xmlns:a16="http://schemas.microsoft.com/office/drawing/2014/main" id="{9A744B27-983F-4ACC-8003-3EE85BC4BC58}"/>
              </a:ext>
            </a:extLst>
          </p:cNvPr>
          <p:cNvSpPr>
            <a:spLocks xmlns:a="http://schemas.openxmlformats.org/drawingml/2006/main" noGrp="1"/>
          </p:cNvSpPr>
          <p:nvPr/>
        </p:nvSpPr>
        <p:spPr>
          <a:xfrm xmlns:a="http://schemas.openxmlformats.org/drawingml/2006/main">
            <a:off x="457200" y="2143125"/>
            <a:ext cx="5334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Detailed output</a:t>
            </a:r>
          </a:p>
        </p:txBody>
      </p:sp>
      <p:sp>
        <p:nvSpPr>
          <p:cNvPr id="6" name="text-83">
            <a:extLst xmlns:a="http://schemas.openxmlformats.org/drawingml/2006/main">
              <a:ext uri="{FF2B5EF4-FFF2-40B4-BE49-F238E27FC236}">
                <a16:creationId xmlns:a16="http://schemas.microsoft.com/office/drawing/2014/main" id="{0A8E4079-383A-4A69-B413-C98F88BFB4A9}"/>
              </a:ext>
            </a:extLst>
          </p:cNvPr>
          <p:cNvSpPr>
            <a:spLocks xmlns:a="http://schemas.openxmlformats.org/drawingml/2006/main" noGrp="1"/>
          </p:cNvSpPr>
          <p:nvPr/>
        </p:nvSpPr>
        <p:spPr>
          <a:xfrm xmlns:a="http://schemas.openxmlformats.org/drawingml/2006/main">
            <a:off x="457200" y="2857500"/>
            <a:ext cx="5219700" cy="2952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Per-read density plots and sequences</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Per-barcode and filtered summaries</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Aggregate statistics and run reports</a:t>
            </a:r>
          </a:p>
        </p:txBody>
      </p:sp>
      <p:sp>
        <p:nvSpPr>
          <p:cNvPr id="7" name="text-84">
            <a:extLst xmlns:a="http://schemas.openxmlformats.org/drawingml/2006/main">
              <a:ext uri="{FF2B5EF4-FFF2-40B4-BE49-F238E27FC236}">
                <a16:creationId xmlns:a16="http://schemas.microsoft.com/office/drawing/2014/main" id="{960A6AE8-0038-4FCB-94F9-11F29E73C33C}"/>
              </a:ext>
            </a:extLst>
          </p:cNvPr>
          <p:cNvSpPr>
            <a:spLocks xmlns:a="http://schemas.openxmlformats.org/drawingml/2006/main" noGrp="1"/>
          </p:cNvSpPr>
          <p:nvPr/>
        </p:nvSpPr>
        <p:spPr>
          <a:xfrm xmlns:a="http://schemas.openxmlformats.org/drawingml/2006/main">
            <a:off x="6286500" y="2143125"/>
            <a:ext cx="542925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Compact output</a:t>
            </a:r>
          </a:p>
        </p:txBody>
      </p:sp>
      <p:sp>
        <p:nvSpPr>
          <p:cNvPr id="8" name="text-85">
            <a:extLst xmlns:a="http://schemas.openxmlformats.org/drawingml/2006/main">
              <a:ext uri="{FF2B5EF4-FFF2-40B4-BE49-F238E27FC236}">
                <a16:creationId xmlns:a16="http://schemas.microsoft.com/office/drawing/2014/main" id="{1F014FEF-5C21-4A60-9F3B-0F89A07929C5}"/>
              </a:ext>
            </a:extLst>
          </p:cNvPr>
          <p:cNvSpPr>
            <a:spLocks xmlns:a="http://schemas.openxmlformats.org/drawingml/2006/main" noGrp="1"/>
          </p:cNvSpPr>
          <p:nvPr/>
        </p:nvSpPr>
        <p:spPr>
          <a:xfrm xmlns:a="http://schemas.openxmlformats.org/drawingml/2006/main">
            <a:off x="6286500" y="2857500"/>
            <a:ext cx="5334000" cy="2952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Summary-only mode keeps summaries in one Excel workbook.</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Individual read plots and FASTA files are skipped in this mode.</a:t>
            </a:r>
          </a:p>
        </p:txBody>
      </p:sp>
    </p:spTree>
    <p:extLst>
      <p:ext uri="{BB962C8B-B14F-4D97-AF65-F5344CB8AC3E}">
        <p14:creationId xmlns:p14="http://schemas.microsoft.com/office/powerpoint/2010/main" val="90310709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86">
            <a:extLst xmlns:a="http://schemas.openxmlformats.org/drawingml/2006/main">
              <a:ext uri="{FF2B5EF4-FFF2-40B4-BE49-F238E27FC236}">
                <a16:creationId xmlns:a16="http://schemas.microsoft.com/office/drawing/2014/main" id="{DF418008-4DC2-48C2-BB23-8F845F89EB94}"/>
              </a:ext>
            </a:extLst>
          </p:cNvPr>
          <p:cNvSpPr>
            <a:spLocks xmlns:a="http://schemas.openxmlformats.org/drawingml/2006/main" noGrp="1"/>
          </p:cNvSpPr>
          <p:nvPr/>
        </p:nvSpPr>
        <p:spPr>
          <a:xfrm xmlns:a="http://schemas.openxmlformats.org/drawingml/2006/main">
            <a:off x="457200" y="247650"/>
            <a:ext cx="1047750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EXAMPLE RUN • 14 SEPTEMBER 2026</a:t>
            </a:r>
          </a:p>
        </p:txBody>
      </p:sp>
      <p:sp>
        <p:nvSpPr>
          <p:cNvPr id="2" name="text-87">
            <a:extLst xmlns:a="http://schemas.openxmlformats.org/drawingml/2006/main">
              <a:ext uri="{FF2B5EF4-FFF2-40B4-BE49-F238E27FC236}">
                <a16:creationId xmlns:a16="http://schemas.microsoft.com/office/drawing/2014/main" id="{7987D81A-B5AA-4BFB-810F-6C90024EA803}"/>
              </a:ext>
            </a:extLst>
          </p:cNvPr>
          <p:cNvSpPr>
            <a:spLocks xmlns:a="http://schemas.openxmlformats.org/drawingml/2006/main" noGrp="1"/>
          </p:cNvSpPr>
          <p:nvPr/>
        </p:nvSpPr>
        <p:spPr>
          <a:xfrm xmlns:a="http://schemas.openxmlformats.org/drawingml/2006/main">
            <a:off x="457200" y="762000"/>
            <a:ext cx="112776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71717"/>
                </a:solidFill>
                <a:latin typeface="Arial"/>
                <a:ea typeface="Arial"/>
                <a:cs typeface="Arial"/>
              </a:defRPr>
            </a:pPr>
            <a:r>
              <a:t>A saved run demonstrates the NanoTel path</a:t>
            </a:r>
          </a:p>
        </p:txBody>
      </p:sp>
      <p:sp>
        <p:nvSpPr>
          <p:cNvPr id="3" name="text-88">
            <a:extLst xmlns:a="http://schemas.openxmlformats.org/drawingml/2006/main">
              <a:ext uri="{FF2B5EF4-FFF2-40B4-BE49-F238E27FC236}">
                <a16:creationId xmlns:a16="http://schemas.microsoft.com/office/drawing/2014/main" id="{B50359FF-7353-4D6C-8780-EBDD472CBDA4}"/>
              </a:ext>
            </a:extLst>
          </p:cNvPr>
          <p:cNvSpPr>
            <a:spLocks xmlns:a="http://schemas.openxmlformats.org/drawingml/2006/main" noGrp="1"/>
          </p:cNvSpPr>
          <p:nvPr/>
        </p:nvSpPr>
        <p:spPr>
          <a:xfrm xmlns:a="http://schemas.openxmlformats.org/drawingml/2006/main">
            <a:off x="457200" y="6419850"/>
            <a:ext cx="952500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TELOMERE ANALYZER  /  LAB MEETING</a:t>
            </a:r>
          </a:p>
        </p:txBody>
      </p:sp>
      <p:sp>
        <p:nvSpPr>
          <p:cNvPr id="4" name="text-89">
            <a:extLst xmlns:a="http://schemas.openxmlformats.org/drawingml/2006/main">
              <a:ext uri="{FF2B5EF4-FFF2-40B4-BE49-F238E27FC236}">
                <a16:creationId xmlns:a16="http://schemas.microsoft.com/office/drawing/2014/main" id="{15143DD1-567B-421B-B84C-55D6286457DC}"/>
              </a:ext>
            </a:extLst>
          </p:cNvPr>
          <p:cNvSpPr>
            <a:spLocks xmlns:a="http://schemas.openxmlformats.org/drawingml/2006/main" noGrp="1"/>
          </p:cNvSpPr>
          <p:nvPr/>
        </p:nvSpPr>
        <p:spPr>
          <a:xfrm xmlns:a="http://schemas.openxmlformats.org/drawingml/2006/main">
            <a:off x="11191875" y="6419850"/>
            <a:ext cx="523875"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171717"/>
                </a:solidFill>
                <a:latin typeface="Arial"/>
                <a:ea typeface="Arial"/>
                <a:cs typeface="Arial"/>
              </a:defRPr>
            </a:pPr>
            <a:r>
              <a:t>11</a:t>
            </a:r>
          </a:p>
        </p:txBody>
      </p:sp>
      <p:sp>
        <p:nvSpPr>
          <p:cNvPr id="5" name="text-90">
            <a:extLst xmlns:a="http://schemas.openxmlformats.org/drawingml/2006/main">
              <a:ext uri="{FF2B5EF4-FFF2-40B4-BE49-F238E27FC236}">
                <a16:creationId xmlns:a16="http://schemas.microsoft.com/office/drawing/2014/main" id="{AE8C0392-AD39-44BC-9952-E56B161B81BE}"/>
              </a:ext>
            </a:extLst>
          </p:cNvPr>
          <p:cNvSpPr>
            <a:spLocks xmlns:a="http://schemas.openxmlformats.org/drawingml/2006/main" noGrp="1"/>
          </p:cNvSpPr>
          <p:nvPr/>
        </p:nvSpPr>
        <p:spPr>
          <a:xfrm xmlns:a="http://schemas.openxmlformats.org/drawingml/2006/main">
            <a:off x="457200" y="2095500"/>
            <a:ext cx="3238500"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6450" b="1">
                <a:solidFill>
                  <a:srgbClr val="171717"/>
                </a:solidFill>
                <a:latin typeface="Arial"/>
                <a:ea typeface="Arial"/>
                <a:cs typeface="Arial"/>
              </a:defRPr>
            </a:pPr>
            <a:r>
              <a:t>2</a:t>
            </a:r>
          </a:p>
        </p:txBody>
      </p:sp>
      <p:sp>
        <p:nvSpPr>
          <p:cNvPr id="6" name="text-91">
            <a:extLst xmlns:a="http://schemas.openxmlformats.org/drawingml/2006/main">
              <a:ext uri="{FF2B5EF4-FFF2-40B4-BE49-F238E27FC236}">
                <a16:creationId xmlns:a16="http://schemas.microsoft.com/office/drawing/2014/main" id="{DFD57FC5-9EDA-450B-8623-11F86D7DDBEE}"/>
              </a:ext>
            </a:extLst>
          </p:cNvPr>
          <p:cNvSpPr>
            <a:spLocks xmlns:a="http://schemas.openxmlformats.org/drawingml/2006/main" noGrp="1"/>
          </p:cNvSpPr>
          <p:nvPr/>
        </p:nvSpPr>
        <p:spPr>
          <a:xfrm xmlns:a="http://schemas.openxmlformats.org/drawingml/2006/main">
            <a:off x="457200" y="3143250"/>
            <a:ext cx="333375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barcodes processed</a:t>
            </a:r>
          </a:p>
        </p:txBody>
      </p:sp>
      <p:sp>
        <p:nvSpPr>
          <p:cNvPr id="7" name="text-92">
            <a:extLst xmlns:a="http://schemas.openxmlformats.org/drawingml/2006/main">
              <a:ext uri="{FF2B5EF4-FFF2-40B4-BE49-F238E27FC236}">
                <a16:creationId xmlns:a16="http://schemas.microsoft.com/office/drawing/2014/main" id="{BA7A171A-C9D5-4358-A1D2-82D178F38082}"/>
              </a:ext>
            </a:extLst>
          </p:cNvPr>
          <p:cNvSpPr>
            <a:spLocks xmlns:a="http://schemas.openxmlformats.org/drawingml/2006/main" noGrp="1"/>
          </p:cNvSpPr>
          <p:nvPr/>
        </p:nvSpPr>
        <p:spPr>
          <a:xfrm xmlns:a="http://schemas.openxmlformats.org/drawingml/2006/main">
            <a:off x="4410075" y="2095500"/>
            <a:ext cx="3238500" cy="952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6450" b="1">
                <a:solidFill>
                  <a:srgbClr val="171717"/>
                </a:solidFill>
                <a:latin typeface="Arial"/>
                <a:ea typeface="Arial"/>
                <a:cs typeface="Arial"/>
              </a:defRPr>
            </a:pPr>
            <a:r>
              <a:t>13</a:t>
            </a:r>
          </a:p>
        </p:txBody>
      </p:sp>
      <p:sp>
        <p:nvSpPr>
          <p:cNvPr id="8" name="text-93">
            <a:extLst xmlns:a="http://schemas.openxmlformats.org/drawingml/2006/main">
              <a:ext uri="{FF2B5EF4-FFF2-40B4-BE49-F238E27FC236}">
                <a16:creationId xmlns:a16="http://schemas.microsoft.com/office/drawing/2014/main" id="{6883530B-F061-4194-BCBA-39B501A2D382}"/>
              </a:ext>
            </a:extLst>
          </p:cNvPr>
          <p:cNvSpPr>
            <a:spLocks xmlns:a="http://schemas.openxmlformats.org/drawingml/2006/main" noGrp="1"/>
          </p:cNvSpPr>
          <p:nvPr/>
        </p:nvSpPr>
        <p:spPr>
          <a:xfrm xmlns:a="http://schemas.openxmlformats.org/drawingml/2006/main">
            <a:off x="4410075" y="3143250"/>
            <a:ext cx="333375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reads after filtering</a:t>
            </a:r>
          </a:p>
        </p:txBody>
      </p:sp>
      <p:sp>
        <p:nvSpPr>
          <p:cNvPr id="9" name="text-94">
            <a:extLst xmlns:a="http://schemas.openxmlformats.org/drawingml/2006/main">
              <a:ext uri="{FF2B5EF4-FFF2-40B4-BE49-F238E27FC236}">
                <a16:creationId xmlns:a16="http://schemas.microsoft.com/office/drawing/2014/main" id="{3EA7D174-F12B-482A-AAF2-71C04C2A2C3D}"/>
              </a:ext>
            </a:extLst>
          </p:cNvPr>
          <p:cNvSpPr>
            <a:spLocks xmlns:a="http://schemas.openxmlformats.org/drawingml/2006/main" noGrp="1"/>
          </p:cNvSpPr>
          <p:nvPr/>
        </p:nvSpPr>
        <p:spPr>
          <a:xfrm xmlns:a="http://schemas.openxmlformats.org/drawingml/2006/main">
            <a:off x="8362950" y="2352675"/>
            <a:ext cx="3333750" cy="714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300" b="1">
                <a:solidFill>
                  <a:srgbClr val="171717"/>
                </a:solidFill>
                <a:latin typeface="Arial"/>
                <a:ea typeface="Arial"/>
                <a:cs typeface="Arial"/>
              </a:defRPr>
            </a:pPr>
            <a:r>
              <a:t>SUCCESS</a:t>
            </a:r>
          </a:p>
        </p:txBody>
      </p:sp>
      <p:sp>
        <p:nvSpPr>
          <p:cNvPr id="10" name="text-95">
            <a:extLst xmlns:a="http://schemas.openxmlformats.org/drawingml/2006/main">
              <a:ext uri="{FF2B5EF4-FFF2-40B4-BE49-F238E27FC236}">
                <a16:creationId xmlns:a16="http://schemas.microsoft.com/office/drawing/2014/main" id="{B65AD08D-2056-48BF-97A9-7775C5A673B6}"/>
              </a:ext>
            </a:extLst>
          </p:cNvPr>
          <p:cNvSpPr>
            <a:spLocks xmlns:a="http://schemas.openxmlformats.org/drawingml/2006/main" noGrp="1"/>
          </p:cNvSpPr>
          <p:nvPr/>
        </p:nvSpPr>
        <p:spPr>
          <a:xfrm xmlns:a="http://schemas.openxmlformats.org/drawingml/2006/main">
            <a:off x="8362950" y="3143250"/>
            <a:ext cx="3333750" cy="7143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reported NanoTel status</a:t>
            </a:r>
          </a:p>
        </p:txBody>
      </p:sp>
      <p:sp>
        <p:nvSpPr>
          <p:cNvPr id="11" name="text-96">
            <a:extLst xmlns:a="http://schemas.openxmlformats.org/drawingml/2006/main">
              <a:ext uri="{FF2B5EF4-FFF2-40B4-BE49-F238E27FC236}">
                <a16:creationId xmlns:a16="http://schemas.microsoft.com/office/drawing/2014/main" id="{F53A41B0-4D00-4DFF-9F60-28A050B12AD4}"/>
              </a:ext>
            </a:extLst>
          </p:cNvPr>
          <p:cNvSpPr>
            <a:spLocks xmlns:a="http://schemas.openxmlformats.org/drawingml/2006/main" noGrp="1"/>
          </p:cNvSpPr>
          <p:nvPr/>
        </p:nvSpPr>
        <p:spPr>
          <a:xfrm xmlns:a="http://schemas.openxmlformats.org/drawingml/2006/main">
            <a:off x="457200" y="4714875"/>
            <a:ext cx="110490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Mapping and methylation were disabled in this run.</a:t>
            </a:r>
          </a:p>
        </p:txBody>
      </p:sp>
      <p:sp>
        <p:nvSpPr>
          <p:cNvPr id="12" name="text-97">
            <a:extLst xmlns:a="http://schemas.openxmlformats.org/drawingml/2006/main">
              <a:ext uri="{FF2B5EF4-FFF2-40B4-BE49-F238E27FC236}">
                <a16:creationId xmlns:a16="http://schemas.microsoft.com/office/drawing/2014/main" id="{CB4A40D6-3CBB-49AC-ABD8-C642D9C7D8EE}"/>
              </a:ext>
            </a:extLst>
          </p:cNvPr>
          <p:cNvSpPr>
            <a:spLocks xmlns:a="http://schemas.openxmlformats.org/drawingml/2006/main" noGrp="1"/>
          </p:cNvSpPr>
          <p:nvPr/>
        </p:nvSpPr>
        <p:spPr>
          <a:xfrm xmlns:a="http://schemas.openxmlformats.org/drawingml/2006/main">
            <a:off x="457200" y="5524500"/>
            <a:ext cx="11049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025" b="0">
                <a:solidFill>
                  <a:srgbClr val="555555"/>
                </a:solidFill>
                <a:latin typeface="Arial"/>
                <a:ea typeface="Arial"/>
                <a:cs typeface="Arial"/>
              </a:defRPr>
            </a:pPr>
            <a:r>
              <a:t>This example shows saved processing outputs, not a biological comparison.</a:t>
            </a:r>
          </a:p>
        </p:txBody>
      </p:sp>
    </p:spTree>
    <p:extLst>
      <p:ext uri="{BB962C8B-B14F-4D97-AF65-F5344CB8AC3E}">
        <p14:creationId xmlns:p14="http://schemas.microsoft.com/office/powerpoint/2010/main" val="196084104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98">
            <a:extLst xmlns:a="http://schemas.openxmlformats.org/drawingml/2006/main">
              <a:ext uri="{FF2B5EF4-FFF2-40B4-BE49-F238E27FC236}">
                <a16:creationId xmlns:a16="http://schemas.microsoft.com/office/drawing/2014/main" id="{B707E520-F697-4B32-94F9-138107874FDF}"/>
              </a:ext>
            </a:extLst>
          </p:cNvPr>
          <p:cNvSpPr>
            <a:spLocks xmlns:a="http://schemas.openxmlformats.org/drawingml/2006/main" noGrp="1"/>
          </p:cNvSpPr>
          <p:nvPr/>
        </p:nvSpPr>
        <p:spPr>
          <a:xfrm xmlns:a="http://schemas.openxmlformats.org/drawingml/2006/main">
            <a:off x="457200" y="247650"/>
            <a:ext cx="1047750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EXAMPLE RESULTS</a:t>
            </a:r>
          </a:p>
        </p:txBody>
      </p:sp>
      <p:sp>
        <p:nvSpPr>
          <p:cNvPr id="2" name="text-99">
            <a:extLst xmlns:a="http://schemas.openxmlformats.org/drawingml/2006/main">
              <a:ext uri="{FF2B5EF4-FFF2-40B4-BE49-F238E27FC236}">
                <a16:creationId xmlns:a16="http://schemas.microsoft.com/office/drawing/2014/main" id="{8EE0C309-B86E-433C-B4E9-A55CC8EF16E2}"/>
              </a:ext>
            </a:extLst>
          </p:cNvPr>
          <p:cNvSpPr>
            <a:spLocks xmlns:a="http://schemas.openxmlformats.org/drawingml/2006/main" noGrp="1"/>
          </p:cNvSpPr>
          <p:nvPr/>
        </p:nvSpPr>
        <p:spPr>
          <a:xfrm xmlns:a="http://schemas.openxmlformats.org/drawingml/2006/main">
            <a:off x="457200" y="762000"/>
            <a:ext cx="112776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71717"/>
                </a:solidFill>
                <a:latin typeface="Arial"/>
                <a:ea typeface="Arial"/>
                <a:cs typeface="Arial"/>
              </a:defRPr>
            </a:pPr>
            <a:r>
              <a:t>The summary makes output values easy to inspect</a:t>
            </a:r>
          </a:p>
        </p:txBody>
      </p:sp>
      <p:sp>
        <p:nvSpPr>
          <p:cNvPr id="3" name="text-100">
            <a:extLst xmlns:a="http://schemas.openxmlformats.org/drawingml/2006/main">
              <a:ext uri="{FF2B5EF4-FFF2-40B4-BE49-F238E27FC236}">
                <a16:creationId xmlns:a16="http://schemas.microsoft.com/office/drawing/2014/main" id="{1F329B1F-5257-46FC-B731-2E3F2696475A}"/>
              </a:ext>
            </a:extLst>
          </p:cNvPr>
          <p:cNvSpPr>
            <a:spLocks xmlns:a="http://schemas.openxmlformats.org/drawingml/2006/main" noGrp="1"/>
          </p:cNvSpPr>
          <p:nvPr/>
        </p:nvSpPr>
        <p:spPr>
          <a:xfrm xmlns:a="http://schemas.openxmlformats.org/drawingml/2006/main">
            <a:off x="457200" y="6419850"/>
            <a:ext cx="952500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TELOMERE ANALYZER  /  LAB MEETING</a:t>
            </a:r>
          </a:p>
        </p:txBody>
      </p:sp>
      <p:sp>
        <p:nvSpPr>
          <p:cNvPr id="4" name="text-101">
            <a:extLst xmlns:a="http://schemas.openxmlformats.org/drawingml/2006/main">
              <a:ext uri="{FF2B5EF4-FFF2-40B4-BE49-F238E27FC236}">
                <a16:creationId xmlns:a16="http://schemas.microsoft.com/office/drawing/2014/main" id="{6C6619AF-B482-4A49-B091-B9988DC355D3}"/>
              </a:ext>
            </a:extLst>
          </p:cNvPr>
          <p:cNvSpPr>
            <a:spLocks xmlns:a="http://schemas.openxmlformats.org/drawingml/2006/main" noGrp="1"/>
          </p:cNvSpPr>
          <p:nvPr/>
        </p:nvSpPr>
        <p:spPr>
          <a:xfrm xmlns:a="http://schemas.openxmlformats.org/drawingml/2006/main">
            <a:off x="11191875" y="6419850"/>
            <a:ext cx="523875"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171717"/>
                </a:solidFill>
                <a:latin typeface="Arial"/>
                <a:ea typeface="Arial"/>
                <a:cs typeface="Arial"/>
              </a:defRPr>
            </a:pPr>
            <a:r>
              <a:t>12</a:t>
            </a:r>
          </a:p>
        </p:txBody>
      </p:sp>
      <p:graphicFrame>
        <p:nvGraphicFramePr>
          <p:cNvPr id="12" name=""/>
          <p:cNvGraphicFramePr/>
          <p:nvPr/>
        </p:nvGraphicFramePr>
        <p:xfrm>
          <a:off xmlns:a="http://schemas.openxmlformats.org/drawingml/2006/main" x="457200" y="2190750"/>
          <a:ext xmlns:a="http://schemas.openxmlformats.org/drawingml/2006/main" cx="11277600" cy="2286000"/>
        </p:xfrm>
        <a:graphic xmlns:a="http://schemas.openxmlformats.org/drawingml/2006/main">
          <a:graphicData uri="http://schemas.openxmlformats.org/drawingml/2006/table">
            <a:tbl>
              <a:tblPr/>
              <a:tblGrid>
                <a:gridCol w="2667000"/>
                <a:gridCol w="2095500"/>
                <a:gridCol w="3810000"/>
                <a:gridCol w="2705100"/>
              </a:tblGrid>
              <a:tr h="762000">
                <a:tc>
                  <a:txBody>
                    <a:bodyPr/>
                    <a:lstStyle/>
                    <a:p>
                      <a:r>
                        <a:rPr sz="2175" b="1">
                          <a:solidFill>
                            <a:srgbClr val="171717"/>
                          </a:solidFill>
                          <a:latin typeface="Arial"/>
                          <a:ea typeface="Arial"/>
                          <a:cs typeface="Arial"/>
                        </a:rPr>
                        <a:t>Barcode</a:t>
                      </a:r>
                    </a:p>
                  </a:txBody>
                  <a:tcPr marL="91440" marR="91440" marT="45720" marB="45720">
                    <a:solidFill>
                      <a:srgbClr val="EDEDED"/>
                    </a:solidFill>
                  </a:tcPr>
                </a:tc>
                <a:tc>
                  <a:txBody>
                    <a:bodyPr/>
                    <a:lstStyle/>
                    <a:p>
                      <a:r>
                        <a:rPr sz="2175" b="1">
                          <a:solidFill>
                            <a:srgbClr val="171717"/>
                          </a:solidFill>
                          <a:latin typeface="Arial"/>
                          <a:ea typeface="Arial"/>
                          <a:cs typeface="Arial"/>
                        </a:rPr>
                        <a:t>Telomeres</a:t>
                      </a:r>
                    </a:p>
                  </a:txBody>
                  <a:tcPr marL="91440" marR="91440" marT="45720" marB="45720">
                    <a:solidFill>
                      <a:srgbClr val="EDEDED"/>
                    </a:solidFill>
                  </a:tcPr>
                </a:tc>
                <a:tc>
                  <a:txBody>
                    <a:bodyPr/>
                    <a:lstStyle/>
                    <a:p>
                      <a:r>
                        <a:rPr sz="2175" b="1">
                          <a:solidFill>
                            <a:srgbClr val="171717"/>
                          </a:solidFill>
                          <a:latin typeface="Arial"/>
                          <a:ea typeface="Arial"/>
                          <a:cs typeface="Arial"/>
                        </a:rPr>
                        <a:t>Median length (bp)</a:t>
                      </a:r>
                    </a:p>
                  </a:txBody>
                  <a:tcPr marL="91440" marR="91440" marT="45720" marB="45720">
                    <a:solidFill>
                      <a:srgbClr val="EDEDED"/>
                    </a:solidFill>
                  </a:tcPr>
                </a:tc>
                <a:tc>
                  <a:txBody>
                    <a:bodyPr/>
                    <a:lstStyle/>
                    <a:p>
                      <a:r>
                        <a:rPr sz="2175" b="1">
                          <a:solidFill>
                            <a:srgbClr val="171717"/>
                          </a:solidFill>
                          <a:latin typeface="Arial"/>
                          <a:ea typeface="Arial"/>
                          <a:cs typeface="Arial"/>
                        </a:rPr>
                        <a:t>Below 2 kb</a:t>
                      </a:r>
                    </a:p>
                  </a:txBody>
                  <a:tcPr marL="91440" marR="91440" marT="45720" marB="45720">
                    <a:solidFill>
                      <a:srgbClr val="EDEDED"/>
                    </a:solidFill>
                  </a:tcPr>
                </a:tc>
              </a:tr>
              <a:tr h="762000">
                <a:tc>
                  <a:txBody>
                    <a:bodyPr/>
                    <a:lstStyle/>
                    <a:p>
                      <a:r>
                        <a:rPr sz="2175" b="0">
                          <a:solidFill>
                            <a:srgbClr val="171717"/>
                          </a:solidFill>
                          <a:latin typeface="Arial"/>
                          <a:ea typeface="Arial"/>
                          <a:cs typeface="Arial"/>
                        </a:rPr>
                        <a:t>barcode02</a:t>
                      </a:r>
                    </a:p>
                  </a:txBody>
                  <a:tcPr marL="91440" marR="91440" marT="45720" marB="45720">
                    <a:solidFill>
                      <a:srgbClr val="FFFFFF"/>
                    </a:solidFill>
                  </a:tcPr>
                </a:tc>
                <a:tc>
                  <a:txBody>
                    <a:bodyPr/>
                    <a:lstStyle/>
                    <a:p>
                      <a:r>
                        <a:rPr sz="2175" b="0">
                          <a:solidFill>
                            <a:srgbClr val="171717"/>
                          </a:solidFill>
                          <a:latin typeface="Arial"/>
                          <a:ea typeface="Arial"/>
                          <a:cs typeface="Arial"/>
                        </a:rPr>
                        <a:t>12</a:t>
                      </a:r>
                    </a:p>
                  </a:txBody>
                  <a:tcPr marL="91440" marR="91440" marT="45720" marB="45720">
                    <a:solidFill>
                      <a:srgbClr val="FFFFFF"/>
                    </a:solidFill>
                  </a:tcPr>
                </a:tc>
                <a:tc>
                  <a:txBody>
                    <a:bodyPr/>
                    <a:lstStyle/>
                    <a:p>
                      <a:r>
                        <a:rPr sz="2175" b="0">
                          <a:solidFill>
                            <a:srgbClr val="171717"/>
                          </a:solidFill>
                          <a:latin typeface="Arial"/>
                          <a:ea typeface="Arial"/>
                          <a:cs typeface="Arial"/>
                        </a:rPr>
                        <a:t>4,896.5</a:t>
                      </a:r>
                    </a:p>
                  </a:txBody>
                  <a:tcPr marL="91440" marR="91440" marT="45720" marB="45720">
                    <a:solidFill>
                      <a:srgbClr val="FFFFFF"/>
                    </a:solidFill>
                  </a:tcPr>
                </a:tc>
                <a:tc>
                  <a:txBody>
                    <a:bodyPr/>
                    <a:lstStyle/>
                    <a:p>
                      <a:r>
                        <a:rPr sz="2175" b="0">
                          <a:solidFill>
                            <a:srgbClr val="171717"/>
                          </a:solidFill>
                          <a:latin typeface="Arial"/>
                          <a:ea typeface="Arial"/>
                          <a:cs typeface="Arial"/>
                        </a:rPr>
                        <a:t>16.7%</a:t>
                      </a:r>
                    </a:p>
                  </a:txBody>
                  <a:tcPr marL="91440" marR="91440" marT="45720" marB="45720">
                    <a:solidFill>
                      <a:srgbClr val="FFFFFF"/>
                    </a:solidFill>
                  </a:tcPr>
                </a:tc>
              </a:tr>
              <a:tr h="762000">
                <a:tc>
                  <a:txBody>
                    <a:bodyPr/>
                    <a:lstStyle/>
                    <a:p>
                      <a:r>
                        <a:rPr sz="2175" b="0">
                          <a:solidFill>
                            <a:srgbClr val="171717"/>
                          </a:solidFill>
                          <a:latin typeface="Arial"/>
                          <a:ea typeface="Arial"/>
                          <a:cs typeface="Arial"/>
                        </a:rPr>
                        <a:t>barcode19</a:t>
                      </a:r>
                    </a:p>
                  </a:txBody>
                  <a:tcPr marL="91440" marR="91440" marT="45720" marB="45720">
                    <a:solidFill>
                      <a:srgbClr val="FFFFFF"/>
                    </a:solidFill>
                  </a:tcPr>
                </a:tc>
                <a:tc>
                  <a:txBody>
                    <a:bodyPr/>
                    <a:lstStyle/>
                    <a:p>
                      <a:r>
                        <a:rPr sz="2175" b="0">
                          <a:solidFill>
                            <a:srgbClr val="171717"/>
                          </a:solidFill>
                          <a:latin typeface="Arial"/>
                          <a:ea typeface="Arial"/>
                          <a:cs typeface="Arial"/>
                        </a:rPr>
                        <a:t>1</a:t>
                      </a:r>
                    </a:p>
                  </a:txBody>
                  <a:tcPr marL="91440" marR="91440" marT="45720" marB="45720">
                    <a:solidFill>
                      <a:srgbClr val="FFFFFF"/>
                    </a:solidFill>
                  </a:tcPr>
                </a:tc>
                <a:tc>
                  <a:txBody>
                    <a:bodyPr/>
                    <a:lstStyle/>
                    <a:p>
                      <a:r>
                        <a:rPr sz="2175" b="0">
                          <a:solidFill>
                            <a:srgbClr val="171717"/>
                          </a:solidFill>
                          <a:latin typeface="Arial"/>
                          <a:ea typeface="Arial"/>
                          <a:cs typeface="Arial"/>
                        </a:rPr>
                        <a:t>12,573</a:t>
                      </a:r>
                    </a:p>
                  </a:txBody>
                  <a:tcPr marL="91440" marR="91440" marT="45720" marB="45720">
                    <a:solidFill>
                      <a:srgbClr val="FFFFFF"/>
                    </a:solidFill>
                  </a:tcPr>
                </a:tc>
                <a:tc>
                  <a:txBody>
                    <a:bodyPr/>
                    <a:lstStyle/>
                    <a:p>
                      <a:r>
                        <a:rPr sz="2175" b="0">
                          <a:solidFill>
                            <a:srgbClr val="171717"/>
                          </a:solidFill>
                          <a:latin typeface="Arial"/>
                          <a:ea typeface="Arial"/>
                          <a:cs typeface="Arial"/>
                        </a:rPr>
                        <a:t>0%</a:t>
                      </a:r>
                    </a:p>
                  </a:txBody>
                  <a:tcPr marL="91440" marR="91440" marT="45720" marB="45720">
                    <a:solidFill>
                      <a:srgbClr val="FFFFFF"/>
                    </a:solidFill>
                  </a:tcPr>
                </a:tc>
              </a:tr>
            </a:tbl>
          </a:graphicData>
        </a:graphic>
      </p:graphicFrame>
      <p:sp>
        <p:nvSpPr>
          <p:cNvPr id="6" name="text-102">
            <a:extLst xmlns:a="http://schemas.openxmlformats.org/drawingml/2006/main">
              <a:ext uri="{FF2B5EF4-FFF2-40B4-BE49-F238E27FC236}">
                <a16:creationId xmlns:a16="http://schemas.microsoft.com/office/drawing/2014/main" id="{F60458F5-C703-4021-A9ED-A30D6FE8719C}"/>
              </a:ext>
            </a:extLst>
          </p:cNvPr>
          <p:cNvSpPr>
            <a:spLocks xmlns:a="http://schemas.openxmlformats.org/drawingml/2006/main" noGrp="1"/>
          </p:cNvSpPr>
          <p:nvPr/>
        </p:nvSpPr>
        <p:spPr>
          <a:xfrm xmlns:a="http://schemas.openxmlformats.org/drawingml/2006/main">
            <a:off x="457200" y="4905375"/>
            <a:ext cx="11049000" cy="4572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Barcode19 has one retained observation.</a:t>
            </a:r>
          </a:p>
        </p:txBody>
      </p:sp>
      <p:sp>
        <p:nvSpPr>
          <p:cNvPr id="7" name="text-103">
            <a:extLst xmlns:a="http://schemas.openxmlformats.org/drawingml/2006/main">
              <a:ext uri="{FF2B5EF4-FFF2-40B4-BE49-F238E27FC236}">
                <a16:creationId xmlns:a16="http://schemas.microsoft.com/office/drawing/2014/main" id="{5308A0B5-DCFF-4EFD-AB53-0A2BD020163D}"/>
              </a:ext>
            </a:extLst>
          </p:cNvPr>
          <p:cNvSpPr>
            <a:spLocks xmlns:a="http://schemas.openxmlformats.org/drawingml/2006/main" noGrp="1"/>
          </p:cNvSpPr>
          <p:nvPr/>
        </p:nvSpPr>
        <p:spPr>
          <a:xfrm xmlns:a="http://schemas.openxmlformats.org/drawingml/2006/main">
            <a:off x="457200" y="5505450"/>
            <a:ext cx="110490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00" b="0">
                <a:solidFill>
                  <a:srgbClr val="171717"/>
                </a:solidFill>
                <a:latin typeface="Arial"/>
                <a:ea typeface="Arial"/>
                <a:cs typeface="Arial"/>
              </a:defRPr>
            </a:pPr>
            <a:r>
              <a:t>Use these values to demonstrate the output; biological interpretation needs more data.</a:t>
            </a:r>
          </a:p>
        </p:txBody>
      </p:sp>
    </p:spTree>
    <p:extLst>
      <p:ext uri="{BB962C8B-B14F-4D97-AF65-F5344CB8AC3E}">
        <p14:creationId xmlns:p14="http://schemas.microsoft.com/office/powerpoint/2010/main" val="209245119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104">
            <a:extLst xmlns:a="http://schemas.openxmlformats.org/drawingml/2006/main">
              <a:ext uri="{FF2B5EF4-FFF2-40B4-BE49-F238E27FC236}">
                <a16:creationId xmlns:a16="http://schemas.microsoft.com/office/drawing/2014/main" id="{265C3277-D4D9-42C0-9213-1A814A61202B}"/>
              </a:ext>
            </a:extLst>
          </p:cNvPr>
          <p:cNvSpPr>
            <a:spLocks xmlns:a="http://schemas.openxmlformats.org/drawingml/2006/main" noGrp="1"/>
          </p:cNvSpPr>
          <p:nvPr/>
        </p:nvSpPr>
        <p:spPr>
          <a:xfrm xmlns:a="http://schemas.openxmlformats.org/drawingml/2006/main">
            <a:off x="457200" y="247650"/>
            <a:ext cx="1047750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EXAMPLE OUTPUT</a:t>
            </a:r>
          </a:p>
        </p:txBody>
      </p:sp>
      <p:sp>
        <p:nvSpPr>
          <p:cNvPr id="2" name="text-105">
            <a:extLst xmlns:a="http://schemas.openxmlformats.org/drawingml/2006/main">
              <a:ext uri="{FF2B5EF4-FFF2-40B4-BE49-F238E27FC236}">
                <a16:creationId xmlns:a16="http://schemas.microsoft.com/office/drawing/2014/main" id="{3D2E5248-419A-4938-8CF4-7A6B30DD1E51}"/>
              </a:ext>
            </a:extLst>
          </p:cNvPr>
          <p:cNvSpPr>
            <a:spLocks xmlns:a="http://schemas.openxmlformats.org/drawingml/2006/main" noGrp="1"/>
          </p:cNvSpPr>
          <p:nvPr/>
        </p:nvSpPr>
        <p:spPr>
          <a:xfrm xmlns:a="http://schemas.openxmlformats.org/drawingml/2006/main">
            <a:off x="457200" y="762000"/>
            <a:ext cx="112776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71717"/>
                </a:solidFill>
                <a:latin typeface="Arial"/>
                <a:ea typeface="Arial"/>
                <a:cs typeface="Arial"/>
              </a:defRPr>
            </a:pPr>
            <a:r>
              <a:t>Per-read plots add detail behind the summary</a:t>
            </a:r>
          </a:p>
        </p:txBody>
      </p:sp>
      <p:sp>
        <p:nvSpPr>
          <p:cNvPr id="3" name="text-106">
            <a:extLst xmlns:a="http://schemas.openxmlformats.org/drawingml/2006/main">
              <a:ext uri="{FF2B5EF4-FFF2-40B4-BE49-F238E27FC236}">
                <a16:creationId xmlns:a16="http://schemas.microsoft.com/office/drawing/2014/main" id="{B266C18E-8E68-4808-BA16-6712D4A6CBD0}"/>
              </a:ext>
            </a:extLst>
          </p:cNvPr>
          <p:cNvSpPr>
            <a:spLocks xmlns:a="http://schemas.openxmlformats.org/drawingml/2006/main" noGrp="1"/>
          </p:cNvSpPr>
          <p:nvPr/>
        </p:nvSpPr>
        <p:spPr>
          <a:xfrm xmlns:a="http://schemas.openxmlformats.org/drawingml/2006/main">
            <a:off x="457200" y="6419850"/>
            <a:ext cx="952500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TELOMERE ANALYZER  /  LAB MEETING</a:t>
            </a:r>
          </a:p>
        </p:txBody>
      </p:sp>
      <p:sp>
        <p:nvSpPr>
          <p:cNvPr id="4" name="text-107">
            <a:extLst xmlns:a="http://schemas.openxmlformats.org/drawingml/2006/main">
              <a:ext uri="{FF2B5EF4-FFF2-40B4-BE49-F238E27FC236}">
                <a16:creationId xmlns:a16="http://schemas.microsoft.com/office/drawing/2014/main" id="{58BD0642-6077-4F5F-9370-08C94CD038EB}"/>
              </a:ext>
            </a:extLst>
          </p:cNvPr>
          <p:cNvSpPr>
            <a:spLocks xmlns:a="http://schemas.openxmlformats.org/drawingml/2006/main" noGrp="1"/>
          </p:cNvSpPr>
          <p:nvPr/>
        </p:nvSpPr>
        <p:spPr>
          <a:xfrm xmlns:a="http://schemas.openxmlformats.org/drawingml/2006/main">
            <a:off x="11191875" y="6419850"/>
            <a:ext cx="523875"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171717"/>
                </a:solidFill>
                <a:latin typeface="Arial"/>
                <a:ea typeface="Arial"/>
                <a:cs typeface="Arial"/>
              </a:defRPr>
            </a:pPr>
            <a:r>
              <a:t>13</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96aeac1b5914441"/>
          <a:stretch xmlns:a="http://schemas.openxmlformats.org/drawingml/2006/main"/>
        </p:blipFill>
        <p:spPr>
          <a:xfrm xmlns:a="http://schemas.openxmlformats.org/drawingml/2006/main">
            <a:off x="457200" y="2124075"/>
            <a:ext cx="7905750" cy="3162300"/>
          </a:xfrm>
          <a:prstGeom xmlns:a="http://schemas.openxmlformats.org/drawingml/2006/main" prst="rect">
            <a:avLst/>
          </a:prstGeom>
        </p:spPr>
      </p:pic>
      <p:sp>
        <p:nvSpPr>
          <p:cNvPr id="6" name="text-108">
            <a:extLst xmlns:a="http://schemas.openxmlformats.org/drawingml/2006/main">
              <a:ext uri="{FF2B5EF4-FFF2-40B4-BE49-F238E27FC236}">
                <a16:creationId xmlns:a16="http://schemas.microsoft.com/office/drawing/2014/main" id="{2496A4FB-57FA-44CD-AEDC-C83737B5D5A0}"/>
              </a:ext>
            </a:extLst>
          </p:cNvPr>
          <p:cNvSpPr>
            <a:spLocks xmlns:a="http://schemas.openxmlformats.org/drawingml/2006/main" noGrp="1"/>
          </p:cNvSpPr>
          <p:nvPr/>
        </p:nvSpPr>
        <p:spPr>
          <a:xfrm xmlns:a="http://schemas.openxmlformats.org/drawingml/2006/main">
            <a:off x="8763000" y="2190750"/>
            <a:ext cx="295275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Read-level view</a:t>
            </a:r>
          </a:p>
        </p:txBody>
      </p:sp>
      <p:sp>
        <p:nvSpPr>
          <p:cNvPr id="7" name="text-109">
            <a:extLst xmlns:a="http://schemas.openxmlformats.org/drawingml/2006/main">
              <a:ext uri="{FF2B5EF4-FFF2-40B4-BE49-F238E27FC236}">
                <a16:creationId xmlns:a16="http://schemas.microsoft.com/office/drawing/2014/main" id="{292209E6-E821-4420-AF21-07BF94BC23AC}"/>
              </a:ext>
            </a:extLst>
          </p:cNvPr>
          <p:cNvSpPr>
            <a:spLocks xmlns:a="http://schemas.openxmlformats.org/drawingml/2006/main" noGrp="1"/>
          </p:cNvSpPr>
          <p:nvPr/>
        </p:nvSpPr>
        <p:spPr>
          <a:xfrm xmlns:a="http://schemas.openxmlformats.org/drawingml/2006/main">
            <a:off x="8763000" y="3143250"/>
            <a:ext cx="2857500" cy="2381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100" b="0">
                <a:solidFill>
                  <a:srgbClr val="171717"/>
                </a:solidFill>
                <a:latin typeface="Arial"/>
                <a:ea typeface="Arial"/>
                <a:cs typeface="Arial"/>
              </a:defRPr>
            </a:pPr>
            <a:r>
              <a:t>Repeat density along the read</a:t>
            </a:r>
          </a:p>
          <a:p xmlns:a="http://schemas.openxmlformats.org/drawingml/2006/main">
            <a:pPr>
              <a:defRPr sz="2100" b="0">
                <a:solidFill>
                  <a:srgbClr val="171717"/>
                </a:solidFill>
                <a:latin typeface="Arial"/>
                <a:ea typeface="Arial"/>
                <a:cs typeface="Arial"/>
              </a:defRPr>
            </a:pPr>
            <a:r>
              <a:t/>
            </a:r>
          </a:p>
          <a:p xmlns:a="http://schemas.openxmlformats.org/drawingml/2006/main">
            <a:pPr>
              <a:defRPr sz="2100" b="0">
                <a:solidFill>
                  <a:srgbClr val="171717"/>
                </a:solidFill>
                <a:latin typeface="Arial"/>
                <a:ea typeface="Arial"/>
                <a:cs typeface="Arial"/>
              </a:defRPr>
            </a:pPr>
            <a:r>
              <a:t>Telomere and subtelomere annotations</a:t>
            </a:r>
          </a:p>
        </p:txBody>
      </p:sp>
      <p:sp>
        <p:nvSpPr>
          <p:cNvPr id="8" name="text-110">
            <a:extLst xmlns:a="http://schemas.openxmlformats.org/drawingml/2006/main">
              <a:ext uri="{FF2B5EF4-FFF2-40B4-BE49-F238E27FC236}">
                <a16:creationId xmlns:a16="http://schemas.microsoft.com/office/drawing/2014/main" id="{D951AFDE-ACB8-4F77-ACC9-A4A973DFEEC9}"/>
              </a:ext>
            </a:extLst>
          </p:cNvPr>
          <p:cNvSpPr>
            <a:spLocks xmlns:a="http://schemas.openxmlformats.org/drawingml/2006/main" noGrp="1"/>
          </p:cNvSpPr>
          <p:nvPr/>
        </p:nvSpPr>
        <p:spPr>
          <a:xfrm xmlns:a="http://schemas.openxmlformats.org/drawingml/2006/main">
            <a:off x="457200" y="5676900"/>
            <a:ext cx="11144250" cy="5524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025" b="0">
                <a:solidFill>
                  <a:srgbClr val="555555"/>
                </a:solidFill>
                <a:latin typeface="Arial"/>
                <a:ea typeface="Arial"/>
                <a:cs typeface="Arial"/>
              </a:defRPr>
            </a:pPr>
            <a:r>
              <a:t>A generated read plot may represent a read excluded from the final filtered summary.</a:t>
            </a:r>
          </a:p>
        </p:txBody>
      </p:sp>
    </p:spTree>
    <p:extLst>
      <p:ext uri="{BB962C8B-B14F-4D97-AF65-F5344CB8AC3E}">
        <p14:creationId xmlns:p14="http://schemas.microsoft.com/office/powerpoint/2010/main" val="137354641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111">
            <a:extLst xmlns:a="http://schemas.openxmlformats.org/drawingml/2006/main">
              <a:ext uri="{FF2B5EF4-FFF2-40B4-BE49-F238E27FC236}">
                <a16:creationId xmlns:a16="http://schemas.microsoft.com/office/drawing/2014/main" id="{71C25C49-3D39-4DD6-A596-358F902D9077}"/>
              </a:ext>
            </a:extLst>
          </p:cNvPr>
          <p:cNvSpPr>
            <a:spLocks xmlns:a="http://schemas.openxmlformats.org/drawingml/2006/main" noGrp="1"/>
          </p:cNvSpPr>
          <p:nvPr/>
        </p:nvSpPr>
        <p:spPr>
          <a:xfrm xmlns:a="http://schemas.openxmlformats.org/drawingml/2006/main">
            <a:off x="457200" y="247650"/>
            <a:ext cx="1047750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PACKAGING PROGRESS</a:t>
            </a:r>
          </a:p>
        </p:txBody>
      </p:sp>
      <p:sp>
        <p:nvSpPr>
          <p:cNvPr id="2" name="text-112">
            <a:extLst xmlns:a="http://schemas.openxmlformats.org/drawingml/2006/main">
              <a:ext uri="{FF2B5EF4-FFF2-40B4-BE49-F238E27FC236}">
                <a16:creationId xmlns:a16="http://schemas.microsoft.com/office/drawing/2014/main" id="{4FE827FE-23FE-401E-9902-FC0E44AA5AC6}"/>
              </a:ext>
            </a:extLst>
          </p:cNvPr>
          <p:cNvSpPr>
            <a:spLocks xmlns:a="http://schemas.openxmlformats.org/drawingml/2006/main" noGrp="1"/>
          </p:cNvSpPr>
          <p:nvPr/>
        </p:nvSpPr>
        <p:spPr>
          <a:xfrm xmlns:a="http://schemas.openxmlformats.org/drawingml/2006/main">
            <a:off x="457200" y="762000"/>
            <a:ext cx="112776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71717"/>
                </a:solidFill>
                <a:latin typeface="Arial"/>
                <a:ea typeface="Arial"/>
                <a:cs typeface="Arial"/>
              </a:defRPr>
            </a:pPr>
            <a:r>
              <a:t>Installation was tested beyond the source folder</a:t>
            </a:r>
          </a:p>
        </p:txBody>
      </p:sp>
      <p:sp>
        <p:nvSpPr>
          <p:cNvPr id="3" name="text-113">
            <a:extLst xmlns:a="http://schemas.openxmlformats.org/drawingml/2006/main">
              <a:ext uri="{FF2B5EF4-FFF2-40B4-BE49-F238E27FC236}">
                <a16:creationId xmlns:a16="http://schemas.microsoft.com/office/drawing/2014/main" id="{0F067105-D56E-47AC-A7A6-3BD441B6A39B}"/>
              </a:ext>
            </a:extLst>
          </p:cNvPr>
          <p:cNvSpPr>
            <a:spLocks xmlns:a="http://schemas.openxmlformats.org/drawingml/2006/main" noGrp="1"/>
          </p:cNvSpPr>
          <p:nvPr/>
        </p:nvSpPr>
        <p:spPr>
          <a:xfrm xmlns:a="http://schemas.openxmlformats.org/drawingml/2006/main">
            <a:off x="457200" y="6419850"/>
            <a:ext cx="952500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TELOMERE ANALYZER  /  LAB MEETING</a:t>
            </a:r>
          </a:p>
        </p:txBody>
      </p:sp>
      <p:sp>
        <p:nvSpPr>
          <p:cNvPr id="4" name="text-114">
            <a:extLst xmlns:a="http://schemas.openxmlformats.org/drawingml/2006/main">
              <a:ext uri="{FF2B5EF4-FFF2-40B4-BE49-F238E27FC236}">
                <a16:creationId xmlns:a16="http://schemas.microsoft.com/office/drawing/2014/main" id="{8D1CA782-6EED-4C86-ADF9-C1289A61D35F}"/>
              </a:ext>
            </a:extLst>
          </p:cNvPr>
          <p:cNvSpPr>
            <a:spLocks xmlns:a="http://schemas.openxmlformats.org/drawingml/2006/main" noGrp="1"/>
          </p:cNvSpPr>
          <p:nvPr/>
        </p:nvSpPr>
        <p:spPr>
          <a:xfrm xmlns:a="http://schemas.openxmlformats.org/drawingml/2006/main">
            <a:off x="11191875" y="6419850"/>
            <a:ext cx="523875"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171717"/>
                </a:solidFill>
                <a:latin typeface="Arial"/>
                <a:ea typeface="Arial"/>
                <a:cs typeface="Arial"/>
              </a:defRPr>
            </a:pPr>
            <a:r>
              <a:t>14</a:t>
            </a:r>
          </a:p>
        </p:txBody>
      </p:sp>
      <p:sp>
        <p:nvSpPr>
          <p:cNvPr id="5" name="text-115">
            <a:extLst xmlns:a="http://schemas.openxmlformats.org/drawingml/2006/main">
              <a:ext uri="{FF2B5EF4-FFF2-40B4-BE49-F238E27FC236}">
                <a16:creationId xmlns:a16="http://schemas.microsoft.com/office/drawing/2014/main" id="{F9A22B2B-1802-42CB-AC77-D6C0EDF7792A}"/>
              </a:ext>
            </a:extLst>
          </p:cNvPr>
          <p:cNvSpPr>
            <a:spLocks xmlns:a="http://schemas.openxmlformats.org/drawingml/2006/main" noGrp="1"/>
          </p:cNvSpPr>
          <p:nvPr/>
        </p:nvSpPr>
        <p:spPr>
          <a:xfrm xmlns:a="http://schemas.openxmlformats.org/drawingml/2006/main">
            <a:off x="457200" y="2143125"/>
            <a:ext cx="5334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Documented local checks</a:t>
            </a:r>
          </a:p>
        </p:txBody>
      </p:sp>
      <p:sp>
        <p:nvSpPr>
          <p:cNvPr id="6" name="text-116">
            <a:extLst xmlns:a="http://schemas.openxmlformats.org/drawingml/2006/main">
              <a:ext uri="{FF2B5EF4-FFF2-40B4-BE49-F238E27FC236}">
                <a16:creationId xmlns:a16="http://schemas.microsoft.com/office/drawing/2014/main" id="{7EB640EC-011F-49BA-82A5-E60ED192FA47}"/>
              </a:ext>
            </a:extLst>
          </p:cNvPr>
          <p:cNvSpPr>
            <a:spLocks xmlns:a="http://schemas.openxmlformats.org/drawingml/2006/main" noGrp="1"/>
          </p:cNvSpPr>
          <p:nvPr/>
        </p:nvSpPr>
        <p:spPr>
          <a:xfrm xmlns:a="http://schemas.openxmlformats.org/drawingml/2006/main">
            <a:off x="457200" y="2857500"/>
            <a:ext cx="5219700" cy="2952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Conda package built and installed</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Installed GUI opened offscreen</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Three real-data integration tests passed</a:t>
            </a:r>
          </a:p>
        </p:txBody>
      </p:sp>
      <p:sp>
        <p:nvSpPr>
          <p:cNvPr id="7" name="text-117">
            <a:extLst xmlns:a="http://schemas.openxmlformats.org/drawingml/2006/main">
              <a:ext uri="{FF2B5EF4-FFF2-40B4-BE49-F238E27FC236}">
                <a16:creationId xmlns:a16="http://schemas.microsoft.com/office/drawing/2014/main" id="{221401CC-37AC-495D-9862-84E8BC38133C}"/>
              </a:ext>
            </a:extLst>
          </p:cNvPr>
          <p:cNvSpPr>
            <a:spLocks xmlns:a="http://schemas.openxmlformats.org/drawingml/2006/main" noGrp="1"/>
          </p:cNvSpPr>
          <p:nvPr/>
        </p:nvSpPr>
        <p:spPr>
          <a:xfrm xmlns:a="http://schemas.openxmlformats.org/drawingml/2006/main">
            <a:off x="6286500" y="2143125"/>
            <a:ext cx="542925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Release work still open</a:t>
            </a:r>
          </a:p>
        </p:txBody>
      </p:sp>
      <p:sp>
        <p:nvSpPr>
          <p:cNvPr id="8" name="text-118">
            <a:extLst xmlns:a="http://schemas.openxmlformats.org/drawingml/2006/main">
              <a:ext uri="{FF2B5EF4-FFF2-40B4-BE49-F238E27FC236}">
                <a16:creationId xmlns:a16="http://schemas.microsoft.com/office/drawing/2014/main" id="{EE888DE3-4BCF-4534-876A-004856665075}"/>
              </a:ext>
            </a:extLst>
          </p:cNvPr>
          <p:cNvSpPr>
            <a:spLocks xmlns:a="http://schemas.openxmlformats.org/drawingml/2006/main" noGrp="1"/>
          </p:cNvSpPr>
          <p:nvPr/>
        </p:nvSpPr>
        <p:spPr>
          <a:xfrm xmlns:a="http://schemas.openxmlformats.org/drawingml/2006/main">
            <a:off x="6286500" y="2857500"/>
            <a:ext cx="5334000" cy="2952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Official Bioconda CI and metadata</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External reference and model setup</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Retest later changes in the next built package</a:t>
            </a:r>
          </a:p>
        </p:txBody>
      </p:sp>
    </p:spTree>
    <p:extLst>
      <p:ext uri="{BB962C8B-B14F-4D97-AF65-F5344CB8AC3E}">
        <p14:creationId xmlns:p14="http://schemas.microsoft.com/office/powerpoint/2010/main" val="20234502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119">
            <a:extLst xmlns:a="http://schemas.openxmlformats.org/drawingml/2006/main">
              <a:ext uri="{FF2B5EF4-FFF2-40B4-BE49-F238E27FC236}">
                <a16:creationId xmlns:a16="http://schemas.microsoft.com/office/drawing/2014/main" id="{48A30FD5-1B21-4C36-BFC4-0722A8667FC8}"/>
              </a:ext>
            </a:extLst>
          </p:cNvPr>
          <p:cNvSpPr>
            <a:spLocks xmlns:a="http://schemas.openxmlformats.org/drawingml/2006/main" noGrp="1"/>
          </p:cNvSpPr>
          <p:nvPr/>
        </p:nvSpPr>
        <p:spPr>
          <a:xfrm xmlns:a="http://schemas.openxmlformats.org/drawingml/2006/main">
            <a:off x="457200" y="247650"/>
            <a:ext cx="1047750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CURRENT LIMITATIONS</a:t>
            </a:r>
          </a:p>
        </p:txBody>
      </p:sp>
      <p:sp>
        <p:nvSpPr>
          <p:cNvPr id="2" name="text-120">
            <a:extLst xmlns:a="http://schemas.openxmlformats.org/drawingml/2006/main">
              <a:ext uri="{FF2B5EF4-FFF2-40B4-BE49-F238E27FC236}">
                <a16:creationId xmlns:a16="http://schemas.microsoft.com/office/drawing/2014/main" id="{71D4FF28-F66E-4150-A954-8FF20E42185B}"/>
              </a:ext>
            </a:extLst>
          </p:cNvPr>
          <p:cNvSpPr>
            <a:spLocks xmlns:a="http://schemas.openxmlformats.org/drawingml/2006/main" noGrp="1"/>
          </p:cNvSpPr>
          <p:nvPr/>
        </p:nvSpPr>
        <p:spPr>
          <a:xfrm xmlns:a="http://schemas.openxmlformats.org/drawingml/2006/main">
            <a:off x="457200" y="762000"/>
            <a:ext cx="112776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71717"/>
                </a:solidFill>
                <a:latin typeface="Arial"/>
                <a:ea typeface="Arial"/>
                <a:cs typeface="Arial"/>
              </a:defRPr>
            </a:pPr>
            <a:r>
              <a:t>Validation coverage still has clear boundaries</a:t>
            </a:r>
          </a:p>
        </p:txBody>
      </p:sp>
      <p:sp>
        <p:nvSpPr>
          <p:cNvPr id="3" name="text-121">
            <a:extLst xmlns:a="http://schemas.openxmlformats.org/drawingml/2006/main">
              <a:ext uri="{FF2B5EF4-FFF2-40B4-BE49-F238E27FC236}">
                <a16:creationId xmlns:a16="http://schemas.microsoft.com/office/drawing/2014/main" id="{F503ABEB-8CE0-4EDE-8382-A434233D80D9}"/>
              </a:ext>
            </a:extLst>
          </p:cNvPr>
          <p:cNvSpPr>
            <a:spLocks xmlns:a="http://schemas.openxmlformats.org/drawingml/2006/main" noGrp="1"/>
          </p:cNvSpPr>
          <p:nvPr/>
        </p:nvSpPr>
        <p:spPr>
          <a:xfrm xmlns:a="http://schemas.openxmlformats.org/drawingml/2006/main">
            <a:off x="457200" y="6419850"/>
            <a:ext cx="952500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TELOMERE ANALYZER  /  LAB MEETING</a:t>
            </a:r>
          </a:p>
        </p:txBody>
      </p:sp>
      <p:sp>
        <p:nvSpPr>
          <p:cNvPr id="4" name="text-122">
            <a:extLst xmlns:a="http://schemas.openxmlformats.org/drawingml/2006/main">
              <a:ext uri="{FF2B5EF4-FFF2-40B4-BE49-F238E27FC236}">
                <a16:creationId xmlns:a16="http://schemas.microsoft.com/office/drawing/2014/main" id="{AE9C5449-DB99-469E-8DA8-0ED7AF69C2DE}"/>
              </a:ext>
            </a:extLst>
          </p:cNvPr>
          <p:cNvSpPr>
            <a:spLocks xmlns:a="http://schemas.openxmlformats.org/drawingml/2006/main" noGrp="1"/>
          </p:cNvSpPr>
          <p:nvPr/>
        </p:nvSpPr>
        <p:spPr>
          <a:xfrm xmlns:a="http://schemas.openxmlformats.org/drawingml/2006/main">
            <a:off x="11191875" y="6419850"/>
            <a:ext cx="523875"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171717"/>
                </a:solidFill>
                <a:latin typeface="Arial"/>
                <a:ea typeface="Arial"/>
                <a:cs typeface="Arial"/>
              </a:defRPr>
            </a:pPr>
            <a:r>
              <a:t>15</a:t>
            </a:r>
          </a:p>
        </p:txBody>
      </p:sp>
      <p:sp>
        <p:nvSpPr>
          <p:cNvPr id="5" name="text-123">
            <a:extLst xmlns:a="http://schemas.openxmlformats.org/drawingml/2006/main">
              <a:ext uri="{FF2B5EF4-FFF2-40B4-BE49-F238E27FC236}">
                <a16:creationId xmlns:a16="http://schemas.microsoft.com/office/drawing/2014/main" id="{C354D9AE-F0B2-4F04-B46E-E33FA2A3E7F9}"/>
              </a:ext>
            </a:extLst>
          </p:cNvPr>
          <p:cNvSpPr>
            <a:spLocks xmlns:a="http://schemas.openxmlformats.org/drawingml/2006/main" noGrp="1"/>
          </p:cNvSpPr>
          <p:nvPr/>
        </p:nvSpPr>
        <p:spPr>
          <a:xfrm xmlns:a="http://schemas.openxmlformats.org/drawingml/2006/main">
            <a:off x="457200" y="2143125"/>
            <a:ext cx="5334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Evidence available</a:t>
            </a:r>
          </a:p>
        </p:txBody>
      </p:sp>
      <p:sp>
        <p:nvSpPr>
          <p:cNvPr id="6" name="text-124">
            <a:extLst xmlns:a="http://schemas.openxmlformats.org/drawingml/2006/main">
              <a:ext uri="{FF2B5EF4-FFF2-40B4-BE49-F238E27FC236}">
                <a16:creationId xmlns:a16="http://schemas.microsoft.com/office/drawing/2014/main" id="{F95A6BA8-BC3B-48BB-853A-8D53D166F4B3}"/>
              </a:ext>
            </a:extLst>
          </p:cNvPr>
          <p:cNvSpPr>
            <a:spLocks xmlns:a="http://schemas.openxmlformats.org/drawingml/2006/main" noGrp="1"/>
          </p:cNvSpPr>
          <p:nvPr/>
        </p:nvSpPr>
        <p:spPr>
          <a:xfrm xmlns:a="http://schemas.openxmlformats.org/drawingml/2006/main">
            <a:off x="457200" y="2857500"/>
            <a:ext cx="5219700" cy="2952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Current GUI constructs successfully</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Saved NanoTel outputs and reports</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Recorded clean-installation tests</a:t>
            </a:r>
          </a:p>
        </p:txBody>
      </p:sp>
      <p:sp>
        <p:nvSpPr>
          <p:cNvPr id="7" name="text-125">
            <a:extLst xmlns:a="http://schemas.openxmlformats.org/drawingml/2006/main">
              <a:ext uri="{FF2B5EF4-FFF2-40B4-BE49-F238E27FC236}">
                <a16:creationId xmlns:a16="http://schemas.microsoft.com/office/drawing/2014/main" id="{0DBB5987-AFC3-4DB8-BFE3-C02DFC4C7BA3}"/>
              </a:ext>
            </a:extLst>
          </p:cNvPr>
          <p:cNvSpPr>
            <a:spLocks xmlns:a="http://schemas.openxmlformats.org/drawingml/2006/main" noGrp="1"/>
          </p:cNvSpPr>
          <p:nvPr/>
        </p:nvSpPr>
        <p:spPr>
          <a:xfrm xmlns:a="http://schemas.openxmlformats.org/drawingml/2006/main">
            <a:off x="6286500" y="2143125"/>
            <a:ext cx="542925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Evidence still needed</a:t>
            </a:r>
          </a:p>
        </p:txBody>
      </p:sp>
      <p:sp>
        <p:nvSpPr>
          <p:cNvPr id="8" name="text-126">
            <a:extLst xmlns:a="http://schemas.openxmlformats.org/drawingml/2006/main">
              <a:ext uri="{FF2B5EF4-FFF2-40B4-BE49-F238E27FC236}">
                <a16:creationId xmlns:a16="http://schemas.microsoft.com/office/drawing/2014/main" id="{967E7CD8-B0A6-4B5E-B8F0-F65096E8B1CE}"/>
              </a:ext>
            </a:extLst>
          </p:cNvPr>
          <p:cNvSpPr>
            <a:spLocks xmlns:a="http://schemas.openxmlformats.org/drawingml/2006/main" noGrp="1"/>
          </p:cNvSpPr>
          <p:nvPr/>
        </p:nvSpPr>
        <p:spPr>
          <a:xfrm xmlns:a="http://schemas.openxmlformats.org/drawingml/2006/main">
            <a:off x="6286500" y="2857500"/>
            <a:ext cx="5334000" cy="2952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Tagged-BAM methylation integration test</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Broader end-to-end input coverage</a:t>
            </a:r>
          </a:p>
          <a:p xmlns:a="http://schemas.openxmlformats.org/drawingml/2006/main">
            <a:pPr>
              <a:defRPr sz="2250" b="0">
                <a:solidFill>
                  <a:srgbClr val="171717"/>
                </a:solidFill>
                <a:latin typeface="Arial"/>
                <a:ea typeface="Arial"/>
                <a:cs typeface="Arial"/>
              </a:defRPr>
            </a:pPr>
            <a:r>
              <a:t/>
            </a:r>
          </a:p>
          <a:p xmlns:a="http://schemas.openxmlformats.org/drawingml/2006/main">
            <a:pPr>
              <a:defRPr sz="2250" b="0">
                <a:solidFill>
                  <a:srgbClr val="171717"/>
                </a:solidFill>
                <a:latin typeface="Arial"/>
                <a:ea typeface="Arial"/>
                <a:cs typeface="Arial"/>
              </a:defRPr>
            </a:pPr>
            <a:r>
              <a:t>Measured usability and performance</a:t>
            </a:r>
          </a:p>
        </p:txBody>
      </p:sp>
    </p:spTree>
    <p:extLst>
      <p:ext uri="{BB962C8B-B14F-4D97-AF65-F5344CB8AC3E}">
        <p14:creationId xmlns:p14="http://schemas.microsoft.com/office/powerpoint/2010/main" val="214574777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127">
            <a:extLst xmlns:a="http://schemas.openxmlformats.org/drawingml/2006/main">
              <a:ext uri="{FF2B5EF4-FFF2-40B4-BE49-F238E27FC236}">
                <a16:creationId xmlns:a16="http://schemas.microsoft.com/office/drawing/2014/main" id="{4B0E7E05-6025-43C9-9E57-53AD6D7B192B}"/>
              </a:ext>
            </a:extLst>
          </p:cNvPr>
          <p:cNvSpPr>
            <a:spLocks xmlns:a="http://schemas.openxmlformats.org/drawingml/2006/main" noGrp="1"/>
          </p:cNvSpPr>
          <p:nvPr/>
        </p:nvSpPr>
        <p:spPr>
          <a:xfrm xmlns:a="http://schemas.openxmlformats.org/drawingml/2006/main">
            <a:off x="457200" y="247650"/>
            <a:ext cx="1047750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PROPOSED NEXT STEPS</a:t>
            </a:r>
          </a:p>
        </p:txBody>
      </p:sp>
      <p:sp>
        <p:nvSpPr>
          <p:cNvPr id="2" name="text-128">
            <a:extLst xmlns:a="http://schemas.openxmlformats.org/drawingml/2006/main">
              <a:ext uri="{FF2B5EF4-FFF2-40B4-BE49-F238E27FC236}">
                <a16:creationId xmlns:a16="http://schemas.microsoft.com/office/drawing/2014/main" id="{3A1F9D6F-FAFB-4708-8090-FCA4AC9697D9}"/>
              </a:ext>
            </a:extLst>
          </p:cNvPr>
          <p:cNvSpPr>
            <a:spLocks xmlns:a="http://schemas.openxmlformats.org/drawingml/2006/main" noGrp="1"/>
          </p:cNvSpPr>
          <p:nvPr/>
        </p:nvSpPr>
        <p:spPr>
          <a:xfrm xmlns:a="http://schemas.openxmlformats.org/drawingml/2006/main">
            <a:off x="457200" y="762000"/>
            <a:ext cx="112776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71717"/>
                </a:solidFill>
                <a:latin typeface="Arial"/>
                <a:ea typeface="Arial"/>
                <a:cs typeface="Arial"/>
              </a:defRPr>
            </a:pPr>
            <a:r>
              <a:t>The next step is a structured lab pilot</a:t>
            </a:r>
          </a:p>
        </p:txBody>
      </p:sp>
      <p:sp>
        <p:nvSpPr>
          <p:cNvPr id="3" name="text-129">
            <a:extLst xmlns:a="http://schemas.openxmlformats.org/drawingml/2006/main">
              <a:ext uri="{FF2B5EF4-FFF2-40B4-BE49-F238E27FC236}">
                <a16:creationId xmlns:a16="http://schemas.microsoft.com/office/drawing/2014/main" id="{4D17DBC7-E794-4874-9533-608581441DC5}"/>
              </a:ext>
            </a:extLst>
          </p:cNvPr>
          <p:cNvSpPr>
            <a:spLocks xmlns:a="http://schemas.openxmlformats.org/drawingml/2006/main" noGrp="1"/>
          </p:cNvSpPr>
          <p:nvPr/>
        </p:nvSpPr>
        <p:spPr>
          <a:xfrm xmlns:a="http://schemas.openxmlformats.org/drawingml/2006/main">
            <a:off x="457200" y="6419850"/>
            <a:ext cx="952500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TELOMERE ANALYZER  /  LAB MEETING</a:t>
            </a:r>
          </a:p>
        </p:txBody>
      </p:sp>
      <p:sp>
        <p:nvSpPr>
          <p:cNvPr id="4" name="text-130">
            <a:extLst xmlns:a="http://schemas.openxmlformats.org/drawingml/2006/main">
              <a:ext uri="{FF2B5EF4-FFF2-40B4-BE49-F238E27FC236}">
                <a16:creationId xmlns:a16="http://schemas.microsoft.com/office/drawing/2014/main" id="{FA076AC0-19B7-46FA-B3A1-FD2328448229}"/>
              </a:ext>
            </a:extLst>
          </p:cNvPr>
          <p:cNvSpPr>
            <a:spLocks xmlns:a="http://schemas.openxmlformats.org/drawingml/2006/main" noGrp="1"/>
          </p:cNvSpPr>
          <p:nvPr/>
        </p:nvSpPr>
        <p:spPr>
          <a:xfrm xmlns:a="http://schemas.openxmlformats.org/drawingml/2006/main">
            <a:off x="11191875" y="6419850"/>
            <a:ext cx="523875"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171717"/>
                </a:solidFill>
                <a:latin typeface="Arial"/>
                <a:ea typeface="Arial"/>
                <a:cs typeface="Arial"/>
              </a:defRPr>
            </a:pPr>
            <a:r>
              <a:t>16</a:t>
            </a:r>
          </a:p>
        </p:txBody>
      </p:sp>
      <p:sp>
        <p:nvSpPr>
          <p:cNvPr id="5" name="text-131">
            <a:extLst xmlns:a="http://schemas.openxmlformats.org/drawingml/2006/main">
              <a:ext uri="{FF2B5EF4-FFF2-40B4-BE49-F238E27FC236}">
                <a16:creationId xmlns:a16="http://schemas.microsoft.com/office/drawing/2014/main" id="{098FEFA6-CC9B-44DC-8DD6-D655220082E9}"/>
              </a:ext>
            </a:extLst>
          </p:cNvPr>
          <p:cNvSpPr>
            <a:spLocks xmlns:a="http://schemas.openxmlformats.org/drawingml/2006/main" noGrp="1"/>
          </p:cNvSpPr>
          <p:nvPr/>
        </p:nvSpPr>
        <p:spPr>
          <a:xfrm xmlns:a="http://schemas.openxmlformats.org/drawingml/2006/main">
            <a:off x="457200" y="2143125"/>
            <a:ext cx="11049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625" b="1">
                <a:solidFill>
                  <a:srgbClr val="171717"/>
                </a:solidFill>
                <a:latin typeface="Arial"/>
                <a:ea typeface="Arial"/>
                <a:cs typeface="Arial"/>
              </a:defRPr>
            </a:pPr>
            <a:r>
              <a:t>1   Choose a representative workflow</a:t>
            </a:r>
          </a:p>
        </p:txBody>
      </p:sp>
      <p:sp>
        <p:nvSpPr>
          <p:cNvPr id="6" name="text-132">
            <a:extLst xmlns:a="http://schemas.openxmlformats.org/drawingml/2006/main">
              <a:ext uri="{FF2B5EF4-FFF2-40B4-BE49-F238E27FC236}">
                <a16:creationId xmlns:a16="http://schemas.microsoft.com/office/drawing/2014/main" id="{99E78204-FAE6-45A6-904B-5599353DDCF9}"/>
              </a:ext>
            </a:extLst>
          </p:cNvPr>
          <p:cNvSpPr>
            <a:spLocks xmlns:a="http://schemas.openxmlformats.org/drawingml/2006/main" noGrp="1"/>
          </p:cNvSpPr>
          <p:nvPr/>
        </p:nvSpPr>
        <p:spPr>
          <a:xfrm xmlns:a="http://schemas.openxmlformats.org/drawingml/2006/main">
            <a:off x="457200" y="2790825"/>
            <a:ext cx="11049000" cy="61912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Agree on the first user task, dataset and expected outputs.</a:t>
            </a:r>
          </a:p>
        </p:txBody>
      </p:sp>
      <p:sp>
        <p:nvSpPr>
          <p:cNvPr id="7" name="text-133">
            <a:extLst xmlns:a="http://schemas.openxmlformats.org/drawingml/2006/main">
              <a:ext uri="{FF2B5EF4-FFF2-40B4-BE49-F238E27FC236}">
                <a16:creationId xmlns:a16="http://schemas.microsoft.com/office/drawing/2014/main" id="{D376DF86-CF6B-4598-B12B-BC3B9932B5AF}"/>
              </a:ext>
            </a:extLst>
          </p:cNvPr>
          <p:cNvSpPr>
            <a:spLocks xmlns:a="http://schemas.openxmlformats.org/drawingml/2006/main" noGrp="1"/>
          </p:cNvSpPr>
          <p:nvPr/>
        </p:nvSpPr>
        <p:spPr>
          <a:xfrm xmlns:a="http://schemas.openxmlformats.org/drawingml/2006/main">
            <a:off x="457200" y="3714750"/>
            <a:ext cx="11049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625" b="1">
                <a:solidFill>
                  <a:srgbClr val="171717"/>
                </a:solidFill>
                <a:latin typeface="Arial"/>
                <a:ea typeface="Arial"/>
                <a:cs typeface="Arial"/>
              </a:defRPr>
            </a:pPr>
            <a:r>
              <a:t>2   Check results and usability</a:t>
            </a:r>
          </a:p>
        </p:txBody>
      </p:sp>
      <p:sp>
        <p:nvSpPr>
          <p:cNvPr id="8" name="text-134">
            <a:extLst xmlns:a="http://schemas.openxmlformats.org/drawingml/2006/main">
              <a:ext uri="{FF2B5EF4-FFF2-40B4-BE49-F238E27FC236}">
                <a16:creationId xmlns:a16="http://schemas.microsoft.com/office/drawing/2014/main" id="{081F91A0-6DF3-4429-9B77-2D66B86CCB78}"/>
              </a:ext>
            </a:extLst>
          </p:cNvPr>
          <p:cNvSpPr>
            <a:spLocks xmlns:a="http://schemas.openxmlformats.org/drawingml/2006/main" noGrp="1"/>
          </p:cNvSpPr>
          <p:nvPr/>
        </p:nvSpPr>
        <p:spPr>
          <a:xfrm xmlns:a="http://schemas.openxmlformats.org/drawingml/2006/main">
            <a:off x="457200" y="4362450"/>
            <a:ext cx="11049000" cy="762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250" b="0">
                <a:solidFill>
                  <a:srgbClr val="171717"/>
                </a:solidFill>
                <a:latin typeface="Arial"/>
                <a:ea typeface="Arial"/>
                <a:cs typeface="Arial"/>
              </a:defRPr>
            </a:pPr>
            <a:r>
              <a:t>Compare with an agreed baseline and observe a new user running the tool.</a:t>
            </a:r>
          </a:p>
        </p:txBody>
      </p:sp>
      <p:sp>
        <p:nvSpPr>
          <p:cNvPr id="9" name="text-135">
            <a:extLst xmlns:a="http://schemas.openxmlformats.org/drawingml/2006/main">
              <a:ext uri="{FF2B5EF4-FFF2-40B4-BE49-F238E27FC236}">
                <a16:creationId xmlns:a16="http://schemas.microsoft.com/office/drawing/2014/main" id="{86658193-FD43-4222-9982-ED2612CBABEF}"/>
              </a:ext>
            </a:extLst>
          </p:cNvPr>
          <p:cNvSpPr>
            <a:spLocks xmlns:a="http://schemas.openxmlformats.org/drawingml/2006/main" noGrp="1"/>
          </p:cNvSpPr>
          <p:nvPr/>
        </p:nvSpPr>
        <p:spPr>
          <a:xfrm xmlns:a="http://schemas.openxmlformats.org/drawingml/2006/main">
            <a:off x="457200" y="5286375"/>
            <a:ext cx="11049000" cy="4762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625" b="1">
                <a:solidFill>
                  <a:srgbClr val="171717"/>
                </a:solidFill>
                <a:latin typeface="Arial"/>
                <a:ea typeface="Arial"/>
                <a:cs typeface="Arial"/>
              </a:defRPr>
            </a:pPr>
            <a:r>
              <a:t>3   Prepare the next installable build</a:t>
            </a:r>
          </a:p>
        </p:txBody>
      </p:sp>
      <p:sp>
        <p:nvSpPr>
          <p:cNvPr id="10" name="text-136">
            <a:extLst xmlns:a="http://schemas.openxmlformats.org/drawingml/2006/main">
              <a:ext uri="{FF2B5EF4-FFF2-40B4-BE49-F238E27FC236}">
                <a16:creationId xmlns:a16="http://schemas.microsoft.com/office/drawing/2014/main" id="{79DE59E2-3398-483A-86D7-CF25CDDF3072}"/>
              </a:ext>
            </a:extLst>
          </p:cNvPr>
          <p:cNvSpPr>
            <a:spLocks xmlns:a="http://schemas.openxmlformats.org/drawingml/2006/main" noGrp="1"/>
          </p:cNvSpPr>
          <p:nvPr/>
        </p:nvSpPr>
        <p:spPr>
          <a:xfrm xmlns:a="http://schemas.openxmlformats.org/drawingml/2006/main">
            <a:off x="457200" y="5848350"/>
            <a:ext cx="11049000" cy="4191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025" b="0">
                <a:solidFill>
                  <a:srgbClr val="171717"/>
                </a:solidFill>
                <a:latin typeface="Arial"/>
                <a:ea typeface="Arial"/>
                <a:cs typeface="Arial"/>
              </a:defRPr>
            </a:pPr>
            <a:r>
              <a:t>Repeat package tests after resolving configuration and release decisions.</a:t>
            </a:r>
          </a:p>
        </p:txBody>
      </p:sp>
    </p:spTree>
    <p:extLst>
      <p:ext uri="{BB962C8B-B14F-4D97-AF65-F5344CB8AC3E}">
        <p14:creationId xmlns:p14="http://schemas.microsoft.com/office/powerpoint/2010/main" val="18303400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137">
            <a:extLst xmlns:a="http://schemas.openxmlformats.org/drawingml/2006/main">
              <a:ext uri="{FF2B5EF4-FFF2-40B4-BE49-F238E27FC236}">
                <a16:creationId xmlns:a16="http://schemas.microsoft.com/office/drawing/2014/main" id="{324DB389-9184-4677-A37D-8CECAC10A3B8}"/>
              </a:ext>
            </a:extLst>
          </p:cNvPr>
          <p:cNvSpPr>
            <a:spLocks xmlns:a="http://schemas.openxmlformats.org/drawingml/2006/main" noGrp="1"/>
          </p:cNvSpPr>
          <p:nvPr/>
        </p:nvSpPr>
        <p:spPr>
          <a:xfrm xmlns:a="http://schemas.openxmlformats.org/drawingml/2006/main">
            <a:off x="457200" y="247650"/>
            <a:ext cx="1047750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DISCUSSION</a:t>
            </a:r>
          </a:p>
        </p:txBody>
      </p:sp>
      <p:sp>
        <p:nvSpPr>
          <p:cNvPr id="2" name="text-138">
            <a:extLst xmlns:a="http://schemas.openxmlformats.org/drawingml/2006/main">
              <a:ext uri="{FF2B5EF4-FFF2-40B4-BE49-F238E27FC236}">
                <a16:creationId xmlns:a16="http://schemas.microsoft.com/office/drawing/2014/main" id="{3DC205A2-9D5E-41A0-99EA-16D5EA395D85}"/>
              </a:ext>
            </a:extLst>
          </p:cNvPr>
          <p:cNvSpPr>
            <a:spLocks xmlns:a="http://schemas.openxmlformats.org/drawingml/2006/main" noGrp="1"/>
          </p:cNvSpPr>
          <p:nvPr/>
        </p:nvSpPr>
        <p:spPr>
          <a:xfrm xmlns:a="http://schemas.openxmlformats.org/drawingml/2006/main">
            <a:off x="457200" y="762000"/>
            <a:ext cx="112776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71717"/>
                </a:solidFill>
                <a:latin typeface="Arial"/>
                <a:ea typeface="Arial"/>
                <a:cs typeface="Arial"/>
              </a:defRPr>
            </a:pPr>
            <a:r>
              <a:t>Which workflow should we validate first?</a:t>
            </a:r>
          </a:p>
        </p:txBody>
      </p:sp>
      <p:sp>
        <p:nvSpPr>
          <p:cNvPr id="3" name="text-139">
            <a:extLst xmlns:a="http://schemas.openxmlformats.org/drawingml/2006/main">
              <a:ext uri="{FF2B5EF4-FFF2-40B4-BE49-F238E27FC236}">
                <a16:creationId xmlns:a16="http://schemas.microsoft.com/office/drawing/2014/main" id="{2D3FB022-865B-46A2-92FD-9F8C6AC22D21}"/>
              </a:ext>
            </a:extLst>
          </p:cNvPr>
          <p:cNvSpPr>
            <a:spLocks xmlns:a="http://schemas.openxmlformats.org/drawingml/2006/main" noGrp="1"/>
          </p:cNvSpPr>
          <p:nvPr/>
        </p:nvSpPr>
        <p:spPr>
          <a:xfrm xmlns:a="http://schemas.openxmlformats.org/drawingml/2006/main">
            <a:off x="457200" y="6419850"/>
            <a:ext cx="952500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TELOMERE ANALYZER  /  LAB MEETING</a:t>
            </a:r>
          </a:p>
        </p:txBody>
      </p:sp>
      <p:sp>
        <p:nvSpPr>
          <p:cNvPr id="4" name="text-140">
            <a:extLst xmlns:a="http://schemas.openxmlformats.org/drawingml/2006/main">
              <a:ext uri="{FF2B5EF4-FFF2-40B4-BE49-F238E27FC236}">
                <a16:creationId xmlns:a16="http://schemas.microsoft.com/office/drawing/2014/main" id="{93A02B66-3111-4283-9432-CA78FEAFE526}"/>
              </a:ext>
            </a:extLst>
          </p:cNvPr>
          <p:cNvSpPr>
            <a:spLocks xmlns:a="http://schemas.openxmlformats.org/drawingml/2006/main" noGrp="1"/>
          </p:cNvSpPr>
          <p:nvPr/>
        </p:nvSpPr>
        <p:spPr>
          <a:xfrm xmlns:a="http://schemas.openxmlformats.org/drawingml/2006/main">
            <a:off x="11191875" y="6419850"/>
            <a:ext cx="523875"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171717"/>
                </a:solidFill>
                <a:latin typeface="Arial"/>
                <a:ea typeface="Arial"/>
                <a:cs typeface="Arial"/>
              </a:defRPr>
            </a:pPr>
            <a:r>
              <a:t>17</a:t>
            </a:r>
          </a:p>
        </p:txBody>
      </p:sp>
      <p:sp>
        <p:nvSpPr>
          <p:cNvPr id="5" name="text-141">
            <a:extLst xmlns:a="http://schemas.openxmlformats.org/drawingml/2006/main">
              <a:ext uri="{FF2B5EF4-FFF2-40B4-BE49-F238E27FC236}">
                <a16:creationId xmlns:a16="http://schemas.microsoft.com/office/drawing/2014/main" id="{FA071067-013D-4BEE-8F68-F9C575464D80}"/>
              </a:ext>
            </a:extLst>
          </p:cNvPr>
          <p:cNvSpPr>
            <a:spLocks xmlns:a="http://schemas.openxmlformats.org/drawingml/2006/main" noGrp="1"/>
          </p:cNvSpPr>
          <p:nvPr/>
        </p:nvSpPr>
        <p:spPr>
          <a:xfrm xmlns:a="http://schemas.openxmlformats.org/drawingml/2006/main">
            <a:off x="457200" y="2143125"/>
            <a:ext cx="10953750" cy="1333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75" b="1">
                <a:solidFill>
                  <a:srgbClr val="171717"/>
                </a:solidFill>
                <a:latin typeface="Arial"/>
                <a:ea typeface="Arial"/>
                <a:cs typeface="Arial"/>
              </a:defRPr>
            </a:pPr>
            <a:r>
              <a:t>The tool now connects setup, execution</a:t>
            </a:r>
          </a:p>
          <a:p xmlns:a="http://schemas.openxmlformats.org/drawingml/2006/main">
            <a:pPr>
              <a:defRPr sz="3675" b="1">
                <a:solidFill>
                  <a:srgbClr val="171717"/>
                </a:solidFill>
                <a:latin typeface="Arial"/>
                <a:ea typeface="Arial"/>
                <a:cs typeface="Arial"/>
              </a:defRPr>
            </a:pPr>
            <a:r>
              <a:t>and output review in one interface.</a:t>
            </a:r>
          </a:p>
        </p:txBody>
      </p:sp>
      <p:sp>
        <p:nvSpPr>
          <p:cNvPr id="6" name="text-142">
            <a:extLst xmlns:a="http://schemas.openxmlformats.org/drawingml/2006/main">
              <a:ext uri="{FF2B5EF4-FFF2-40B4-BE49-F238E27FC236}">
                <a16:creationId xmlns:a16="http://schemas.microsoft.com/office/drawing/2014/main" id="{E195C18C-F5BA-4B2F-887E-893082DEE1E7}"/>
              </a:ext>
            </a:extLst>
          </p:cNvPr>
          <p:cNvSpPr>
            <a:spLocks xmlns:a="http://schemas.openxmlformats.org/drawingml/2006/main" noGrp="1"/>
          </p:cNvSpPr>
          <p:nvPr/>
        </p:nvSpPr>
        <p:spPr>
          <a:xfrm xmlns:a="http://schemas.openxmlformats.org/drawingml/2006/main">
            <a:off x="457200" y="4000500"/>
            <a:ext cx="11049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75" b="0">
                <a:solidFill>
                  <a:srgbClr val="171717"/>
                </a:solidFill>
                <a:latin typeface="Arial"/>
                <a:ea typeface="Arial"/>
                <a:cs typeface="Arial"/>
              </a:defRPr>
            </a:pPr>
            <a:r>
              <a:t>Which input route matters most for the lab?</a:t>
            </a:r>
          </a:p>
        </p:txBody>
      </p:sp>
      <p:sp>
        <p:nvSpPr>
          <p:cNvPr id="7" name="text-143">
            <a:extLst xmlns:a="http://schemas.openxmlformats.org/drawingml/2006/main">
              <a:ext uri="{FF2B5EF4-FFF2-40B4-BE49-F238E27FC236}">
                <a16:creationId xmlns:a16="http://schemas.microsoft.com/office/drawing/2014/main" id="{0647D28D-A7FD-4BD9-84E5-8E6568E8AE6D}"/>
              </a:ext>
            </a:extLst>
          </p:cNvPr>
          <p:cNvSpPr>
            <a:spLocks xmlns:a="http://schemas.openxmlformats.org/drawingml/2006/main" noGrp="1"/>
          </p:cNvSpPr>
          <p:nvPr/>
        </p:nvSpPr>
        <p:spPr>
          <a:xfrm xmlns:a="http://schemas.openxmlformats.org/drawingml/2006/main">
            <a:off x="457200" y="4810125"/>
            <a:ext cx="11049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75" b="0">
                <a:solidFill>
                  <a:srgbClr val="171717"/>
                </a:solidFill>
                <a:latin typeface="Arial"/>
                <a:ea typeface="Arial"/>
                <a:cs typeface="Arial"/>
              </a:defRPr>
            </a:pPr>
            <a:r>
              <a:t>Which outputs must match the reference analysis?</a:t>
            </a:r>
          </a:p>
        </p:txBody>
      </p:sp>
      <p:sp>
        <p:nvSpPr>
          <p:cNvPr id="8" name="text-144">
            <a:extLst xmlns:a="http://schemas.openxmlformats.org/drawingml/2006/main">
              <a:ext uri="{FF2B5EF4-FFF2-40B4-BE49-F238E27FC236}">
                <a16:creationId xmlns:a16="http://schemas.microsoft.com/office/drawing/2014/main" id="{61B4A585-BA85-4A7D-9C74-6157951F297B}"/>
              </a:ext>
            </a:extLst>
          </p:cNvPr>
          <p:cNvSpPr>
            <a:spLocks xmlns:a="http://schemas.openxmlformats.org/drawingml/2006/main" noGrp="1"/>
          </p:cNvSpPr>
          <p:nvPr/>
        </p:nvSpPr>
        <p:spPr>
          <a:xfrm xmlns:a="http://schemas.openxmlformats.org/drawingml/2006/main">
            <a:off x="457200" y="5619750"/>
            <a:ext cx="11049000" cy="571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475" b="0">
                <a:solidFill>
                  <a:srgbClr val="171717"/>
                </a:solidFill>
                <a:latin typeface="Arial"/>
                <a:ea typeface="Arial"/>
                <a:cs typeface="Arial"/>
              </a:defRPr>
            </a:pPr>
            <a:r>
              <a:t>What would make the tool ready for routine use?</a:t>
            </a:r>
          </a:p>
        </p:txBody>
      </p:sp>
    </p:spTree>
    <p:extLst>
      <p:ext uri="{BB962C8B-B14F-4D97-AF65-F5344CB8AC3E}">
        <p14:creationId xmlns:p14="http://schemas.microsoft.com/office/powerpoint/2010/main" val="157049153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 name="text-145">
            <a:extLst xmlns:a="http://schemas.openxmlformats.org/drawingml/2006/main">
              <a:ext uri="{FF2B5EF4-FFF2-40B4-BE49-F238E27FC236}">
                <a16:creationId xmlns:a16="http://schemas.microsoft.com/office/drawing/2014/main" id="{C004F0B3-B48F-4D67-B0AB-63AF91E5FFBB}"/>
              </a:ext>
            </a:extLst>
          </p:cNvPr>
          <p:cNvSpPr>
            <a:spLocks xmlns:a="http://schemas.openxmlformats.org/drawingml/2006/main" noGrp="1"/>
          </p:cNvSpPr>
          <p:nvPr/>
        </p:nvSpPr>
        <p:spPr>
          <a:xfrm xmlns:a="http://schemas.openxmlformats.org/drawingml/2006/main">
            <a:off x="457200" y="247650"/>
            <a:ext cx="10477500" cy="28575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BACKUP • SOURCES</a:t>
            </a:r>
          </a:p>
        </p:txBody>
      </p:sp>
      <p:sp>
        <p:nvSpPr>
          <p:cNvPr id="2" name="text-146">
            <a:extLst xmlns:a="http://schemas.openxmlformats.org/drawingml/2006/main">
              <a:ext uri="{FF2B5EF4-FFF2-40B4-BE49-F238E27FC236}">
                <a16:creationId xmlns:a16="http://schemas.microsoft.com/office/drawing/2014/main" id="{89C8D713-A1CD-4C4B-BC2E-649BC1FCF1A1}"/>
              </a:ext>
            </a:extLst>
          </p:cNvPr>
          <p:cNvSpPr>
            <a:spLocks xmlns:a="http://schemas.openxmlformats.org/drawingml/2006/main" noGrp="1"/>
          </p:cNvSpPr>
          <p:nvPr/>
        </p:nvSpPr>
        <p:spPr>
          <a:xfrm xmlns:a="http://schemas.openxmlformats.org/drawingml/2006/main">
            <a:off x="457200" y="762000"/>
            <a:ext cx="11277600" cy="11049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3600" b="1">
                <a:solidFill>
                  <a:srgbClr val="171717"/>
                </a:solidFill>
                <a:latin typeface="Arial"/>
                <a:ea typeface="Arial"/>
                <a:cs typeface="Arial"/>
              </a:defRPr>
            </a:pPr>
            <a:r>
              <a:t>Project evidence used in this presentation</a:t>
            </a:r>
          </a:p>
        </p:txBody>
      </p:sp>
      <p:sp>
        <p:nvSpPr>
          <p:cNvPr id="3" name="text-147">
            <a:extLst xmlns:a="http://schemas.openxmlformats.org/drawingml/2006/main">
              <a:ext uri="{FF2B5EF4-FFF2-40B4-BE49-F238E27FC236}">
                <a16:creationId xmlns:a16="http://schemas.microsoft.com/office/drawing/2014/main" id="{C8B3D129-E3EA-4EB4-8BD3-E1B8A0E44667}"/>
              </a:ext>
            </a:extLst>
          </p:cNvPr>
          <p:cNvSpPr>
            <a:spLocks xmlns:a="http://schemas.openxmlformats.org/drawingml/2006/main" noGrp="1"/>
          </p:cNvSpPr>
          <p:nvPr/>
        </p:nvSpPr>
        <p:spPr>
          <a:xfrm xmlns:a="http://schemas.openxmlformats.org/drawingml/2006/main">
            <a:off x="457200" y="6419850"/>
            <a:ext cx="9525000"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666666"/>
                </a:solidFill>
                <a:latin typeface="Arial"/>
                <a:ea typeface="Arial"/>
                <a:cs typeface="Arial"/>
              </a:defRPr>
            </a:pPr>
            <a:r>
              <a:t>TELOMERE ANALYZER  /  LAB MEETING</a:t>
            </a:r>
          </a:p>
        </p:txBody>
      </p:sp>
      <p:sp>
        <p:nvSpPr>
          <p:cNvPr id="4" name="text-148">
            <a:extLst xmlns:a="http://schemas.openxmlformats.org/drawingml/2006/main">
              <a:ext uri="{FF2B5EF4-FFF2-40B4-BE49-F238E27FC236}">
                <a16:creationId xmlns:a16="http://schemas.microsoft.com/office/drawing/2014/main" id="{030D70E9-5B0C-46BC-95B9-3B3A280F0202}"/>
              </a:ext>
            </a:extLst>
          </p:cNvPr>
          <p:cNvSpPr>
            <a:spLocks xmlns:a="http://schemas.openxmlformats.org/drawingml/2006/main" noGrp="1"/>
          </p:cNvSpPr>
          <p:nvPr/>
        </p:nvSpPr>
        <p:spPr>
          <a:xfrm xmlns:a="http://schemas.openxmlformats.org/drawingml/2006/main">
            <a:off x="11191875" y="6419850"/>
            <a:ext cx="523875" cy="2667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575" b="0">
                <a:solidFill>
                  <a:srgbClr val="171717"/>
                </a:solidFill>
                <a:latin typeface="Arial"/>
                <a:ea typeface="Arial"/>
                <a:cs typeface="Arial"/>
              </a:defRPr>
            </a:pPr>
            <a:r>
              <a:t>18</a:t>
            </a:r>
          </a:p>
        </p:txBody>
      </p:sp>
      <p:sp>
        <p:nvSpPr>
          <p:cNvPr id="5" name="text-149">
            <a:extLst xmlns:a="http://schemas.openxmlformats.org/drawingml/2006/main">
              <a:ext uri="{FF2B5EF4-FFF2-40B4-BE49-F238E27FC236}">
                <a16:creationId xmlns:a16="http://schemas.microsoft.com/office/drawing/2014/main" id="{90153C27-3786-43E2-B400-4E34F4EC1B14}"/>
              </a:ext>
            </a:extLst>
          </p:cNvPr>
          <p:cNvSpPr>
            <a:spLocks xmlns:a="http://schemas.openxmlformats.org/drawingml/2006/main" noGrp="1"/>
          </p:cNvSpPr>
          <p:nvPr/>
        </p:nvSpPr>
        <p:spPr>
          <a:xfrm xmlns:a="http://schemas.openxmlformats.org/drawingml/2006/main">
            <a:off x="457200" y="2143125"/>
            <a:ext cx="5334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Implementation</a:t>
            </a:r>
          </a:p>
        </p:txBody>
      </p:sp>
      <p:sp>
        <p:nvSpPr>
          <p:cNvPr id="6" name="text-150">
            <a:extLst xmlns:a="http://schemas.openxmlformats.org/drawingml/2006/main">
              <a:ext uri="{FF2B5EF4-FFF2-40B4-BE49-F238E27FC236}">
                <a16:creationId xmlns:a16="http://schemas.microsoft.com/office/drawing/2014/main" id="{315AA1FF-820F-4A63-A886-8125DE62B3CA}"/>
              </a:ext>
            </a:extLst>
          </p:cNvPr>
          <p:cNvSpPr>
            <a:spLocks xmlns:a="http://schemas.openxmlformats.org/drawingml/2006/main" noGrp="1"/>
          </p:cNvSpPr>
          <p:nvPr/>
        </p:nvSpPr>
        <p:spPr>
          <a:xfrm xmlns:a="http://schemas.openxmlformats.org/drawingml/2006/main">
            <a:off x="457200" y="2838450"/>
            <a:ext cx="5381625" cy="26670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75" b="0">
                <a:solidFill>
                  <a:srgbClr val="171717"/>
                </a:solidFill>
                <a:latin typeface="Arial"/>
                <a:ea typeface="Arial"/>
                <a:cs typeface="Arial"/>
              </a:defRPr>
            </a:pPr>
            <a:r>
              <a:t>README.md</a:t>
            </a:r>
          </a:p>
          <a:p xmlns:a="http://schemas.openxmlformats.org/drawingml/2006/main">
            <a:pPr>
              <a:defRPr sz="1875" b="0">
                <a:solidFill>
                  <a:srgbClr val="171717"/>
                </a:solidFill>
                <a:latin typeface="Arial"/>
                <a:ea typeface="Arial"/>
                <a:cs typeface="Arial"/>
              </a:defRPr>
            </a:pPr>
            <a:r>
              <a:t>dorado_gui/gui/sections/</a:t>
            </a:r>
          </a:p>
          <a:p xmlns:a="http://schemas.openxmlformats.org/drawingml/2006/main">
            <a:pPr>
              <a:defRPr sz="1875" b="0">
                <a:solidFill>
                  <a:srgbClr val="171717"/>
                </a:solidFill>
                <a:latin typeface="Arial"/>
                <a:ea typeface="Arial"/>
                <a:cs typeface="Arial"/>
              </a:defRPr>
            </a:pPr>
            <a:r>
              <a:t>dorado_gui/core/validators.py</a:t>
            </a:r>
          </a:p>
          <a:p xmlns:a="http://schemas.openxmlformats.org/drawingml/2006/main">
            <a:pPr>
              <a:defRPr sz="1875" b="0">
                <a:solidFill>
                  <a:srgbClr val="171717"/>
                </a:solidFill>
                <a:latin typeface="Arial"/>
                <a:ea typeface="Arial"/>
                <a:cs typeface="Arial"/>
              </a:defRPr>
            </a:pPr>
            <a:r>
              <a:t>dorado_gui/workers/worker_thread.py</a:t>
            </a:r>
          </a:p>
          <a:p xmlns:a="http://schemas.openxmlformats.org/drawingml/2006/main">
            <a:pPr>
              <a:defRPr sz="1875" b="0">
                <a:solidFill>
                  <a:srgbClr val="171717"/>
                </a:solidFill>
                <a:latin typeface="Arial"/>
                <a:ea typeface="Arial"/>
                <a:cs typeface="Arial"/>
              </a:defRPr>
            </a:pPr>
            <a:r>
              <a:t>dorado_gui/services/pipeline_runner.py</a:t>
            </a:r>
          </a:p>
        </p:txBody>
      </p:sp>
      <p:sp>
        <p:nvSpPr>
          <p:cNvPr id="7" name="text-151">
            <a:extLst xmlns:a="http://schemas.openxmlformats.org/drawingml/2006/main">
              <a:ext uri="{FF2B5EF4-FFF2-40B4-BE49-F238E27FC236}">
                <a16:creationId xmlns:a16="http://schemas.microsoft.com/office/drawing/2014/main" id="{7B21E2D0-32EC-4D44-B73B-135231F97B83}"/>
              </a:ext>
            </a:extLst>
          </p:cNvPr>
          <p:cNvSpPr>
            <a:spLocks xmlns:a="http://schemas.openxmlformats.org/drawingml/2006/main" noGrp="1"/>
          </p:cNvSpPr>
          <p:nvPr/>
        </p:nvSpPr>
        <p:spPr>
          <a:xfrm xmlns:a="http://schemas.openxmlformats.org/drawingml/2006/main">
            <a:off x="6286500" y="2143125"/>
            <a:ext cx="5334000" cy="523875"/>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2550" b="1">
                <a:solidFill>
                  <a:srgbClr val="171717"/>
                </a:solidFill>
                <a:latin typeface="Arial"/>
                <a:ea typeface="Arial"/>
                <a:cs typeface="Arial"/>
              </a:defRPr>
            </a:pPr>
            <a:r>
              <a:t>Results and installation</a:t>
            </a:r>
          </a:p>
        </p:txBody>
      </p:sp>
      <p:sp>
        <p:nvSpPr>
          <p:cNvPr id="8" name="text-152">
            <a:extLst xmlns:a="http://schemas.openxmlformats.org/drawingml/2006/main">
              <a:ext uri="{FF2B5EF4-FFF2-40B4-BE49-F238E27FC236}">
                <a16:creationId xmlns:a16="http://schemas.microsoft.com/office/drawing/2014/main" id="{C723E05D-5567-4218-B450-BBF367D00466}"/>
              </a:ext>
            </a:extLst>
          </p:cNvPr>
          <p:cNvSpPr>
            <a:spLocks xmlns:a="http://schemas.openxmlformats.org/drawingml/2006/main" noGrp="1"/>
          </p:cNvSpPr>
          <p:nvPr/>
        </p:nvSpPr>
        <p:spPr>
          <a:xfrm xmlns:a="http://schemas.openxmlformats.org/drawingml/2006/main">
            <a:off x="6286500" y="2838450"/>
            <a:ext cx="5381625" cy="2857500"/>
          </a:xfrm>
          <a:prstGeom xmlns:a="http://schemas.openxmlformats.org/drawingml/2006/main" prst="rect">
            <a:avLst/>
          </a:prstGeom>
        </p:spPr>
        <p:txBody>
          <a:bodyPr xmlns:a="http://schemas.openxmlformats.org/drawingml/2006/main" lIns="0" tIns="0" rIns="0" bIns="0" anchor="t"/>
          <a:lstStyle xmlns:a="http://schemas.openxmlformats.org/drawingml/2006/main"/>
          <a:p xmlns:a="http://schemas.openxmlformats.org/drawingml/2006/main">
            <a:pPr>
              <a:defRPr sz="1800" b="0">
                <a:solidFill>
                  <a:srgbClr val="171717"/>
                </a:solidFill>
                <a:latin typeface="Arial"/>
                <a:ea typeface="Arial"/>
                <a:cs typeface="Arial"/>
              </a:defRPr>
            </a:pPr>
            <a:r>
              <a:t>Saved run: 20260914_132210</a:t>
            </a:r>
          </a:p>
          <a:p xmlns:a="http://schemas.openxmlformats.org/drawingml/2006/main">
            <a:pPr>
              <a:defRPr sz="1800" b="0">
                <a:solidFill>
                  <a:srgbClr val="171717"/>
                </a:solidFill>
                <a:latin typeface="Arial"/>
                <a:ea typeface="Arial"/>
                <a:cs typeface="Arial"/>
              </a:defRPr>
            </a:pPr>
            <a:r>
              <a:t>• complete_pipeline_report.txt</a:t>
            </a:r>
          </a:p>
          <a:p xmlns:a="http://schemas.openxmlformats.org/drawingml/2006/main">
            <a:pPr>
              <a:defRPr sz="1800" b="0">
                <a:solidFill>
                  <a:srgbClr val="171717"/>
                </a:solidFill>
                <a:latin typeface="Arial"/>
                <a:ea typeface="Arial"/>
                <a:cs typeface="Arial"/>
              </a:defRPr>
            </a:pPr>
            <a:r>
              <a:t>• nanotel_analysis_report.txt</a:t>
            </a:r>
          </a:p>
          <a:p xmlns:a="http://schemas.openxmlformats.org/drawingml/2006/main">
            <a:pPr>
              <a:defRPr sz="1800" b="0">
                <a:solidFill>
                  <a:srgbClr val="171717"/>
                </a:solidFill>
                <a:latin typeface="Arial"/>
                <a:ea typeface="Arial"/>
                <a:cs typeface="Arial"/>
              </a:defRPr>
            </a:pPr>
            <a:r>
              <a:t>• nanotel_summary_statistics.csv</a:t>
            </a:r>
          </a:p>
          <a:p xmlns:a="http://schemas.openxmlformats.org/drawingml/2006/main">
            <a:pPr>
              <a:defRPr sz="1800" b="0">
                <a:solidFill>
                  <a:srgbClr val="171717"/>
                </a:solidFill>
                <a:latin typeface="Arial"/>
                <a:ea typeface="Arial"/>
                <a:cs typeface="Arial"/>
              </a:defRPr>
            </a:pPr>
            <a:r>
              <a:t/>
            </a:r>
          </a:p>
          <a:p xmlns:a="http://schemas.openxmlformats.org/drawingml/2006/main">
            <a:pPr>
              <a:defRPr sz="1800" b="0">
                <a:solidFill>
                  <a:srgbClr val="171717"/>
                </a:solidFill>
                <a:latin typeface="Arial"/>
                <a:ea typeface="Arial"/>
                <a:cs typeface="Arial"/>
              </a:defRPr>
            </a:pPr>
            <a:r>
              <a:t>packaging/BIOCONDA_BUILD_REHEARSAL.md</a:t>
            </a:r>
          </a:p>
          <a:p xmlns:a="http://schemas.openxmlformats.org/drawingml/2006/main">
            <a:pPr>
              <a:defRPr sz="1800" b="0">
                <a:solidFill>
                  <a:srgbClr val="171717"/>
                </a:solidFill>
                <a:latin typeface="Arial"/>
                <a:ea typeface="Arial"/>
                <a:cs typeface="Arial"/>
              </a:defRPr>
            </a:pPr>
            <a:r>
              <a:t>packaging/README.md</a:t>
            </a:r>
          </a:p>
        </p:txBody>
      </p:sp>
    </p:spTree>
    <p:extLst>
      <p:ext uri="{BB962C8B-B14F-4D97-AF65-F5344CB8AC3E}">
        <p14:creationId xmlns:p14="http://schemas.microsoft.com/office/powerpoint/2010/main" val="11487853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2026-09-22T08:54:30.4140000Z</dcterms:created>
  <dcterms:modified xsi:type="dcterms:W3CDTF">2026-09-22T08:54:30.4140000Z</dcterms:modified>
</coreProperties>
</file>